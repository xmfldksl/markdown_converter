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  <p:sldMasterId id="2147483661" r:id="rId2"/>
  </p:sldMasterIdLst>
  <p:notesMasterIdLst>
    <p:notesMasterId r:id="rId129"/>
  </p:notesMasterIdLst>
  <p:sldIdLst>
    <p:sldId id="300" r:id="rId3"/>
    <p:sldId id="3642" r:id="rId4"/>
    <p:sldId id="4043" r:id="rId5"/>
    <p:sldId id="3978" r:id="rId6"/>
    <p:sldId id="3979" r:id="rId7"/>
    <p:sldId id="4087" r:id="rId8"/>
    <p:sldId id="3641" r:id="rId9"/>
    <p:sldId id="4162" r:id="rId10"/>
    <p:sldId id="3974" r:id="rId11"/>
    <p:sldId id="3975" r:id="rId12"/>
    <p:sldId id="3689" r:id="rId13"/>
    <p:sldId id="3690" r:id="rId14"/>
    <p:sldId id="3706" r:id="rId15"/>
    <p:sldId id="3976" r:id="rId16"/>
    <p:sldId id="3864" r:id="rId17"/>
    <p:sldId id="3981" r:id="rId18"/>
    <p:sldId id="3924" r:id="rId19"/>
    <p:sldId id="3925" r:id="rId20"/>
    <p:sldId id="3926" r:id="rId21"/>
    <p:sldId id="3927" r:id="rId22"/>
    <p:sldId id="3934" r:id="rId23"/>
    <p:sldId id="3928" r:id="rId24"/>
    <p:sldId id="3930" r:id="rId25"/>
    <p:sldId id="3929" r:id="rId26"/>
    <p:sldId id="3931" r:id="rId27"/>
    <p:sldId id="3933" r:id="rId28"/>
    <p:sldId id="4021" r:id="rId29"/>
    <p:sldId id="3982" r:id="rId30"/>
    <p:sldId id="3983" r:id="rId31"/>
    <p:sldId id="3984" r:id="rId32"/>
    <p:sldId id="3985" r:id="rId33"/>
    <p:sldId id="4022" r:id="rId34"/>
    <p:sldId id="3777" r:id="rId35"/>
    <p:sldId id="4030" r:id="rId36"/>
    <p:sldId id="4133" r:id="rId37"/>
    <p:sldId id="4163" r:id="rId38"/>
    <p:sldId id="4164" r:id="rId39"/>
    <p:sldId id="4240" r:id="rId40"/>
    <p:sldId id="4044" r:id="rId41"/>
    <p:sldId id="4241" r:id="rId42"/>
    <p:sldId id="4242" r:id="rId43"/>
    <p:sldId id="4243" r:id="rId44"/>
    <p:sldId id="4244" r:id="rId45"/>
    <p:sldId id="3918" r:id="rId46"/>
    <p:sldId id="4165" r:id="rId47"/>
    <p:sldId id="4167" r:id="rId48"/>
    <p:sldId id="4166" r:id="rId49"/>
    <p:sldId id="4168" r:id="rId50"/>
    <p:sldId id="4169" r:id="rId51"/>
    <p:sldId id="4227" r:id="rId52"/>
    <p:sldId id="4172" r:id="rId53"/>
    <p:sldId id="4248" r:id="rId54"/>
    <p:sldId id="4174" r:id="rId55"/>
    <p:sldId id="4228" r:id="rId56"/>
    <p:sldId id="4176" r:id="rId57"/>
    <p:sldId id="4178" r:id="rId58"/>
    <p:sldId id="4177" r:id="rId59"/>
    <p:sldId id="4179" r:id="rId60"/>
    <p:sldId id="4180" r:id="rId61"/>
    <p:sldId id="4181" r:id="rId62"/>
    <p:sldId id="4229" r:id="rId63"/>
    <p:sldId id="4183" r:id="rId64"/>
    <p:sldId id="4184" r:id="rId65"/>
    <p:sldId id="4185" r:id="rId66"/>
    <p:sldId id="4186" r:id="rId67"/>
    <p:sldId id="4187" r:id="rId68"/>
    <p:sldId id="4188" r:id="rId69"/>
    <p:sldId id="4189" r:id="rId70"/>
    <p:sldId id="4190" r:id="rId71"/>
    <p:sldId id="4230" r:id="rId72"/>
    <p:sldId id="4247" r:id="rId73"/>
    <p:sldId id="4193" r:id="rId74"/>
    <p:sldId id="4194" r:id="rId75"/>
    <p:sldId id="4195" r:id="rId76"/>
    <p:sldId id="4196" r:id="rId77"/>
    <p:sldId id="4197" r:id="rId78"/>
    <p:sldId id="4198" r:id="rId79"/>
    <p:sldId id="4199" r:id="rId80"/>
    <p:sldId id="4200" r:id="rId81"/>
    <p:sldId id="4231" r:id="rId82"/>
    <p:sldId id="4124" r:id="rId83"/>
    <p:sldId id="4020" r:id="rId84"/>
    <p:sldId id="3945" r:id="rId85"/>
    <p:sldId id="1286" r:id="rId86"/>
    <p:sldId id="4050" r:id="rId87"/>
    <p:sldId id="4051" r:id="rId88"/>
    <p:sldId id="4052" r:id="rId89"/>
    <p:sldId id="4053" r:id="rId90"/>
    <p:sldId id="4112" r:id="rId91"/>
    <p:sldId id="4054" r:id="rId92"/>
    <p:sldId id="4245" r:id="rId93"/>
    <p:sldId id="4232" r:id="rId94"/>
    <p:sldId id="4233" r:id="rId95"/>
    <p:sldId id="4154" r:id="rId96"/>
    <p:sldId id="4215" r:id="rId97"/>
    <p:sldId id="4060" r:id="rId98"/>
    <p:sldId id="4061" r:id="rId99"/>
    <p:sldId id="4216" r:id="rId100"/>
    <p:sldId id="4092" r:id="rId101"/>
    <p:sldId id="4063" r:id="rId102"/>
    <p:sldId id="4206" r:id="rId103"/>
    <p:sldId id="4207" r:id="rId104"/>
    <p:sldId id="4208" r:id="rId105"/>
    <p:sldId id="4209" r:id="rId106"/>
    <p:sldId id="4210" r:id="rId107"/>
    <p:sldId id="4137" r:id="rId108"/>
    <p:sldId id="4138" r:id="rId109"/>
    <p:sldId id="4139" r:id="rId110"/>
    <p:sldId id="4070" r:id="rId111"/>
    <p:sldId id="4217" r:id="rId112"/>
    <p:sldId id="4141" r:id="rId113"/>
    <p:sldId id="4218" r:id="rId114"/>
    <p:sldId id="4234" r:id="rId115"/>
    <p:sldId id="4235" r:id="rId116"/>
    <p:sldId id="4236" r:id="rId117"/>
    <p:sldId id="4237" r:id="rId118"/>
    <p:sldId id="4223" r:id="rId119"/>
    <p:sldId id="4107" r:id="rId120"/>
    <p:sldId id="4108" r:id="rId121"/>
    <p:sldId id="4146" r:id="rId122"/>
    <p:sldId id="4110" r:id="rId123"/>
    <p:sldId id="4079" r:id="rId124"/>
    <p:sldId id="4238" r:id="rId125"/>
    <p:sldId id="4239" r:id="rId126"/>
    <p:sldId id="4226" r:id="rId127"/>
    <p:sldId id="4148" r:id="rId1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446" userDrawn="1">
          <p15:clr>
            <a:srgbClr val="A4A3A4"/>
          </p15:clr>
        </p15:guide>
        <p15:guide id="3" pos="30" userDrawn="1">
          <p15:clr>
            <a:srgbClr val="A4A3A4"/>
          </p15:clr>
        </p15:guide>
        <p15:guide id="7" orient="horz" pos="164" userDrawn="1">
          <p15:clr>
            <a:srgbClr val="A4A3A4"/>
          </p15:clr>
        </p15:guide>
        <p15:guide id="8" pos="3931" userDrawn="1">
          <p15:clr>
            <a:srgbClr val="A4A3A4"/>
          </p15:clr>
        </p15:guide>
        <p15:guide id="10" pos="3681" userDrawn="1">
          <p15:clr>
            <a:srgbClr val="A4A3A4"/>
          </p15:clr>
        </p15:guide>
        <p15:guide id="11" orient="horz" pos="1911" userDrawn="1">
          <p15:clr>
            <a:srgbClr val="A4A3A4"/>
          </p15:clr>
        </p15:guide>
        <p15:guide id="12" pos="1005" userDrawn="1">
          <p15:clr>
            <a:srgbClr val="A4A3A4"/>
          </p15:clr>
        </p15:guide>
        <p15:guide id="14" pos="6766" userDrawn="1">
          <p15:clr>
            <a:srgbClr val="A4A3A4"/>
          </p15:clr>
        </p15:guide>
        <p15:guide id="15" pos="4452" userDrawn="1">
          <p15:clr>
            <a:srgbClr val="A4A3A4"/>
          </p15:clr>
        </p15:guide>
        <p15:guide id="16" orient="horz" pos="436" userDrawn="1">
          <p15:clr>
            <a:srgbClr val="A4A3A4"/>
          </p15:clr>
        </p15:guide>
        <p15:guide id="17" orient="horz" pos="4178" userDrawn="1">
          <p15:clr>
            <a:srgbClr val="A4A3A4"/>
          </p15:clr>
        </p15:guide>
        <p15:guide id="18" pos="801" userDrawn="1">
          <p15:clr>
            <a:srgbClr val="A4A3A4"/>
          </p15:clr>
        </p15:guide>
        <p15:guide id="19" pos="143" userDrawn="1">
          <p15:clr>
            <a:srgbClr val="A4A3A4"/>
          </p15:clr>
        </p15:guide>
        <p15:guide id="20" orient="horz" pos="61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1E5F5"/>
    <a:srgbClr val="FFFFFF"/>
    <a:srgbClr val="1919E5"/>
    <a:srgbClr val="CEDEF2"/>
    <a:srgbClr val="356AA0"/>
    <a:srgbClr val="D9D9D9"/>
    <a:srgbClr val="E2EBB6"/>
    <a:srgbClr val="EEC104"/>
    <a:srgbClr val="3760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DEE9CD-8BC9-4084-8D77-E5AEC82D092F}" v="255" dt="2026-04-02T01:45:08.6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6242" autoAdjust="0"/>
  </p:normalViewPr>
  <p:slideViewPr>
    <p:cSldViewPr snapToGrid="0">
      <p:cViewPr varScale="1">
        <p:scale>
          <a:sx n="110" d="100"/>
          <a:sy n="110" d="100"/>
        </p:scale>
        <p:origin x="624" y="114"/>
      </p:cViewPr>
      <p:guideLst>
        <p:guide pos="7446"/>
        <p:guide pos="30"/>
        <p:guide orient="horz" pos="164"/>
        <p:guide pos="3931"/>
        <p:guide pos="3681"/>
        <p:guide orient="horz" pos="1911"/>
        <p:guide pos="1005"/>
        <p:guide pos="6766"/>
        <p:guide pos="4452"/>
        <p:guide orient="horz" pos="436"/>
        <p:guide orient="horz" pos="4178"/>
        <p:guide pos="801"/>
        <p:guide pos="143"/>
        <p:guide orient="horz" pos="618"/>
      </p:guideLst>
    </p:cSldViewPr>
  </p:slideViewPr>
  <p:outlineViewPr>
    <p:cViewPr>
      <p:scale>
        <a:sx n="33" d="100"/>
        <a:sy n="33" d="100"/>
      </p:scale>
      <p:origin x="0" y="-375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388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slide" Target="slides/slide126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microsoft.com/office/2016/11/relationships/changesInfo" Target="changesInfos/changesInfo1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notesMaster" Target="notesMasters/notesMaster1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presProps" Target="presProps.xml"/><Relationship Id="rId135" Type="http://schemas.microsoft.com/office/2015/10/relationships/revisionInfo" Target="revisionInfo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viewProps" Target="view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theme" Target="theme/theme1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신지수/방송사업지원팀" userId="d708d9a4-05b3-4ad4-9702-e3ee7a6f8508" providerId="ADAL" clId="{2E4DF6F4-BF74-49B5-8F9D-F5E250D4B209}"/>
    <pc:docChg chg="undo custSel addSld delSld modSld">
      <pc:chgData name="신지수/방송사업지원팀" userId="d708d9a4-05b3-4ad4-9702-e3ee7a6f8508" providerId="ADAL" clId="{2E4DF6F4-BF74-49B5-8F9D-F5E250D4B209}" dt="2026-04-02T01:45:42.345" v="1316" actId="6549"/>
      <pc:docMkLst>
        <pc:docMk/>
      </pc:docMkLst>
      <pc:sldChg chg="modSp mod">
        <pc:chgData name="신지수/방송사업지원팀" userId="d708d9a4-05b3-4ad4-9702-e3ee7a6f8508" providerId="ADAL" clId="{2E4DF6F4-BF74-49B5-8F9D-F5E250D4B209}" dt="2026-04-02T01:45:42.345" v="1316" actId="6549"/>
        <pc:sldMkLst>
          <pc:docMk/>
          <pc:sldMk cId="4092779980" sldId="300"/>
        </pc:sldMkLst>
        <pc:spChg chg="mod">
          <ac:chgData name="신지수/방송사업지원팀" userId="d708d9a4-05b3-4ad4-9702-e3ee7a6f8508" providerId="ADAL" clId="{2E4DF6F4-BF74-49B5-8F9D-F5E250D4B209}" dt="2026-04-02T01:45:42.345" v="1316" actId="6549"/>
          <ac:spMkLst>
            <pc:docMk/>
            <pc:sldMk cId="4092779980" sldId="300"/>
            <ac:spMk id="14" creationId="{78B07DC3-FF03-454C-993B-F1D3D2D63DC1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09:29.154" v="638" actId="478"/>
        <pc:sldMkLst>
          <pc:docMk/>
          <pc:sldMk cId="449567330" sldId="1286"/>
        </pc:sldMkLst>
        <pc:spChg chg="add del mod">
          <ac:chgData name="신지수/방송사업지원팀" userId="d708d9a4-05b3-4ad4-9702-e3ee7a6f8508" providerId="ADAL" clId="{2E4DF6F4-BF74-49B5-8F9D-F5E250D4B209}" dt="2026-04-02T00:09:29.154" v="638" actId="478"/>
          <ac:spMkLst>
            <pc:docMk/>
            <pc:sldMk cId="449567330" sldId="1286"/>
            <ac:spMk id="2" creationId="{1C3D3343-483D-F279-4723-8FB941A8E396}"/>
          </ac:spMkLst>
        </pc:spChg>
        <pc:spChg chg="add del mod">
          <ac:chgData name="신지수/방송사업지원팀" userId="d708d9a4-05b3-4ad4-9702-e3ee7a6f8508" providerId="ADAL" clId="{2E4DF6F4-BF74-49B5-8F9D-F5E250D4B209}" dt="2026-04-01T09:19:53.272" v="114" actId="478"/>
          <ac:spMkLst>
            <pc:docMk/>
            <pc:sldMk cId="449567330" sldId="1286"/>
            <ac:spMk id="2" creationId="{C0FDD9E1-267C-02E1-D30F-EA50073D3C6A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1T09:18:40.291" v="34" actId="478"/>
        <pc:sldMkLst>
          <pc:docMk/>
          <pc:sldMk cId="2657325015" sldId="3641"/>
        </pc:sldMkLst>
        <pc:spChg chg="add del mod">
          <ac:chgData name="신지수/방송사업지원팀" userId="d708d9a4-05b3-4ad4-9702-e3ee7a6f8508" providerId="ADAL" clId="{2E4DF6F4-BF74-49B5-8F9D-F5E250D4B209}" dt="2026-04-01T09:16:44.654" v="13" actId="478"/>
          <ac:spMkLst>
            <pc:docMk/>
            <pc:sldMk cId="2657325015" sldId="3641"/>
            <ac:spMk id="2" creationId="{A748F78B-37D0-ADE2-91AB-40E14EF483BC}"/>
          </ac:spMkLst>
        </pc:spChg>
        <pc:spChg chg="add del mod">
          <ac:chgData name="신지수/방송사업지원팀" userId="d708d9a4-05b3-4ad4-9702-e3ee7a6f8508" providerId="ADAL" clId="{2E4DF6F4-BF74-49B5-8F9D-F5E250D4B209}" dt="2026-04-01T09:18:40.291" v="34" actId="478"/>
          <ac:spMkLst>
            <pc:docMk/>
            <pc:sldMk cId="2657325015" sldId="3641"/>
            <ac:spMk id="4" creationId="{153F70DE-1D7D-D506-A006-F2F20F8675B6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1T23:53:31.652" v="242" actId="20577"/>
        <pc:sldMkLst>
          <pc:docMk/>
          <pc:sldMk cId="115704607" sldId="3689"/>
        </pc:sldMkLst>
        <pc:spChg chg="add del mod">
          <ac:chgData name="신지수/방송사업지원팀" userId="d708d9a4-05b3-4ad4-9702-e3ee7a6f8508" providerId="ADAL" clId="{2E4DF6F4-BF74-49B5-8F9D-F5E250D4B209}" dt="2026-04-01T09:17:23.053" v="29" actId="478"/>
          <ac:spMkLst>
            <pc:docMk/>
            <pc:sldMk cId="115704607" sldId="3689"/>
            <ac:spMk id="3" creationId="{B68A5153-915E-EB4A-ADE7-9FCF11CBEA2F}"/>
          </ac:spMkLst>
        </pc:spChg>
        <pc:spChg chg="add mod">
          <ac:chgData name="신지수/방송사업지원팀" userId="d708d9a4-05b3-4ad4-9702-e3ee7a6f8508" providerId="ADAL" clId="{2E4DF6F4-BF74-49B5-8F9D-F5E250D4B209}" dt="2026-04-01T23:53:31.652" v="242" actId="20577"/>
          <ac:spMkLst>
            <pc:docMk/>
            <pc:sldMk cId="115704607" sldId="3689"/>
            <ac:spMk id="5" creationId="{252E863E-CB01-4992-5395-960FFD3EA601}"/>
          </ac:spMkLst>
        </pc:spChg>
      </pc:sldChg>
      <pc:sldChg chg="addSp modSp mod">
        <pc:chgData name="신지수/방송사업지원팀" userId="d708d9a4-05b3-4ad4-9702-e3ee7a6f8508" providerId="ADAL" clId="{2E4DF6F4-BF74-49B5-8F9D-F5E250D4B209}" dt="2026-04-01T23:53:35.460" v="244" actId="20577"/>
        <pc:sldMkLst>
          <pc:docMk/>
          <pc:sldMk cId="88342673" sldId="3690"/>
        </pc:sldMkLst>
        <pc:spChg chg="add mod">
          <ac:chgData name="신지수/방송사업지원팀" userId="d708d9a4-05b3-4ad4-9702-e3ee7a6f8508" providerId="ADAL" clId="{2E4DF6F4-BF74-49B5-8F9D-F5E250D4B209}" dt="2026-04-01T23:53:35.460" v="244" actId="20577"/>
          <ac:spMkLst>
            <pc:docMk/>
            <pc:sldMk cId="88342673" sldId="3690"/>
            <ac:spMk id="37" creationId="{8AE0AF08-B14D-DA8A-81BB-08E3E96C6402}"/>
          </ac:spMkLst>
        </pc:spChg>
      </pc:sldChg>
      <pc:sldChg chg="addSp modSp mod">
        <pc:chgData name="신지수/방송사업지원팀" userId="d708d9a4-05b3-4ad4-9702-e3ee7a6f8508" providerId="ADAL" clId="{2E4DF6F4-BF74-49B5-8F9D-F5E250D4B209}" dt="2026-04-01T23:53:43.019" v="246" actId="14100"/>
        <pc:sldMkLst>
          <pc:docMk/>
          <pc:sldMk cId="3990578408" sldId="3706"/>
        </pc:sldMkLst>
        <pc:spChg chg="add mod">
          <ac:chgData name="신지수/방송사업지원팀" userId="d708d9a4-05b3-4ad4-9702-e3ee7a6f8508" providerId="ADAL" clId="{2E4DF6F4-BF74-49B5-8F9D-F5E250D4B209}" dt="2026-04-01T23:53:43.019" v="246" actId="14100"/>
          <ac:spMkLst>
            <pc:docMk/>
            <pc:sldMk cId="3990578408" sldId="3706"/>
            <ac:spMk id="2" creationId="{BF772272-AF9B-0C4A-AE87-FA47456BDDFD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1T23:57:30.443" v="370" actId="20577"/>
        <pc:sldMkLst>
          <pc:docMk/>
          <pc:sldMk cId="2772957055" sldId="3777"/>
        </pc:sldMkLst>
        <pc:spChg chg="add del mod">
          <ac:chgData name="신지수/방송사업지원팀" userId="d708d9a4-05b3-4ad4-9702-e3ee7a6f8508" providerId="ADAL" clId="{2E4DF6F4-BF74-49B5-8F9D-F5E250D4B209}" dt="2026-04-01T23:57:24.744" v="366" actId="478"/>
          <ac:spMkLst>
            <pc:docMk/>
            <pc:sldMk cId="2772957055" sldId="3777"/>
            <ac:spMk id="4" creationId="{E12072FF-3F2D-0EFD-5D29-599ED31473E9}"/>
          </ac:spMkLst>
        </pc:spChg>
        <pc:spChg chg="add mod">
          <ac:chgData name="신지수/방송사업지원팀" userId="d708d9a4-05b3-4ad4-9702-e3ee7a6f8508" providerId="ADAL" clId="{2E4DF6F4-BF74-49B5-8F9D-F5E250D4B209}" dt="2026-04-01T23:57:30.443" v="370" actId="20577"/>
          <ac:spMkLst>
            <pc:docMk/>
            <pc:sldMk cId="2772957055" sldId="3777"/>
            <ac:spMk id="5" creationId="{A12AB364-BEC5-EAA2-C696-ECA05825C7D8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1T09:18:48.306" v="43" actId="478"/>
        <pc:sldMkLst>
          <pc:docMk/>
          <pc:sldMk cId="3947866926" sldId="3864"/>
        </pc:sldMkLst>
        <pc:spChg chg="add del mod">
          <ac:chgData name="신지수/방송사업지원팀" userId="d708d9a4-05b3-4ad4-9702-e3ee7a6f8508" providerId="ADAL" clId="{2E4DF6F4-BF74-49B5-8F9D-F5E250D4B209}" dt="2026-04-01T09:18:48.306" v="43" actId="478"/>
          <ac:spMkLst>
            <pc:docMk/>
            <pc:sldMk cId="3947866926" sldId="3864"/>
            <ac:spMk id="2" creationId="{B3352469-CC94-9C5A-C2C6-E967AC8E15C9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1T09:19:19.612" v="74" actId="478"/>
        <pc:sldMkLst>
          <pc:docMk/>
          <pc:sldMk cId="1472742198" sldId="3918"/>
        </pc:sldMkLst>
        <pc:spChg chg="add del mod">
          <ac:chgData name="신지수/방송사업지원팀" userId="d708d9a4-05b3-4ad4-9702-e3ee7a6f8508" providerId="ADAL" clId="{2E4DF6F4-BF74-49B5-8F9D-F5E250D4B209}" dt="2026-04-01T09:19:19.612" v="74" actId="478"/>
          <ac:spMkLst>
            <pc:docMk/>
            <pc:sldMk cId="1472742198" sldId="3918"/>
            <ac:spMk id="2" creationId="{FCD9B816-8156-06F4-4B56-D424E3DE537C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25:33.631" v="1227" actId="14734"/>
        <pc:sldMkLst>
          <pc:docMk/>
          <pc:sldMk cId="155142835" sldId="3924"/>
        </pc:sldMkLst>
        <pc:spChg chg="add del mod">
          <ac:chgData name="신지수/방송사업지원팀" userId="d708d9a4-05b3-4ad4-9702-e3ee7a6f8508" providerId="ADAL" clId="{2E4DF6F4-BF74-49B5-8F9D-F5E250D4B209}" dt="2026-04-01T23:54:04.836" v="256" actId="478"/>
          <ac:spMkLst>
            <pc:docMk/>
            <pc:sldMk cId="155142835" sldId="3924"/>
            <ac:spMk id="2" creationId="{3D6C155C-6B29-0ACB-B78F-113A8E95D2CE}"/>
          </ac:spMkLst>
        </pc:spChg>
        <pc:spChg chg="mod">
          <ac:chgData name="신지수/방송사업지원팀" userId="d708d9a4-05b3-4ad4-9702-e3ee7a6f8508" providerId="ADAL" clId="{2E4DF6F4-BF74-49B5-8F9D-F5E250D4B209}" dt="2026-04-01T23:54:45.790" v="280" actId="1035"/>
          <ac:spMkLst>
            <pc:docMk/>
            <pc:sldMk cId="155142835" sldId="3924"/>
            <ac:spMk id="7" creationId="{5BF37885-F89B-815C-913E-552E9185D250}"/>
          </ac:spMkLst>
        </pc:spChg>
        <pc:spChg chg="add mod">
          <ac:chgData name="신지수/방송사업지원팀" userId="d708d9a4-05b3-4ad4-9702-e3ee7a6f8508" providerId="ADAL" clId="{2E4DF6F4-BF74-49B5-8F9D-F5E250D4B209}" dt="2026-04-01T23:54:51.331" v="283" actId="1036"/>
          <ac:spMkLst>
            <pc:docMk/>
            <pc:sldMk cId="155142835" sldId="3924"/>
            <ac:spMk id="8" creationId="{806697FD-C0B1-2BAC-AEB5-292271351922}"/>
          </ac:spMkLst>
        </pc:spChg>
        <pc:graphicFrameChg chg="mod modGraphic">
          <ac:chgData name="신지수/방송사업지원팀" userId="d708d9a4-05b3-4ad4-9702-e3ee7a6f8508" providerId="ADAL" clId="{2E4DF6F4-BF74-49B5-8F9D-F5E250D4B209}" dt="2026-04-02T00:25:33.631" v="1227" actId="14734"/>
          <ac:graphicFrameMkLst>
            <pc:docMk/>
            <pc:sldMk cId="155142835" sldId="3924"/>
            <ac:graphicFrameMk id="6" creationId="{B3705BCE-83E4-60DB-7F40-75577A6FB79B}"/>
          </ac:graphicFrameMkLst>
        </pc:graphicFrameChg>
      </pc:sldChg>
      <pc:sldChg chg="addSp delSp modSp mod">
        <pc:chgData name="신지수/방송사업지원팀" userId="d708d9a4-05b3-4ad4-9702-e3ee7a6f8508" providerId="ADAL" clId="{2E4DF6F4-BF74-49B5-8F9D-F5E250D4B209}" dt="2026-04-01T23:55:28.311" v="297" actId="20577"/>
        <pc:sldMkLst>
          <pc:docMk/>
          <pc:sldMk cId="1736472563" sldId="3925"/>
        </pc:sldMkLst>
        <pc:spChg chg="add del mod">
          <ac:chgData name="신지수/방송사업지원팀" userId="d708d9a4-05b3-4ad4-9702-e3ee7a6f8508" providerId="ADAL" clId="{2E4DF6F4-BF74-49B5-8F9D-F5E250D4B209}" dt="2026-04-01T23:54:55.958" v="284" actId="478"/>
          <ac:spMkLst>
            <pc:docMk/>
            <pc:sldMk cId="1736472563" sldId="3925"/>
            <ac:spMk id="2" creationId="{95835805-0ED7-3202-16F8-AF9E12DF17C7}"/>
          </ac:spMkLst>
        </pc:spChg>
        <pc:spChg chg="add del mod">
          <ac:chgData name="신지수/방송사업지원팀" userId="d708d9a4-05b3-4ad4-9702-e3ee7a6f8508" providerId="ADAL" clId="{2E4DF6F4-BF74-49B5-8F9D-F5E250D4B209}" dt="2026-04-01T23:54:59.220" v="286" actId="478"/>
          <ac:spMkLst>
            <pc:docMk/>
            <pc:sldMk cId="1736472563" sldId="3925"/>
            <ac:spMk id="4" creationId="{DA2C9DC0-0B5C-3BA6-2A6B-BF94CCF26D80}"/>
          </ac:spMkLst>
        </pc:spChg>
        <pc:spChg chg="add mod">
          <ac:chgData name="신지수/방송사업지원팀" userId="d708d9a4-05b3-4ad4-9702-e3ee7a6f8508" providerId="ADAL" clId="{2E4DF6F4-BF74-49B5-8F9D-F5E250D4B209}" dt="2026-04-01T23:55:28.311" v="297" actId="20577"/>
          <ac:spMkLst>
            <pc:docMk/>
            <pc:sldMk cId="1736472563" sldId="3925"/>
            <ac:spMk id="5" creationId="{01777DF8-F78E-D78B-5851-F38EF9E51663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1T23:55:31.628" v="302" actId="20577"/>
        <pc:sldMkLst>
          <pc:docMk/>
          <pc:sldMk cId="1159465543" sldId="3926"/>
        </pc:sldMkLst>
        <pc:spChg chg="add del mod">
          <ac:chgData name="신지수/방송사업지원팀" userId="d708d9a4-05b3-4ad4-9702-e3ee7a6f8508" providerId="ADAL" clId="{2E4DF6F4-BF74-49B5-8F9D-F5E250D4B209}" dt="2026-04-01T23:55:08.962" v="288" actId="478"/>
          <ac:spMkLst>
            <pc:docMk/>
            <pc:sldMk cId="1159465543" sldId="3926"/>
            <ac:spMk id="4" creationId="{BC6D3514-5B62-3930-F67A-B5C9240DF00C}"/>
          </ac:spMkLst>
        </pc:spChg>
        <pc:spChg chg="add mod">
          <ac:chgData name="신지수/방송사업지원팀" userId="d708d9a4-05b3-4ad4-9702-e3ee7a6f8508" providerId="ADAL" clId="{2E4DF6F4-BF74-49B5-8F9D-F5E250D4B209}" dt="2026-04-01T23:55:31.628" v="302" actId="20577"/>
          <ac:spMkLst>
            <pc:docMk/>
            <pc:sldMk cId="1159465543" sldId="3926"/>
            <ac:spMk id="6" creationId="{E3AD8A89-C7CF-361B-17DC-15B99DB0B57E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1T23:56:05.547" v="312" actId="1035"/>
        <pc:sldMkLst>
          <pc:docMk/>
          <pc:sldMk cId="2288403857" sldId="3927"/>
        </pc:sldMkLst>
        <pc:spChg chg="mod">
          <ac:chgData name="신지수/방송사업지원팀" userId="d708d9a4-05b3-4ad4-9702-e3ee7a6f8508" providerId="ADAL" clId="{2E4DF6F4-BF74-49B5-8F9D-F5E250D4B209}" dt="2026-04-01T23:56:05.547" v="312" actId="1035"/>
          <ac:spMkLst>
            <pc:docMk/>
            <pc:sldMk cId="2288403857" sldId="3927"/>
            <ac:spMk id="4" creationId="{498D9240-A9A7-A336-ED3A-52E896DD17F7}"/>
          </ac:spMkLst>
        </pc:spChg>
        <pc:spChg chg="add del mod">
          <ac:chgData name="신지수/방송사업지원팀" userId="d708d9a4-05b3-4ad4-9702-e3ee7a6f8508" providerId="ADAL" clId="{2E4DF6F4-BF74-49B5-8F9D-F5E250D4B209}" dt="2026-04-01T23:55:12.760" v="289" actId="478"/>
          <ac:spMkLst>
            <pc:docMk/>
            <pc:sldMk cId="2288403857" sldId="3927"/>
            <ac:spMk id="5" creationId="{2E843D48-9143-A636-E52F-CEA4ACAD54E4}"/>
          </ac:spMkLst>
        </pc:spChg>
        <pc:spChg chg="add mod">
          <ac:chgData name="신지수/방송사업지원팀" userId="d708d9a4-05b3-4ad4-9702-e3ee7a6f8508" providerId="ADAL" clId="{2E4DF6F4-BF74-49B5-8F9D-F5E250D4B209}" dt="2026-04-01T23:55:35.266" v="305" actId="20577"/>
          <ac:spMkLst>
            <pc:docMk/>
            <pc:sldMk cId="2288403857" sldId="3927"/>
            <ac:spMk id="6" creationId="{199686C9-FD3C-F4C3-362D-8BA90EF182E9}"/>
          </ac:spMkLst>
        </pc:spChg>
        <pc:graphicFrameChg chg="mod">
          <ac:chgData name="신지수/방송사업지원팀" userId="d708d9a4-05b3-4ad4-9702-e3ee7a6f8508" providerId="ADAL" clId="{2E4DF6F4-BF74-49B5-8F9D-F5E250D4B209}" dt="2026-04-01T23:56:05.547" v="312" actId="1035"/>
          <ac:graphicFrameMkLst>
            <pc:docMk/>
            <pc:sldMk cId="2288403857" sldId="3927"/>
            <ac:graphicFrameMk id="3" creationId="{A079F8D9-3939-62CF-3FDB-47A72F99A97F}"/>
          </ac:graphicFrameMkLst>
        </pc:graphicFrameChg>
      </pc:sldChg>
      <pc:sldChg chg="addSp delSp modSp mod">
        <pc:chgData name="신지수/방송사업지원팀" userId="d708d9a4-05b3-4ad4-9702-e3ee7a6f8508" providerId="ADAL" clId="{2E4DF6F4-BF74-49B5-8F9D-F5E250D4B209}" dt="2026-04-01T23:56:13.630" v="318" actId="20577"/>
        <pc:sldMkLst>
          <pc:docMk/>
          <pc:sldMk cId="2990463667" sldId="3928"/>
        </pc:sldMkLst>
        <pc:spChg chg="add del mod">
          <ac:chgData name="신지수/방송사업지원팀" userId="d708d9a4-05b3-4ad4-9702-e3ee7a6f8508" providerId="ADAL" clId="{2E4DF6F4-BF74-49B5-8F9D-F5E250D4B209}" dt="2026-04-01T23:55:15.389" v="291" actId="478"/>
          <ac:spMkLst>
            <pc:docMk/>
            <pc:sldMk cId="2990463667" sldId="3928"/>
            <ac:spMk id="4" creationId="{5782E690-ED26-EA48-00E7-32C01FF53BF4}"/>
          </ac:spMkLst>
        </pc:spChg>
        <pc:spChg chg="add mod">
          <ac:chgData name="신지수/방송사업지원팀" userId="d708d9a4-05b3-4ad4-9702-e3ee7a6f8508" providerId="ADAL" clId="{2E4DF6F4-BF74-49B5-8F9D-F5E250D4B209}" dt="2026-04-01T23:56:13.630" v="318" actId="20577"/>
          <ac:spMkLst>
            <pc:docMk/>
            <pc:sldMk cId="2990463667" sldId="3928"/>
            <ac:spMk id="6" creationId="{CA0B6A46-1F49-0B96-27FF-76741FD56884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1T23:56:21.989" v="328" actId="20577"/>
        <pc:sldMkLst>
          <pc:docMk/>
          <pc:sldMk cId="3022470939" sldId="3929"/>
        </pc:sldMkLst>
        <pc:spChg chg="add del mod">
          <ac:chgData name="신지수/방송사업지원팀" userId="d708d9a4-05b3-4ad4-9702-e3ee7a6f8508" providerId="ADAL" clId="{2E4DF6F4-BF74-49B5-8F9D-F5E250D4B209}" dt="2026-04-01T23:55:18.339" v="293" actId="478"/>
          <ac:spMkLst>
            <pc:docMk/>
            <pc:sldMk cId="3022470939" sldId="3929"/>
            <ac:spMk id="4" creationId="{E141DCCA-4E20-B877-36DA-3C38279ECAC1}"/>
          </ac:spMkLst>
        </pc:spChg>
        <pc:spChg chg="add mod">
          <ac:chgData name="신지수/방송사업지원팀" userId="d708d9a4-05b3-4ad4-9702-e3ee7a6f8508" providerId="ADAL" clId="{2E4DF6F4-BF74-49B5-8F9D-F5E250D4B209}" dt="2026-04-01T23:56:21.989" v="328" actId="20577"/>
          <ac:spMkLst>
            <pc:docMk/>
            <pc:sldMk cId="3022470939" sldId="3929"/>
            <ac:spMk id="8" creationId="{CC1E3B44-1121-D5F6-EC53-1A9877DDB0FD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1T23:56:17.326" v="323" actId="20577"/>
        <pc:sldMkLst>
          <pc:docMk/>
          <pc:sldMk cId="859688254" sldId="3930"/>
        </pc:sldMkLst>
        <pc:spChg chg="add del mod">
          <ac:chgData name="신지수/방송사업지원팀" userId="d708d9a4-05b3-4ad4-9702-e3ee7a6f8508" providerId="ADAL" clId="{2E4DF6F4-BF74-49B5-8F9D-F5E250D4B209}" dt="2026-04-01T23:55:16.734" v="292" actId="478"/>
          <ac:spMkLst>
            <pc:docMk/>
            <pc:sldMk cId="859688254" sldId="3930"/>
            <ac:spMk id="4" creationId="{C69E73AD-C3F3-3C8C-8EA7-1C99A9B7178E}"/>
          </ac:spMkLst>
        </pc:spChg>
        <pc:spChg chg="add mod">
          <ac:chgData name="신지수/방송사업지원팀" userId="d708d9a4-05b3-4ad4-9702-e3ee7a6f8508" providerId="ADAL" clId="{2E4DF6F4-BF74-49B5-8F9D-F5E250D4B209}" dt="2026-04-01T23:56:17.326" v="323" actId="20577"/>
          <ac:spMkLst>
            <pc:docMk/>
            <pc:sldMk cId="859688254" sldId="3930"/>
            <ac:spMk id="8" creationId="{80C3DCEB-858D-2FF1-B187-B23DD5FA03F4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1T23:56:26.024" v="333" actId="20577"/>
        <pc:sldMkLst>
          <pc:docMk/>
          <pc:sldMk cId="1271226820" sldId="3931"/>
        </pc:sldMkLst>
        <pc:spChg chg="add del mod">
          <ac:chgData name="신지수/방송사업지원팀" userId="d708d9a4-05b3-4ad4-9702-e3ee7a6f8508" providerId="ADAL" clId="{2E4DF6F4-BF74-49B5-8F9D-F5E250D4B209}" dt="2026-04-01T23:55:19.686" v="294" actId="478"/>
          <ac:spMkLst>
            <pc:docMk/>
            <pc:sldMk cId="1271226820" sldId="3931"/>
            <ac:spMk id="4" creationId="{57969C8A-7D4C-575D-2854-C80118085452}"/>
          </ac:spMkLst>
        </pc:spChg>
        <pc:spChg chg="add mod">
          <ac:chgData name="신지수/방송사업지원팀" userId="d708d9a4-05b3-4ad4-9702-e3ee7a6f8508" providerId="ADAL" clId="{2E4DF6F4-BF74-49B5-8F9D-F5E250D4B209}" dt="2026-04-01T23:56:26.024" v="333" actId="20577"/>
          <ac:spMkLst>
            <pc:docMk/>
            <pc:sldMk cId="1271226820" sldId="3931"/>
            <ac:spMk id="6" creationId="{E24555B7-2F1F-0755-582F-CB72CE24E97A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1T23:56:30.156" v="336" actId="20577"/>
        <pc:sldMkLst>
          <pc:docMk/>
          <pc:sldMk cId="2525272093" sldId="3933"/>
        </pc:sldMkLst>
        <pc:spChg chg="add del mod">
          <ac:chgData name="신지수/방송사업지원팀" userId="d708d9a4-05b3-4ad4-9702-e3ee7a6f8508" providerId="ADAL" clId="{2E4DF6F4-BF74-49B5-8F9D-F5E250D4B209}" dt="2026-04-01T23:55:21.246" v="295" actId="478"/>
          <ac:spMkLst>
            <pc:docMk/>
            <pc:sldMk cId="2525272093" sldId="3933"/>
            <ac:spMk id="4" creationId="{54260087-C808-EA17-5FB7-26CADE229596}"/>
          </ac:spMkLst>
        </pc:spChg>
        <pc:spChg chg="add mod">
          <ac:chgData name="신지수/방송사업지원팀" userId="d708d9a4-05b3-4ad4-9702-e3ee7a6f8508" providerId="ADAL" clId="{2E4DF6F4-BF74-49B5-8F9D-F5E250D4B209}" dt="2026-04-01T23:56:30.156" v="336" actId="20577"/>
          <ac:spMkLst>
            <pc:docMk/>
            <pc:sldMk cId="2525272093" sldId="3933"/>
            <ac:spMk id="6" creationId="{DE734BAD-334D-CF00-C8B4-F95F39D8019D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1T23:56:10.048" v="315" actId="20577"/>
        <pc:sldMkLst>
          <pc:docMk/>
          <pc:sldMk cId="4203367113" sldId="3934"/>
        </pc:sldMkLst>
        <pc:spChg chg="add del mod">
          <ac:chgData name="신지수/방송사업지원팀" userId="d708d9a4-05b3-4ad4-9702-e3ee7a6f8508" providerId="ADAL" clId="{2E4DF6F4-BF74-49B5-8F9D-F5E250D4B209}" dt="2026-04-01T23:55:14.050" v="290" actId="478"/>
          <ac:spMkLst>
            <pc:docMk/>
            <pc:sldMk cId="4203367113" sldId="3934"/>
            <ac:spMk id="5" creationId="{AB76A3E3-FE89-66CF-C903-D58155C2C515}"/>
          </ac:spMkLst>
        </pc:spChg>
        <pc:spChg chg="add mod">
          <ac:chgData name="신지수/방송사업지원팀" userId="d708d9a4-05b3-4ad4-9702-e3ee7a6f8508" providerId="ADAL" clId="{2E4DF6F4-BF74-49B5-8F9D-F5E250D4B209}" dt="2026-04-01T23:56:10.048" v="315" actId="20577"/>
          <ac:spMkLst>
            <pc:docMk/>
            <pc:sldMk cId="4203367113" sldId="3934"/>
            <ac:spMk id="6" creationId="{6AC69439-04FC-C4B6-A4FA-897FB38A748D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3:13.765" v="773" actId="20577"/>
        <pc:sldMkLst>
          <pc:docMk/>
          <pc:sldMk cId="199549168" sldId="3945"/>
        </pc:sldMkLst>
        <pc:spChg chg="add del mod">
          <ac:chgData name="신지수/방송사업지원팀" userId="d708d9a4-05b3-4ad4-9702-e3ee7a6f8508" providerId="ADAL" clId="{2E4DF6F4-BF74-49B5-8F9D-F5E250D4B209}" dt="2026-04-02T00:04:31.955" v="545" actId="478"/>
          <ac:spMkLst>
            <pc:docMk/>
            <pc:sldMk cId="199549168" sldId="3945"/>
            <ac:spMk id="17" creationId="{DB039DC0-BC68-2CBC-74EF-E9EBB8AF6392}"/>
          </ac:spMkLst>
        </pc:spChg>
        <pc:spChg chg="add mod">
          <ac:chgData name="신지수/방송사업지원팀" userId="d708d9a4-05b3-4ad4-9702-e3ee7a6f8508" providerId="ADAL" clId="{2E4DF6F4-BF74-49B5-8F9D-F5E250D4B209}" dt="2026-04-02T00:13:13.765" v="773" actId="20577"/>
          <ac:spMkLst>
            <pc:docMk/>
            <pc:sldMk cId="199549168" sldId="3945"/>
            <ac:spMk id="18" creationId="{651D149D-1AF6-EA0F-F154-0611FDA51423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1T23:53:23.504" v="238" actId="20577"/>
        <pc:sldMkLst>
          <pc:docMk/>
          <pc:sldMk cId="928000028" sldId="3974"/>
        </pc:sldMkLst>
        <pc:spChg chg="add del mod">
          <ac:chgData name="신지수/방송사업지원팀" userId="d708d9a4-05b3-4ad4-9702-e3ee7a6f8508" providerId="ADAL" clId="{2E4DF6F4-BF74-49B5-8F9D-F5E250D4B209}" dt="2026-04-01T09:17:20.439" v="27" actId="478"/>
          <ac:spMkLst>
            <pc:docMk/>
            <pc:sldMk cId="928000028" sldId="3974"/>
            <ac:spMk id="2" creationId="{DAEFC36D-1944-DEFD-AEA6-80D5F7BDD79A}"/>
          </ac:spMkLst>
        </pc:spChg>
        <pc:spChg chg="add mod">
          <ac:chgData name="신지수/방송사업지원팀" userId="d708d9a4-05b3-4ad4-9702-e3ee7a6f8508" providerId="ADAL" clId="{2E4DF6F4-BF74-49B5-8F9D-F5E250D4B209}" dt="2026-04-01T23:53:23.504" v="238" actId="20577"/>
          <ac:spMkLst>
            <pc:docMk/>
            <pc:sldMk cId="928000028" sldId="3974"/>
            <ac:spMk id="12" creationId="{FCA2E357-5D5C-53A3-BF6F-43A80BDBCDFA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1T23:53:28.608" v="240" actId="20577"/>
        <pc:sldMkLst>
          <pc:docMk/>
          <pc:sldMk cId="1099050642" sldId="3975"/>
        </pc:sldMkLst>
        <pc:spChg chg="add del mod">
          <ac:chgData name="신지수/방송사업지원팀" userId="d708d9a4-05b3-4ad4-9702-e3ee7a6f8508" providerId="ADAL" clId="{2E4DF6F4-BF74-49B5-8F9D-F5E250D4B209}" dt="2026-04-01T09:17:21.724" v="28" actId="478"/>
          <ac:spMkLst>
            <pc:docMk/>
            <pc:sldMk cId="1099050642" sldId="3975"/>
            <ac:spMk id="12" creationId="{941A3AF8-733C-012B-DD14-14020354302B}"/>
          </ac:spMkLst>
        </pc:spChg>
        <pc:spChg chg="add mod">
          <ac:chgData name="신지수/방송사업지원팀" userId="d708d9a4-05b3-4ad4-9702-e3ee7a6f8508" providerId="ADAL" clId="{2E4DF6F4-BF74-49B5-8F9D-F5E250D4B209}" dt="2026-04-01T23:53:28.608" v="240" actId="20577"/>
          <ac:spMkLst>
            <pc:docMk/>
            <pc:sldMk cId="1099050642" sldId="3975"/>
            <ac:spMk id="13" creationId="{A615A80B-FD27-532F-7D16-E5F784869D4C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1T23:53:56.435" v="251" actId="20577"/>
        <pc:sldMkLst>
          <pc:docMk/>
          <pc:sldMk cId="2399414780" sldId="3976"/>
        </pc:sldMkLst>
        <pc:spChg chg="add del mod">
          <ac:chgData name="신지수/방송사업지원팀" userId="d708d9a4-05b3-4ad4-9702-e3ee7a6f8508" providerId="ADAL" clId="{2E4DF6F4-BF74-49B5-8F9D-F5E250D4B209}" dt="2026-04-01T23:53:50.343" v="248" actId="478"/>
          <ac:spMkLst>
            <pc:docMk/>
            <pc:sldMk cId="2399414780" sldId="3976"/>
            <ac:spMk id="3" creationId="{41FB4E54-F18C-8E5E-281E-48743867AB79}"/>
          </ac:spMkLst>
        </pc:spChg>
        <pc:spChg chg="add mod">
          <ac:chgData name="신지수/방송사업지원팀" userId="d708d9a4-05b3-4ad4-9702-e3ee7a6f8508" providerId="ADAL" clId="{2E4DF6F4-BF74-49B5-8F9D-F5E250D4B209}" dt="2026-04-01T23:53:56.435" v="251" actId="20577"/>
          <ac:spMkLst>
            <pc:docMk/>
            <pc:sldMk cId="2399414780" sldId="3976"/>
            <ac:spMk id="4" creationId="{123BF8DE-5C4F-7607-17F2-25B3CB130620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1T23:52:35.620" v="215" actId="1038"/>
        <pc:sldMkLst>
          <pc:docMk/>
          <pc:sldMk cId="4139988639" sldId="3978"/>
        </pc:sldMkLst>
        <pc:spChg chg="add del mod">
          <ac:chgData name="신지수/방송사업지원팀" userId="d708d9a4-05b3-4ad4-9702-e3ee7a6f8508" providerId="ADAL" clId="{2E4DF6F4-BF74-49B5-8F9D-F5E250D4B209}" dt="2026-04-01T09:17:12.767" v="23" actId="478"/>
          <ac:spMkLst>
            <pc:docMk/>
            <pc:sldMk cId="4139988639" sldId="3978"/>
            <ac:spMk id="3" creationId="{29E28D1F-4841-A0D1-8985-5CB6550B036F}"/>
          </ac:spMkLst>
        </pc:spChg>
        <pc:spChg chg="add mod">
          <ac:chgData name="신지수/방송사업지원팀" userId="d708d9a4-05b3-4ad4-9702-e3ee7a6f8508" providerId="ADAL" clId="{2E4DF6F4-BF74-49B5-8F9D-F5E250D4B209}" dt="2026-04-01T23:52:35.620" v="215" actId="1038"/>
          <ac:spMkLst>
            <pc:docMk/>
            <pc:sldMk cId="4139988639" sldId="3978"/>
            <ac:spMk id="5" creationId="{734258F3-291F-FC91-B003-6115673EE9EF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1T23:52:40.885" v="217" actId="20577"/>
        <pc:sldMkLst>
          <pc:docMk/>
          <pc:sldMk cId="1298327166" sldId="3979"/>
        </pc:sldMkLst>
        <pc:spChg chg="add del mod">
          <ac:chgData name="신지수/방송사업지원팀" userId="d708d9a4-05b3-4ad4-9702-e3ee7a6f8508" providerId="ADAL" clId="{2E4DF6F4-BF74-49B5-8F9D-F5E250D4B209}" dt="2026-04-01T09:17:15.298" v="24" actId="478"/>
          <ac:spMkLst>
            <pc:docMk/>
            <pc:sldMk cId="1298327166" sldId="3979"/>
            <ac:spMk id="2" creationId="{9E05C1D7-A623-B722-9389-99E93FAF51E8}"/>
          </ac:spMkLst>
        </pc:spChg>
        <pc:spChg chg="add mod">
          <ac:chgData name="신지수/방송사업지원팀" userId="d708d9a4-05b3-4ad4-9702-e3ee7a6f8508" providerId="ADAL" clId="{2E4DF6F4-BF74-49B5-8F9D-F5E250D4B209}" dt="2026-04-01T23:52:40.885" v="217" actId="20577"/>
          <ac:spMkLst>
            <pc:docMk/>
            <pc:sldMk cId="1298327166" sldId="3979"/>
            <ac:spMk id="3" creationId="{8FDCFBCB-8FDF-0921-5931-6D5D181F2C2F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1T23:54:01.864" v="255" actId="20577"/>
        <pc:sldMkLst>
          <pc:docMk/>
          <pc:sldMk cId="3814121656" sldId="3981"/>
        </pc:sldMkLst>
        <pc:spChg chg="add del mod">
          <ac:chgData name="신지수/방송사업지원팀" userId="d708d9a4-05b3-4ad4-9702-e3ee7a6f8508" providerId="ADAL" clId="{2E4DF6F4-BF74-49B5-8F9D-F5E250D4B209}" dt="2026-04-01T23:53:59.863" v="252" actId="478"/>
          <ac:spMkLst>
            <pc:docMk/>
            <pc:sldMk cId="3814121656" sldId="3981"/>
            <ac:spMk id="2" creationId="{9155B709-EDFC-D860-AFE6-EBCCDFFDAFDF}"/>
          </ac:spMkLst>
        </pc:spChg>
        <pc:spChg chg="add mod">
          <ac:chgData name="신지수/방송사업지원팀" userId="d708d9a4-05b3-4ad4-9702-e3ee7a6f8508" providerId="ADAL" clId="{2E4DF6F4-BF74-49B5-8F9D-F5E250D4B209}" dt="2026-04-01T23:54:01.864" v="255" actId="20577"/>
          <ac:spMkLst>
            <pc:docMk/>
            <pc:sldMk cId="3814121656" sldId="3981"/>
            <ac:spMk id="6" creationId="{2447B715-E6E1-8A9D-55D5-A8A3889B805E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1T23:56:48.979" v="345" actId="20577"/>
        <pc:sldMkLst>
          <pc:docMk/>
          <pc:sldMk cId="2061123673" sldId="3982"/>
        </pc:sldMkLst>
        <pc:spChg chg="add del mod">
          <ac:chgData name="신지수/방송사업지원팀" userId="d708d9a4-05b3-4ad4-9702-e3ee7a6f8508" providerId="ADAL" clId="{2E4DF6F4-BF74-49B5-8F9D-F5E250D4B209}" dt="2026-04-01T23:56:34.502" v="337" actId="478"/>
          <ac:spMkLst>
            <pc:docMk/>
            <pc:sldMk cId="2061123673" sldId="3982"/>
            <ac:spMk id="3" creationId="{2978D67C-9995-658A-E414-C00498430BA7}"/>
          </ac:spMkLst>
        </pc:spChg>
        <pc:spChg chg="add mod">
          <ac:chgData name="신지수/방송사업지원팀" userId="d708d9a4-05b3-4ad4-9702-e3ee7a6f8508" providerId="ADAL" clId="{2E4DF6F4-BF74-49B5-8F9D-F5E250D4B209}" dt="2026-04-01T23:56:48.979" v="345" actId="20577"/>
          <ac:spMkLst>
            <pc:docMk/>
            <pc:sldMk cId="2061123673" sldId="3982"/>
            <ac:spMk id="13" creationId="{DD4D2031-1360-5624-D7CB-2A4EB6DD7936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1T23:57:01.390" v="355" actId="20577"/>
        <pc:sldMkLst>
          <pc:docMk/>
          <pc:sldMk cId="972078494" sldId="3983"/>
        </pc:sldMkLst>
        <pc:spChg chg="add del mod">
          <ac:chgData name="신지수/방송사업지원팀" userId="d708d9a4-05b3-4ad4-9702-e3ee7a6f8508" providerId="ADAL" clId="{2E4DF6F4-BF74-49B5-8F9D-F5E250D4B209}" dt="2026-04-01T23:56:35.955" v="338" actId="478"/>
          <ac:spMkLst>
            <pc:docMk/>
            <pc:sldMk cId="972078494" sldId="3983"/>
            <ac:spMk id="2" creationId="{5B765EA9-7D2C-37CB-37C2-318D4B1573A8}"/>
          </ac:spMkLst>
        </pc:spChg>
        <pc:spChg chg="add mod">
          <ac:chgData name="신지수/방송사업지원팀" userId="d708d9a4-05b3-4ad4-9702-e3ee7a6f8508" providerId="ADAL" clId="{2E4DF6F4-BF74-49B5-8F9D-F5E250D4B209}" dt="2026-04-01T23:57:01.390" v="355" actId="20577"/>
          <ac:spMkLst>
            <pc:docMk/>
            <pc:sldMk cId="972078494" sldId="3983"/>
            <ac:spMk id="3" creationId="{13B51D41-2755-F446-A834-2573EFE38989}"/>
          </ac:spMkLst>
        </pc:spChg>
        <pc:graphicFrameChg chg="modGraphic">
          <ac:chgData name="신지수/방송사업지원팀" userId="d708d9a4-05b3-4ad4-9702-e3ee7a6f8508" providerId="ADAL" clId="{2E4DF6F4-BF74-49B5-8F9D-F5E250D4B209}" dt="2026-04-01T23:56:55.483" v="347" actId="14734"/>
          <ac:graphicFrameMkLst>
            <pc:docMk/>
            <pc:sldMk cId="972078494" sldId="3983"/>
            <ac:graphicFrameMk id="5" creationId="{E151C880-F3CF-27CF-AB52-70387663DE81}"/>
          </ac:graphicFrameMkLst>
        </pc:graphicFrameChg>
      </pc:sldChg>
      <pc:sldChg chg="addSp delSp modSp mod">
        <pc:chgData name="신지수/방송사업지원팀" userId="d708d9a4-05b3-4ad4-9702-e3ee7a6f8508" providerId="ADAL" clId="{2E4DF6F4-BF74-49B5-8F9D-F5E250D4B209}" dt="2026-04-01T23:57:15.895" v="360" actId="20577"/>
        <pc:sldMkLst>
          <pc:docMk/>
          <pc:sldMk cId="1747684198" sldId="3984"/>
        </pc:sldMkLst>
        <pc:spChg chg="add del mod">
          <ac:chgData name="신지수/방송사업지원팀" userId="d708d9a4-05b3-4ad4-9702-e3ee7a6f8508" providerId="ADAL" clId="{2E4DF6F4-BF74-49B5-8F9D-F5E250D4B209}" dt="2026-04-01T23:56:38.024" v="339" actId="478"/>
          <ac:spMkLst>
            <pc:docMk/>
            <pc:sldMk cId="1747684198" sldId="3984"/>
            <ac:spMk id="4" creationId="{FBB3FB7F-1DE9-EC4F-10EE-B8CA10E96895}"/>
          </ac:spMkLst>
        </pc:spChg>
        <pc:spChg chg="add mod">
          <ac:chgData name="신지수/방송사업지원팀" userId="d708d9a4-05b3-4ad4-9702-e3ee7a6f8508" providerId="ADAL" clId="{2E4DF6F4-BF74-49B5-8F9D-F5E250D4B209}" dt="2026-04-01T23:57:15.895" v="360" actId="20577"/>
          <ac:spMkLst>
            <pc:docMk/>
            <pc:sldMk cId="1747684198" sldId="3984"/>
            <ac:spMk id="5" creationId="{B9B4F92F-385F-CC95-7A00-274051FB0D7C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1T23:57:20.767" v="365" actId="20577"/>
        <pc:sldMkLst>
          <pc:docMk/>
          <pc:sldMk cId="1250439905" sldId="3985"/>
        </pc:sldMkLst>
        <pc:spChg chg="add del mod">
          <ac:chgData name="신지수/방송사업지원팀" userId="d708d9a4-05b3-4ad4-9702-e3ee7a6f8508" providerId="ADAL" clId="{2E4DF6F4-BF74-49B5-8F9D-F5E250D4B209}" dt="2026-04-01T23:56:39.572" v="340" actId="478"/>
          <ac:spMkLst>
            <pc:docMk/>
            <pc:sldMk cId="1250439905" sldId="3985"/>
            <ac:spMk id="2" creationId="{6367BEE2-37DE-F19B-F15A-88A46F13EA29}"/>
          </ac:spMkLst>
        </pc:spChg>
        <pc:spChg chg="add mod">
          <ac:chgData name="신지수/방송사업지원팀" userId="d708d9a4-05b3-4ad4-9702-e3ee7a6f8508" providerId="ADAL" clId="{2E4DF6F4-BF74-49B5-8F9D-F5E250D4B209}" dt="2026-04-01T23:57:20.767" v="365" actId="20577"/>
          <ac:spMkLst>
            <pc:docMk/>
            <pc:sldMk cId="1250439905" sldId="3985"/>
            <ac:spMk id="46" creationId="{B452AC3A-4189-AE5F-BD6F-3C821B0FA010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3:09.456" v="767" actId="20577"/>
        <pc:sldMkLst>
          <pc:docMk/>
          <pc:sldMk cId="2350742204" sldId="4020"/>
        </pc:sldMkLst>
        <pc:spChg chg="add del mod">
          <ac:chgData name="신지수/방송사업지원팀" userId="d708d9a4-05b3-4ad4-9702-e3ee7a6f8508" providerId="ADAL" clId="{2E4DF6F4-BF74-49B5-8F9D-F5E250D4B209}" dt="2026-04-02T00:04:29.749" v="544" actId="478"/>
          <ac:spMkLst>
            <pc:docMk/>
            <pc:sldMk cId="2350742204" sldId="4020"/>
            <ac:spMk id="5" creationId="{648ADE15-151E-0FB4-CB29-7C7FC6E73510}"/>
          </ac:spMkLst>
        </pc:spChg>
        <pc:spChg chg="add mod">
          <ac:chgData name="신지수/방송사업지원팀" userId="d708d9a4-05b3-4ad4-9702-e3ee7a6f8508" providerId="ADAL" clId="{2E4DF6F4-BF74-49B5-8F9D-F5E250D4B209}" dt="2026-04-02T00:13:09.456" v="767" actId="20577"/>
          <ac:spMkLst>
            <pc:docMk/>
            <pc:sldMk cId="2350742204" sldId="4020"/>
            <ac:spMk id="6" creationId="{27A7418A-6B09-0477-75E7-E1ACA0A9DCC3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1T09:19:07.924" v="62" actId="478"/>
        <pc:sldMkLst>
          <pc:docMk/>
          <pc:sldMk cId="1321982300" sldId="4022"/>
        </pc:sldMkLst>
        <pc:spChg chg="add del mod">
          <ac:chgData name="신지수/방송사업지원팀" userId="d708d9a4-05b3-4ad4-9702-e3ee7a6f8508" providerId="ADAL" clId="{2E4DF6F4-BF74-49B5-8F9D-F5E250D4B209}" dt="2026-04-01T09:19:07.924" v="62" actId="478"/>
          <ac:spMkLst>
            <pc:docMk/>
            <pc:sldMk cId="1321982300" sldId="4022"/>
            <ac:spMk id="2" creationId="{F98E8B01-A78D-232E-634A-59F456E0B14E}"/>
          </ac:spMkLst>
        </pc:spChg>
        <pc:spChg chg="add del">
          <ac:chgData name="신지수/방송사업지원팀" userId="d708d9a4-05b3-4ad4-9702-e3ee7a6f8508" providerId="ADAL" clId="{2E4DF6F4-BF74-49B5-8F9D-F5E250D4B209}" dt="2026-04-01T09:19:06.135" v="61" actId="478"/>
          <ac:spMkLst>
            <pc:docMk/>
            <pc:sldMk cId="1321982300" sldId="4022"/>
            <ac:spMk id="7" creationId="{E780ECC5-B828-2390-DF8B-265DF4B09962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1T23:57:33.940" v="375" actId="20577"/>
        <pc:sldMkLst>
          <pc:docMk/>
          <pc:sldMk cId="339727677" sldId="4030"/>
        </pc:sldMkLst>
        <pc:spChg chg="add del mod">
          <ac:chgData name="신지수/방송사업지원팀" userId="d708d9a4-05b3-4ad4-9702-e3ee7a6f8508" providerId="ADAL" clId="{2E4DF6F4-BF74-49B5-8F9D-F5E250D4B209}" dt="2026-04-01T23:57:25.863" v="367" actId="478"/>
          <ac:spMkLst>
            <pc:docMk/>
            <pc:sldMk cId="339727677" sldId="4030"/>
            <ac:spMk id="2" creationId="{1C715F0E-38C9-7D98-D7D7-37A1FD5C8AED}"/>
          </ac:spMkLst>
        </pc:spChg>
        <pc:spChg chg="add mod">
          <ac:chgData name="신지수/방송사업지원팀" userId="d708d9a4-05b3-4ad4-9702-e3ee7a6f8508" providerId="ADAL" clId="{2E4DF6F4-BF74-49B5-8F9D-F5E250D4B209}" dt="2026-04-01T23:57:33.940" v="375" actId="20577"/>
          <ac:spMkLst>
            <pc:docMk/>
            <pc:sldMk cId="339727677" sldId="4030"/>
            <ac:spMk id="4" creationId="{0C07C962-3412-E9E6-36A8-58504C4164E8}"/>
          </ac:spMkLst>
        </pc:spChg>
      </pc:sldChg>
      <pc:sldChg chg="modSp mod">
        <pc:chgData name="신지수/방송사업지원팀" userId="d708d9a4-05b3-4ad4-9702-e3ee7a6f8508" providerId="ADAL" clId="{2E4DF6F4-BF74-49B5-8F9D-F5E250D4B209}" dt="2026-04-02T00:18:25.583" v="989" actId="20577"/>
        <pc:sldMkLst>
          <pc:docMk/>
          <pc:sldMk cId="608643159" sldId="4043"/>
        </pc:sldMkLst>
        <pc:spChg chg="mod">
          <ac:chgData name="신지수/방송사업지원팀" userId="d708d9a4-05b3-4ad4-9702-e3ee7a6f8508" providerId="ADAL" clId="{2E4DF6F4-BF74-49B5-8F9D-F5E250D4B209}" dt="2026-04-01T09:17:05.541" v="22" actId="14100"/>
          <ac:spMkLst>
            <pc:docMk/>
            <pc:sldMk cId="608643159" sldId="4043"/>
            <ac:spMk id="3" creationId="{0984B806-202A-D2DE-DCB9-4521F244DC39}"/>
          </ac:spMkLst>
        </pc:spChg>
        <pc:spChg chg="mod">
          <ac:chgData name="신지수/방송사업지원팀" userId="d708d9a4-05b3-4ad4-9702-e3ee7a6f8508" providerId="ADAL" clId="{2E4DF6F4-BF74-49B5-8F9D-F5E250D4B209}" dt="2026-04-02T00:18:25.583" v="989" actId="20577"/>
          <ac:spMkLst>
            <pc:docMk/>
            <pc:sldMk cId="608643159" sldId="4043"/>
            <ac:spMk id="4" creationId="{E1F20AC7-278B-A5EA-28D1-5DB51951A88A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1T23:58:51.055" v="419" actId="20577"/>
        <pc:sldMkLst>
          <pc:docMk/>
          <pc:sldMk cId="2466982554" sldId="4044"/>
        </pc:sldMkLst>
        <pc:spChg chg="add del mod">
          <ac:chgData name="신지수/방송사업지원팀" userId="d708d9a4-05b3-4ad4-9702-e3ee7a6f8508" providerId="ADAL" clId="{2E4DF6F4-BF74-49B5-8F9D-F5E250D4B209}" dt="2026-04-01T23:57:42.069" v="379" actId="478"/>
          <ac:spMkLst>
            <pc:docMk/>
            <pc:sldMk cId="2466982554" sldId="4044"/>
            <ac:spMk id="3" creationId="{D9E2568C-F075-E758-D87A-A26C7374462F}"/>
          </ac:spMkLst>
        </pc:spChg>
        <pc:spChg chg="add mod">
          <ac:chgData name="신지수/방송사업지원팀" userId="d708d9a4-05b3-4ad4-9702-e3ee7a6f8508" providerId="ADAL" clId="{2E4DF6F4-BF74-49B5-8F9D-F5E250D4B209}" dt="2026-04-01T23:58:51.055" v="419" actId="20577"/>
          <ac:spMkLst>
            <pc:docMk/>
            <pc:sldMk cId="2466982554" sldId="4044"/>
            <ac:spMk id="4" creationId="{06E24056-2B5D-D358-134A-15AA3FC3F18C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3:23.144" v="775" actId="20577"/>
        <pc:sldMkLst>
          <pc:docMk/>
          <pc:sldMk cId="3449104987" sldId="4050"/>
        </pc:sldMkLst>
        <pc:spChg chg="mod">
          <ac:chgData name="신지수/방송사업지원팀" userId="d708d9a4-05b3-4ad4-9702-e3ee7a6f8508" providerId="ADAL" clId="{2E4DF6F4-BF74-49B5-8F9D-F5E250D4B209}" dt="2026-04-02T00:04:37.854" v="547" actId="14100"/>
          <ac:spMkLst>
            <pc:docMk/>
            <pc:sldMk cId="3449104987" sldId="4050"/>
            <ac:spMk id="4" creationId="{98802D73-7B40-F69B-678B-100E5044B7F8}"/>
          </ac:spMkLst>
        </pc:spChg>
        <pc:spChg chg="add del mod">
          <ac:chgData name="신지수/방송사업지원팀" userId="d708d9a4-05b3-4ad4-9702-e3ee7a6f8508" providerId="ADAL" clId="{2E4DF6F4-BF74-49B5-8F9D-F5E250D4B209}" dt="2026-04-02T00:04:36.164" v="546" actId="478"/>
          <ac:spMkLst>
            <pc:docMk/>
            <pc:sldMk cId="3449104987" sldId="4050"/>
            <ac:spMk id="11" creationId="{72E59E6D-B637-2A8F-5697-551F92981330}"/>
          </ac:spMkLst>
        </pc:spChg>
        <pc:spChg chg="add mod">
          <ac:chgData name="신지수/방송사업지원팀" userId="d708d9a4-05b3-4ad4-9702-e3ee7a6f8508" providerId="ADAL" clId="{2E4DF6F4-BF74-49B5-8F9D-F5E250D4B209}" dt="2026-04-02T00:13:23.144" v="775" actId="20577"/>
          <ac:spMkLst>
            <pc:docMk/>
            <pc:sldMk cId="3449104987" sldId="4050"/>
            <ac:spMk id="12" creationId="{04A66D66-76C1-9A79-C3ED-4A77FF279493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3:25.442" v="777" actId="20577"/>
        <pc:sldMkLst>
          <pc:docMk/>
          <pc:sldMk cId="2206794208" sldId="4051"/>
        </pc:sldMkLst>
        <pc:spChg chg="add del mod">
          <ac:chgData name="신지수/방송사업지원팀" userId="d708d9a4-05b3-4ad4-9702-e3ee7a6f8508" providerId="ADAL" clId="{2E4DF6F4-BF74-49B5-8F9D-F5E250D4B209}" dt="2026-04-02T00:04:41.275" v="548" actId="478"/>
          <ac:spMkLst>
            <pc:docMk/>
            <pc:sldMk cId="2206794208" sldId="4051"/>
            <ac:spMk id="13" creationId="{6854E1CF-AE4F-764F-D81D-165B152DC012}"/>
          </ac:spMkLst>
        </pc:spChg>
        <pc:spChg chg="add mod">
          <ac:chgData name="신지수/방송사업지원팀" userId="d708d9a4-05b3-4ad4-9702-e3ee7a6f8508" providerId="ADAL" clId="{2E4DF6F4-BF74-49B5-8F9D-F5E250D4B209}" dt="2026-04-02T00:13:25.442" v="777" actId="20577"/>
          <ac:spMkLst>
            <pc:docMk/>
            <pc:sldMk cId="2206794208" sldId="4051"/>
            <ac:spMk id="14" creationId="{A561368A-4A32-3DD6-4B9A-16B63FA7D1B2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3:27.493" v="779" actId="20577"/>
        <pc:sldMkLst>
          <pc:docMk/>
          <pc:sldMk cId="994445110" sldId="4052"/>
        </pc:sldMkLst>
        <pc:spChg chg="mod">
          <ac:chgData name="신지수/방송사업지원팀" userId="d708d9a4-05b3-4ad4-9702-e3ee7a6f8508" providerId="ADAL" clId="{2E4DF6F4-BF74-49B5-8F9D-F5E250D4B209}" dt="2026-04-02T00:04:43.781" v="549" actId="14100"/>
          <ac:spMkLst>
            <pc:docMk/>
            <pc:sldMk cId="994445110" sldId="4052"/>
            <ac:spMk id="12" creationId="{78805E32-7110-ABC2-CAF8-AB40AD99D57E}"/>
          </ac:spMkLst>
        </pc:spChg>
        <pc:spChg chg="add del mod">
          <ac:chgData name="신지수/방송사업지원팀" userId="d708d9a4-05b3-4ad4-9702-e3ee7a6f8508" providerId="ADAL" clId="{2E4DF6F4-BF74-49B5-8F9D-F5E250D4B209}" dt="2026-04-02T00:04:45.249" v="550" actId="478"/>
          <ac:spMkLst>
            <pc:docMk/>
            <pc:sldMk cId="994445110" sldId="4052"/>
            <ac:spMk id="16" creationId="{09DA787F-E4FF-B436-4E88-1D53CBC8706D}"/>
          </ac:spMkLst>
        </pc:spChg>
        <pc:spChg chg="add mod">
          <ac:chgData name="신지수/방송사업지원팀" userId="d708d9a4-05b3-4ad4-9702-e3ee7a6f8508" providerId="ADAL" clId="{2E4DF6F4-BF74-49B5-8F9D-F5E250D4B209}" dt="2026-04-02T00:13:27.493" v="779" actId="20577"/>
          <ac:spMkLst>
            <pc:docMk/>
            <pc:sldMk cId="994445110" sldId="4052"/>
            <ac:spMk id="17" creationId="{C603EC74-527D-12E4-5A1A-9F66ED0693AF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3:30.139" v="781" actId="20577"/>
        <pc:sldMkLst>
          <pc:docMk/>
          <pc:sldMk cId="1169132574" sldId="4053"/>
        </pc:sldMkLst>
        <pc:spChg chg="mod">
          <ac:chgData name="신지수/방송사업지원팀" userId="d708d9a4-05b3-4ad4-9702-e3ee7a6f8508" providerId="ADAL" clId="{2E4DF6F4-BF74-49B5-8F9D-F5E250D4B209}" dt="2026-04-02T00:04:49.185" v="552" actId="14100"/>
          <ac:spMkLst>
            <pc:docMk/>
            <pc:sldMk cId="1169132574" sldId="4053"/>
            <ac:spMk id="8" creationId="{AEF820E3-5848-4525-16F0-1CBB52699D62}"/>
          </ac:spMkLst>
        </pc:spChg>
        <pc:spChg chg="add del mod">
          <ac:chgData name="신지수/방송사업지원팀" userId="d708d9a4-05b3-4ad4-9702-e3ee7a6f8508" providerId="ADAL" clId="{2E4DF6F4-BF74-49B5-8F9D-F5E250D4B209}" dt="2026-04-02T00:04:47.068" v="551" actId="478"/>
          <ac:spMkLst>
            <pc:docMk/>
            <pc:sldMk cId="1169132574" sldId="4053"/>
            <ac:spMk id="9" creationId="{50994FEC-1645-A980-5A0E-3A3E06641CA5}"/>
          </ac:spMkLst>
        </pc:spChg>
        <pc:spChg chg="add mod">
          <ac:chgData name="신지수/방송사업지원팀" userId="d708d9a4-05b3-4ad4-9702-e3ee7a6f8508" providerId="ADAL" clId="{2E4DF6F4-BF74-49B5-8F9D-F5E250D4B209}" dt="2026-04-02T00:13:30.139" v="781" actId="20577"/>
          <ac:spMkLst>
            <pc:docMk/>
            <pc:sldMk cId="1169132574" sldId="4053"/>
            <ac:spMk id="10" creationId="{BED5E246-A744-2E47-2B1E-250E0AEC93C8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09:35.592" v="645" actId="478"/>
        <pc:sldMkLst>
          <pc:docMk/>
          <pc:sldMk cId="1488440615" sldId="4054"/>
        </pc:sldMkLst>
        <pc:spChg chg="add del mod">
          <ac:chgData name="신지수/방송사업지원팀" userId="d708d9a4-05b3-4ad4-9702-e3ee7a6f8508" providerId="ADAL" clId="{2E4DF6F4-BF74-49B5-8F9D-F5E250D4B209}" dt="2026-04-02T00:09:35.592" v="645" actId="478"/>
          <ac:spMkLst>
            <pc:docMk/>
            <pc:sldMk cId="1488440615" sldId="4054"/>
            <ac:spMk id="2" creationId="{51BD4E0B-5A8A-113C-149C-66E47B803535}"/>
          </ac:spMkLst>
        </pc:spChg>
        <pc:spChg chg="add del mod">
          <ac:chgData name="신지수/방송사업지원팀" userId="d708d9a4-05b3-4ad4-9702-e3ee7a6f8508" providerId="ADAL" clId="{2E4DF6F4-BF74-49B5-8F9D-F5E250D4B209}" dt="2026-04-01T09:20:01.955" v="121" actId="478"/>
          <ac:spMkLst>
            <pc:docMk/>
            <pc:sldMk cId="1488440615" sldId="4054"/>
            <ac:spMk id="2" creationId="{6DDA3924-63A1-2A26-76AB-B4823D8ADD7E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0:24.399" v="654" actId="478"/>
        <pc:sldMkLst>
          <pc:docMk/>
          <pc:sldMk cId="2306272466" sldId="4060"/>
        </pc:sldMkLst>
        <pc:spChg chg="add del mod">
          <ac:chgData name="신지수/방송사업지원팀" userId="d708d9a4-05b3-4ad4-9702-e3ee7a6f8508" providerId="ADAL" clId="{2E4DF6F4-BF74-49B5-8F9D-F5E250D4B209}" dt="2026-04-02T00:10:24.399" v="654" actId="478"/>
          <ac:spMkLst>
            <pc:docMk/>
            <pc:sldMk cId="2306272466" sldId="4060"/>
            <ac:spMk id="2" creationId="{8195234B-8969-E860-5873-998ABACB4649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3:47.533" v="793" actId="20577"/>
        <pc:sldMkLst>
          <pc:docMk/>
          <pc:sldMk cId="3961306069" sldId="4061"/>
        </pc:sldMkLst>
        <pc:spChg chg="add del mod">
          <ac:chgData name="신지수/방송사업지원팀" userId="d708d9a4-05b3-4ad4-9702-e3ee7a6f8508" providerId="ADAL" clId="{2E4DF6F4-BF74-49B5-8F9D-F5E250D4B209}" dt="2026-04-02T00:05:44.796" v="561" actId="478"/>
          <ac:spMkLst>
            <pc:docMk/>
            <pc:sldMk cId="3961306069" sldId="4061"/>
            <ac:spMk id="3" creationId="{C168EC58-AA83-86B4-B7F7-555DB1DA684E}"/>
          </ac:spMkLst>
        </pc:spChg>
        <pc:spChg chg="add mod">
          <ac:chgData name="신지수/방송사업지원팀" userId="d708d9a4-05b3-4ad4-9702-e3ee7a6f8508" providerId="ADAL" clId="{2E4DF6F4-BF74-49B5-8F9D-F5E250D4B209}" dt="2026-04-02T00:13:47.533" v="793" actId="20577"/>
          <ac:spMkLst>
            <pc:docMk/>
            <pc:sldMk cId="3961306069" sldId="4061"/>
            <ac:spMk id="8" creationId="{AC7BC557-4E3E-0CC4-10E7-C008D7E247D7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0:28.942" v="659" actId="478"/>
        <pc:sldMkLst>
          <pc:docMk/>
          <pc:sldMk cId="3458318258" sldId="4063"/>
        </pc:sldMkLst>
        <pc:spChg chg="add del mod">
          <ac:chgData name="신지수/방송사업지원팀" userId="d708d9a4-05b3-4ad4-9702-e3ee7a6f8508" providerId="ADAL" clId="{2E4DF6F4-BF74-49B5-8F9D-F5E250D4B209}" dt="2026-04-02T00:10:28.942" v="659" actId="478"/>
          <ac:spMkLst>
            <pc:docMk/>
            <pc:sldMk cId="3458318258" sldId="4063"/>
            <ac:spMk id="2" creationId="{F401461B-CD3F-14F9-F2BA-C2DB6E3BC682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1T09:20:18.451" v="138" actId="478"/>
        <pc:sldMkLst>
          <pc:docMk/>
          <pc:sldMk cId="284284525" sldId="4070"/>
        </pc:sldMkLst>
        <pc:spChg chg="add del mod">
          <ac:chgData name="신지수/방송사업지원팀" userId="d708d9a4-05b3-4ad4-9702-e3ee7a6f8508" providerId="ADAL" clId="{2E4DF6F4-BF74-49B5-8F9D-F5E250D4B209}" dt="2026-04-01T09:20:18.451" v="138" actId="478"/>
          <ac:spMkLst>
            <pc:docMk/>
            <pc:sldMk cId="284284525" sldId="4070"/>
            <ac:spMk id="2" creationId="{47231356-6801-527B-97FF-DA99C4EB1F1A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1:43:32.200" v="1283" actId="207"/>
        <pc:sldMkLst>
          <pc:docMk/>
          <pc:sldMk cId="4000600579" sldId="4087"/>
        </pc:sldMkLst>
        <pc:spChg chg="add del mod">
          <ac:chgData name="신지수/방송사업지원팀" userId="d708d9a4-05b3-4ad4-9702-e3ee7a6f8508" providerId="ADAL" clId="{2E4DF6F4-BF74-49B5-8F9D-F5E250D4B209}" dt="2026-04-01T09:17:16.548" v="25" actId="478"/>
          <ac:spMkLst>
            <pc:docMk/>
            <pc:sldMk cId="4000600579" sldId="4087"/>
            <ac:spMk id="2" creationId="{5D61E1E2-6412-6C33-E73F-1983C355B847}"/>
          </ac:spMkLst>
        </pc:spChg>
        <pc:spChg chg="add mod">
          <ac:chgData name="신지수/방송사업지원팀" userId="d708d9a4-05b3-4ad4-9702-e3ee7a6f8508" providerId="ADAL" clId="{2E4DF6F4-BF74-49B5-8F9D-F5E250D4B209}" dt="2026-04-02T00:24:24.725" v="1217" actId="571"/>
          <ac:spMkLst>
            <pc:docMk/>
            <pc:sldMk cId="4000600579" sldId="4087"/>
            <ac:spMk id="2" creationId="{D6697B07-6563-EED3-361D-73824CE700C3}"/>
          </ac:spMkLst>
        </pc:spChg>
        <pc:spChg chg="del mod">
          <ac:chgData name="신지수/방송사업지원팀" userId="d708d9a4-05b3-4ad4-9702-e3ee7a6f8508" providerId="ADAL" clId="{2E4DF6F4-BF74-49B5-8F9D-F5E250D4B209}" dt="2026-04-02T00:21:41.047" v="1101" actId="478"/>
          <ac:spMkLst>
            <pc:docMk/>
            <pc:sldMk cId="4000600579" sldId="4087"/>
            <ac:spMk id="5" creationId="{493BB701-38EC-C9C6-EDAE-B4645D240DAA}"/>
          </ac:spMkLst>
        </pc:spChg>
        <pc:spChg chg="mod">
          <ac:chgData name="신지수/방송사업지원팀" userId="d708d9a4-05b3-4ad4-9702-e3ee7a6f8508" providerId="ADAL" clId="{2E4DF6F4-BF74-49B5-8F9D-F5E250D4B209}" dt="2026-04-01T23:52:55.854" v="226" actId="1035"/>
          <ac:spMkLst>
            <pc:docMk/>
            <pc:sldMk cId="4000600579" sldId="4087"/>
            <ac:spMk id="7" creationId="{E178CB6D-77A1-117D-76A9-2D7FF448317E}"/>
          </ac:spMkLst>
        </pc:spChg>
        <pc:spChg chg="mod">
          <ac:chgData name="신지수/방송사업지원팀" userId="d708d9a4-05b3-4ad4-9702-e3ee7a6f8508" providerId="ADAL" clId="{2E4DF6F4-BF74-49B5-8F9D-F5E250D4B209}" dt="2026-04-02T00:24:02.664" v="1162" actId="1076"/>
          <ac:spMkLst>
            <pc:docMk/>
            <pc:sldMk cId="4000600579" sldId="4087"/>
            <ac:spMk id="8" creationId="{C3BAB5CE-D9DB-7BA5-7C27-3749A5C8B520}"/>
          </ac:spMkLst>
        </pc:spChg>
        <pc:spChg chg="del mod">
          <ac:chgData name="신지수/방송사업지원팀" userId="d708d9a4-05b3-4ad4-9702-e3ee7a6f8508" providerId="ADAL" clId="{2E4DF6F4-BF74-49B5-8F9D-F5E250D4B209}" dt="2026-04-02T00:21:39.743" v="1100" actId="478"/>
          <ac:spMkLst>
            <pc:docMk/>
            <pc:sldMk cId="4000600579" sldId="4087"/>
            <ac:spMk id="9" creationId="{23AEDD68-877A-582D-C309-AA7B8163731E}"/>
          </ac:spMkLst>
        </pc:spChg>
        <pc:spChg chg="del mod">
          <ac:chgData name="신지수/방송사업지원팀" userId="d708d9a4-05b3-4ad4-9702-e3ee7a6f8508" providerId="ADAL" clId="{2E4DF6F4-BF74-49B5-8F9D-F5E250D4B209}" dt="2026-04-02T00:21:24.527" v="1098" actId="478"/>
          <ac:spMkLst>
            <pc:docMk/>
            <pc:sldMk cId="4000600579" sldId="4087"/>
            <ac:spMk id="10" creationId="{42B85A8E-75B9-989F-F975-F69F9F09482A}"/>
          </ac:spMkLst>
        </pc:spChg>
        <pc:spChg chg="mod">
          <ac:chgData name="신지수/방송사업지원팀" userId="d708d9a4-05b3-4ad4-9702-e3ee7a6f8508" providerId="ADAL" clId="{2E4DF6F4-BF74-49B5-8F9D-F5E250D4B209}" dt="2026-04-02T00:23:21.085" v="1160" actId="1076"/>
          <ac:spMkLst>
            <pc:docMk/>
            <pc:sldMk cId="4000600579" sldId="4087"/>
            <ac:spMk id="11" creationId="{FAB5536A-5B37-3681-CBCC-E30F5F53D71D}"/>
          </ac:spMkLst>
        </pc:spChg>
        <pc:spChg chg="del mod">
          <ac:chgData name="신지수/방송사업지원팀" userId="d708d9a4-05b3-4ad4-9702-e3ee7a6f8508" providerId="ADAL" clId="{2E4DF6F4-BF74-49B5-8F9D-F5E250D4B209}" dt="2026-04-02T00:21:21.268" v="1097" actId="478"/>
          <ac:spMkLst>
            <pc:docMk/>
            <pc:sldMk cId="4000600579" sldId="4087"/>
            <ac:spMk id="12" creationId="{4FC57675-763E-7270-ADEE-8478E6800D7C}"/>
          </ac:spMkLst>
        </pc:spChg>
        <pc:spChg chg="mod">
          <ac:chgData name="신지수/방송사업지원팀" userId="d708d9a4-05b3-4ad4-9702-e3ee7a6f8508" providerId="ADAL" clId="{2E4DF6F4-BF74-49B5-8F9D-F5E250D4B209}" dt="2026-04-02T00:23:28.398" v="1161" actId="1076"/>
          <ac:spMkLst>
            <pc:docMk/>
            <pc:sldMk cId="4000600579" sldId="4087"/>
            <ac:spMk id="13" creationId="{45A1CFE3-3808-09BA-7409-54F7462AE840}"/>
          </ac:spMkLst>
        </pc:spChg>
        <pc:spChg chg="mod">
          <ac:chgData name="신지수/방송사업지원팀" userId="d708d9a4-05b3-4ad4-9702-e3ee7a6f8508" providerId="ADAL" clId="{2E4DF6F4-BF74-49B5-8F9D-F5E250D4B209}" dt="2026-04-01T23:52:55.854" v="226" actId="1035"/>
          <ac:spMkLst>
            <pc:docMk/>
            <pc:sldMk cId="4000600579" sldId="4087"/>
            <ac:spMk id="14" creationId="{9D7044B0-244D-D42B-23EA-1AD423B10E5F}"/>
          </ac:spMkLst>
        </pc:spChg>
        <pc:spChg chg="add mod">
          <ac:chgData name="신지수/방송사업지원팀" userId="d708d9a4-05b3-4ad4-9702-e3ee7a6f8508" providerId="ADAL" clId="{2E4DF6F4-BF74-49B5-8F9D-F5E250D4B209}" dt="2026-04-01T23:53:00.199" v="228" actId="20577"/>
          <ac:spMkLst>
            <pc:docMk/>
            <pc:sldMk cId="4000600579" sldId="4087"/>
            <ac:spMk id="15" creationId="{50C28727-3F12-48DD-0FD2-135CE6FAB0BF}"/>
          </ac:spMkLst>
        </pc:spChg>
        <pc:spChg chg="mod">
          <ac:chgData name="신지수/방송사업지원팀" userId="d708d9a4-05b3-4ad4-9702-e3ee7a6f8508" providerId="ADAL" clId="{2E4DF6F4-BF74-49B5-8F9D-F5E250D4B209}" dt="2026-04-02T00:22:08.183" v="1106" actId="1076"/>
          <ac:spMkLst>
            <pc:docMk/>
            <pc:sldMk cId="4000600579" sldId="4087"/>
            <ac:spMk id="16" creationId="{74CBF5B9-91EC-7BDE-D192-4127D7C81002}"/>
          </ac:spMkLst>
        </pc:spChg>
        <pc:graphicFrameChg chg="mod modGraphic">
          <ac:chgData name="신지수/방송사업지원팀" userId="d708d9a4-05b3-4ad4-9702-e3ee7a6f8508" providerId="ADAL" clId="{2E4DF6F4-BF74-49B5-8F9D-F5E250D4B209}" dt="2026-04-02T00:24:38.552" v="1219" actId="207"/>
          <ac:graphicFrameMkLst>
            <pc:docMk/>
            <pc:sldMk cId="4000600579" sldId="4087"/>
            <ac:graphicFrameMk id="3" creationId="{F18AB6FB-9194-1178-2F02-96D0958E5480}"/>
          </ac:graphicFrameMkLst>
        </pc:graphicFrameChg>
        <pc:graphicFrameChg chg="modGraphic">
          <ac:chgData name="신지수/방송사업지원팀" userId="d708d9a4-05b3-4ad4-9702-e3ee7a6f8508" providerId="ADAL" clId="{2E4DF6F4-BF74-49B5-8F9D-F5E250D4B209}" dt="2026-04-02T01:43:32.200" v="1283" actId="207"/>
          <ac:graphicFrameMkLst>
            <pc:docMk/>
            <pc:sldMk cId="4000600579" sldId="4087"/>
            <ac:graphicFrameMk id="6" creationId="{80F313F4-7023-5B52-025F-32D2FAB6F721}"/>
          </ac:graphicFrameMkLst>
        </pc:graphicFrameChg>
      </pc:sldChg>
      <pc:sldChg chg="addSp delSp modSp mod">
        <pc:chgData name="신지수/방송사업지원팀" userId="d708d9a4-05b3-4ad4-9702-e3ee7a6f8508" providerId="ADAL" clId="{2E4DF6F4-BF74-49B5-8F9D-F5E250D4B209}" dt="2026-04-02T00:13:52.158" v="797" actId="20577"/>
        <pc:sldMkLst>
          <pc:docMk/>
          <pc:sldMk cId="3764332137" sldId="4092"/>
        </pc:sldMkLst>
        <pc:spChg chg="add del mod">
          <ac:chgData name="신지수/방송사업지원팀" userId="d708d9a4-05b3-4ad4-9702-e3ee7a6f8508" providerId="ADAL" clId="{2E4DF6F4-BF74-49B5-8F9D-F5E250D4B209}" dt="2026-04-02T00:05:48.294" v="563" actId="478"/>
          <ac:spMkLst>
            <pc:docMk/>
            <pc:sldMk cId="3764332137" sldId="4092"/>
            <ac:spMk id="2" creationId="{AB4CF8AE-6E41-C225-9FF0-667F9453E908}"/>
          </ac:spMkLst>
        </pc:spChg>
        <pc:spChg chg="add mod">
          <ac:chgData name="신지수/방송사업지원팀" userId="d708d9a4-05b3-4ad4-9702-e3ee7a6f8508" providerId="ADAL" clId="{2E4DF6F4-BF74-49B5-8F9D-F5E250D4B209}" dt="2026-04-02T00:13:52.158" v="797" actId="20577"/>
          <ac:spMkLst>
            <pc:docMk/>
            <pc:sldMk cId="3764332137" sldId="4092"/>
            <ac:spMk id="4" creationId="{9CD52C4C-0FCC-7E80-090B-5D949C8B4516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4:34.366" v="829" actId="20577"/>
        <pc:sldMkLst>
          <pc:docMk/>
          <pc:sldMk cId="1394445301" sldId="4107"/>
        </pc:sldMkLst>
        <pc:spChg chg="add del mod">
          <ac:chgData name="신지수/방송사업지원팀" userId="d708d9a4-05b3-4ad4-9702-e3ee7a6f8508" providerId="ADAL" clId="{2E4DF6F4-BF74-49B5-8F9D-F5E250D4B209}" dt="2026-04-02T00:06:33.824" v="580" actId="478"/>
          <ac:spMkLst>
            <pc:docMk/>
            <pc:sldMk cId="1394445301" sldId="4107"/>
            <ac:spMk id="3" creationId="{90F0B95D-7E87-A2B2-42C2-2EA0F74A7EBE}"/>
          </ac:spMkLst>
        </pc:spChg>
        <pc:spChg chg="add mod">
          <ac:chgData name="신지수/방송사업지원팀" userId="d708d9a4-05b3-4ad4-9702-e3ee7a6f8508" providerId="ADAL" clId="{2E4DF6F4-BF74-49B5-8F9D-F5E250D4B209}" dt="2026-04-02T00:14:34.366" v="829" actId="20577"/>
          <ac:spMkLst>
            <pc:docMk/>
            <pc:sldMk cId="1394445301" sldId="4107"/>
            <ac:spMk id="4" creationId="{02EF6287-E896-1739-969F-C664A352BE54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4:36.717" v="831" actId="20577"/>
        <pc:sldMkLst>
          <pc:docMk/>
          <pc:sldMk cId="2010249448" sldId="4108"/>
        </pc:sldMkLst>
        <pc:spChg chg="add del mod">
          <ac:chgData name="신지수/방송사업지원팀" userId="d708d9a4-05b3-4ad4-9702-e3ee7a6f8508" providerId="ADAL" clId="{2E4DF6F4-BF74-49B5-8F9D-F5E250D4B209}" dt="2026-04-02T00:06:35.266" v="581" actId="478"/>
          <ac:spMkLst>
            <pc:docMk/>
            <pc:sldMk cId="2010249448" sldId="4108"/>
            <ac:spMk id="2" creationId="{5C13BEBB-5C63-A3CD-D411-493DA7890E65}"/>
          </ac:spMkLst>
        </pc:spChg>
        <pc:spChg chg="add mod">
          <ac:chgData name="신지수/방송사업지원팀" userId="d708d9a4-05b3-4ad4-9702-e3ee7a6f8508" providerId="ADAL" clId="{2E4DF6F4-BF74-49B5-8F9D-F5E250D4B209}" dt="2026-04-02T00:14:36.717" v="831" actId="20577"/>
          <ac:spMkLst>
            <pc:docMk/>
            <pc:sldMk cId="2010249448" sldId="4108"/>
            <ac:spMk id="5" creationId="{67D554BF-3052-DB10-A463-E9290EB32086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4:42.575" v="839" actId="20577"/>
        <pc:sldMkLst>
          <pc:docMk/>
          <pc:sldMk cId="3520319206" sldId="4110"/>
        </pc:sldMkLst>
        <pc:spChg chg="add del mod">
          <ac:chgData name="신지수/방송사업지원팀" userId="d708d9a4-05b3-4ad4-9702-e3ee7a6f8508" providerId="ADAL" clId="{2E4DF6F4-BF74-49B5-8F9D-F5E250D4B209}" dt="2026-04-02T00:06:37.784" v="583" actId="478"/>
          <ac:spMkLst>
            <pc:docMk/>
            <pc:sldMk cId="3520319206" sldId="4110"/>
            <ac:spMk id="6" creationId="{15912BA6-8064-8F62-4AE3-9D7712DBEB06}"/>
          </ac:spMkLst>
        </pc:spChg>
        <pc:spChg chg="add mod">
          <ac:chgData name="신지수/방송사업지원팀" userId="d708d9a4-05b3-4ad4-9702-e3ee7a6f8508" providerId="ADAL" clId="{2E4DF6F4-BF74-49B5-8F9D-F5E250D4B209}" dt="2026-04-02T00:14:42.575" v="839" actId="20577"/>
          <ac:spMkLst>
            <pc:docMk/>
            <pc:sldMk cId="3520319206" sldId="4110"/>
            <ac:spMk id="7" creationId="{123EAFBB-391B-24FC-CB53-12412E36A1FB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3:32.420" v="783" actId="20577"/>
        <pc:sldMkLst>
          <pc:docMk/>
          <pc:sldMk cId="2746916609" sldId="4112"/>
        </pc:sldMkLst>
        <pc:spChg chg="add del mod">
          <ac:chgData name="신지수/방송사업지원팀" userId="d708d9a4-05b3-4ad4-9702-e3ee7a6f8508" providerId="ADAL" clId="{2E4DF6F4-BF74-49B5-8F9D-F5E250D4B209}" dt="2026-04-02T00:04:52.273" v="553" actId="478"/>
          <ac:spMkLst>
            <pc:docMk/>
            <pc:sldMk cId="2746916609" sldId="4112"/>
            <ac:spMk id="3" creationId="{CC60C808-3575-90E2-69C7-BC02B5B85495}"/>
          </ac:spMkLst>
        </pc:spChg>
        <pc:spChg chg="add mod">
          <ac:chgData name="신지수/방송사업지원팀" userId="d708d9a4-05b3-4ad4-9702-e3ee7a6f8508" providerId="ADAL" clId="{2E4DF6F4-BF74-49B5-8F9D-F5E250D4B209}" dt="2026-04-02T00:13:32.420" v="783" actId="20577"/>
          <ac:spMkLst>
            <pc:docMk/>
            <pc:sldMk cId="2746916609" sldId="4112"/>
            <ac:spMk id="5" creationId="{A90908C9-A9B1-AB0E-A0A3-F22F1F230096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09:22.692" v="634" actId="20577"/>
        <pc:sldMkLst>
          <pc:docMk/>
          <pc:sldMk cId="2362488540" sldId="4124"/>
        </pc:sldMkLst>
        <pc:spChg chg="add del mod">
          <ac:chgData name="신지수/방송사업지원팀" userId="d708d9a4-05b3-4ad4-9702-e3ee7a6f8508" providerId="ADAL" clId="{2E4DF6F4-BF74-49B5-8F9D-F5E250D4B209}" dt="2026-04-02T00:04:28.307" v="543" actId="478"/>
          <ac:spMkLst>
            <pc:docMk/>
            <pc:sldMk cId="2362488540" sldId="4124"/>
            <ac:spMk id="2" creationId="{04964A7E-D2CB-818B-B6F7-22E758497E0E}"/>
          </ac:spMkLst>
        </pc:spChg>
        <pc:spChg chg="add mod">
          <ac:chgData name="신지수/방송사업지원팀" userId="d708d9a4-05b3-4ad4-9702-e3ee7a6f8508" providerId="ADAL" clId="{2E4DF6F4-BF74-49B5-8F9D-F5E250D4B209}" dt="2026-04-02T00:09:22.692" v="634" actId="20577"/>
          <ac:spMkLst>
            <pc:docMk/>
            <pc:sldMk cId="2362488540" sldId="4124"/>
            <ac:spMk id="4" creationId="{03043F12-21F1-FE77-6A9E-29973B9A81DC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34:28.603" v="1254" actId="20577"/>
        <pc:sldMkLst>
          <pc:docMk/>
          <pc:sldMk cId="441388132" sldId="4137"/>
        </pc:sldMkLst>
        <pc:spChg chg="add mod">
          <ac:chgData name="신지수/방송사업지원팀" userId="d708d9a4-05b3-4ad4-9702-e3ee7a6f8508" providerId="ADAL" clId="{2E4DF6F4-BF74-49B5-8F9D-F5E250D4B209}" dt="2026-04-02T00:14:05.879" v="807" actId="20577"/>
          <ac:spMkLst>
            <pc:docMk/>
            <pc:sldMk cId="441388132" sldId="4137"/>
            <ac:spMk id="6" creationId="{45E4823D-5D81-6693-6106-37E3599DD58A}"/>
          </ac:spMkLst>
        </pc:spChg>
        <pc:spChg chg="mod">
          <ac:chgData name="신지수/방송사업지원팀" userId="d708d9a4-05b3-4ad4-9702-e3ee7a6f8508" providerId="ADAL" clId="{2E4DF6F4-BF74-49B5-8F9D-F5E250D4B209}" dt="2026-04-02T00:34:22.202" v="1250" actId="20577"/>
          <ac:spMkLst>
            <pc:docMk/>
            <pc:sldMk cId="441388132" sldId="4137"/>
            <ac:spMk id="17" creationId="{269FAA7A-A047-F8B5-1A94-1F47DFD64D1B}"/>
          </ac:spMkLst>
        </pc:spChg>
        <pc:spChg chg="mod">
          <ac:chgData name="신지수/방송사업지원팀" userId="d708d9a4-05b3-4ad4-9702-e3ee7a6f8508" providerId="ADAL" clId="{2E4DF6F4-BF74-49B5-8F9D-F5E250D4B209}" dt="2026-04-02T00:34:28.603" v="1254" actId="20577"/>
          <ac:spMkLst>
            <pc:docMk/>
            <pc:sldMk cId="441388132" sldId="4137"/>
            <ac:spMk id="18" creationId="{4A08972B-E1F9-1360-F4BB-4BD1F309466A}"/>
          </ac:spMkLst>
        </pc:spChg>
        <pc:spChg chg="add del mod">
          <ac:chgData name="신지수/방송사업지원팀" userId="d708d9a4-05b3-4ad4-9702-e3ee7a6f8508" providerId="ADAL" clId="{2E4DF6F4-BF74-49B5-8F9D-F5E250D4B209}" dt="2026-04-02T00:05:53.717" v="564" actId="478"/>
          <ac:spMkLst>
            <pc:docMk/>
            <pc:sldMk cId="441388132" sldId="4137"/>
            <ac:spMk id="21" creationId="{26728AE8-3AE0-CEDD-BF09-D3E50D0C4515}"/>
          </ac:spMkLst>
        </pc:spChg>
      </pc:sldChg>
      <pc:sldChg chg="addSp modSp mod">
        <pc:chgData name="신지수/방송사업지원팀" userId="d708d9a4-05b3-4ad4-9702-e3ee7a6f8508" providerId="ADAL" clId="{2E4DF6F4-BF74-49B5-8F9D-F5E250D4B209}" dt="2026-04-02T00:14:07.901" v="809" actId="20577"/>
        <pc:sldMkLst>
          <pc:docMk/>
          <pc:sldMk cId="3079193068" sldId="4138"/>
        </pc:sldMkLst>
        <pc:spChg chg="add mod">
          <ac:chgData name="신지수/방송사업지원팀" userId="d708d9a4-05b3-4ad4-9702-e3ee7a6f8508" providerId="ADAL" clId="{2E4DF6F4-BF74-49B5-8F9D-F5E250D4B209}" dt="2026-04-02T00:14:07.901" v="809" actId="20577"/>
          <ac:spMkLst>
            <pc:docMk/>
            <pc:sldMk cId="3079193068" sldId="4138"/>
            <ac:spMk id="24" creationId="{DE206326-2F60-4AB2-6D94-310C433B0549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34:58.024" v="1255" actId="14100"/>
        <pc:sldMkLst>
          <pc:docMk/>
          <pc:sldMk cId="434368129" sldId="4139"/>
        </pc:sldMkLst>
        <pc:spChg chg="add mod">
          <ac:chgData name="신지수/방송사업지원팀" userId="d708d9a4-05b3-4ad4-9702-e3ee7a6f8508" providerId="ADAL" clId="{2E4DF6F4-BF74-49B5-8F9D-F5E250D4B209}" dt="2026-04-02T00:14:10.277" v="811" actId="20577"/>
          <ac:spMkLst>
            <pc:docMk/>
            <pc:sldMk cId="434368129" sldId="4139"/>
            <ac:spMk id="24" creationId="{528A7A40-A52D-BE3B-3FEC-9431C41B189C}"/>
          </ac:spMkLst>
        </pc:spChg>
        <pc:spChg chg="add del mod">
          <ac:chgData name="신지수/방송사업지원팀" userId="d708d9a4-05b3-4ad4-9702-e3ee7a6f8508" providerId="ADAL" clId="{2E4DF6F4-BF74-49B5-8F9D-F5E250D4B209}" dt="2026-04-02T00:05:59.220" v="565" actId="478"/>
          <ac:spMkLst>
            <pc:docMk/>
            <pc:sldMk cId="434368129" sldId="4139"/>
            <ac:spMk id="35" creationId="{A48B89AC-89AE-6B75-26D2-6A10E5816AFC}"/>
          </ac:spMkLst>
        </pc:spChg>
        <pc:picChg chg="mod">
          <ac:chgData name="신지수/방송사업지원팀" userId="d708d9a4-05b3-4ad4-9702-e3ee7a6f8508" providerId="ADAL" clId="{2E4DF6F4-BF74-49B5-8F9D-F5E250D4B209}" dt="2026-04-02T00:34:58.024" v="1255" actId="14100"/>
          <ac:picMkLst>
            <pc:docMk/>
            <pc:sldMk cId="434368129" sldId="4139"/>
            <ac:picMk id="8" creationId="{6D188D95-4A62-A588-3677-91D896767E90}"/>
          </ac:picMkLst>
        </pc:picChg>
      </pc:sldChg>
      <pc:sldChg chg="addSp delSp modSp mod">
        <pc:chgData name="신지수/방송사업지원팀" userId="d708d9a4-05b3-4ad4-9702-e3ee7a6f8508" providerId="ADAL" clId="{2E4DF6F4-BF74-49B5-8F9D-F5E250D4B209}" dt="2026-04-02T00:14:16.514" v="817" actId="20577"/>
        <pc:sldMkLst>
          <pc:docMk/>
          <pc:sldMk cId="2221219036" sldId="4141"/>
        </pc:sldMkLst>
        <pc:spChg chg="add del mod">
          <ac:chgData name="신지수/방송사업지원팀" userId="d708d9a4-05b3-4ad4-9702-e3ee7a6f8508" providerId="ADAL" clId="{2E4DF6F4-BF74-49B5-8F9D-F5E250D4B209}" dt="2026-04-02T00:06:07.603" v="568" actId="478"/>
          <ac:spMkLst>
            <pc:docMk/>
            <pc:sldMk cId="2221219036" sldId="4141"/>
            <ac:spMk id="4" creationId="{559CC30B-D956-0C34-C371-A80CE175C677}"/>
          </ac:spMkLst>
        </pc:spChg>
        <pc:spChg chg="add mod">
          <ac:chgData name="신지수/방송사업지원팀" userId="d708d9a4-05b3-4ad4-9702-e3ee7a6f8508" providerId="ADAL" clId="{2E4DF6F4-BF74-49B5-8F9D-F5E250D4B209}" dt="2026-04-02T00:14:16.514" v="817" actId="20577"/>
          <ac:spMkLst>
            <pc:docMk/>
            <pc:sldMk cId="2221219036" sldId="4141"/>
            <ac:spMk id="18" creationId="{D58CADDA-124B-56DB-91A5-C8C914498EBB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4:39.412" v="835" actId="20577"/>
        <pc:sldMkLst>
          <pc:docMk/>
          <pc:sldMk cId="2119395779" sldId="4146"/>
        </pc:sldMkLst>
        <pc:spChg chg="add del mod">
          <ac:chgData name="신지수/방송사업지원팀" userId="d708d9a4-05b3-4ad4-9702-e3ee7a6f8508" providerId="ADAL" clId="{2E4DF6F4-BF74-49B5-8F9D-F5E250D4B209}" dt="2026-04-02T00:06:36.612" v="582" actId="478"/>
          <ac:spMkLst>
            <pc:docMk/>
            <pc:sldMk cId="2119395779" sldId="4146"/>
            <ac:spMk id="2" creationId="{24C946A1-D6B1-F52F-8861-2D4BFC2D54F2}"/>
          </ac:spMkLst>
        </pc:spChg>
        <pc:spChg chg="add mod">
          <ac:chgData name="신지수/방송사업지원팀" userId="d708d9a4-05b3-4ad4-9702-e3ee7a6f8508" providerId="ADAL" clId="{2E4DF6F4-BF74-49B5-8F9D-F5E250D4B209}" dt="2026-04-02T00:14:39.412" v="835" actId="20577"/>
          <ac:spMkLst>
            <pc:docMk/>
            <pc:sldMk cId="2119395779" sldId="4146"/>
            <ac:spMk id="7" creationId="{246017D4-8264-7D59-4394-589273FC3F64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4:54.576" v="847" actId="20577"/>
        <pc:sldMkLst>
          <pc:docMk/>
          <pc:sldMk cId="1497851499" sldId="4148"/>
        </pc:sldMkLst>
        <pc:spChg chg="add del mod">
          <ac:chgData name="신지수/방송사업지원팀" userId="d708d9a4-05b3-4ad4-9702-e3ee7a6f8508" providerId="ADAL" clId="{2E4DF6F4-BF74-49B5-8F9D-F5E250D4B209}" dt="2026-04-02T00:07:43.570" v="593" actId="478"/>
          <ac:spMkLst>
            <pc:docMk/>
            <pc:sldMk cId="1497851499" sldId="4148"/>
            <ac:spMk id="2" creationId="{CDD2748D-468A-1C26-81B2-F3F28E2411FB}"/>
          </ac:spMkLst>
        </pc:spChg>
        <pc:spChg chg="add mod">
          <ac:chgData name="신지수/방송사업지원팀" userId="d708d9a4-05b3-4ad4-9702-e3ee7a6f8508" providerId="ADAL" clId="{2E4DF6F4-BF74-49B5-8F9D-F5E250D4B209}" dt="2026-04-02T00:14:54.576" v="847" actId="20577"/>
          <ac:spMkLst>
            <pc:docMk/>
            <pc:sldMk cId="1497851499" sldId="4148"/>
            <ac:spMk id="4" creationId="{E803A470-0FE3-F4F6-9FDE-679CB7D8454F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3:40.998" v="789" actId="20577"/>
        <pc:sldMkLst>
          <pc:docMk/>
          <pc:sldMk cId="417893400" sldId="4154"/>
        </pc:sldMkLst>
        <pc:spChg chg="add del mod">
          <ac:chgData name="신지수/방송사업지원팀" userId="d708d9a4-05b3-4ad4-9702-e3ee7a6f8508" providerId="ADAL" clId="{2E4DF6F4-BF74-49B5-8F9D-F5E250D4B209}" dt="2026-04-02T00:05:01.776" v="557" actId="478"/>
          <ac:spMkLst>
            <pc:docMk/>
            <pc:sldMk cId="417893400" sldId="4154"/>
            <ac:spMk id="4" creationId="{7DBF9A60-4F09-4ABD-955A-20B0845C37D1}"/>
          </ac:spMkLst>
        </pc:spChg>
        <pc:spChg chg="add mod">
          <ac:chgData name="신지수/방송사업지원팀" userId="d708d9a4-05b3-4ad4-9702-e3ee7a6f8508" providerId="ADAL" clId="{2E4DF6F4-BF74-49B5-8F9D-F5E250D4B209}" dt="2026-04-02T00:13:40.998" v="789" actId="20577"/>
          <ac:spMkLst>
            <pc:docMk/>
            <pc:sldMk cId="417893400" sldId="4154"/>
            <ac:spMk id="6" creationId="{F61EDA36-939E-77E9-EE7A-9DCE9E94F42D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1T23:53:19.822" v="236" actId="1035"/>
        <pc:sldMkLst>
          <pc:docMk/>
          <pc:sldMk cId="3562750845" sldId="4162"/>
        </pc:sldMkLst>
        <pc:spChg chg="add del mod">
          <ac:chgData name="신지수/방송사업지원팀" userId="d708d9a4-05b3-4ad4-9702-e3ee7a6f8508" providerId="ADAL" clId="{2E4DF6F4-BF74-49B5-8F9D-F5E250D4B209}" dt="2026-04-01T09:17:18.755" v="26" actId="478"/>
          <ac:spMkLst>
            <pc:docMk/>
            <pc:sldMk cId="3562750845" sldId="4162"/>
            <ac:spMk id="6" creationId="{DF2A07DA-C572-A471-CFFF-16D1CCA2D5BA}"/>
          </ac:spMkLst>
        </pc:spChg>
        <pc:spChg chg="add mod">
          <ac:chgData name="신지수/방송사업지원팀" userId="d708d9a4-05b3-4ad4-9702-e3ee7a6f8508" providerId="ADAL" clId="{2E4DF6F4-BF74-49B5-8F9D-F5E250D4B209}" dt="2026-04-01T23:53:05.933" v="230" actId="20577"/>
          <ac:spMkLst>
            <pc:docMk/>
            <pc:sldMk cId="3562750845" sldId="4162"/>
            <ac:spMk id="8" creationId="{50DA48A6-ADDF-A59C-BCA2-A1C4DEE5A85E}"/>
          </ac:spMkLst>
        </pc:spChg>
        <pc:graphicFrameChg chg="mod modGraphic">
          <ac:chgData name="신지수/방송사업지원팀" userId="d708d9a4-05b3-4ad4-9702-e3ee7a6f8508" providerId="ADAL" clId="{2E4DF6F4-BF74-49B5-8F9D-F5E250D4B209}" dt="2026-04-01T23:53:19.822" v="236" actId="1035"/>
          <ac:graphicFrameMkLst>
            <pc:docMk/>
            <pc:sldMk cId="3562750845" sldId="4162"/>
            <ac:graphicFrameMk id="2" creationId="{94A31D1B-A0DC-F4A8-C252-B6075D9C2CE7}"/>
          </ac:graphicFrameMkLst>
        </pc:graphicFrameChg>
      </pc:sldChg>
      <pc:sldChg chg="addSp delSp modSp mod">
        <pc:chgData name="신지수/방송사업지원팀" userId="d708d9a4-05b3-4ad4-9702-e3ee7a6f8508" providerId="ADAL" clId="{2E4DF6F4-BF74-49B5-8F9D-F5E250D4B209}" dt="2026-04-01T23:57:54.313" v="388" actId="20577"/>
        <pc:sldMkLst>
          <pc:docMk/>
          <pc:sldMk cId="3354649918" sldId="4163"/>
        </pc:sldMkLst>
        <pc:spChg chg="add del mod">
          <ac:chgData name="신지수/방송사업지원팀" userId="d708d9a4-05b3-4ad4-9702-e3ee7a6f8508" providerId="ADAL" clId="{2E4DF6F4-BF74-49B5-8F9D-F5E250D4B209}" dt="2026-04-01T23:57:37.885" v="376" actId="478"/>
          <ac:spMkLst>
            <pc:docMk/>
            <pc:sldMk cId="3354649918" sldId="4163"/>
            <ac:spMk id="2" creationId="{9468BF69-2FEA-92BE-0F0F-4E97157EB44A}"/>
          </ac:spMkLst>
        </pc:spChg>
        <pc:spChg chg="add mod">
          <ac:chgData name="신지수/방송사업지원팀" userId="d708d9a4-05b3-4ad4-9702-e3ee7a6f8508" providerId="ADAL" clId="{2E4DF6F4-BF74-49B5-8F9D-F5E250D4B209}" dt="2026-04-01T23:57:54.313" v="388" actId="20577"/>
          <ac:spMkLst>
            <pc:docMk/>
            <pc:sldMk cId="3354649918" sldId="4163"/>
            <ac:spMk id="15" creationId="{F97EFD1C-4ACD-E5AA-9859-DAE72D7D9512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1:44:00.631" v="1292" actId="20577"/>
        <pc:sldMkLst>
          <pc:docMk/>
          <pc:sldMk cId="723782876" sldId="4164"/>
        </pc:sldMkLst>
        <pc:spChg chg="mod">
          <ac:chgData name="신지수/방송사업지원팀" userId="d708d9a4-05b3-4ad4-9702-e3ee7a6f8508" providerId="ADAL" clId="{2E4DF6F4-BF74-49B5-8F9D-F5E250D4B209}" dt="2026-04-01T23:47:44.845" v="200" actId="20577"/>
          <ac:spMkLst>
            <pc:docMk/>
            <pc:sldMk cId="723782876" sldId="4164"/>
            <ac:spMk id="3" creationId="{64F24932-252A-DA29-9E55-491D727B11F5}"/>
          </ac:spMkLst>
        </pc:spChg>
        <pc:spChg chg="add del mod">
          <ac:chgData name="신지수/방송사업지원팀" userId="d708d9a4-05b3-4ad4-9702-e3ee7a6f8508" providerId="ADAL" clId="{2E4DF6F4-BF74-49B5-8F9D-F5E250D4B209}" dt="2026-04-01T23:57:39.189" v="377" actId="478"/>
          <ac:spMkLst>
            <pc:docMk/>
            <pc:sldMk cId="723782876" sldId="4164"/>
            <ac:spMk id="4" creationId="{195666D7-E353-7451-1421-CAD0FFE000F2}"/>
          </ac:spMkLst>
        </pc:spChg>
        <pc:spChg chg="add mod">
          <ac:chgData name="신지수/방송사업지원팀" userId="d708d9a4-05b3-4ad4-9702-e3ee7a6f8508" providerId="ADAL" clId="{2E4DF6F4-BF74-49B5-8F9D-F5E250D4B209}" dt="2026-04-01T23:58:00.667" v="393" actId="20577"/>
          <ac:spMkLst>
            <pc:docMk/>
            <pc:sldMk cId="723782876" sldId="4164"/>
            <ac:spMk id="6" creationId="{E0F3064B-2A17-8A74-B496-A623855AA31A}"/>
          </ac:spMkLst>
        </pc:spChg>
        <pc:spChg chg="add mod">
          <ac:chgData name="신지수/방송사업지원팀" userId="d708d9a4-05b3-4ad4-9702-e3ee7a6f8508" providerId="ADAL" clId="{2E4DF6F4-BF74-49B5-8F9D-F5E250D4B209}" dt="2026-04-01T23:58:02.422" v="394"/>
          <ac:spMkLst>
            <pc:docMk/>
            <pc:sldMk cId="723782876" sldId="4164"/>
            <ac:spMk id="7" creationId="{9C50DB68-C6DF-4AF1-C04F-9EF3A6D9B941}"/>
          </ac:spMkLst>
        </pc:spChg>
        <pc:spChg chg="mod">
          <ac:chgData name="신지수/방송사업지원팀" userId="d708d9a4-05b3-4ad4-9702-e3ee7a6f8508" providerId="ADAL" clId="{2E4DF6F4-BF74-49B5-8F9D-F5E250D4B209}" dt="2026-04-01T23:58:29.898" v="408" actId="1035"/>
          <ac:spMkLst>
            <pc:docMk/>
            <pc:sldMk cId="723782876" sldId="4164"/>
            <ac:spMk id="21" creationId="{5FD5B292-CFA5-F62D-4859-42E4716C5BCD}"/>
          </ac:spMkLst>
        </pc:spChg>
        <pc:spChg chg="mod">
          <ac:chgData name="신지수/방송사업지원팀" userId="d708d9a4-05b3-4ad4-9702-e3ee7a6f8508" providerId="ADAL" clId="{2E4DF6F4-BF74-49B5-8F9D-F5E250D4B209}" dt="2026-04-01T23:58:29.898" v="408" actId="1035"/>
          <ac:spMkLst>
            <pc:docMk/>
            <pc:sldMk cId="723782876" sldId="4164"/>
            <ac:spMk id="22" creationId="{C247511B-0D25-A8D9-1E1A-7875592B8D0A}"/>
          </ac:spMkLst>
        </pc:spChg>
        <pc:spChg chg="mod">
          <ac:chgData name="신지수/방송사업지원팀" userId="d708d9a4-05b3-4ad4-9702-e3ee7a6f8508" providerId="ADAL" clId="{2E4DF6F4-BF74-49B5-8F9D-F5E250D4B209}" dt="2026-04-02T01:44:00.631" v="1292" actId="20577"/>
          <ac:spMkLst>
            <pc:docMk/>
            <pc:sldMk cId="723782876" sldId="4164"/>
            <ac:spMk id="31" creationId="{2136585B-28D0-1261-3660-3D2C9E00CC5E}"/>
          </ac:spMkLst>
        </pc:spChg>
        <pc:spChg chg="mod">
          <ac:chgData name="신지수/방송사업지원팀" userId="d708d9a4-05b3-4ad4-9702-e3ee7a6f8508" providerId="ADAL" clId="{2E4DF6F4-BF74-49B5-8F9D-F5E250D4B209}" dt="2026-04-01T23:58:29.898" v="408" actId="1035"/>
          <ac:spMkLst>
            <pc:docMk/>
            <pc:sldMk cId="723782876" sldId="4164"/>
            <ac:spMk id="35" creationId="{A1B68ADA-1A08-CAA3-A8D8-653CC9B79292}"/>
          </ac:spMkLst>
        </pc:spChg>
        <pc:graphicFrameChg chg="mod modGraphic">
          <ac:chgData name="신지수/방송사업지원팀" userId="d708d9a4-05b3-4ad4-9702-e3ee7a6f8508" providerId="ADAL" clId="{2E4DF6F4-BF74-49B5-8F9D-F5E250D4B209}" dt="2026-04-01T23:58:29.898" v="408" actId="1035"/>
          <ac:graphicFrameMkLst>
            <pc:docMk/>
            <pc:sldMk cId="723782876" sldId="4164"/>
            <ac:graphicFrameMk id="2" creationId="{A722AE22-6654-C03C-3F6D-29E98E315359}"/>
          </ac:graphicFrameMkLst>
        </pc:graphicFrameChg>
        <pc:graphicFrameChg chg="mod modGraphic">
          <ac:chgData name="신지수/방송사업지원팀" userId="d708d9a4-05b3-4ad4-9702-e3ee7a6f8508" providerId="ADAL" clId="{2E4DF6F4-BF74-49B5-8F9D-F5E250D4B209}" dt="2026-04-01T23:58:35.663" v="409" actId="14100"/>
          <ac:graphicFrameMkLst>
            <pc:docMk/>
            <pc:sldMk cId="723782876" sldId="4164"/>
            <ac:graphicFrameMk id="5" creationId="{93107746-3829-BE33-5207-07C2C113687C}"/>
          </ac:graphicFrameMkLst>
        </pc:graphicFrameChg>
        <pc:picChg chg="mod">
          <ac:chgData name="신지수/방송사업지원팀" userId="d708d9a4-05b3-4ad4-9702-e3ee7a6f8508" providerId="ADAL" clId="{2E4DF6F4-BF74-49B5-8F9D-F5E250D4B209}" dt="2026-04-01T23:58:29.898" v="408" actId="1035"/>
          <ac:picMkLst>
            <pc:docMk/>
            <pc:sldMk cId="723782876" sldId="4164"/>
            <ac:picMk id="8" creationId="{EC1F150F-47DB-2CEE-74FE-E51F381A9F55}"/>
          </ac:picMkLst>
        </pc:picChg>
        <pc:picChg chg="mod">
          <ac:chgData name="신지수/방송사업지원팀" userId="d708d9a4-05b3-4ad4-9702-e3ee7a6f8508" providerId="ADAL" clId="{2E4DF6F4-BF74-49B5-8F9D-F5E250D4B209}" dt="2026-04-01T23:58:29.898" v="408" actId="1035"/>
          <ac:picMkLst>
            <pc:docMk/>
            <pc:sldMk cId="723782876" sldId="4164"/>
            <ac:picMk id="12" creationId="{021A9758-AFD6-C838-C642-969299D7E49A}"/>
          </ac:picMkLst>
        </pc:picChg>
      </pc:sldChg>
      <pc:sldChg chg="addSp delSp modSp mod">
        <pc:chgData name="신지수/방송사업지원팀" userId="d708d9a4-05b3-4ad4-9702-e3ee7a6f8508" providerId="ADAL" clId="{2E4DF6F4-BF74-49B5-8F9D-F5E250D4B209}" dt="2026-04-01T23:59:53.423" v="446" actId="14100"/>
        <pc:sldMkLst>
          <pc:docMk/>
          <pc:sldMk cId="2759849107" sldId="4165"/>
        </pc:sldMkLst>
        <pc:spChg chg="mod">
          <ac:chgData name="신지수/방송사업지원팀" userId="d708d9a4-05b3-4ad4-9702-e3ee7a6f8508" providerId="ADAL" clId="{2E4DF6F4-BF74-49B5-8F9D-F5E250D4B209}" dt="2026-04-01T23:59:53.423" v="446" actId="14100"/>
          <ac:spMkLst>
            <pc:docMk/>
            <pc:sldMk cId="2759849107" sldId="4165"/>
            <ac:spMk id="2" creationId="{1953F152-F4CD-A506-BB31-043F7C1D5254}"/>
          </ac:spMkLst>
        </pc:spChg>
        <pc:spChg chg="add del mod">
          <ac:chgData name="신지수/방송사업지원팀" userId="d708d9a4-05b3-4ad4-9702-e3ee7a6f8508" providerId="ADAL" clId="{2E4DF6F4-BF74-49B5-8F9D-F5E250D4B209}" dt="2026-04-01T23:59:46.193" v="442" actId="478"/>
          <ac:spMkLst>
            <pc:docMk/>
            <pc:sldMk cId="2759849107" sldId="4165"/>
            <ac:spMk id="3" creationId="{EAA6EC16-E96C-4050-9463-A7BE1DF0061B}"/>
          </ac:spMkLst>
        </pc:spChg>
        <pc:spChg chg="add mod">
          <ac:chgData name="신지수/방송사업지원팀" userId="d708d9a4-05b3-4ad4-9702-e3ee7a6f8508" providerId="ADAL" clId="{2E4DF6F4-BF74-49B5-8F9D-F5E250D4B209}" dt="2026-04-01T23:59:48.648" v="445" actId="20577"/>
          <ac:spMkLst>
            <pc:docMk/>
            <pc:sldMk cId="2759849107" sldId="4165"/>
            <ac:spMk id="4" creationId="{2724C2B5-D8B0-C1F2-190C-3D64A24D563D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00:26.936" v="457" actId="20577"/>
        <pc:sldMkLst>
          <pc:docMk/>
          <pc:sldMk cId="550270041" sldId="4166"/>
        </pc:sldMkLst>
        <pc:spChg chg="mod">
          <ac:chgData name="신지수/방송사업지원팀" userId="d708d9a4-05b3-4ad4-9702-e3ee7a6f8508" providerId="ADAL" clId="{2E4DF6F4-BF74-49B5-8F9D-F5E250D4B209}" dt="2026-04-02T00:00:23.067" v="452" actId="14100"/>
          <ac:spMkLst>
            <pc:docMk/>
            <pc:sldMk cId="550270041" sldId="4166"/>
            <ac:spMk id="2" creationId="{92F7ACB5-5019-A981-0BDF-AB1FB3A9DE34}"/>
          </ac:spMkLst>
        </pc:spChg>
        <pc:spChg chg="add del mod">
          <ac:chgData name="신지수/방송사업지원팀" userId="d708d9a4-05b3-4ad4-9702-e3ee7a6f8508" providerId="ADAL" clId="{2E4DF6F4-BF74-49B5-8F9D-F5E250D4B209}" dt="2026-04-02T00:00:24.764" v="454" actId="478"/>
          <ac:spMkLst>
            <pc:docMk/>
            <pc:sldMk cId="550270041" sldId="4166"/>
            <ac:spMk id="10" creationId="{3FEB6172-BBC8-2E09-925A-D847CD272BCD}"/>
          </ac:spMkLst>
        </pc:spChg>
        <pc:spChg chg="add mod">
          <ac:chgData name="신지수/방송사업지원팀" userId="d708d9a4-05b3-4ad4-9702-e3ee7a6f8508" providerId="ADAL" clId="{2E4DF6F4-BF74-49B5-8F9D-F5E250D4B209}" dt="2026-04-02T00:00:26.936" v="457" actId="20577"/>
          <ac:spMkLst>
            <pc:docMk/>
            <pc:sldMk cId="550270041" sldId="4166"/>
            <ac:spMk id="11" creationId="{1452F758-FBFD-077A-97DE-FAE21E00A021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00:17.116" v="451" actId="20577"/>
        <pc:sldMkLst>
          <pc:docMk/>
          <pc:sldMk cId="1501806257" sldId="4167"/>
        </pc:sldMkLst>
        <pc:spChg chg="mod">
          <ac:chgData name="신지수/방송사업지원팀" userId="d708d9a4-05b3-4ad4-9702-e3ee7a6f8508" providerId="ADAL" clId="{2E4DF6F4-BF74-49B5-8F9D-F5E250D4B209}" dt="2026-04-02T00:00:12.987" v="447" actId="14100"/>
          <ac:spMkLst>
            <pc:docMk/>
            <pc:sldMk cId="1501806257" sldId="4167"/>
            <ac:spMk id="2" creationId="{92F7ACB5-5019-A981-0BDF-AB1FB3A9DE34}"/>
          </ac:spMkLst>
        </pc:spChg>
        <pc:spChg chg="add del mod">
          <ac:chgData name="신지수/방송사업지원팀" userId="d708d9a4-05b3-4ad4-9702-e3ee7a6f8508" providerId="ADAL" clId="{2E4DF6F4-BF74-49B5-8F9D-F5E250D4B209}" dt="2026-04-02T00:00:15.193" v="448" actId="478"/>
          <ac:spMkLst>
            <pc:docMk/>
            <pc:sldMk cId="1501806257" sldId="4167"/>
            <ac:spMk id="4" creationId="{05093F63-5A2E-49CB-62BD-C5F1F9C5694E}"/>
          </ac:spMkLst>
        </pc:spChg>
        <pc:spChg chg="add mod">
          <ac:chgData name="신지수/방송사업지원팀" userId="d708d9a4-05b3-4ad4-9702-e3ee7a6f8508" providerId="ADAL" clId="{2E4DF6F4-BF74-49B5-8F9D-F5E250D4B209}" dt="2026-04-02T00:00:17.116" v="451" actId="20577"/>
          <ac:spMkLst>
            <pc:docMk/>
            <pc:sldMk cId="1501806257" sldId="4167"/>
            <ac:spMk id="6" creationId="{17967BDD-7138-9978-77FD-F22F3DB05BD1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00:49.162" v="474" actId="1035"/>
        <pc:sldMkLst>
          <pc:docMk/>
          <pc:sldMk cId="1202353231" sldId="4168"/>
        </pc:sldMkLst>
        <pc:spChg chg="add del mod">
          <ac:chgData name="신지수/방송사업지원팀" userId="d708d9a4-05b3-4ad4-9702-e3ee7a6f8508" providerId="ADAL" clId="{2E4DF6F4-BF74-49B5-8F9D-F5E250D4B209}" dt="2026-04-02T00:00:31.719" v="458" actId="478"/>
          <ac:spMkLst>
            <pc:docMk/>
            <pc:sldMk cId="1202353231" sldId="4168"/>
            <ac:spMk id="3" creationId="{F3FEF7C8-13A7-9A21-AD95-5A872C2CF769}"/>
          </ac:spMkLst>
        </pc:spChg>
        <pc:spChg chg="add mod">
          <ac:chgData name="신지수/방송사업지원팀" userId="d708d9a4-05b3-4ad4-9702-e3ee7a6f8508" providerId="ADAL" clId="{2E4DF6F4-BF74-49B5-8F9D-F5E250D4B209}" dt="2026-04-02T00:00:36.295" v="467" actId="20577"/>
          <ac:spMkLst>
            <pc:docMk/>
            <pc:sldMk cId="1202353231" sldId="4168"/>
            <ac:spMk id="5" creationId="{3593492C-CEBF-1896-DF41-877C2B80C352}"/>
          </ac:spMkLst>
        </pc:spChg>
        <pc:graphicFrameChg chg="mod">
          <ac:chgData name="신지수/방송사업지원팀" userId="d708d9a4-05b3-4ad4-9702-e3ee7a6f8508" providerId="ADAL" clId="{2E4DF6F4-BF74-49B5-8F9D-F5E250D4B209}" dt="2026-04-02T00:00:49.162" v="474" actId="1035"/>
          <ac:graphicFrameMkLst>
            <pc:docMk/>
            <pc:sldMk cId="1202353231" sldId="4168"/>
            <ac:graphicFrameMk id="2" creationId="{15BF9F84-78A6-A56E-BB1D-31DAA6F630D3}"/>
          </ac:graphicFrameMkLst>
        </pc:graphicFrameChg>
      </pc:sldChg>
      <pc:sldChg chg="addSp delSp modSp mod">
        <pc:chgData name="신지수/방송사업지원팀" userId="d708d9a4-05b3-4ad4-9702-e3ee7a6f8508" providerId="ADAL" clId="{2E4DF6F4-BF74-49B5-8F9D-F5E250D4B209}" dt="2026-04-02T00:11:57.828" v="697" actId="20577"/>
        <pc:sldMkLst>
          <pc:docMk/>
          <pc:sldMk cId="4162721603" sldId="4169"/>
        </pc:sldMkLst>
        <pc:spChg chg="add del mod">
          <ac:chgData name="신지수/방송사업지원팀" userId="d708d9a4-05b3-4ad4-9702-e3ee7a6f8508" providerId="ADAL" clId="{2E4DF6F4-BF74-49B5-8F9D-F5E250D4B209}" dt="2026-04-02T00:00:55.505" v="475" actId="478"/>
          <ac:spMkLst>
            <pc:docMk/>
            <pc:sldMk cId="4162721603" sldId="4169"/>
            <ac:spMk id="2" creationId="{A016E3A4-8230-6C36-28C5-71E912DF8D17}"/>
          </ac:spMkLst>
        </pc:spChg>
        <pc:spChg chg="add mod">
          <ac:chgData name="신지수/방송사업지원팀" userId="d708d9a4-05b3-4ad4-9702-e3ee7a6f8508" providerId="ADAL" clId="{2E4DF6F4-BF74-49B5-8F9D-F5E250D4B209}" dt="2026-04-02T00:11:57.828" v="697" actId="20577"/>
          <ac:spMkLst>
            <pc:docMk/>
            <pc:sldMk cId="4162721603" sldId="4169"/>
            <ac:spMk id="6" creationId="{BB267227-333B-923C-FA80-813D9DCC21B3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2:03.172" v="701" actId="20577"/>
        <pc:sldMkLst>
          <pc:docMk/>
          <pc:sldMk cId="3661870412" sldId="4172"/>
        </pc:sldMkLst>
        <pc:spChg chg="add del mod">
          <ac:chgData name="신지수/방송사업지원팀" userId="d708d9a4-05b3-4ad4-9702-e3ee7a6f8508" providerId="ADAL" clId="{2E4DF6F4-BF74-49B5-8F9D-F5E250D4B209}" dt="2026-04-02T00:00:58.555" v="477" actId="478"/>
          <ac:spMkLst>
            <pc:docMk/>
            <pc:sldMk cId="3661870412" sldId="4172"/>
            <ac:spMk id="4" creationId="{E48FA311-AB47-0BBF-1E99-F8D1676156E1}"/>
          </ac:spMkLst>
        </pc:spChg>
        <pc:spChg chg="add mod">
          <ac:chgData name="신지수/방송사업지원팀" userId="d708d9a4-05b3-4ad4-9702-e3ee7a6f8508" providerId="ADAL" clId="{2E4DF6F4-BF74-49B5-8F9D-F5E250D4B209}" dt="2026-04-02T00:12:03.172" v="701" actId="20577"/>
          <ac:spMkLst>
            <pc:docMk/>
            <pc:sldMk cId="3661870412" sldId="4172"/>
            <ac:spMk id="5" creationId="{2161FB58-2133-FCBD-929F-23F6275C65F9}"/>
          </ac:spMkLst>
        </pc:spChg>
      </pc:sldChg>
      <pc:sldChg chg="addSp modSp del">
        <pc:chgData name="신지수/방송사업지원팀" userId="d708d9a4-05b3-4ad4-9702-e3ee7a6f8508" providerId="ADAL" clId="{2E4DF6F4-BF74-49B5-8F9D-F5E250D4B209}" dt="2026-04-01T23:48:03.473" v="202" actId="47"/>
        <pc:sldMkLst>
          <pc:docMk/>
          <pc:sldMk cId="1629433370" sldId="4173"/>
        </pc:sldMkLst>
        <pc:spChg chg="add mod">
          <ac:chgData name="신지수/방송사업지원팀" userId="d708d9a4-05b3-4ad4-9702-e3ee7a6f8508" providerId="ADAL" clId="{2E4DF6F4-BF74-49B5-8F9D-F5E250D4B209}" dt="2026-04-01T09:19:26.276" v="82"/>
          <ac:spMkLst>
            <pc:docMk/>
            <pc:sldMk cId="1629433370" sldId="4173"/>
            <ac:spMk id="7" creationId="{D94A3C6B-DCBF-B566-C0E2-6BD196826406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08:41.944" v="598"/>
        <pc:sldMkLst>
          <pc:docMk/>
          <pc:sldMk cId="2366059355" sldId="4174"/>
        </pc:sldMkLst>
        <pc:spChg chg="add mod">
          <ac:chgData name="신지수/방송사업지원팀" userId="d708d9a4-05b3-4ad4-9702-e3ee7a6f8508" providerId="ADAL" clId="{2E4DF6F4-BF74-49B5-8F9D-F5E250D4B209}" dt="2026-04-02T00:08:41.944" v="598"/>
          <ac:spMkLst>
            <pc:docMk/>
            <pc:sldMk cId="2366059355" sldId="4174"/>
            <ac:spMk id="2" creationId="{05FBC93A-7B6C-07F6-A395-B72B7AAF3C68}"/>
          </ac:spMkLst>
        </pc:spChg>
        <pc:spChg chg="add del mod">
          <ac:chgData name="신지수/방송사업지원팀" userId="d708d9a4-05b3-4ad4-9702-e3ee7a6f8508" providerId="ADAL" clId="{2E4DF6F4-BF74-49B5-8F9D-F5E250D4B209}" dt="2026-04-01T09:19:28.377" v="84" actId="478"/>
          <ac:spMkLst>
            <pc:docMk/>
            <pc:sldMk cId="2366059355" sldId="4174"/>
            <ac:spMk id="2" creationId="{3A55A539-75AD-9F62-54EC-C2D7F806A888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2:10.984" v="707" actId="20577"/>
        <pc:sldMkLst>
          <pc:docMk/>
          <pc:sldMk cId="2895265390" sldId="4176"/>
        </pc:sldMkLst>
        <pc:spChg chg="add del mod">
          <ac:chgData name="신지수/방송사업지원팀" userId="d708d9a4-05b3-4ad4-9702-e3ee7a6f8508" providerId="ADAL" clId="{2E4DF6F4-BF74-49B5-8F9D-F5E250D4B209}" dt="2026-04-02T00:01:48.707" v="487" actId="478"/>
          <ac:spMkLst>
            <pc:docMk/>
            <pc:sldMk cId="2895265390" sldId="4176"/>
            <ac:spMk id="3" creationId="{E3507749-C842-1E13-9B6D-057A68BCE0B7}"/>
          </ac:spMkLst>
        </pc:spChg>
        <pc:spChg chg="add mod">
          <ac:chgData name="신지수/방송사업지원팀" userId="d708d9a4-05b3-4ad4-9702-e3ee7a6f8508" providerId="ADAL" clId="{2E4DF6F4-BF74-49B5-8F9D-F5E250D4B209}" dt="2026-04-02T00:12:10.984" v="707" actId="20577"/>
          <ac:spMkLst>
            <pc:docMk/>
            <pc:sldMk cId="2895265390" sldId="4176"/>
            <ac:spMk id="4" creationId="{63003158-AD48-148C-05F2-681EBF22E1A8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2:15.663" v="711" actId="20577"/>
        <pc:sldMkLst>
          <pc:docMk/>
          <pc:sldMk cId="2941761474" sldId="4177"/>
        </pc:sldMkLst>
        <pc:spChg chg="add del mod">
          <ac:chgData name="신지수/방송사업지원팀" userId="d708d9a4-05b3-4ad4-9702-e3ee7a6f8508" providerId="ADAL" clId="{2E4DF6F4-BF74-49B5-8F9D-F5E250D4B209}" dt="2026-04-02T00:01:51.733" v="490" actId="478"/>
          <ac:spMkLst>
            <pc:docMk/>
            <pc:sldMk cId="2941761474" sldId="4177"/>
            <ac:spMk id="2" creationId="{BBC3B684-94EE-EE24-00FE-0B4E4A7EB2C3}"/>
          </ac:spMkLst>
        </pc:spChg>
        <pc:spChg chg="add mod">
          <ac:chgData name="신지수/방송사업지원팀" userId="d708d9a4-05b3-4ad4-9702-e3ee7a6f8508" providerId="ADAL" clId="{2E4DF6F4-BF74-49B5-8F9D-F5E250D4B209}" dt="2026-04-02T00:12:15.663" v="711" actId="20577"/>
          <ac:spMkLst>
            <pc:docMk/>
            <pc:sldMk cId="2941761474" sldId="4177"/>
            <ac:spMk id="3" creationId="{479FEF4A-8A5D-10A9-B1CD-3877CB7C8E1C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2:13.230" v="709" actId="20577"/>
        <pc:sldMkLst>
          <pc:docMk/>
          <pc:sldMk cId="3659278679" sldId="4178"/>
        </pc:sldMkLst>
        <pc:spChg chg="add del mod">
          <ac:chgData name="신지수/방송사업지원팀" userId="d708d9a4-05b3-4ad4-9702-e3ee7a6f8508" providerId="ADAL" clId="{2E4DF6F4-BF74-49B5-8F9D-F5E250D4B209}" dt="2026-04-02T00:01:50.668" v="489" actId="478"/>
          <ac:spMkLst>
            <pc:docMk/>
            <pc:sldMk cId="3659278679" sldId="4178"/>
            <ac:spMk id="6" creationId="{224FDB52-22C5-46C4-6323-CFE348BD8E89}"/>
          </ac:spMkLst>
        </pc:spChg>
        <pc:spChg chg="add mod">
          <ac:chgData name="신지수/방송사업지원팀" userId="d708d9a4-05b3-4ad4-9702-e3ee7a6f8508" providerId="ADAL" clId="{2E4DF6F4-BF74-49B5-8F9D-F5E250D4B209}" dt="2026-04-02T00:12:13.230" v="709" actId="20577"/>
          <ac:spMkLst>
            <pc:docMk/>
            <pc:sldMk cId="3659278679" sldId="4178"/>
            <ac:spMk id="7" creationId="{BB285E9A-05AF-5BC1-C1DC-0FD8D5DEBBEF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2:17.981" v="713" actId="20577"/>
        <pc:sldMkLst>
          <pc:docMk/>
          <pc:sldMk cId="3816935050" sldId="4179"/>
        </pc:sldMkLst>
        <pc:spChg chg="add del mod">
          <ac:chgData name="신지수/방송사업지원팀" userId="d708d9a4-05b3-4ad4-9702-e3ee7a6f8508" providerId="ADAL" clId="{2E4DF6F4-BF74-49B5-8F9D-F5E250D4B209}" dt="2026-04-02T00:01:52.958" v="491" actId="478"/>
          <ac:spMkLst>
            <pc:docMk/>
            <pc:sldMk cId="3816935050" sldId="4179"/>
            <ac:spMk id="6" creationId="{C8328093-FE44-93B2-CA91-3BABB03111A2}"/>
          </ac:spMkLst>
        </pc:spChg>
        <pc:spChg chg="add mod">
          <ac:chgData name="신지수/방송사업지원팀" userId="d708d9a4-05b3-4ad4-9702-e3ee7a6f8508" providerId="ADAL" clId="{2E4DF6F4-BF74-49B5-8F9D-F5E250D4B209}" dt="2026-04-02T00:12:17.981" v="713" actId="20577"/>
          <ac:spMkLst>
            <pc:docMk/>
            <pc:sldMk cId="3816935050" sldId="4179"/>
            <ac:spMk id="18" creationId="{4D4A17FF-1852-F6F3-44D2-E0174E175F95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08:48.977" v="605" actId="478"/>
        <pc:sldMkLst>
          <pc:docMk/>
          <pc:sldMk cId="1626409514" sldId="4180"/>
        </pc:sldMkLst>
        <pc:spChg chg="add del mod">
          <ac:chgData name="신지수/방송사업지원팀" userId="d708d9a4-05b3-4ad4-9702-e3ee7a6f8508" providerId="ADAL" clId="{2E4DF6F4-BF74-49B5-8F9D-F5E250D4B209}" dt="2026-04-02T00:08:48.977" v="605" actId="478"/>
          <ac:spMkLst>
            <pc:docMk/>
            <pc:sldMk cId="1626409514" sldId="4180"/>
            <ac:spMk id="2" creationId="{A946CD5F-D7C2-CE19-4887-FB4604C81437}"/>
          </ac:spMkLst>
        </pc:spChg>
        <pc:spChg chg="add del mod">
          <ac:chgData name="신지수/방송사업지원팀" userId="d708d9a4-05b3-4ad4-9702-e3ee7a6f8508" providerId="ADAL" clId="{2E4DF6F4-BF74-49B5-8F9D-F5E250D4B209}" dt="2026-04-01T09:19:34.425" v="91" actId="478"/>
          <ac:spMkLst>
            <pc:docMk/>
            <pc:sldMk cId="1626409514" sldId="4180"/>
            <ac:spMk id="2" creationId="{E1CA223D-54EC-5BC7-695E-383C938DAE46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08:52.202" v="608" actId="20577"/>
        <pc:sldMkLst>
          <pc:docMk/>
          <pc:sldMk cId="3634195602" sldId="4181"/>
        </pc:sldMkLst>
        <pc:spChg chg="mod">
          <ac:chgData name="신지수/방송사업지원팀" userId="d708d9a4-05b3-4ad4-9702-e3ee7a6f8508" providerId="ADAL" clId="{2E4DF6F4-BF74-49B5-8F9D-F5E250D4B209}" dt="2026-04-02T00:02:12.521" v="494" actId="1076"/>
          <ac:spMkLst>
            <pc:docMk/>
            <pc:sldMk cId="3634195602" sldId="4181"/>
            <ac:spMk id="2" creationId="{041F5139-9DF9-4B53-B2AE-FDD6541E27B3}"/>
          </ac:spMkLst>
        </pc:spChg>
        <pc:spChg chg="add del mod">
          <ac:chgData name="신지수/방송사업지원팀" userId="d708d9a4-05b3-4ad4-9702-e3ee7a6f8508" providerId="ADAL" clId="{2E4DF6F4-BF74-49B5-8F9D-F5E250D4B209}" dt="2026-04-02T00:01:54.908" v="492" actId="478"/>
          <ac:spMkLst>
            <pc:docMk/>
            <pc:sldMk cId="3634195602" sldId="4181"/>
            <ac:spMk id="3" creationId="{CAD3A414-E09A-E0A7-D806-18BF3FE0F5B2}"/>
          </ac:spMkLst>
        </pc:spChg>
        <pc:spChg chg="mod">
          <ac:chgData name="신지수/방송사업지원팀" userId="d708d9a4-05b3-4ad4-9702-e3ee7a6f8508" providerId="ADAL" clId="{2E4DF6F4-BF74-49B5-8F9D-F5E250D4B209}" dt="2026-04-02T00:02:12.521" v="494" actId="1076"/>
          <ac:spMkLst>
            <pc:docMk/>
            <pc:sldMk cId="3634195602" sldId="4181"/>
            <ac:spMk id="6" creationId="{EF2D3B61-AE9D-EC87-59DA-C4F3B52E29B1}"/>
          </ac:spMkLst>
        </pc:spChg>
        <pc:spChg chg="add mod">
          <ac:chgData name="신지수/방송사업지원팀" userId="d708d9a4-05b3-4ad4-9702-e3ee7a6f8508" providerId="ADAL" clId="{2E4DF6F4-BF74-49B5-8F9D-F5E250D4B209}" dt="2026-04-02T00:08:52.202" v="608" actId="20577"/>
          <ac:spMkLst>
            <pc:docMk/>
            <pc:sldMk cId="3634195602" sldId="4181"/>
            <ac:spMk id="7" creationId="{2E2BEACE-8AFA-6E06-672F-63DB55520CE7}"/>
          </ac:spMkLst>
        </pc:spChg>
        <pc:spChg chg="mod">
          <ac:chgData name="신지수/방송사업지원팀" userId="d708d9a4-05b3-4ad4-9702-e3ee7a6f8508" providerId="ADAL" clId="{2E4DF6F4-BF74-49B5-8F9D-F5E250D4B209}" dt="2026-04-02T00:02:12.521" v="494" actId="1076"/>
          <ac:spMkLst>
            <pc:docMk/>
            <pc:sldMk cId="3634195602" sldId="4181"/>
            <ac:spMk id="15" creationId="{DE4B04D6-0BFE-2450-7F49-6E6BF391304B}"/>
          </ac:spMkLst>
        </pc:spChg>
        <pc:graphicFrameChg chg="mod">
          <ac:chgData name="신지수/방송사업지원팀" userId="d708d9a4-05b3-4ad4-9702-e3ee7a6f8508" providerId="ADAL" clId="{2E4DF6F4-BF74-49B5-8F9D-F5E250D4B209}" dt="2026-04-02T00:02:12.521" v="494" actId="1076"/>
          <ac:graphicFrameMkLst>
            <pc:docMk/>
            <pc:sldMk cId="3634195602" sldId="4181"/>
            <ac:graphicFrameMk id="4" creationId="{5F3F5C2D-8E6B-4043-F22A-5BA81F7BCB9A}"/>
          </ac:graphicFrameMkLst>
        </pc:graphicFrameChg>
        <pc:graphicFrameChg chg="mod">
          <ac:chgData name="신지수/방송사업지원팀" userId="d708d9a4-05b3-4ad4-9702-e3ee7a6f8508" providerId="ADAL" clId="{2E4DF6F4-BF74-49B5-8F9D-F5E250D4B209}" dt="2026-04-02T00:02:12.521" v="494" actId="1076"/>
          <ac:graphicFrameMkLst>
            <pc:docMk/>
            <pc:sldMk cId="3634195602" sldId="4181"/>
            <ac:graphicFrameMk id="5" creationId="{E8ED08DC-5720-4F85-B8A3-CEB10A6F30BC}"/>
          </ac:graphicFrameMkLst>
        </pc:graphicFrameChg>
        <pc:graphicFrameChg chg="mod">
          <ac:chgData name="신지수/방송사업지원팀" userId="d708d9a4-05b3-4ad4-9702-e3ee7a6f8508" providerId="ADAL" clId="{2E4DF6F4-BF74-49B5-8F9D-F5E250D4B209}" dt="2026-04-02T00:02:12.521" v="494" actId="1076"/>
          <ac:graphicFrameMkLst>
            <pc:docMk/>
            <pc:sldMk cId="3634195602" sldId="4181"/>
            <ac:graphicFrameMk id="8" creationId="{258C616E-471B-7F04-4AC7-E7E3E22B3B61}"/>
          </ac:graphicFrameMkLst>
        </pc:graphicFrameChg>
      </pc:sldChg>
      <pc:sldChg chg="addSp delSp modSp mod">
        <pc:chgData name="신지수/방송사업지원팀" userId="d708d9a4-05b3-4ad4-9702-e3ee7a6f8508" providerId="ADAL" clId="{2E4DF6F4-BF74-49B5-8F9D-F5E250D4B209}" dt="2026-04-02T00:31:42.948" v="1239" actId="14100"/>
        <pc:sldMkLst>
          <pc:docMk/>
          <pc:sldMk cId="2204213973" sldId="4183"/>
        </pc:sldMkLst>
        <pc:spChg chg="add del mod">
          <ac:chgData name="신지수/방송사업지원팀" userId="d708d9a4-05b3-4ad4-9702-e3ee7a6f8508" providerId="ADAL" clId="{2E4DF6F4-BF74-49B5-8F9D-F5E250D4B209}" dt="2026-04-02T00:02:46.662" v="504" actId="478"/>
          <ac:spMkLst>
            <pc:docMk/>
            <pc:sldMk cId="2204213973" sldId="4183"/>
            <ac:spMk id="3" creationId="{494FEC24-9D23-E940-E451-05DDD84D194E}"/>
          </ac:spMkLst>
        </pc:spChg>
        <pc:spChg chg="add mod">
          <ac:chgData name="신지수/방송사업지원팀" userId="d708d9a4-05b3-4ad4-9702-e3ee7a6f8508" providerId="ADAL" clId="{2E4DF6F4-BF74-49B5-8F9D-F5E250D4B209}" dt="2026-04-02T00:12:24.956" v="717" actId="20577"/>
          <ac:spMkLst>
            <pc:docMk/>
            <pc:sldMk cId="2204213973" sldId="4183"/>
            <ac:spMk id="6" creationId="{E565AC6B-9276-7756-91F5-60DB67B22EC1}"/>
          </ac:spMkLst>
        </pc:spChg>
        <pc:graphicFrameChg chg="mod modGraphic">
          <ac:chgData name="신지수/방송사업지원팀" userId="d708d9a4-05b3-4ad4-9702-e3ee7a6f8508" providerId="ADAL" clId="{2E4DF6F4-BF74-49B5-8F9D-F5E250D4B209}" dt="2026-04-02T00:31:42.948" v="1239" actId="14100"/>
          <ac:graphicFrameMkLst>
            <pc:docMk/>
            <pc:sldMk cId="2204213973" sldId="4183"/>
            <ac:graphicFrameMk id="4" creationId="{F047B71A-921F-C152-F001-8D634F480019}"/>
          </ac:graphicFrameMkLst>
        </pc:graphicFrameChg>
      </pc:sldChg>
      <pc:sldChg chg="addSp delSp modSp mod">
        <pc:chgData name="신지수/방송사업지원팀" userId="d708d9a4-05b3-4ad4-9702-e3ee7a6f8508" providerId="ADAL" clId="{2E4DF6F4-BF74-49B5-8F9D-F5E250D4B209}" dt="2026-04-02T00:12:28.002" v="719" actId="20577"/>
        <pc:sldMkLst>
          <pc:docMk/>
          <pc:sldMk cId="3746991101" sldId="4184"/>
        </pc:sldMkLst>
        <pc:spChg chg="add del mod">
          <ac:chgData name="신지수/방송사업지원팀" userId="d708d9a4-05b3-4ad4-9702-e3ee7a6f8508" providerId="ADAL" clId="{2E4DF6F4-BF74-49B5-8F9D-F5E250D4B209}" dt="2026-04-02T00:02:51.138" v="507" actId="478"/>
          <ac:spMkLst>
            <pc:docMk/>
            <pc:sldMk cId="3746991101" sldId="4184"/>
            <ac:spMk id="2" creationId="{3AE65B48-EEB6-A53C-56DA-6A7629BE5691}"/>
          </ac:spMkLst>
        </pc:spChg>
        <pc:spChg chg="add mod">
          <ac:chgData name="신지수/방송사업지원팀" userId="d708d9a4-05b3-4ad4-9702-e3ee7a6f8508" providerId="ADAL" clId="{2E4DF6F4-BF74-49B5-8F9D-F5E250D4B209}" dt="2026-04-02T00:12:28.002" v="719" actId="20577"/>
          <ac:spMkLst>
            <pc:docMk/>
            <pc:sldMk cId="3746991101" sldId="4184"/>
            <ac:spMk id="10" creationId="{94F954CD-B656-E32E-ABDF-0410FEC88249}"/>
          </ac:spMkLst>
        </pc:spChg>
        <pc:spChg chg="mod">
          <ac:chgData name="신지수/방송사업지원팀" userId="d708d9a4-05b3-4ad4-9702-e3ee7a6f8508" providerId="ADAL" clId="{2E4DF6F4-BF74-49B5-8F9D-F5E250D4B209}" dt="2026-04-02T00:03:04.645" v="509" actId="1076"/>
          <ac:spMkLst>
            <pc:docMk/>
            <pc:sldMk cId="3746991101" sldId="4184"/>
            <ac:spMk id="27" creationId="{CE44A0B1-8283-1B64-59F4-A776298A4F89}"/>
          </ac:spMkLst>
        </pc:spChg>
        <pc:graphicFrameChg chg="mod modGraphic">
          <ac:chgData name="신지수/방송사업지원팀" userId="d708d9a4-05b3-4ad4-9702-e3ee7a6f8508" providerId="ADAL" clId="{2E4DF6F4-BF74-49B5-8F9D-F5E250D4B209}" dt="2026-04-02T00:03:19.479" v="511" actId="14100"/>
          <ac:graphicFrameMkLst>
            <pc:docMk/>
            <pc:sldMk cId="3746991101" sldId="4184"/>
            <ac:graphicFrameMk id="4" creationId="{8FEB081F-71C1-A8F6-3209-181BA626656A}"/>
          </ac:graphicFrameMkLst>
        </pc:graphicFrameChg>
        <pc:picChg chg="mod">
          <ac:chgData name="신지수/방송사업지원팀" userId="d708d9a4-05b3-4ad4-9702-e3ee7a6f8508" providerId="ADAL" clId="{2E4DF6F4-BF74-49B5-8F9D-F5E250D4B209}" dt="2026-04-02T00:03:24.223" v="517" actId="1035"/>
          <ac:picMkLst>
            <pc:docMk/>
            <pc:sldMk cId="3746991101" sldId="4184"/>
            <ac:picMk id="28" creationId="{F1531F25-EF70-EB11-595C-F4F6630A4E57}"/>
          </ac:picMkLst>
        </pc:picChg>
        <pc:cxnChg chg="mod">
          <ac:chgData name="신지수/방송사업지원팀" userId="d708d9a4-05b3-4ad4-9702-e3ee7a6f8508" providerId="ADAL" clId="{2E4DF6F4-BF74-49B5-8F9D-F5E250D4B209}" dt="2026-04-02T00:03:29.730" v="524" actId="1035"/>
          <ac:cxnSpMkLst>
            <pc:docMk/>
            <pc:sldMk cId="3746991101" sldId="4184"/>
            <ac:cxnSpMk id="29" creationId="{A70CE2AB-7208-2F91-FF8D-2A4B09D5391F}"/>
          </ac:cxnSpMkLst>
        </pc:cxnChg>
        <pc:cxnChg chg="mod">
          <ac:chgData name="신지수/방송사업지원팀" userId="d708d9a4-05b3-4ad4-9702-e3ee7a6f8508" providerId="ADAL" clId="{2E4DF6F4-BF74-49B5-8F9D-F5E250D4B209}" dt="2026-04-02T00:03:29.730" v="524" actId="1035"/>
          <ac:cxnSpMkLst>
            <pc:docMk/>
            <pc:sldMk cId="3746991101" sldId="4184"/>
            <ac:cxnSpMk id="30" creationId="{663FA132-4FD9-A9CD-F49B-BD5AED2DE775}"/>
          </ac:cxnSpMkLst>
        </pc:cxnChg>
      </pc:sldChg>
      <pc:sldChg chg="addSp delSp modSp mod">
        <pc:chgData name="신지수/방송사업지원팀" userId="d708d9a4-05b3-4ad4-9702-e3ee7a6f8508" providerId="ADAL" clId="{2E4DF6F4-BF74-49B5-8F9D-F5E250D4B209}" dt="2026-04-02T00:32:10.328" v="1240" actId="1076"/>
        <pc:sldMkLst>
          <pc:docMk/>
          <pc:sldMk cId="2084403248" sldId="4185"/>
        </pc:sldMkLst>
        <pc:spChg chg="add del mod">
          <ac:chgData name="신지수/방송사업지원팀" userId="d708d9a4-05b3-4ad4-9702-e3ee7a6f8508" providerId="ADAL" clId="{2E4DF6F4-BF74-49B5-8F9D-F5E250D4B209}" dt="2026-04-02T00:03:32.946" v="525" actId="478"/>
          <ac:spMkLst>
            <pc:docMk/>
            <pc:sldMk cId="2084403248" sldId="4185"/>
            <ac:spMk id="4" creationId="{1081743C-A83A-6EF0-287E-169F1E4F6E3B}"/>
          </ac:spMkLst>
        </pc:spChg>
        <pc:spChg chg="mod">
          <ac:chgData name="신지수/방송사업지원팀" userId="d708d9a4-05b3-4ad4-9702-e3ee7a6f8508" providerId="ADAL" clId="{2E4DF6F4-BF74-49B5-8F9D-F5E250D4B209}" dt="2026-04-02T00:32:10.328" v="1240" actId="1076"/>
          <ac:spMkLst>
            <pc:docMk/>
            <pc:sldMk cId="2084403248" sldId="4185"/>
            <ac:spMk id="8" creationId="{F88623A2-E9ED-4A0A-01FD-47D9BE4B2DA4}"/>
          </ac:spMkLst>
        </pc:spChg>
        <pc:spChg chg="add mod">
          <ac:chgData name="신지수/방송사업지원팀" userId="d708d9a4-05b3-4ad4-9702-e3ee7a6f8508" providerId="ADAL" clId="{2E4DF6F4-BF74-49B5-8F9D-F5E250D4B209}" dt="2026-04-02T00:12:30.206" v="721" actId="20577"/>
          <ac:spMkLst>
            <pc:docMk/>
            <pc:sldMk cId="2084403248" sldId="4185"/>
            <ac:spMk id="9" creationId="{8B857C71-A2C8-C80F-207D-0E90991105C6}"/>
          </ac:spMkLst>
        </pc:spChg>
        <pc:graphicFrameChg chg="mod">
          <ac:chgData name="신지수/방송사업지원팀" userId="d708d9a4-05b3-4ad4-9702-e3ee7a6f8508" providerId="ADAL" clId="{2E4DF6F4-BF74-49B5-8F9D-F5E250D4B209}" dt="2026-04-02T00:32:10.328" v="1240" actId="1076"/>
          <ac:graphicFrameMkLst>
            <pc:docMk/>
            <pc:sldMk cId="2084403248" sldId="4185"/>
            <ac:graphicFrameMk id="11" creationId="{407CE5BC-C07D-820B-FC52-DC6E91854E74}"/>
          </ac:graphicFrameMkLst>
        </pc:graphicFrameChg>
      </pc:sldChg>
      <pc:sldChg chg="addSp delSp modSp mod">
        <pc:chgData name="신지수/방송사업지원팀" userId="d708d9a4-05b3-4ad4-9702-e3ee7a6f8508" providerId="ADAL" clId="{2E4DF6F4-BF74-49B5-8F9D-F5E250D4B209}" dt="2026-04-02T00:12:32.220" v="723" actId="20577"/>
        <pc:sldMkLst>
          <pc:docMk/>
          <pc:sldMk cId="1162431766" sldId="4186"/>
        </pc:sldMkLst>
        <pc:spChg chg="add del mod">
          <ac:chgData name="신지수/방송사업지원팀" userId="d708d9a4-05b3-4ad4-9702-e3ee7a6f8508" providerId="ADAL" clId="{2E4DF6F4-BF74-49B5-8F9D-F5E250D4B209}" dt="2026-04-02T00:03:33.996" v="526" actId="478"/>
          <ac:spMkLst>
            <pc:docMk/>
            <pc:sldMk cId="1162431766" sldId="4186"/>
            <ac:spMk id="2" creationId="{C4EC1FA1-2E7C-1B24-EAE4-FDD5282E7F88}"/>
          </ac:spMkLst>
        </pc:spChg>
        <pc:spChg chg="add mod">
          <ac:chgData name="신지수/방송사업지원팀" userId="d708d9a4-05b3-4ad4-9702-e3ee7a6f8508" providerId="ADAL" clId="{2E4DF6F4-BF74-49B5-8F9D-F5E250D4B209}" dt="2026-04-02T00:12:32.220" v="723" actId="20577"/>
          <ac:spMkLst>
            <pc:docMk/>
            <pc:sldMk cId="1162431766" sldId="4186"/>
            <ac:spMk id="11" creationId="{A8D1C8C3-73B7-E0F9-A74E-CCD5852DC845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09:01.158" v="615" actId="478"/>
        <pc:sldMkLst>
          <pc:docMk/>
          <pc:sldMk cId="1860746074" sldId="4187"/>
        </pc:sldMkLst>
        <pc:spChg chg="add del mod">
          <ac:chgData name="신지수/방송사업지원팀" userId="d708d9a4-05b3-4ad4-9702-e3ee7a6f8508" providerId="ADAL" clId="{2E4DF6F4-BF74-49B5-8F9D-F5E250D4B209}" dt="2026-04-02T00:09:01.158" v="615" actId="478"/>
          <ac:spMkLst>
            <pc:docMk/>
            <pc:sldMk cId="1860746074" sldId="4187"/>
            <ac:spMk id="2" creationId="{D822706F-10EF-E027-3EC4-CF29777A0AC3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32:27.464" v="1242" actId="14100"/>
        <pc:sldMkLst>
          <pc:docMk/>
          <pc:sldMk cId="798920755" sldId="4188"/>
        </pc:sldMkLst>
        <pc:spChg chg="mod">
          <ac:chgData name="신지수/방송사업지원팀" userId="d708d9a4-05b3-4ad4-9702-e3ee7a6f8508" providerId="ADAL" clId="{2E4DF6F4-BF74-49B5-8F9D-F5E250D4B209}" dt="2026-04-02T00:32:27.464" v="1242" actId="14100"/>
          <ac:spMkLst>
            <pc:docMk/>
            <pc:sldMk cId="798920755" sldId="4188"/>
            <ac:spMk id="6" creationId="{C6BEFE17-FF22-F338-BEF4-9964660FE995}"/>
          </ac:spMkLst>
        </pc:spChg>
        <pc:spChg chg="add del mod">
          <ac:chgData name="신지수/방송사업지원팀" userId="d708d9a4-05b3-4ad4-9702-e3ee7a6f8508" providerId="ADAL" clId="{2E4DF6F4-BF74-49B5-8F9D-F5E250D4B209}" dt="2026-04-02T00:03:36.946" v="527" actId="478"/>
          <ac:spMkLst>
            <pc:docMk/>
            <pc:sldMk cId="798920755" sldId="4188"/>
            <ac:spMk id="7" creationId="{29B34215-9F72-06FF-56D3-4D96DC708790}"/>
          </ac:spMkLst>
        </pc:spChg>
        <pc:spChg chg="add mod">
          <ac:chgData name="신지수/방송사업지원팀" userId="d708d9a4-05b3-4ad4-9702-e3ee7a6f8508" providerId="ADAL" clId="{2E4DF6F4-BF74-49B5-8F9D-F5E250D4B209}" dt="2026-04-02T00:12:34.895" v="725" actId="20577"/>
          <ac:spMkLst>
            <pc:docMk/>
            <pc:sldMk cId="798920755" sldId="4188"/>
            <ac:spMk id="8" creationId="{1CF5CB5F-098C-F621-6E10-FAAC604503E6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2:37.386" v="729" actId="20577"/>
        <pc:sldMkLst>
          <pc:docMk/>
          <pc:sldMk cId="878362954" sldId="4189"/>
        </pc:sldMkLst>
        <pc:spChg chg="add del mod">
          <ac:chgData name="신지수/방송사업지원팀" userId="d708d9a4-05b3-4ad4-9702-e3ee7a6f8508" providerId="ADAL" clId="{2E4DF6F4-BF74-49B5-8F9D-F5E250D4B209}" dt="2026-04-02T00:03:39.656" v="528" actId="478"/>
          <ac:spMkLst>
            <pc:docMk/>
            <pc:sldMk cId="878362954" sldId="4189"/>
            <ac:spMk id="2" creationId="{5E5E8CF9-B7A1-2A23-315D-B0A0FB6144D5}"/>
          </ac:spMkLst>
        </pc:spChg>
        <pc:spChg chg="add mod">
          <ac:chgData name="신지수/방송사업지원팀" userId="d708d9a4-05b3-4ad4-9702-e3ee7a6f8508" providerId="ADAL" clId="{2E4DF6F4-BF74-49B5-8F9D-F5E250D4B209}" dt="2026-04-02T00:12:37.386" v="729" actId="20577"/>
          <ac:spMkLst>
            <pc:docMk/>
            <pc:sldMk cId="878362954" sldId="4189"/>
            <ac:spMk id="3" creationId="{B3BB291B-6257-8289-23F1-3FB8DC3BD9F2}"/>
          </ac:spMkLst>
        </pc:spChg>
      </pc:sldChg>
      <pc:sldChg chg="addSp modSp mod">
        <pc:chgData name="신지수/방송사업지원팀" userId="d708d9a4-05b3-4ad4-9702-e3ee7a6f8508" providerId="ADAL" clId="{2E4DF6F4-BF74-49B5-8F9D-F5E250D4B209}" dt="2026-04-02T00:12:41.027" v="735" actId="20577"/>
        <pc:sldMkLst>
          <pc:docMk/>
          <pc:sldMk cId="3588913402" sldId="4190"/>
        </pc:sldMkLst>
        <pc:spChg chg="add mod">
          <ac:chgData name="신지수/방송사업지원팀" userId="d708d9a4-05b3-4ad4-9702-e3ee7a6f8508" providerId="ADAL" clId="{2E4DF6F4-BF74-49B5-8F9D-F5E250D4B209}" dt="2026-04-02T00:12:41.027" v="735" actId="20577"/>
          <ac:spMkLst>
            <pc:docMk/>
            <pc:sldMk cId="3588913402" sldId="4190"/>
            <ac:spMk id="3" creationId="{09AEA13E-FBE7-6CFE-79E3-6C7243877DB8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36:42.317" v="1265" actId="20577"/>
        <pc:sldMkLst>
          <pc:docMk/>
          <pc:sldMk cId="2820821976" sldId="4193"/>
        </pc:sldMkLst>
        <pc:spChg chg="add del mod">
          <ac:chgData name="신지수/방송사업지원팀" userId="d708d9a4-05b3-4ad4-9702-e3ee7a6f8508" providerId="ADAL" clId="{2E4DF6F4-BF74-49B5-8F9D-F5E250D4B209}" dt="2026-04-02T00:03:52.923" v="532" actId="478"/>
          <ac:spMkLst>
            <pc:docMk/>
            <pc:sldMk cId="2820821976" sldId="4193"/>
            <ac:spMk id="5" creationId="{94820140-64B2-6C02-EB1F-ED9930DD2968}"/>
          </ac:spMkLst>
        </pc:spChg>
        <pc:spChg chg="add mod">
          <ac:chgData name="신지수/방송사업지원팀" userId="d708d9a4-05b3-4ad4-9702-e3ee7a6f8508" providerId="ADAL" clId="{2E4DF6F4-BF74-49B5-8F9D-F5E250D4B209}" dt="2026-04-02T00:12:46.397" v="739" actId="20577"/>
          <ac:spMkLst>
            <pc:docMk/>
            <pc:sldMk cId="2820821976" sldId="4193"/>
            <ac:spMk id="10" creationId="{04C1F527-966B-090A-D4F7-3E51F440E0EB}"/>
          </ac:spMkLst>
        </pc:spChg>
        <pc:spChg chg="mod">
          <ac:chgData name="신지수/방송사업지원팀" userId="d708d9a4-05b3-4ad4-9702-e3ee7a6f8508" providerId="ADAL" clId="{2E4DF6F4-BF74-49B5-8F9D-F5E250D4B209}" dt="2026-04-02T00:36:42.317" v="1265" actId="20577"/>
          <ac:spMkLst>
            <pc:docMk/>
            <pc:sldMk cId="2820821976" sldId="4193"/>
            <ac:spMk id="24" creationId="{DAD1AE71-1272-304F-1FFD-A5B42D8BC9F9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2:50.313" v="745" actId="20577"/>
        <pc:sldMkLst>
          <pc:docMk/>
          <pc:sldMk cId="699946132" sldId="4194"/>
        </pc:sldMkLst>
        <pc:spChg chg="add del mod">
          <ac:chgData name="신지수/방송사업지원팀" userId="d708d9a4-05b3-4ad4-9702-e3ee7a6f8508" providerId="ADAL" clId="{2E4DF6F4-BF74-49B5-8F9D-F5E250D4B209}" dt="2026-04-02T00:03:54.602" v="533" actId="478"/>
          <ac:spMkLst>
            <pc:docMk/>
            <pc:sldMk cId="699946132" sldId="4194"/>
            <ac:spMk id="13" creationId="{8CD55442-9204-D3E8-7671-9292D75F0C48}"/>
          </ac:spMkLst>
        </pc:spChg>
        <pc:spChg chg="add mod">
          <ac:chgData name="신지수/방송사업지원팀" userId="d708d9a4-05b3-4ad4-9702-e3ee7a6f8508" providerId="ADAL" clId="{2E4DF6F4-BF74-49B5-8F9D-F5E250D4B209}" dt="2026-04-02T00:12:50.313" v="745" actId="20577"/>
          <ac:spMkLst>
            <pc:docMk/>
            <pc:sldMk cId="699946132" sldId="4194"/>
            <ac:spMk id="15" creationId="{1372D2B0-38A0-49A2-5A24-1BAF92257ADE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2:53.094" v="749" actId="20577"/>
        <pc:sldMkLst>
          <pc:docMk/>
          <pc:sldMk cId="1906568844" sldId="4195"/>
        </pc:sldMkLst>
        <pc:spChg chg="add del mod">
          <ac:chgData name="신지수/방송사업지원팀" userId="d708d9a4-05b3-4ad4-9702-e3ee7a6f8508" providerId="ADAL" clId="{2E4DF6F4-BF74-49B5-8F9D-F5E250D4B209}" dt="2026-04-02T00:03:56.489" v="534" actId="478"/>
          <ac:spMkLst>
            <pc:docMk/>
            <pc:sldMk cId="1906568844" sldId="4195"/>
            <ac:spMk id="4" creationId="{18C11D78-7013-D35E-1D86-9ACB5D89E2C8}"/>
          </ac:spMkLst>
        </pc:spChg>
        <pc:spChg chg="add mod">
          <ac:chgData name="신지수/방송사업지원팀" userId="d708d9a4-05b3-4ad4-9702-e3ee7a6f8508" providerId="ADAL" clId="{2E4DF6F4-BF74-49B5-8F9D-F5E250D4B209}" dt="2026-04-02T00:12:53.094" v="749" actId="20577"/>
          <ac:spMkLst>
            <pc:docMk/>
            <pc:sldMk cId="1906568844" sldId="4195"/>
            <ac:spMk id="5" creationId="{BDD95748-12C1-F0F4-36B3-D1C119BDBFC9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2:55.086" v="751" actId="20577"/>
        <pc:sldMkLst>
          <pc:docMk/>
          <pc:sldMk cId="3062312392" sldId="4196"/>
        </pc:sldMkLst>
        <pc:spChg chg="add del mod">
          <ac:chgData name="신지수/방송사업지원팀" userId="d708d9a4-05b3-4ad4-9702-e3ee7a6f8508" providerId="ADAL" clId="{2E4DF6F4-BF74-49B5-8F9D-F5E250D4B209}" dt="2026-04-02T00:03:57.509" v="535" actId="478"/>
          <ac:spMkLst>
            <pc:docMk/>
            <pc:sldMk cId="3062312392" sldId="4196"/>
            <ac:spMk id="3" creationId="{E2967691-2ADE-8330-F923-C87C7F0DDFEB}"/>
          </ac:spMkLst>
        </pc:spChg>
        <pc:spChg chg="add mod">
          <ac:chgData name="신지수/방송사업지원팀" userId="d708d9a4-05b3-4ad4-9702-e3ee7a6f8508" providerId="ADAL" clId="{2E4DF6F4-BF74-49B5-8F9D-F5E250D4B209}" dt="2026-04-02T00:12:55.086" v="751" actId="20577"/>
          <ac:spMkLst>
            <pc:docMk/>
            <pc:sldMk cId="3062312392" sldId="4196"/>
            <ac:spMk id="8" creationId="{E088BB91-9755-C83D-7DAE-744AE22C4E4F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36:55.414" v="1269" actId="20577"/>
        <pc:sldMkLst>
          <pc:docMk/>
          <pc:sldMk cId="797698037" sldId="4197"/>
        </pc:sldMkLst>
        <pc:spChg chg="add del mod">
          <ac:chgData name="신지수/방송사업지원팀" userId="d708d9a4-05b3-4ad4-9702-e3ee7a6f8508" providerId="ADAL" clId="{2E4DF6F4-BF74-49B5-8F9D-F5E250D4B209}" dt="2026-04-02T00:03:59.051" v="536" actId="478"/>
          <ac:spMkLst>
            <pc:docMk/>
            <pc:sldMk cId="797698037" sldId="4197"/>
            <ac:spMk id="8" creationId="{A1114A76-8A55-2B48-7FF9-A46063FC2BB8}"/>
          </ac:spMkLst>
        </pc:spChg>
        <pc:spChg chg="add mod">
          <ac:chgData name="신지수/방송사업지원팀" userId="d708d9a4-05b3-4ad4-9702-e3ee7a6f8508" providerId="ADAL" clId="{2E4DF6F4-BF74-49B5-8F9D-F5E250D4B209}" dt="2026-04-02T00:12:57.345" v="753" actId="20577"/>
          <ac:spMkLst>
            <pc:docMk/>
            <pc:sldMk cId="797698037" sldId="4197"/>
            <ac:spMk id="18" creationId="{A1E53D6D-283C-0DB8-F33D-F8B06D0E7974}"/>
          </ac:spMkLst>
        </pc:spChg>
        <pc:spChg chg="mod">
          <ac:chgData name="신지수/방송사업지원팀" userId="d708d9a4-05b3-4ad4-9702-e3ee7a6f8508" providerId="ADAL" clId="{2E4DF6F4-BF74-49B5-8F9D-F5E250D4B209}" dt="2026-04-02T00:36:55.414" v="1269" actId="20577"/>
          <ac:spMkLst>
            <pc:docMk/>
            <pc:sldMk cId="797698037" sldId="4197"/>
            <ac:spMk id="19" creationId="{D3871890-DA0E-FF0B-07BA-36BC4D12068E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2:59.836" v="757" actId="20577"/>
        <pc:sldMkLst>
          <pc:docMk/>
          <pc:sldMk cId="1075089120" sldId="4198"/>
        </pc:sldMkLst>
        <pc:spChg chg="add del mod">
          <ac:chgData name="신지수/방송사업지원팀" userId="d708d9a4-05b3-4ad4-9702-e3ee7a6f8508" providerId="ADAL" clId="{2E4DF6F4-BF74-49B5-8F9D-F5E250D4B209}" dt="2026-04-02T00:04:01.264" v="537" actId="478"/>
          <ac:spMkLst>
            <pc:docMk/>
            <pc:sldMk cId="1075089120" sldId="4198"/>
            <ac:spMk id="7" creationId="{FCE277AB-3E91-BAEC-AE7A-45BCE62B7CE1}"/>
          </ac:spMkLst>
        </pc:spChg>
        <pc:spChg chg="add mod">
          <ac:chgData name="신지수/방송사업지원팀" userId="d708d9a4-05b3-4ad4-9702-e3ee7a6f8508" providerId="ADAL" clId="{2E4DF6F4-BF74-49B5-8F9D-F5E250D4B209}" dt="2026-04-02T00:12:59.836" v="757" actId="20577"/>
          <ac:spMkLst>
            <pc:docMk/>
            <pc:sldMk cId="1075089120" sldId="4198"/>
            <ac:spMk id="10" creationId="{696A298B-171F-18CB-F3A3-CDF82250AD80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3:02.222" v="759" actId="20577"/>
        <pc:sldMkLst>
          <pc:docMk/>
          <pc:sldMk cId="1146255675" sldId="4199"/>
        </pc:sldMkLst>
        <pc:spChg chg="mod">
          <ac:chgData name="신지수/방송사업지원팀" userId="d708d9a4-05b3-4ad4-9702-e3ee7a6f8508" providerId="ADAL" clId="{2E4DF6F4-BF74-49B5-8F9D-F5E250D4B209}" dt="2026-04-02T00:04:04.943" v="539" actId="14100"/>
          <ac:spMkLst>
            <pc:docMk/>
            <pc:sldMk cId="1146255675" sldId="4199"/>
            <ac:spMk id="8" creationId="{ECFEE604-C991-7428-64F3-A9F8F8779364}"/>
          </ac:spMkLst>
        </pc:spChg>
        <pc:spChg chg="add del mod">
          <ac:chgData name="신지수/방송사업지원팀" userId="d708d9a4-05b3-4ad4-9702-e3ee7a6f8508" providerId="ADAL" clId="{2E4DF6F4-BF74-49B5-8F9D-F5E250D4B209}" dt="2026-04-02T00:04:02.715" v="538" actId="478"/>
          <ac:spMkLst>
            <pc:docMk/>
            <pc:sldMk cId="1146255675" sldId="4199"/>
            <ac:spMk id="9" creationId="{F525A4BA-A2AD-A91C-FD4D-797517DA6194}"/>
          </ac:spMkLst>
        </pc:spChg>
        <pc:spChg chg="add mod">
          <ac:chgData name="신지수/방송사업지원팀" userId="d708d9a4-05b3-4ad4-9702-e3ee7a6f8508" providerId="ADAL" clId="{2E4DF6F4-BF74-49B5-8F9D-F5E250D4B209}" dt="2026-04-02T00:13:02.222" v="759" actId="20577"/>
          <ac:spMkLst>
            <pc:docMk/>
            <pc:sldMk cId="1146255675" sldId="4199"/>
            <ac:spMk id="10" creationId="{EADE3295-2CDC-3216-3DE3-A3F7220C4F09}"/>
          </ac:spMkLst>
        </pc:spChg>
      </pc:sldChg>
      <pc:sldChg chg="addSp modSp mod">
        <pc:chgData name="신지수/방송사업지원팀" userId="d708d9a4-05b3-4ad4-9702-e3ee7a6f8508" providerId="ADAL" clId="{2E4DF6F4-BF74-49B5-8F9D-F5E250D4B209}" dt="2026-04-02T00:13:04.323" v="761" actId="20577"/>
        <pc:sldMkLst>
          <pc:docMk/>
          <pc:sldMk cId="3312372905" sldId="4200"/>
        </pc:sldMkLst>
        <pc:spChg chg="add mod">
          <ac:chgData name="신지수/방송사업지원팀" userId="d708d9a4-05b3-4ad4-9702-e3ee7a6f8508" providerId="ADAL" clId="{2E4DF6F4-BF74-49B5-8F9D-F5E250D4B209}" dt="2026-04-02T00:13:04.323" v="761" actId="20577"/>
          <ac:spMkLst>
            <pc:docMk/>
            <pc:sldMk cId="3312372905" sldId="4200"/>
            <ac:spMk id="3" creationId="{E7A369CC-7043-39E8-4D64-76DA0D9ABA78}"/>
          </ac:spMkLst>
        </pc:spChg>
      </pc:sldChg>
      <pc:sldChg chg="addSp modSp add del mod">
        <pc:chgData name="신지수/방송사업지원팀" userId="d708d9a4-05b3-4ad4-9702-e3ee7a6f8508" providerId="ADAL" clId="{2E4DF6F4-BF74-49B5-8F9D-F5E250D4B209}" dt="2026-04-02T00:13:55.126" v="799" actId="20577"/>
        <pc:sldMkLst>
          <pc:docMk/>
          <pc:sldMk cId="980367311" sldId="4206"/>
        </pc:sldMkLst>
        <pc:spChg chg="add mod">
          <ac:chgData name="신지수/방송사업지원팀" userId="d708d9a4-05b3-4ad4-9702-e3ee7a6f8508" providerId="ADAL" clId="{2E4DF6F4-BF74-49B5-8F9D-F5E250D4B209}" dt="2026-04-01T09:20:10.879" v="130"/>
          <ac:spMkLst>
            <pc:docMk/>
            <pc:sldMk cId="980367311" sldId="4206"/>
            <ac:spMk id="4" creationId="{271C6D2E-49B0-6EBC-9857-E878B8AF76D8}"/>
          </ac:spMkLst>
        </pc:spChg>
        <pc:spChg chg="add mod">
          <ac:chgData name="신지수/방송사업지원팀" userId="d708d9a4-05b3-4ad4-9702-e3ee7a6f8508" providerId="ADAL" clId="{2E4DF6F4-BF74-49B5-8F9D-F5E250D4B209}" dt="2026-04-02T00:13:55.126" v="799" actId="20577"/>
          <ac:spMkLst>
            <pc:docMk/>
            <pc:sldMk cId="980367311" sldId="4206"/>
            <ac:spMk id="5" creationId="{5BC6D669-7F9F-D465-253C-F09BE67F74A1}"/>
          </ac:spMkLst>
        </pc:spChg>
      </pc:sldChg>
      <pc:sldChg chg="addSp modSp add del mod">
        <pc:chgData name="신지수/방송사업지원팀" userId="d708d9a4-05b3-4ad4-9702-e3ee7a6f8508" providerId="ADAL" clId="{2E4DF6F4-BF74-49B5-8F9D-F5E250D4B209}" dt="2026-04-02T00:13:57.649" v="801" actId="20577"/>
        <pc:sldMkLst>
          <pc:docMk/>
          <pc:sldMk cId="2479701614" sldId="4207"/>
        </pc:sldMkLst>
        <pc:spChg chg="add mod">
          <ac:chgData name="신지수/방송사업지원팀" userId="d708d9a4-05b3-4ad4-9702-e3ee7a6f8508" providerId="ADAL" clId="{2E4DF6F4-BF74-49B5-8F9D-F5E250D4B209}" dt="2026-04-02T00:13:57.649" v="801" actId="20577"/>
          <ac:spMkLst>
            <pc:docMk/>
            <pc:sldMk cId="2479701614" sldId="4207"/>
            <ac:spMk id="5" creationId="{118007E6-9C6F-CEB0-0256-C4AD4716DD36}"/>
          </ac:spMkLst>
        </pc:spChg>
        <pc:spChg chg="add mod">
          <ac:chgData name="신지수/방송사업지원팀" userId="d708d9a4-05b3-4ad4-9702-e3ee7a6f8508" providerId="ADAL" clId="{2E4DF6F4-BF74-49B5-8F9D-F5E250D4B209}" dt="2026-04-01T09:20:11.471" v="131"/>
          <ac:spMkLst>
            <pc:docMk/>
            <pc:sldMk cId="2479701614" sldId="4207"/>
            <ac:spMk id="5" creationId="{E8853F9C-DDE5-30C2-CBFF-0927158DD3B2}"/>
          </ac:spMkLst>
        </pc:spChg>
      </pc:sldChg>
      <pc:sldChg chg="addSp modSp add del mod">
        <pc:chgData name="신지수/방송사업지원팀" userId="d708d9a4-05b3-4ad4-9702-e3ee7a6f8508" providerId="ADAL" clId="{2E4DF6F4-BF74-49B5-8F9D-F5E250D4B209}" dt="2026-04-02T00:14:00.281" v="803" actId="20577"/>
        <pc:sldMkLst>
          <pc:docMk/>
          <pc:sldMk cId="295924561" sldId="4208"/>
        </pc:sldMkLst>
        <pc:spChg chg="add mod">
          <ac:chgData name="신지수/방송사업지원팀" userId="d708d9a4-05b3-4ad4-9702-e3ee7a6f8508" providerId="ADAL" clId="{2E4DF6F4-BF74-49B5-8F9D-F5E250D4B209}" dt="2026-04-02T00:14:00.281" v="803" actId="20577"/>
          <ac:spMkLst>
            <pc:docMk/>
            <pc:sldMk cId="295924561" sldId="4208"/>
            <ac:spMk id="2" creationId="{74EA0CDA-DC99-D89F-5FE2-2BB15ECB03D2}"/>
          </ac:spMkLst>
        </pc:spChg>
        <pc:spChg chg="add mod">
          <ac:chgData name="신지수/방송사업지원팀" userId="d708d9a4-05b3-4ad4-9702-e3ee7a6f8508" providerId="ADAL" clId="{2E4DF6F4-BF74-49B5-8F9D-F5E250D4B209}" dt="2026-04-01T09:20:12.169" v="132"/>
          <ac:spMkLst>
            <pc:docMk/>
            <pc:sldMk cId="295924561" sldId="4208"/>
            <ac:spMk id="6" creationId="{D7F1D687-62C2-3352-9739-6F44F30DEB0C}"/>
          </ac:spMkLst>
        </pc:spChg>
      </pc:sldChg>
      <pc:sldChg chg="addSp modSp add del mod">
        <pc:chgData name="신지수/방송사업지원팀" userId="d708d9a4-05b3-4ad4-9702-e3ee7a6f8508" providerId="ADAL" clId="{2E4DF6F4-BF74-49B5-8F9D-F5E250D4B209}" dt="2026-04-02T00:14:02.477" v="805" actId="20577"/>
        <pc:sldMkLst>
          <pc:docMk/>
          <pc:sldMk cId="2435562553" sldId="4209"/>
        </pc:sldMkLst>
        <pc:spChg chg="add mod">
          <ac:chgData name="신지수/방송사업지원팀" userId="d708d9a4-05b3-4ad4-9702-e3ee7a6f8508" providerId="ADAL" clId="{2E4DF6F4-BF74-49B5-8F9D-F5E250D4B209}" dt="2026-04-02T00:14:02.477" v="805" actId="20577"/>
          <ac:spMkLst>
            <pc:docMk/>
            <pc:sldMk cId="2435562553" sldId="4209"/>
            <ac:spMk id="2" creationId="{463F681C-B1F0-DD94-54F8-2BE5896DFB81}"/>
          </ac:spMkLst>
        </pc:spChg>
        <pc:spChg chg="add mod">
          <ac:chgData name="신지수/방송사업지원팀" userId="d708d9a4-05b3-4ad4-9702-e3ee7a6f8508" providerId="ADAL" clId="{2E4DF6F4-BF74-49B5-8F9D-F5E250D4B209}" dt="2026-04-01T09:20:12.800" v="133"/>
          <ac:spMkLst>
            <pc:docMk/>
            <pc:sldMk cId="2435562553" sldId="4209"/>
            <ac:spMk id="2" creationId="{4FCD7D08-4E3B-1F53-2762-C2E562C557E4}"/>
          </ac:spMkLst>
        </pc:spChg>
      </pc:sldChg>
      <pc:sldChg chg="addSp modSp add del mod">
        <pc:chgData name="신지수/방송사업지원팀" userId="d708d9a4-05b3-4ad4-9702-e3ee7a6f8508" providerId="ADAL" clId="{2E4DF6F4-BF74-49B5-8F9D-F5E250D4B209}" dt="2026-04-02T00:10:35.351" v="666" actId="20577"/>
        <pc:sldMkLst>
          <pc:docMk/>
          <pc:sldMk cId="3416295621" sldId="4210"/>
        </pc:sldMkLst>
        <pc:spChg chg="add mod">
          <ac:chgData name="신지수/방송사업지원팀" userId="d708d9a4-05b3-4ad4-9702-e3ee7a6f8508" providerId="ADAL" clId="{2E4DF6F4-BF74-49B5-8F9D-F5E250D4B209}" dt="2026-04-02T00:10:35.351" v="666" actId="20577"/>
          <ac:spMkLst>
            <pc:docMk/>
            <pc:sldMk cId="3416295621" sldId="4210"/>
            <ac:spMk id="3" creationId="{C9C127E6-E606-C6D3-082A-E6768AC4E702}"/>
          </ac:spMkLst>
        </pc:spChg>
        <pc:spChg chg="add mod">
          <ac:chgData name="신지수/방송사업지원팀" userId="d708d9a4-05b3-4ad4-9702-e3ee7a6f8508" providerId="ADAL" clId="{2E4DF6F4-BF74-49B5-8F9D-F5E250D4B209}" dt="2026-04-01T09:20:13.557" v="134"/>
          <ac:spMkLst>
            <pc:docMk/>
            <pc:sldMk cId="3416295621" sldId="4210"/>
            <ac:spMk id="3" creationId="{CB435B10-F4E7-4E90-E3D7-9CBA34C856D3}"/>
          </ac:spMkLst>
        </pc:spChg>
      </pc:sldChg>
      <pc:sldChg chg="addSp modSp del">
        <pc:chgData name="신지수/방송사업지원팀" userId="d708d9a4-05b3-4ad4-9702-e3ee7a6f8508" providerId="ADAL" clId="{2E4DF6F4-BF74-49B5-8F9D-F5E250D4B209}" dt="2026-04-01T23:48:37.103" v="206" actId="47"/>
        <pc:sldMkLst>
          <pc:docMk/>
          <pc:sldMk cId="3260868848" sldId="4212"/>
        </pc:sldMkLst>
        <pc:spChg chg="add mod">
          <ac:chgData name="신지수/방송사업지원팀" userId="d708d9a4-05b3-4ad4-9702-e3ee7a6f8508" providerId="ADAL" clId="{2E4DF6F4-BF74-49B5-8F9D-F5E250D4B209}" dt="2026-04-01T09:19:42.901" v="101"/>
          <ac:spMkLst>
            <pc:docMk/>
            <pc:sldMk cId="3260868848" sldId="4212"/>
            <ac:spMk id="3" creationId="{BAC87FD5-30BC-F18E-B9AE-460FB38D2B90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34:03.072" v="1244" actId="1076"/>
        <pc:sldMkLst>
          <pc:docMk/>
          <pc:sldMk cId="1230003590" sldId="4215"/>
        </pc:sldMkLst>
        <pc:spChg chg="add del mod">
          <ac:chgData name="신지수/방송사업지원팀" userId="d708d9a4-05b3-4ad4-9702-e3ee7a6f8508" providerId="ADAL" clId="{2E4DF6F4-BF74-49B5-8F9D-F5E250D4B209}" dt="2026-04-02T00:05:07.891" v="559" actId="478"/>
          <ac:spMkLst>
            <pc:docMk/>
            <pc:sldMk cId="1230003590" sldId="4215"/>
            <ac:spMk id="8" creationId="{032F4A95-9802-7E47-B265-2C90F726282E}"/>
          </ac:spMkLst>
        </pc:spChg>
        <pc:spChg chg="add mod">
          <ac:chgData name="신지수/방송사업지원팀" userId="d708d9a4-05b3-4ad4-9702-e3ee7a6f8508" providerId="ADAL" clId="{2E4DF6F4-BF74-49B5-8F9D-F5E250D4B209}" dt="2026-04-02T00:13:43.831" v="791" actId="20577"/>
          <ac:spMkLst>
            <pc:docMk/>
            <pc:sldMk cId="1230003590" sldId="4215"/>
            <ac:spMk id="9" creationId="{F8E56242-06D4-F397-341F-F68EE28EC996}"/>
          </ac:spMkLst>
        </pc:spChg>
        <pc:spChg chg="mod">
          <ac:chgData name="신지수/방송사업지원팀" userId="d708d9a4-05b3-4ad4-9702-e3ee7a6f8508" providerId="ADAL" clId="{2E4DF6F4-BF74-49B5-8F9D-F5E250D4B209}" dt="2026-04-02T00:34:03.072" v="1244" actId="1076"/>
          <ac:spMkLst>
            <pc:docMk/>
            <pc:sldMk cId="1230003590" sldId="4215"/>
            <ac:spMk id="20" creationId="{EBE729FA-FA40-8C22-45DE-8BC02A936E18}"/>
          </ac:spMkLst>
        </pc:spChg>
        <pc:spChg chg="mod">
          <ac:chgData name="신지수/방송사업지원팀" userId="d708d9a4-05b3-4ad4-9702-e3ee7a6f8508" providerId="ADAL" clId="{2E4DF6F4-BF74-49B5-8F9D-F5E250D4B209}" dt="2026-04-02T00:33:57.676" v="1243" actId="1076"/>
          <ac:spMkLst>
            <pc:docMk/>
            <pc:sldMk cId="1230003590" sldId="4215"/>
            <ac:spMk id="21" creationId="{744A9D31-0872-69CD-4DEE-5F3D1A995756}"/>
          </ac:spMkLst>
        </pc:spChg>
        <pc:graphicFrameChg chg="modGraphic">
          <ac:chgData name="신지수/방송사업지원팀" userId="d708d9a4-05b3-4ad4-9702-e3ee7a6f8508" providerId="ADAL" clId="{2E4DF6F4-BF74-49B5-8F9D-F5E250D4B209}" dt="2026-04-02T00:05:12.324" v="560" actId="14734"/>
          <ac:graphicFrameMkLst>
            <pc:docMk/>
            <pc:sldMk cId="1230003590" sldId="4215"/>
            <ac:graphicFrameMk id="5" creationId="{E887F7BB-7B54-D55F-4840-1C095DF1AFEF}"/>
          </ac:graphicFrameMkLst>
        </pc:graphicFrameChg>
      </pc:sldChg>
      <pc:sldChg chg="addSp delSp modSp mod">
        <pc:chgData name="신지수/방송사업지원팀" userId="d708d9a4-05b3-4ad4-9702-e3ee7a6f8508" providerId="ADAL" clId="{2E4DF6F4-BF74-49B5-8F9D-F5E250D4B209}" dt="2026-04-02T00:13:49.518" v="795" actId="20577"/>
        <pc:sldMkLst>
          <pc:docMk/>
          <pc:sldMk cId="1514184565" sldId="4216"/>
        </pc:sldMkLst>
        <pc:spChg chg="add del mod">
          <ac:chgData name="신지수/방송사업지원팀" userId="d708d9a4-05b3-4ad4-9702-e3ee7a6f8508" providerId="ADAL" clId="{2E4DF6F4-BF74-49B5-8F9D-F5E250D4B209}" dt="2026-04-02T00:05:46.538" v="562" actId="478"/>
          <ac:spMkLst>
            <pc:docMk/>
            <pc:sldMk cId="1514184565" sldId="4216"/>
            <ac:spMk id="7" creationId="{05697DF3-FD96-51DF-3B4D-6BE3019FB713}"/>
          </ac:spMkLst>
        </pc:spChg>
        <pc:spChg chg="add mod">
          <ac:chgData name="신지수/방송사업지원팀" userId="d708d9a4-05b3-4ad4-9702-e3ee7a6f8508" providerId="ADAL" clId="{2E4DF6F4-BF74-49B5-8F9D-F5E250D4B209}" dt="2026-04-02T00:13:49.518" v="795" actId="20577"/>
          <ac:spMkLst>
            <pc:docMk/>
            <pc:sldMk cId="1514184565" sldId="4216"/>
            <ac:spMk id="12" creationId="{BBA2527C-8673-9B65-530B-5495A7871196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4:13.340" v="813" actId="20577"/>
        <pc:sldMkLst>
          <pc:docMk/>
          <pc:sldMk cId="3775291185" sldId="4217"/>
        </pc:sldMkLst>
        <pc:spChg chg="add del mod">
          <ac:chgData name="신지수/방송사업지원팀" userId="d708d9a4-05b3-4ad4-9702-e3ee7a6f8508" providerId="ADAL" clId="{2E4DF6F4-BF74-49B5-8F9D-F5E250D4B209}" dt="2026-04-02T00:06:02.295" v="566" actId="478"/>
          <ac:spMkLst>
            <pc:docMk/>
            <pc:sldMk cId="3775291185" sldId="4217"/>
            <ac:spMk id="4" creationId="{7A5752BB-9932-46C5-4D22-CE83BBE3BFD8}"/>
          </ac:spMkLst>
        </pc:spChg>
        <pc:spChg chg="add mod">
          <ac:chgData name="신지수/방송사업지원팀" userId="d708d9a4-05b3-4ad4-9702-e3ee7a6f8508" providerId="ADAL" clId="{2E4DF6F4-BF74-49B5-8F9D-F5E250D4B209}" dt="2026-04-02T00:14:13.340" v="813" actId="20577"/>
          <ac:spMkLst>
            <pc:docMk/>
            <pc:sldMk cId="3775291185" sldId="4217"/>
            <ac:spMk id="6" creationId="{94B0430D-256C-7F88-2120-712DD1AFC3BB}"/>
          </ac:spMkLst>
        </pc:spChg>
        <pc:spChg chg="mod">
          <ac:chgData name="신지수/방송사업지원팀" userId="d708d9a4-05b3-4ad4-9702-e3ee7a6f8508" providerId="ADAL" clId="{2E4DF6F4-BF74-49B5-8F9D-F5E250D4B209}" dt="2026-04-02T00:06:04.555" v="567" actId="14100"/>
          <ac:spMkLst>
            <pc:docMk/>
            <pc:sldMk cId="3775291185" sldId="4217"/>
            <ac:spMk id="23" creationId="{B8AC49E8-A327-493B-840C-9F5998833961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4:18.806" v="819" actId="20577"/>
        <pc:sldMkLst>
          <pc:docMk/>
          <pc:sldMk cId="3216003825" sldId="4218"/>
        </pc:sldMkLst>
        <pc:spChg chg="add del mod">
          <ac:chgData name="신지수/방송사업지원팀" userId="d708d9a4-05b3-4ad4-9702-e3ee7a6f8508" providerId="ADAL" clId="{2E4DF6F4-BF74-49B5-8F9D-F5E250D4B209}" dt="2026-04-02T00:06:10.159" v="569" actId="478"/>
          <ac:spMkLst>
            <pc:docMk/>
            <pc:sldMk cId="3216003825" sldId="4218"/>
            <ac:spMk id="3" creationId="{59BC6D9E-F932-BD3F-21D4-DEBB1AA84628}"/>
          </ac:spMkLst>
        </pc:spChg>
        <pc:spChg chg="add mod">
          <ac:chgData name="신지수/방송사업지원팀" userId="d708d9a4-05b3-4ad4-9702-e3ee7a6f8508" providerId="ADAL" clId="{2E4DF6F4-BF74-49B5-8F9D-F5E250D4B209}" dt="2026-04-02T00:14:18.806" v="819" actId="20577"/>
          <ac:spMkLst>
            <pc:docMk/>
            <pc:sldMk cId="3216003825" sldId="4218"/>
            <ac:spMk id="4" creationId="{F2D1ED3F-FF64-81EF-4E91-56D74D7CAFE9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4:28.583" v="827" actId="20577"/>
        <pc:sldMkLst>
          <pc:docMk/>
          <pc:sldMk cId="1012384070" sldId="4223"/>
        </pc:sldMkLst>
        <pc:spChg chg="add del mod">
          <ac:chgData name="신지수/방송사업지원팀" userId="d708d9a4-05b3-4ad4-9702-e3ee7a6f8508" providerId="ADAL" clId="{2E4DF6F4-BF74-49B5-8F9D-F5E250D4B209}" dt="2026-04-02T00:06:32.755" v="579" actId="478"/>
          <ac:spMkLst>
            <pc:docMk/>
            <pc:sldMk cId="1012384070" sldId="4223"/>
            <ac:spMk id="3" creationId="{E9C2958E-3E3D-CDA3-3C1A-8086163A3516}"/>
          </ac:spMkLst>
        </pc:spChg>
        <pc:spChg chg="add mod">
          <ac:chgData name="신지수/방송사업지원팀" userId="d708d9a4-05b3-4ad4-9702-e3ee7a6f8508" providerId="ADAL" clId="{2E4DF6F4-BF74-49B5-8F9D-F5E250D4B209}" dt="2026-04-02T00:14:28.583" v="827" actId="20577"/>
          <ac:spMkLst>
            <pc:docMk/>
            <pc:sldMk cId="1012384070" sldId="4223"/>
            <ac:spMk id="10" creationId="{30379A4E-5865-DE83-823C-EB7110FE9E76}"/>
          </ac:spMkLst>
        </pc:spChg>
        <pc:spChg chg="mod">
          <ac:chgData name="신지수/방송사업지원팀" userId="d708d9a4-05b3-4ad4-9702-e3ee7a6f8508" providerId="ADAL" clId="{2E4DF6F4-BF74-49B5-8F9D-F5E250D4B209}" dt="2026-04-02T00:06:31.340" v="578" actId="14100"/>
          <ac:spMkLst>
            <pc:docMk/>
            <pc:sldMk cId="1012384070" sldId="4223"/>
            <ac:spMk id="11" creationId="{76F92D93-40C7-F3A1-4E66-82E8DB787CDB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4:52.051" v="845" actId="20577"/>
        <pc:sldMkLst>
          <pc:docMk/>
          <pc:sldMk cId="1860827773" sldId="4226"/>
        </pc:sldMkLst>
        <pc:spChg chg="add del mod">
          <ac:chgData name="신지수/방송사업지원팀" userId="d708d9a4-05b3-4ad4-9702-e3ee7a6f8508" providerId="ADAL" clId="{2E4DF6F4-BF74-49B5-8F9D-F5E250D4B209}" dt="2026-04-02T00:07:42.360" v="592" actId="478"/>
          <ac:spMkLst>
            <pc:docMk/>
            <pc:sldMk cId="1860827773" sldId="4226"/>
            <ac:spMk id="2" creationId="{6FB8987A-6A09-A362-BCC7-9202EB31877F}"/>
          </ac:spMkLst>
        </pc:spChg>
        <pc:spChg chg="add mod">
          <ac:chgData name="신지수/방송사업지원팀" userId="d708d9a4-05b3-4ad4-9702-e3ee7a6f8508" providerId="ADAL" clId="{2E4DF6F4-BF74-49B5-8F9D-F5E250D4B209}" dt="2026-04-02T00:14:52.051" v="845" actId="20577"/>
          <ac:spMkLst>
            <pc:docMk/>
            <pc:sldMk cId="1860827773" sldId="4226"/>
            <ac:spMk id="4" creationId="{8620CB99-7DE6-6B85-F72E-49836757BB1A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1:59.997" v="699" actId="20577"/>
        <pc:sldMkLst>
          <pc:docMk/>
          <pc:sldMk cId="2981135719" sldId="4227"/>
        </pc:sldMkLst>
        <pc:spChg chg="add del mod">
          <ac:chgData name="신지수/방송사업지원팀" userId="d708d9a4-05b3-4ad4-9702-e3ee7a6f8508" providerId="ADAL" clId="{2E4DF6F4-BF74-49B5-8F9D-F5E250D4B209}" dt="2026-04-02T00:00:56.850" v="476" actId="478"/>
          <ac:spMkLst>
            <pc:docMk/>
            <pc:sldMk cId="2981135719" sldId="4227"/>
            <ac:spMk id="4" creationId="{3A3A8935-D610-B5CF-0606-C683C7355120}"/>
          </ac:spMkLst>
        </pc:spChg>
        <pc:spChg chg="add mod">
          <ac:chgData name="신지수/방송사업지원팀" userId="d708d9a4-05b3-4ad4-9702-e3ee7a6f8508" providerId="ADAL" clId="{2E4DF6F4-BF74-49B5-8F9D-F5E250D4B209}" dt="2026-04-02T00:11:59.997" v="699" actId="20577"/>
          <ac:spMkLst>
            <pc:docMk/>
            <pc:sldMk cId="2981135719" sldId="4227"/>
            <ac:spMk id="5" creationId="{ABBAB2B7-B0F9-34BD-5B2D-3A4E06F8FB06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2:08.740" v="705" actId="20577"/>
        <pc:sldMkLst>
          <pc:docMk/>
          <pc:sldMk cId="631049335" sldId="4228"/>
        </pc:sldMkLst>
        <pc:spChg chg="mod">
          <ac:chgData name="신지수/방송사업지원팀" userId="d708d9a4-05b3-4ad4-9702-e3ee7a6f8508" providerId="ADAL" clId="{2E4DF6F4-BF74-49B5-8F9D-F5E250D4B209}" dt="2026-04-02T00:01:41.959" v="485" actId="14100"/>
          <ac:spMkLst>
            <pc:docMk/>
            <pc:sldMk cId="631049335" sldId="4228"/>
            <ac:spMk id="4" creationId="{5C9BF2C5-F9CD-E5EC-E416-CB6B77BACC18}"/>
          </ac:spMkLst>
        </pc:spChg>
        <pc:spChg chg="add del mod">
          <ac:chgData name="신지수/방송사업지원팀" userId="d708d9a4-05b3-4ad4-9702-e3ee7a6f8508" providerId="ADAL" clId="{2E4DF6F4-BF74-49B5-8F9D-F5E250D4B209}" dt="2026-04-02T00:01:03.595" v="479" actId="478"/>
          <ac:spMkLst>
            <pc:docMk/>
            <pc:sldMk cId="631049335" sldId="4228"/>
            <ac:spMk id="11" creationId="{4AB3251A-ADDB-3F61-0891-C9E58E3870C5}"/>
          </ac:spMkLst>
        </pc:spChg>
        <pc:spChg chg="mod">
          <ac:chgData name="신지수/방송사업지원팀" userId="d708d9a4-05b3-4ad4-9702-e3ee7a6f8508" providerId="ADAL" clId="{2E4DF6F4-BF74-49B5-8F9D-F5E250D4B209}" dt="2026-04-02T00:01:44.559" v="486" actId="1076"/>
          <ac:spMkLst>
            <pc:docMk/>
            <pc:sldMk cId="631049335" sldId="4228"/>
            <ac:spMk id="23" creationId="{45C6C921-E326-4B19-BA2F-8F0F8E56B5D3}"/>
          </ac:spMkLst>
        </pc:spChg>
        <pc:spChg chg="add mod">
          <ac:chgData name="신지수/방송사업지원팀" userId="d708d9a4-05b3-4ad4-9702-e3ee7a6f8508" providerId="ADAL" clId="{2E4DF6F4-BF74-49B5-8F9D-F5E250D4B209}" dt="2026-04-02T00:12:08.740" v="705" actId="20577"/>
          <ac:spMkLst>
            <pc:docMk/>
            <pc:sldMk cId="631049335" sldId="4228"/>
            <ac:spMk id="24" creationId="{AC1254DE-4BE9-A88F-AA40-3041F63AF855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2:22.236" v="715" actId="20577"/>
        <pc:sldMkLst>
          <pc:docMk/>
          <pc:sldMk cId="2532779659" sldId="4229"/>
        </pc:sldMkLst>
        <pc:spChg chg="add del mod">
          <ac:chgData name="신지수/방송사업지원팀" userId="d708d9a4-05b3-4ad4-9702-e3ee7a6f8508" providerId="ADAL" clId="{2E4DF6F4-BF74-49B5-8F9D-F5E250D4B209}" dt="2026-04-02T00:02:22.076" v="497" actId="478"/>
          <ac:spMkLst>
            <pc:docMk/>
            <pc:sldMk cId="2532779659" sldId="4229"/>
            <ac:spMk id="2" creationId="{B658C4D1-2265-6EE6-CB1C-E824E8A3ACA5}"/>
          </ac:spMkLst>
        </pc:spChg>
        <pc:spChg chg="add mod">
          <ac:chgData name="신지수/방송사업지원팀" userId="d708d9a4-05b3-4ad4-9702-e3ee7a6f8508" providerId="ADAL" clId="{2E4DF6F4-BF74-49B5-8F9D-F5E250D4B209}" dt="2026-04-02T00:12:22.236" v="715" actId="20577"/>
          <ac:spMkLst>
            <pc:docMk/>
            <pc:sldMk cId="2532779659" sldId="4229"/>
            <ac:spMk id="5" creationId="{5C26EAA0-7F36-2258-984D-5DCD5907A635}"/>
          </ac:spMkLst>
        </pc:spChg>
        <pc:graphicFrameChg chg="modGraphic">
          <ac:chgData name="신지수/방송사업지원팀" userId="d708d9a4-05b3-4ad4-9702-e3ee7a6f8508" providerId="ADAL" clId="{2E4DF6F4-BF74-49B5-8F9D-F5E250D4B209}" dt="2026-04-02T00:02:30.843" v="499" actId="14100"/>
          <ac:graphicFrameMkLst>
            <pc:docMk/>
            <pc:sldMk cId="2532779659" sldId="4229"/>
            <ac:graphicFrameMk id="3" creationId="{35A97AA6-3DD7-3738-A700-39EA1D2F0307}"/>
          </ac:graphicFrameMkLst>
        </pc:graphicFrameChg>
        <pc:picChg chg="mod">
          <ac:chgData name="신지수/방송사업지원팀" userId="d708d9a4-05b3-4ad4-9702-e3ee7a6f8508" providerId="ADAL" clId="{2E4DF6F4-BF74-49B5-8F9D-F5E250D4B209}" dt="2026-04-02T00:02:33.485" v="500" actId="14100"/>
          <ac:picMkLst>
            <pc:docMk/>
            <pc:sldMk cId="2532779659" sldId="4229"/>
            <ac:picMk id="4" creationId="{08A2C3C0-B84A-BD8F-B052-6BB474FE8EC5}"/>
          </ac:picMkLst>
        </pc:picChg>
      </pc:sldChg>
      <pc:sldChg chg="addSp delSp modSp mod">
        <pc:chgData name="신지수/방송사업지원팀" userId="d708d9a4-05b3-4ad4-9702-e3ee7a6f8508" providerId="ADAL" clId="{2E4DF6F4-BF74-49B5-8F9D-F5E250D4B209}" dt="2026-04-02T00:12:43.307" v="737" actId="20577"/>
        <pc:sldMkLst>
          <pc:docMk/>
          <pc:sldMk cId="2484075525" sldId="4230"/>
        </pc:sldMkLst>
        <pc:spChg chg="add del mod">
          <ac:chgData name="신지수/방송사업지원팀" userId="d708d9a4-05b3-4ad4-9702-e3ee7a6f8508" providerId="ADAL" clId="{2E4DF6F4-BF74-49B5-8F9D-F5E250D4B209}" dt="2026-04-02T00:03:50.874" v="531" actId="478"/>
          <ac:spMkLst>
            <pc:docMk/>
            <pc:sldMk cId="2484075525" sldId="4230"/>
            <ac:spMk id="8" creationId="{5E5E51D9-F700-7974-A69F-9C0E210A27A7}"/>
          </ac:spMkLst>
        </pc:spChg>
        <pc:spChg chg="add mod">
          <ac:chgData name="신지수/방송사업지원팀" userId="d708d9a4-05b3-4ad4-9702-e3ee7a6f8508" providerId="ADAL" clId="{2E4DF6F4-BF74-49B5-8F9D-F5E250D4B209}" dt="2026-04-02T00:12:43.307" v="737" actId="20577"/>
          <ac:spMkLst>
            <pc:docMk/>
            <pc:sldMk cId="2484075525" sldId="4230"/>
            <ac:spMk id="11" creationId="{06EFDF41-39C5-A617-F362-BDAE3E00BD9C}"/>
          </ac:spMkLst>
        </pc:spChg>
        <pc:spChg chg="mod">
          <ac:chgData name="신지수/방송사업지원팀" userId="d708d9a4-05b3-4ad4-9702-e3ee7a6f8508" providerId="ADAL" clId="{2E4DF6F4-BF74-49B5-8F9D-F5E250D4B209}" dt="2026-04-02T00:03:49.635" v="530" actId="14100"/>
          <ac:spMkLst>
            <pc:docMk/>
            <pc:sldMk cId="2484075525" sldId="4230"/>
            <ac:spMk id="13" creationId="{C6C1B5A9-8A73-0EF3-86A4-7155911067B6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37:20.596" v="1273" actId="113"/>
        <pc:sldMkLst>
          <pc:docMk/>
          <pc:sldMk cId="2213627540" sldId="4231"/>
        </pc:sldMkLst>
        <pc:spChg chg="mod">
          <ac:chgData name="신지수/방송사업지원팀" userId="d708d9a4-05b3-4ad4-9702-e3ee7a6f8508" providerId="ADAL" clId="{2E4DF6F4-BF74-49B5-8F9D-F5E250D4B209}" dt="2026-04-02T00:04:26.002" v="542" actId="14100"/>
          <ac:spMkLst>
            <pc:docMk/>
            <pc:sldMk cId="2213627540" sldId="4231"/>
            <ac:spMk id="2" creationId="{9CC70F80-D4E4-2975-5097-EEE5038323F3}"/>
          </ac:spMkLst>
        </pc:spChg>
        <pc:spChg chg="add del mod">
          <ac:chgData name="신지수/방송사업지원팀" userId="d708d9a4-05b3-4ad4-9702-e3ee7a6f8508" providerId="ADAL" clId="{2E4DF6F4-BF74-49B5-8F9D-F5E250D4B209}" dt="2026-04-02T00:04:07.748" v="540" actId="478"/>
          <ac:spMkLst>
            <pc:docMk/>
            <pc:sldMk cId="2213627540" sldId="4231"/>
            <ac:spMk id="9" creationId="{EC3B7AC3-A2A2-A9CD-A1CD-741BEEE72F4B}"/>
          </ac:spMkLst>
        </pc:spChg>
        <pc:spChg chg="mod">
          <ac:chgData name="신지수/방송사업지원팀" userId="d708d9a4-05b3-4ad4-9702-e3ee7a6f8508" providerId="ADAL" clId="{2E4DF6F4-BF74-49B5-8F9D-F5E250D4B209}" dt="2026-04-02T00:04:12.175" v="541" actId="6549"/>
          <ac:spMkLst>
            <pc:docMk/>
            <pc:sldMk cId="2213627540" sldId="4231"/>
            <ac:spMk id="11" creationId="{8558EACF-5E26-3EA2-ACF4-5D77169A2AA4}"/>
          </ac:spMkLst>
        </pc:spChg>
        <pc:spChg chg="add mod">
          <ac:chgData name="신지수/방송사업지원팀" userId="d708d9a4-05b3-4ad4-9702-e3ee7a6f8508" providerId="ADAL" clId="{2E4DF6F4-BF74-49B5-8F9D-F5E250D4B209}" dt="2026-04-02T00:13:06.599" v="765" actId="20577"/>
          <ac:spMkLst>
            <pc:docMk/>
            <pc:sldMk cId="2213627540" sldId="4231"/>
            <ac:spMk id="16" creationId="{04A58515-76F9-5868-24CD-308BA80BFB15}"/>
          </ac:spMkLst>
        </pc:spChg>
        <pc:spChg chg="mod">
          <ac:chgData name="신지수/방송사업지원팀" userId="d708d9a4-05b3-4ad4-9702-e3ee7a6f8508" providerId="ADAL" clId="{2E4DF6F4-BF74-49B5-8F9D-F5E250D4B209}" dt="2026-04-02T00:37:20.596" v="1273" actId="113"/>
          <ac:spMkLst>
            <pc:docMk/>
            <pc:sldMk cId="2213627540" sldId="4231"/>
            <ac:spMk id="18" creationId="{2ECC8830-7F45-2BA3-7E07-EDFA020B2742}"/>
          </ac:spMkLst>
        </pc:spChg>
        <pc:spChg chg="mod">
          <ac:chgData name="신지수/방송사업지원팀" userId="d708d9a4-05b3-4ad4-9702-e3ee7a6f8508" providerId="ADAL" clId="{2E4DF6F4-BF74-49B5-8F9D-F5E250D4B209}" dt="2026-04-02T00:37:05.582" v="1270" actId="14100"/>
          <ac:spMkLst>
            <pc:docMk/>
            <pc:sldMk cId="2213627540" sldId="4231"/>
            <ac:spMk id="22" creationId="{A2F5C543-6C59-41A9-FBB5-171392CA5299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3:37.799" v="787" actId="20577"/>
        <pc:sldMkLst>
          <pc:docMk/>
          <pc:sldMk cId="186669455" sldId="4232"/>
        </pc:sldMkLst>
        <pc:spChg chg="add del mod">
          <ac:chgData name="신지수/방송사업지원팀" userId="d708d9a4-05b3-4ad4-9702-e3ee7a6f8508" providerId="ADAL" clId="{2E4DF6F4-BF74-49B5-8F9D-F5E250D4B209}" dt="2026-04-02T00:04:58.667" v="556" actId="478"/>
          <ac:spMkLst>
            <pc:docMk/>
            <pc:sldMk cId="186669455" sldId="4232"/>
            <ac:spMk id="5" creationId="{6413CB16-D622-E3B1-4DD5-B965005BBFB6}"/>
          </ac:spMkLst>
        </pc:spChg>
        <pc:spChg chg="add mod">
          <ac:chgData name="신지수/방송사업지원팀" userId="d708d9a4-05b3-4ad4-9702-e3ee7a6f8508" providerId="ADAL" clId="{2E4DF6F4-BF74-49B5-8F9D-F5E250D4B209}" dt="2026-04-02T00:13:37.799" v="787" actId="20577"/>
          <ac:spMkLst>
            <pc:docMk/>
            <pc:sldMk cId="186669455" sldId="4232"/>
            <ac:spMk id="16" creationId="{53E87A75-8548-A518-E19C-7D4F4FBBC081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09:40.530" v="650" actId="20577"/>
        <pc:sldMkLst>
          <pc:docMk/>
          <pc:sldMk cId="4226116180" sldId="4233"/>
        </pc:sldMkLst>
        <pc:spChg chg="add mod">
          <ac:chgData name="신지수/방송사업지원팀" userId="d708d9a4-05b3-4ad4-9702-e3ee7a6f8508" providerId="ADAL" clId="{2E4DF6F4-BF74-49B5-8F9D-F5E250D4B209}" dt="2026-04-02T00:09:40.530" v="650" actId="20577"/>
          <ac:spMkLst>
            <pc:docMk/>
            <pc:sldMk cId="4226116180" sldId="4233"/>
            <ac:spMk id="2" creationId="{09460AFD-B488-9250-517D-F56DE4E23755}"/>
          </ac:spMkLst>
        </pc:spChg>
        <pc:spChg chg="add del mod">
          <ac:chgData name="신지수/방송사업지원팀" userId="d708d9a4-05b3-4ad4-9702-e3ee7a6f8508" providerId="ADAL" clId="{2E4DF6F4-BF74-49B5-8F9D-F5E250D4B209}" dt="2026-04-02T00:05:06.062" v="558" actId="478"/>
          <ac:spMkLst>
            <pc:docMk/>
            <pc:sldMk cId="4226116180" sldId="4233"/>
            <ac:spMk id="12" creationId="{765A26A7-8BBC-5F60-E15B-E5F5C070E59C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4:21.214" v="821" actId="20577"/>
        <pc:sldMkLst>
          <pc:docMk/>
          <pc:sldMk cId="2880887991" sldId="4234"/>
        </pc:sldMkLst>
        <pc:spChg chg="add del mod">
          <ac:chgData name="신지수/방송사업지원팀" userId="d708d9a4-05b3-4ad4-9702-e3ee7a6f8508" providerId="ADAL" clId="{2E4DF6F4-BF74-49B5-8F9D-F5E250D4B209}" dt="2026-04-02T00:06:16.300" v="572" actId="478"/>
          <ac:spMkLst>
            <pc:docMk/>
            <pc:sldMk cId="2880887991" sldId="4234"/>
            <ac:spMk id="4" creationId="{68C4410F-F74B-6ECB-B9C7-047B5EBA7405}"/>
          </ac:spMkLst>
        </pc:spChg>
        <pc:spChg chg="add mod">
          <ac:chgData name="신지수/방송사업지원팀" userId="d708d9a4-05b3-4ad4-9702-e3ee7a6f8508" providerId="ADAL" clId="{2E4DF6F4-BF74-49B5-8F9D-F5E250D4B209}" dt="2026-04-02T00:14:21.214" v="821" actId="20577"/>
          <ac:spMkLst>
            <pc:docMk/>
            <pc:sldMk cId="2880887991" sldId="4234"/>
            <ac:spMk id="6" creationId="{7945CF35-61DC-C0C6-A689-E6637557E31D}"/>
          </ac:spMkLst>
        </pc:spChg>
        <pc:spChg chg="mod">
          <ac:chgData name="신지수/방송사업지원팀" userId="d708d9a4-05b3-4ad4-9702-e3ee7a6f8508" providerId="ADAL" clId="{2E4DF6F4-BF74-49B5-8F9D-F5E250D4B209}" dt="2026-04-02T00:06:14.597" v="571" actId="14100"/>
          <ac:spMkLst>
            <pc:docMk/>
            <pc:sldMk cId="2880887991" sldId="4234"/>
            <ac:spMk id="23" creationId="{305F7E73-E22A-283E-210F-119C744603A8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4:23.468" v="823" actId="20577"/>
        <pc:sldMkLst>
          <pc:docMk/>
          <pc:sldMk cId="877581526" sldId="4235"/>
        </pc:sldMkLst>
        <pc:spChg chg="add del mod">
          <ac:chgData name="신지수/방송사업지원팀" userId="d708d9a4-05b3-4ad4-9702-e3ee7a6f8508" providerId="ADAL" clId="{2E4DF6F4-BF74-49B5-8F9D-F5E250D4B209}" dt="2026-04-02T00:06:19.764" v="573" actId="478"/>
          <ac:spMkLst>
            <pc:docMk/>
            <pc:sldMk cId="877581526" sldId="4235"/>
            <ac:spMk id="4" creationId="{1FC6681E-2F48-0BBF-AD90-F10F8264082E}"/>
          </ac:spMkLst>
        </pc:spChg>
        <pc:spChg chg="add mod">
          <ac:chgData name="신지수/방송사업지원팀" userId="d708d9a4-05b3-4ad4-9702-e3ee7a6f8508" providerId="ADAL" clId="{2E4DF6F4-BF74-49B5-8F9D-F5E250D4B209}" dt="2026-04-02T00:14:23.468" v="823" actId="20577"/>
          <ac:spMkLst>
            <pc:docMk/>
            <pc:sldMk cId="877581526" sldId="4235"/>
            <ac:spMk id="7" creationId="{BF0F0C15-C13C-6AD8-94BE-57012B80F4E8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4:25.503" v="825" actId="20577"/>
        <pc:sldMkLst>
          <pc:docMk/>
          <pc:sldMk cId="336084857" sldId="4236"/>
        </pc:sldMkLst>
        <pc:spChg chg="add del mod">
          <ac:chgData name="신지수/방송사업지원팀" userId="d708d9a4-05b3-4ad4-9702-e3ee7a6f8508" providerId="ADAL" clId="{2E4DF6F4-BF74-49B5-8F9D-F5E250D4B209}" dt="2026-04-02T00:06:21.707" v="574" actId="478"/>
          <ac:spMkLst>
            <pc:docMk/>
            <pc:sldMk cId="336084857" sldId="4236"/>
            <ac:spMk id="5" creationId="{012402E0-4761-2F62-5166-05E4BF59F62C}"/>
          </ac:spMkLst>
        </pc:spChg>
        <pc:spChg chg="add mod">
          <ac:chgData name="신지수/방송사업지원팀" userId="d708d9a4-05b3-4ad4-9702-e3ee7a6f8508" providerId="ADAL" clId="{2E4DF6F4-BF74-49B5-8F9D-F5E250D4B209}" dt="2026-04-02T00:14:25.503" v="825" actId="20577"/>
          <ac:spMkLst>
            <pc:docMk/>
            <pc:sldMk cId="336084857" sldId="4236"/>
            <ac:spMk id="9" creationId="{025B110C-D4CF-31F2-B325-4F1CF8B14F51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0:59.833" v="684" actId="14100"/>
        <pc:sldMkLst>
          <pc:docMk/>
          <pc:sldMk cId="2628197464" sldId="4237"/>
        </pc:sldMkLst>
        <pc:spChg chg="add del mod">
          <ac:chgData name="신지수/방송사업지원팀" userId="d708d9a4-05b3-4ad4-9702-e3ee7a6f8508" providerId="ADAL" clId="{2E4DF6F4-BF74-49B5-8F9D-F5E250D4B209}" dt="2026-04-02T00:06:23.769" v="575" actId="478"/>
          <ac:spMkLst>
            <pc:docMk/>
            <pc:sldMk cId="2628197464" sldId="4237"/>
            <ac:spMk id="3" creationId="{C1B0D8F6-62DF-B81C-5C19-859F1858D78D}"/>
          </ac:spMkLst>
        </pc:spChg>
        <pc:spChg chg="add mod">
          <ac:chgData name="신지수/방송사업지원팀" userId="d708d9a4-05b3-4ad4-9702-e3ee7a6f8508" providerId="ADAL" clId="{2E4DF6F4-BF74-49B5-8F9D-F5E250D4B209}" dt="2026-04-02T00:10:59.833" v="684" actId="14100"/>
          <ac:spMkLst>
            <pc:docMk/>
            <pc:sldMk cId="2628197464" sldId="4237"/>
            <ac:spMk id="5" creationId="{55BED714-41EE-B44E-0501-A9FDB4EADA2F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35:41.018" v="1259" actId="20577"/>
        <pc:sldMkLst>
          <pc:docMk/>
          <pc:sldMk cId="2136695417" sldId="4238"/>
        </pc:sldMkLst>
        <pc:spChg chg="mod">
          <ac:chgData name="신지수/방송사업지원팀" userId="d708d9a4-05b3-4ad4-9702-e3ee7a6f8508" providerId="ADAL" clId="{2E4DF6F4-BF74-49B5-8F9D-F5E250D4B209}" dt="2026-04-02T00:06:46.367" v="585" actId="14100"/>
          <ac:spMkLst>
            <pc:docMk/>
            <pc:sldMk cId="2136695417" sldId="4238"/>
            <ac:spMk id="2" creationId="{EE078884-8E17-133A-0B84-56B782E0B8AC}"/>
          </ac:spMkLst>
        </pc:spChg>
        <pc:spChg chg="add del mod">
          <ac:chgData name="신지수/방송사업지원팀" userId="d708d9a4-05b3-4ad4-9702-e3ee7a6f8508" providerId="ADAL" clId="{2E4DF6F4-BF74-49B5-8F9D-F5E250D4B209}" dt="2026-04-02T00:06:47.760" v="586" actId="478"/>
          <ac:spMkLst>
            <pc:docMk/>
            <pc:sldMk cId="2136695417" sldId="4238"/>
            <ac:spMk id="4" creationId="{4A131EFF-252A-60E5-E1A6-02F7A5F93811}"/>
          </ac:spMkLst>
        </pc:spChg>
        <pc:spChg chg="add mod">
          <ac:chgData name="신지수/방송사업지원팀" userId="d708d9a4-05b3-4ad4-9702-e3ee7a6f8508" providerId="ADAL" clId="{2E4DF6F4-BF74-49B5-8F9D-F5E250D4B209}" dt="2026-04-02T00:14:46.744" v="841" actId="20577"/>
          <ac:spMkLst>
            <pc:docMk/>
            <pc:sldMk cId="2136695417" sldId="4238"/>
            <ac:spMk id="10" creationId="{38CB8633-0AEB-4CA4-709B-E268715A4CD3}"/>
          </ac:spMkLst>
        </pc:spChg>
        <pc:spChg chg="mod">
          <ac:chgData name="신지수/방송사업지원팀" userId="d708d9a4-05b3-4ad4-9702-e3ee7a6f8508" providerId="ADAL" clId="{2E4DF6F4-BF74-49B5-8F9D-F5E250D4B209}" dt="2026-04-02T00:35:41.018" v="1259" actId="20577"/>
          <ac:spMkLst>
            <pc:docMk/>
            <pc:sldMk cId="2136695417" sldId="4238"/>
            <ac:spMk id="29" creationId="{12F6BE31-02A9-4FCF-0A06-308CB38342B0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14:49.230" v="843" actId="20577"/>
        <pc:sldMkLst>
          <pc:docMk/>
          <pc:sldMk cId="3316159084" sldId="4239"/>
        </pc:sldMkLst>
        <pc:spChg chg="add del mod">
          <ac:chgData name="신지수/방송사업지원팀" userId="d708d9a4-05b3-4ad4-9702-e3ee7a6f8508" providerId="ADAL" clId="{2E4DF6F4-BF74-49B5-8F9D-F5E250D4B209}" dt="2026-04-02T00:06:49.278" v="587" actId="478"/>
          <ac:spMkLst>
            <pc:docMk/>
            <pc:sldMk cId="3316159084" sldId="4239"/>
            <ac:spMk id="3" creationId="{E65580DB-8849-8A4B-EC76-7780961EDF68}"/>
          </ac:spMkLst>
        </pc:spChg>
        <pc:spChg chg="add mod">
          <ac:chgData name="신지수/방송사업지원팀" userId="d708d9a4-05b3-4ad4-9702-e3ee7a6f8508" providerId="ADAL" clId="{2E4DF6F4-BF74-49B5-8F9D-F5E250D4B209}" dt="2026-04-02T00:14:49.230" v="843" actId="20577"/>
          <ac:spMkLst>
            <pc:docMk/>
            <pc:sldMk cId="3316159084" sldId="4239"/>
            <ac:spMk id="4" creationId="{A4B52D39-FD7B-884E-AFEA-5D3ED82BB9D9}"/>
          </ac:spMkLst>
        </pc:spChg>
        <pc:graphicFrameChg chg="modGraphic">
          <ac:chgData name="신지수/방송사업지원팀" userId="d708d9a4-05b3-4ad4-9702-e3ee7a6f8508" providerId="ADAL" clId="{2E4DF6F4-BF74-49B5-8F9D-F5E250D4B209}" dt="2026-04-02T00:07:35.956" v="591" actId="14100"/>
          <ac:graphicFrameMkLst>
            <pc:docMk/>
            <pc:sldMk cId="3316159084" sldId="4239"/>
            <ac:graphicFrameMk id="5" creationId="{4CCF6F57-5071-0E80-F465-F76D0200BE55}"/>
          </ac:graphicFrameMkLst>
        </pc:graphicFrameChg>
      </pc:sldChg>
      <pc:sldChg chg="addSp delSp modSp mod">
        <pc:chgData name="신지수/방송사업지원팀" userId="d708d9a4-05b3-4ad4-9702-e3ee7a6f8508" providerId="ADAL" clId="{2E4DF6F4-BF74-49B5-8F9D-F5E250D4B209}" dt="2026-04-01T23:58:47.250" v="416" actId="20577"/>
        <pc:sldMkLst>
          <pc:docMk/>
          <pc:sldMk cId="3933631909" sldId="4240"/>
        </pc:sldMkLst>
        <pc:spChg chg="add mod">
          <ac:chgData name="신지수/방송사업지원팀" userId="d708d9a4-05b3-4ad4-9702-e3ee7a6f8508" providerId="ADAL" clId="{2E4DF6F4-BF74-49B5-8F9D-F5E250D4B209}" dt="2026-04-01T23:58:47.250" v="416" actId="20577"/>
          <ac:spMkLst>
            <pc:docMk/>
            <pc:sldMk cId="3933631909" sldId="4240"/>
            <ac:spMk id="2" creationId="{B306C0EB-6976-9EB8-50BB-EABDF13BAE9D}"/>
          </ac:spMkLst>
        </pc:spChg>
        <pc:spChg chg="add del mod">
          <ac:chgData name="신지수/방송사업지원팀" userId="d708d9a4-05b3-4ad4-9702-e3ee7a6f8508" providerId="ADAL" clId="{2E4DF6F4-BF74-49B5-8F9D-F5E250D4B209}" dt="2026-04-01T23:57:40.324" v="378" actId="478"/>
          <ac:spMkLst>
            <pc:docMk/>
            <pc:sldMk cId="3933631909" sldId="4240"/>
            <ac:spMk id="18" creationId="{F630B026-3E38-B753-EE86-D756CFA8CADF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1T23:59:13.390" v="427"/>
        <pc:sldMkLst>
          <pc:docMk/>
          <pc:sldMk cId="3308079083" sldId="4241"/>
        </pc:sldMkLst>
        <pc:spChg chg="add del mod">
          <ac:chgData name="신지수/방송사업지원팀" userId="d708d9a4-05b3-4ad4-9702-e3ee7a6f8508" providerId="ADAL" clId="{2E4DF6F4-BF74-49B5-8F9D-F5E250D4B209}" dt="2026-04-01T23:57:43.397" v="380" actId="478"/>
          <ac:spMkLst>
            <pc:docMk/>
            <pc:sldMk cId="3308079083" sldId="4241"/>
            <ac:spMk id="6" creationId="{7DB7908B-327C-FD03-926D-1AEAE6ADE4EA}"/>
          </ac:spMkLst>
        </pc:spChg>
        <pc:spChg chg="add mod">
          <ac:chgData name="신지수/방송사업지원팀" userId="d708d9a4-05b3-4ad4-9702-e3ee7a6f8508" providerId="ADAL" clId="{2E4DF6F4-BF74-49B5-8F9D-F5E250D4B209}" dt="2026-04-01T23:58:54.394" v="422" actId="20577"/>
          <ac:spMkLst>
            <pc:docMk/>
            <pc:sldMk cId="3308079083" sldId="4241"/>
            <ac:spMk id="7" creationId="{A26131C4-63A8-ED57-5746-B3FDD47F5828}"/>
          </ac:spMkLst>
        </pc:spChg>
        <pc:graphicFrameChg chg="mod modGraphic">
          <ac:chgData name="신지수/방송사업지원팀" userId="d708d9a4-05b3-4ad4-9702-e3ee7a6f8508" providerId="ADAL" clId="{2E4DF6F4-BF74-49B5-8F9D-F5E250D4B209}" dt="2026-04-01T23:59:13.390" v="427"/>
          <ac:graphicFrameMkLst>
            <pc:docMk/>
            <pc:sldMk cId="3308079083" sldId="4241"/>
            <ac:graphicFrameMk id="3" creationId="{0A4D8C58-E101-A4BA-FA87-23E276E7AFCE}"/>
          </ac:graphicFrameMkLst>
        </pc:graphicFrameChg>
      </pc:sldChg>
      <pc:sldChg chg="addSp delSp modSp mod">
        <pc:chgData name="신지수/방송사업지원팀" userId="d708d9a4-05b3-4ad4-9702-e3ee7a6f8508" providerId="ADAL" clId="{2E4DF6F4-BF74-49B5-8F9D-F5E250D4B209}" dt="2026-04-01T23:59:32.776" v="435"/>
        <pc:sldMkLst>
          <pc:docMk/>
          <pc:sldMk cId="3552885000" sldId="4242"/>
        </pc:sldMkLst>
        <pc:spChg chg="add del mod">
          <ac:chgData name="신지수/방송사업지원팀" userId="d708d9a4-05b3-4ad4-9702-e3ee7a6f8508" providerId="ADAL" clId="{2E4DF6F4-BF74-49B5-8F9D-F5E250D4B209}" dt="2026-04-01T23:57:44.433" v="381" actId="478"/>
          <ac:spMkLst>
            <pc:docMk/>
            <pc:sldMk cId="3552885000" sldId="4242"/>
            <ac:spMk id="2" creationId="{8B11B15E-DECC-201B-EA38-91086AAADE87}"/>
          </ac:spMkLst>
        </pc:spChg>
        <pc:spChg chg="add mod">
          <ac:chgData name="신지수/방송사업지원팀" userId="d708d9a4-05b3-4ad4-9702-e3ee7a6f8508" providerId="ADAL" clId="{2E4DF6F4-BF74-49B5-8F9D-F5E250D4B209}" dt="2026-04-01T23:59:17.780" v="432" actId="20577"/>
          <ac:spMkLst>
            <pc:docMk/>
            <pc:sldMk cId="3552885000" sldId="4242"/>
            <ac:spMk id="4" creationId="{491E4EB7-7D39-121E-9BF2-B549552B19CE}"/>
          </ac:spMkLst>
        </pc:spChg>
        <pc:graphicFrameChg chg="mod modGraphic">
          <ac:chgData name="신지수/방송사업지원팀" userId="d708d9a4-05b3-4ad4-9702-e3ee7a6f8508" providerId="ADAL" clId="{2E4DF6F4-BF74-49B5-8F9D-F5E250D4B209}" dt="2026-04-01T23:59:32.776" v="435"/>
          <ac:graphicFrameMkLst>
            <pc:docMk/>
            <pc:sldMk cId="3552885000" sldId="4242"/>
            <ac:graphicFrameMk id="3" creationId="{2F7496A6-80D8-3163-2420-6D7F592C6329}"/>
          </ac:graphicFrameMkLst>
        </pc:graphicFrameChg>
      </pc:sldChg>
      <pc:sldChg chg="addSp delSp modSp mod">
        <pc:chgData name="신지수/방송사업지원팀" userId="d708d9a4-05b3-4ad4-9702-e3ee7a6f8508" providerId="ADAL" clId="{2E4DF6F4-BF74-49B5-8F9D-F5E250D4B209}" dt="2026-04-01T23:59:38.651" v="438" actId="20577"/>
        <pc:sldMkLst>
          <pc:docMk/>
          <pc:sldMk cId="1900840965" sldId="4243"/>
        </pc:sldMkLst>
        <pc:spChg chg="add del mod">
          <ac:chgData name="신지수/방송사업지원팀" userId="d708d9a4-05b3-4ad4-9702-e3ee7a6f8508" providerId="ADAL" clId="{2E4DF6F4-BF74-49B5-8F9D-F5E250D4B209}" dt="2026-04-01T23:57:45.405" v="382" actId="478"/>
          <ac:spMkLst>
            <pc:docMk/>
            <pc:sldMk cId="1900840965" sldId="4243"/>
            <ac:spMk id="6" creationId="{7730D8DA-5DD3-FFB2-F3DD-CCC90329B7FA}"/>
          </ac:spMkLst>
        </pc:spChg>
        <pc:spChg chg="add mod">
          <ac:chgData name="신지수/방송사업지원팀" userId="d708d9a4-05b3-4ad4-9702-e3ee7a6f8508" providerId="ADAL" clId="{2E4DF6F4-BF74-49B5-8F9D-F5E250D4B209}" dt="2026-04-01T23:59:38.651" v="438" actId="20577"/>
          <ac:spMkLst>
            <pc:docMk/>
            <pc:sldMk cId="1900840965" sldId="4243"/>
            <ac:spMk id="7" creationId="{328A2EFF-DB14-4742-7F3B-5C2F754CC3D4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1T23:59:41.364" v="441" actId="20577"/>
        <pc:sldMkLst>
          <pc:docMk/>
          <pc:sldMk cId="1647427227" sldId="4244"/>
        </pc:sldMkLst>
        <pc:spChg chg="add del mod">
          <ac:chgData name="신지수/방송사업지원팀" userId="d708d9a4-05b3-4ad4-9702-e3ee7a6f8508" providerId="ADAL" clId="{2E4DF6F4-BF74-49B5-8F9D-F5E250D4B209}" dt="2026-04-01T23:57:47.494" v="383" actId="478"/>
          <ac:spMkLst>
            <pc:docMk/>
            <pc:sldMk cId="1647427227" sldId="4244"/>
            <ac:spMk id="4" creationId="{CCF0D8F0-12DE-CD8A-6A24-EFF7B83D0091}"/>
          </ac:spMkLst>
        </pc:spChg>
        <pc:spChg chg="add mod">
          <ac:chgData name="신지수/방송사업지원팀" userId="d708d9a4-05b3-4ad4-9702-e3ee7a6f8508" providerId="ADAL" clId="{2E4DF6F4-BF74-49B5-8F9D-F5E250D4B209}" dt="2026-04-01T23:59:41.364" v="441" actId="20577"/>
          <ac:spMkLst>
            <pc:docMk/>
            <pc:sldMk cId="1647427227" sldId="4244"/>
            <ac:spMk id="7" creationId="{5D5A3B12-733C-3A93-EC6D-779DFDF35530}"/>
          </ac:spMkLst>
        </pc:spChg>
      </pc:sldChg>
      <pc:sldChg chg="addSp delSp modSp mod">
        <pc:chgData name="신지수/방송사업지원팀" userId="d708d9a4-05b3-4ad4-9702-e3ee7a6f8508" providerId="ADAL" clId="{2E4DF6F4-BF74-49B5-8F9D-F5E250D4B209}" dt="2026-04-02T00:37:54.069" v="1282" actId="20577"/>
        <pc:sldMkLst>
          <pc:docMk/>
          <pc:sldMk cId="644900853" sldId="4245"/>
        </pc:sldMkLst>
        <pc:spChg chg="mod">
          <ac:chgData name="신지수/방송사업지원팀" userId="d708d9a4-05b3-4ad4-9702-e3ee7a6f8508" providerId="ADAL" clId="{2E4DF6F4-BF74-49B5-8F9D-F5E250D4B209}" dt="2026-04-02T00:04:56.552" v="555" actId="14100"/>
          <ac:spMkLst>
            <pc:docMk/>
            <pc:sldMk cId="644900853" sldId="4245"/>
            <ac:spMk id="6" creationId="{7F471210-9815-E19F-C181-7E29DC345BE3}"/>
          </ac:spMkLst>
        </pc:spChg>
        <pc:spChg chg="add mod">
          <ac:chgData name="신지수/방송사업지원팀" userId="d708d9a4-05b3-4ad4-9702-e3ee7a6f8508" providerId="ADAL" clId="{2E4DF6F4-BF74-49B5-8F9D-F5E250D4B209}" dt="2026-04-02T00:13:35.346" v="785" actId="20577"/>
          <ac:spMkLst>
            <pc:docMk/>
            <pc:sldMk cId="644900853" sldId="4245"/>
            <ac:spMk id="9" creationId="{08A39900-6FFE-1FF6-326C-8F2F17E6A47A}"/>
          </ac:spMkLst>
        </pc:spChg>
        <pc:spChg chg="add del mod">
          <ac:chgData name="신지수/방송사업지원팀" userId="d708d9a4-05b3-4ad4-9702-e3ee7a6f8508" providerId="ADAL" clId="{2E4DF6F4-BF74-49B5-8F9D-F5E250D4B209}" dt="2026-04-02T00:04:54.075" v="554" actId="478"/>
          <ac:spMkLst>
            <pc:docMk/>
            <pc:sldMk cId="644900853" sldId="4245"/>
            <ac:spMk id="13" creationId="{568A25E0-BAB7-4A45-BF9C-736F0D5831D0}"/>
          </ac:spMkLst>
        </pc:spChg>
        <pc:spChg chg="mod">
          <ac:chgData name="신지수/방송사업지원팀" userId="d708d9a4-05b3-4ad4-9702-e3ee7a6f8508" providerId="ADAL" clId="{2E4DF6F4-BF74-49B5-8F9D-F5E250D4B209}" dt="2026-04-02T00:37:48.813" v="1278" actId="1036"/>
          <ac:spMkLst>
            <pc:docMk/>
            <pc:sldMk cId="644900853" sldId="4245"/>
            <ac:spMk id="20" creationId="{3483E479-C175-4528-94DF-52D30BA64577}"/>
          </ac:spMkLst>
        </pc:spChg>
        <pc:spChg chg="mod">
          <ac:chgData name="신지수/방송사업지원팀" userId="d708d9a4-05b3-4ad4-9702-e3ee7a6f8508" providerId="ADAL" clId="{2E4DF6F4-BF74-49B5-8F9D-F5E250D4B209}" dt="2026-04-02T00:37:54.069" v="1282" actId="20577"/>
          <ac:spMkLst>
            <pc:docMk/>
            <pc:sldMk cId="644900853" sldId="4245"/>
            <ac:spMk id="23" creationId="{9F146E5B-8756-1296-1867-5E7814ECFD35}"/>
          </ac:spMkLst>
        </pc:spChg>
      </pc:sldChg>
      <pc:sldChg chg="addSp delSp modSp add del mod">
        <pc:chgData name="신지수/방송사업지원팀" userId="d708d9a4-05b3-4ad4-9702-e3ee7a6f8508" providerId="ADAL" clId="{2E4DF6F4-BF74-49B5-8F9D-F5E250D4B209}" dt="2026-04-02T01:45:20.053" v="1308" actId="47"/>
        <pc:sldMkLst>
          <pc:docMk/>
          <pc:sldMk cId="1217309794" sldId="4246"/>
        </pc:sldMkLst>
        <pc:spChg chg="add del mod">
          <ac:chgData name="신지수/방송사업지원팀" userId="d708d9a4-05b3-4ad4-9702-e3ee7a6f8508" providerId="ADAL" clId="{2E4DF6F4-BF74-49B5-8F9D-F5E250D4B209}" dt="2026-04-02T00:00:59.845" v="478" actId="478"/>
          <ac:spMkLst>
            <pc:docMk/>
            <pc:sldMk cId="1217309794" sldId="4246"/>
            <ac:spMk id="6" creationId="{FA3010E1-3402-BA01-CF75-B1976812A139}"/>
          </ac:spMkLst>
        </pc:spChg>
        <pc:spChg chg="add mod">
          <ac:chgData name="신지수/방송사업지원팀" userId="d708d9a4-05b3-4ad4-9702-e3ee7a6f8508" providerId="ADAL" clId="{2E4DF6F4-BF74-49B5-8F9D-F5E250D4B209}" dt="2026-04-02T00:12:05.862" v="703" actId="20577"/>
          <ac:spMkLst>
            <pc:docMk/>
            <pc:sldMk cId="1217309794" sldId="4246"/>
            <ac:spMk id="7" creationId="{4E9A0781-9ECD-B656-DCF8-523276782B2F}"/>
          </ac:spMkLst>
        </pc:spChg>
        <pc:picChg chg="mod">
          <ac:chgData name="신지수/방송사업지원팀" userId="d708d9a4-05b3-4ad4-9702-e3ee7a6f8508" providerId="ADAL" clId="{2E4DF6F4-BF74-49B5-8F9D-F5E250D4B209}" dt="2026-04-02T01:44:21.860" v="1296" actId="1076"/>
          <ac:picMkLst>
            <pc:docMk/>
            <pc:sldMk cId="1217309794" sldId="4246"/>
            <ac:picMk id="9" creationId="{A3B4E27B-9774-FE87-6BC3-39AA7AB0B4AC}"/>
          </ac:picMkLst>
        </pc:picChg>
        <pc:picChg chg="mod">
          <ac:chgData name="신지수/방송사업지원팀" userId="d708d9a4-05b3-4ad4-9702-e3ee7a6f8508" providerId="ADAL" clId="{2E4DF6F4-BF74-49B5-8F9D-F5E250D4B209}" dt="2026-04-02T01:44:17.488" v="1295" actId="1076"/>
          <ac:picMkLst>
            <pc:docMk/>
            <pc:sldMk cId="1217309794" sldId="4246"/>
            <ac:picMk id="12" creationId="{5472CF30-E24B-5B1A-D065-9AB710D1A0A5}"/>
          </ac:picMkLst>
        </pc:picChg>
        <pc:picChg chg="del mod">
          <ac:chgData name="신지수/방송사업지원팀" userId="d708d9a4-05b3-4ad4-9702-e3ee7a6f8508" providerId="ADAL" clId="{2E4DF6F4-BF74-49B5-8F9D-F5E250D4B209}" dt="2026-04-02T01:44:12.839" v="1294" actId="478"/>
          <ac:picMkLst>
            <pc:docMk/>
            <pc:sldMk cId="1217309794" sldId="4246"/>
            <ac:picMk id="16" creationId="{46355127-69B8-D081-8250-129728B73B27}"/>
          </ac:picMkLst>
        </pc:picChg>
        <pc:picChg chg="mod">
          <ac:chgData name="신지수/방송사업지원팀" userId="d708d9a4-05b3-4ad4-9702-e3ee7a6f8508" providerId="ADAL" clId="{2E4DF6F4-BF74-49B5-8F9D-F5E250D4B209}" dt="2026-04-02T01:44:11.893" v="1293" actId="1076"/>
          <ac:picMkLst>
            <pc:docMk/>
            <pc:sldMk cId="1217309794" sldId="4246"/>
            <ac:picMk id="1026" creationId="{B3953F88-0F6F-D912-61C4-E86A8DF64B57}"/>
          </ac:picMkLst>
        </pc:picChg>
      </pc:sldChg>
      <pc:sldChg chg="addSp modSp add mod">
        <pc:chgData name="신지수/방송사업지원팀" userId="d708d9a4-05b3-4ad4-9702-e3ee7a6f8508" providerId="ADAL" clId="{2E4DF6F4-BF74-49B5-8F9D-F5E250D4B209}" dt="2026-04-02T00:09:09.868" v="622" actId="20577"/>
        <pc:sldMkLst>
          <pc:docMk/>
          <pc:sldMk cId="1716203849" sldId="4247"/>
        </pc:sldMkLst>
        <pc:spChg chg="add mod">
          <ac:chgData name="신지수/방송사업지원팀" userId="d708d9a4-05b3-4ad4-9702-e3ee7a6f8508" providerId="ADAL" clId="{2E4DF6F4-BF74-49B5-8F9D-F5E250D4B209}" dt="2026-04-02T00:09:09.868" v="622" actId="20577"/>
          <ac:spMkLst>
            <pc:docMk/>
            <pc:sldMk cId="1716203849" sldId="4247"/>
            <ac:spMk id="3" creationId="{DC543446-0699-6E06-D418-FE23361090E2}"/>
          </ac:spMkLst>
        </pc:spChg>
      </pc:sldChg>
      <pc:sldChg chg="modSp add mod">
        <pc:chgData name="신지수/방송사업지원팀" userId="d708d9a4-05b3-4ad4-9702-e3ee7a6f8508" providerId="ADAL" clId="{2E4DF6F4-BF74-49B5-8F9D-F5E250D4B209}" dt="2026-04-02T01:45:28.967" v="1313" actId="20577"/>
        <pc:sldMkLst>
          <pc:docMk/>
          <pc:sldMk cId="1985931557" sldId="4248"/>
        </pc:sldMkLst>
        <pc:graphicFrameChg chg="mod modGraphic">
          <ac:chgData name="신지수/방송사업지원팀" userId="d708d9a4-05b3-4ad4-9702-e3ee7a6f8508" providerId="ADAL" clId="{2E4DF6F4-BF74-49B5-8F9D-F5E250D4B209}" dt="2026-04-02T01:45:28.967" v="1313" actId="20577"/>
          <ac:graphicFrameMkLst>
            <pc:docMk/>
            <pc:sldMk cId="1985931557" sldId="4248"/>
            <ac:graphicFrameMk id="5" creationId="{98D45DB0-0118-A2BE-3756-4F5E03FCCB30}"/>
          </ac:graphicFrameMkLst>
        </pc:graphicFrameChg>
        <pc:picChg chg="mod">
          <ac:chgData name="신지수/방송사업지원팀" userId="d708d9a4-05b3-4ad4-9702-e3ee7a6f8508" providerId="ADAL" clId="{2E4DF6F4-BF74-49B5-8F9D-F5E250D4B209}" dt="2026-04-02T01:45:15.474" v="1307" actId="14100"/>
          <ac:picMkLst>
            <pc:docMk/>
            <pc:sldMk cId="1985931557" sldId="4248"/>
            <ac:picMk id="9" creationId="{42FE99AA-4549-66D1-588E-E813BCA3B29C}"/>
          </ac:picMkLst>
        </pc:picChg>
        <pc:picChg chg="mod">
          <ac:chgData name="신지수/방송사업지원팀" userId="d708d9a4-05b3-4ad4-9702-e3ee7a6f8508" providerId="ADAL" clId="{2E4DF6F4-BF74-49B5-8F9D-F5E250D4B209}" dt="2026-04-02T01:45:11.937" v="1305" actId="14100"/>
          <ac:picMkLst>
            <pc:docMk/>
            <pc:sldMk cId="1985931557" sldId="4248"/>
            <ac:picMk id="12" creationId="{96433B65-CC0C-7CE2-6DA2-7475D03CF374}"/>
          </ac:picMkLst>
        </pc:picChg>
        <pc:picChg chg="mod">
          <ac:chgData name="신지수/방송사업지원팀" userId="d708d9a4-05b3-4ad4-9702-e3ee7a6f8508" providerId="ADAL" clId="{2E4DF6F4-BF74-49B5-8F9D-F5E250D4B209}" dt="2026-04-02T01:45:08.629" v="1303" actId="14100"/>
          <ac:picMkLst>
            <pc:docMk/>
            <pc:sldMk cId="1985931557" sldId="4248"/>
            <ac:picMk id="1026" creationId="{2C3811F1-B273-9150-A516-DEEEB29E09F4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9T04:44:11.20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1,'4397'0,"-4374"0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9T04:44:11.20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0,'8711'0,"-8687"0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9T04:44:11.20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0,'4115'0,"-4093"0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9T04:44:11.21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0,'2670'0,"-2651"0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9T04:44:11.21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1,'2993'0,"-2976"0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9T04:44:11.21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1,'5427'0,"-5411"0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9T04:44:11.21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0,'5059'0,"-5038"0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9T04:44:11.21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0,'4648'0,"-4623"0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9T04:44:11.21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1,'10055'0,"-10024"0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9T04:44:11.21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1,'2633'0,"-2611"0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9T04:44:11.21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1,'2755'0,"-2722"0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9T04:44:11.21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1,'3005'0,"-1699"0,-1259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9T04:44:11.21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1,'2502'0,"-2468"0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9T04:44:11.22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1,'6322'0,"-6294"0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9T04:44:11.22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0,'10522'0,"-10490"0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9T04:44:11.22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1,'7815'0,"-7798"0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9T04:44:11.22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0,'5092'0,"-5065"0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9T04:44:11.22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0,'5725'0,"-5707"0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9T04:44:11.22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1,'4828'0,"-4807"0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9T04:44:11.22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1,'4138'0,"-4086"0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9T04:44:11.22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0,'2441'0,"-2420"0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9T04:44:11.22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1,'5823'0,"-5805"0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9T04:44:11.22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1,'6658'0,"-6636"0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9T04:44:11.23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1,'6810'0,"-6790"0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9T04:44:11.23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0,'2390'0,"-2369"0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9T04:44:11.23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0,'5640'0,"-5618"0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93B732-613F-4F05-930D-A71276F3410C}" type="datetimeFigureOut">
              <a:rPr lang="ko-KR" altLang="en-US" smtClean="0"/>
              <a:t>26-04-02 (Thu)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6A317-DB32-4B50-A3C7-015B0E2E26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8668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09575" y="1233488"/>
            <a:ext cx="5916613" cy="33289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9FE9B7-7F37-4235-AD74-D365D616F93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096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6A317-DB32-4B50-A3C7-015B0E2E26F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200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00A17-F540-1D2D-0C19-9FD181A25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1EA44B-C66A-E9ED-F800-51D13306C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B7967A-E8E4-D891-5A24-367AD7AF8B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BBBFC2-7F9A-373D-DE13-1DDFA8659D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6A317-DB32-4B50-A3C7-015B0E2E26F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200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E6656-22E6-F23B-9D67-C5FD1683D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52E616-F083-7B3B-463F-8F2B0481A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093F8B-AABB-5480-5CB1-D9593E149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97C0AD-516C-A31B-D8C8-74656DB3FB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6A317-DB32-4B50-A3C7-015B0E2E26F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98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35A75-CB24-3966-2502-FA7731296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5B529D-B96C-80CE-724B-A31997926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117F12-39A1-F6A1-3EA3-C9A2606895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ADE6E5-1B74-0D24-095E-78EE096DB6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6A317-DB32-4B50-A3C7-015B0E2E26F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5316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6A317-DB32-4B50-A3C7-015B0E2E26F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385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6A317-DB32-4B50-A3C7-015B0E2E26F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1442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85DB0-A352-5BEA-A963-6C5AB7D4D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E9CCEC-3963-7A34-947A-BDEE005AA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EB5435-D42E-821B-E1E4-B0B1A706C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A8C63F-3BDD-A858-4A74-14743F76C9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6A317-DB32-4B50-A3C7-015B0E2E26F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3840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1E9F4-48BF-FEF1-43B1-2DB9137CB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DDC6A1-EAAF-B2D6-14A5-35E8A4B2C1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F8D9AA-E9C4-7F79-EEF1-9BF719E21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604B7-7951-F550-641A-8424BF8C96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6A317-DB32-4B50-A3C7-015B0E2E26F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6976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6EFF5-DF84-4E6A-AD36-E525D0EDB429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4760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69D41-2B31-D3A8-B612-86695AA89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A64342-953A-BD1D-119E-D6099032A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C73BED-D199-7960-2767-A16C003EBC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0812 </a:t>
            </a:r>
            <a:r>
              <a:rPr lang="ko-KR" altLang="en-US" dirty="0"/>
              <a:t>우선 교체 완료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B833C8-07CD-08B0-33FB-5E4D65847B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6A317-DB32-4B50-A3C7-015B0E2E26F1}" type="slidenum">
              <a:rPr lang="ko-KR" altLang="en-US" smtClean="0"/>
              <a:t>101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3380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C9DF2-3F8B-3A98-8124-01DBBF10C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3F1425-BE5B-C286-3234-9AC7585B6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798DD4-E7EA-F5AA-A99D-02E6F9FF7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0812 </a:t>
            </a:r>
            <a:r>
              <a:rPr lang="ko-KR" altLang="en-US" dirty="0"/>
              <a:t>우선 교체 완료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2294DC-3A76-DEC4-69DF-C9B3C26E78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6A317-DB32-4B50-A3C7-015B0E2E26F1}" type="slidenum">
              <a:rPr lang="ko-KR" altLang="en-US" smtClean="0"/>
              <a:t>102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3124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AD1B7-DC0F-4597-A62F-B6745FF2E6A2}" type="slidenum">
              <a:rPr lang="ko-KR" altLang="en-US" smtClean="0"/>
              <a:t>110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212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0A669-D6DF-53EE-03A7-82DD0C98C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BED2D9-E785-6EBB-20CC-0B5F564DD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C9B21C-3FC2-147A-EC22-D8B49E75A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5DA549-5538-9CA3-9EA7-806F400892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AD1B7-DC0F-4597-A62F-B6745FF2E6A2}" type="slidenum">
              <a:rPr lang="ko-KR" altLang="en-US" smtClean="0"/>
              <a:t>113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8996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F284E-C873-CA86-50CE-D9F50CAA8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EC72FC-AFE4-19A3-8A7C-3A14BBC0C2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6C5210-5BE1-9690-27BA-F7F4117F2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AC653C-769A-4625-7141-1BEADF9655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AD1B7-DC0F-4597-A62F-B6745FF2E6A2}" type="slidenum">
              <a:rPr lang="ko-KR" altLang="en-US" smtClean="0"/>
              <a:t>114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326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0B757D-B28D-BE79-6755-FA471B59BE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6B5BC0E-8CFE-4C59-2373-0CAC3A94EE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9DEDBD-9C54-3B8D-8835-7D59B07AE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45641-BEB6-4AC4-B2A5-FCFC012B2E90}" type="datetime1">
              <a:rPr lang="ko-KR" altLang="en-US" smtClean="0"/>
              <a:t>26-04-02 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93C4E2-C439-1FA9-028A-8AA1F1BE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2585FF-1A07-FF12-8010-C823511B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17B24-529E-4F14-B357-64B85E84DE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308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045D5C-B167-076C-4FBB-880B10072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4D452A-4DBB-DE3E-1FE3-335D10F08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7D1549-BFC6-5E63-EEEF-8BA911ACD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B6D6-4A8F-4926-B2A3-65FECBAF868A}" type="datetime1">
              <a:rPr lang="ko-KR" altLang="en-US" smtClean="0"/>
              <a:t>26-04-02 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883302-E25C-D6C8-5618-3F85DEC00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556836-7674-8075-1055-16C4957B9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17B24-529E-4F14-B357-64B85E84DE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905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F21986-2EF6-9246-81A0-D02D768B6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67F3FD-3501-F784-AFF2-5E08E069B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34095D-9B5F-5AC3-72FD-9590127EB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585C4-F11F-4BFF-83D1-DFC76FE5E0E3}" type="datetime1">
              <a:rPr lang="ko-KR" altLang="en-US" smtClean="0"/>
              <a:t>26-04-02 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776979-329F-7AAD-3708-EDF07A01B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169A91-4AE5-F42C-79D4-151849506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17B24-529E-4F14-B357-64B85E84DE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465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BA9FC3-C6D0-9675-613B-210E8F93C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0D2635-87A1-D0B1-2E3F-CBFCC97A89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615695-E6ED-2469-74D6-7DC82F070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60EB9C-04D1-A9EF-CC79-35AC8B445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30A27-F8B1-4B35-BAA5-022671F2C1E4}" type="datetime1">
              <a:rPr lang="ko-KR" altLang="en-US" smtClean="0"/>
              <a:t>26-04-02 (Thu)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6983C4-1B29-9650-CEED-88967C6C4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E73507-B32C-70A3-BA58-E4EF3E6B5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17B24-529E-4F14-B357-64B85E84DE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99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1E41C6-4B1D-BC2B-CF41-9AE357332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DC6BC0-0E28-D391-84EC-9DEA076F0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8F574F-AB5D-8783-843C-C24CD5B27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662A485-C82F-06DB-754B-6796A2FF9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C40F06B-F24D-BA67-01AA-71C7862429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F233E4-5A88-9158-F224-31FDCE0CD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750A0-7097-4313-989C-84965F06601D}" type="datetime1">
              <a:rPr lang="ko-KR" altLang="en-US" smtClean="0"/>
              <a:t>26-04-02 (Thu)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9E80A8A-5338-7047-6D98-3A73B2E0E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99F33C5-24E8-0B44-6F92-FE735195B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17B24-529E-4F14-B357-64B85E84DE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317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A5CF62-32CA-125F-EAC9-DC49E7C31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957AF46-226C-07AD-0D27-BE69E1390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1B4CC-FA06-4ACC-93E5-9F679AF6FCF6}" type="datetime1">
              <a:rPr lang="ko-KR" altLang="en-US" smtClean="0"/>
              <a:t>26-04-02 (Thu)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C59138-D462-0C79-CD02-77043D77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2AAD2E-2E21-50CC-FC10-EE4407150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17B24-529E-4F14-B357-64B85E84DE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508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6D50ECC-5F40-D224-A377-FAD897F6E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1B164-AEAE-43DC-AD4C-BAB9EFA8BCA8}" type="datetime1">
              <a:rPr lang="ko-KR" altLang="en-US" smtClean="0"/>
              <a:t>26-04-02 (Thu)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7F14DBB-EF16-BEBD-786E-01FBD9A5A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E839D1-AA12-D193-F38C-8C355208F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17B24-529E-4F14-B357-64B85E84DE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8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C4A744-7C46-BE5E-79A2-F320EDA7A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6C5970-DF43-3015-B5BB-8E30A0C71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FF0A1A-EB58-5D2F-3A31-18CDDC0AA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399720-05D2-70E7-7C43-511C19F2B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02C6-1EC2-41CE-8F09-32B5517E5916}" type="datetime1">
              <a:rPr lang="ko-KR" altLang="en-US" smtClean="0"/>
              <a:t>26-04-02 (Thu)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70BE9D-1EEA-B934-DB04-596AF3C7B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B32D59-FD8B-5E90-FB5B-F9F19F5D1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17B24-529E-4F14-B357-64B85E84DE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118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08D0AA-D821-EF36-5D8A-DF57C40BD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2814C95-6440-7DD1-6F0F-AFC7E95ABA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AA825B-7694-A884-3168-B9CACFA5D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C861A9-4AAA-4DAB-588F-D81048316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8E936-2957-486A-9AEF-82BCBFCB4DD6}" type="datetime1">
              <a:rPr lang="ko-KR" altLang="en-US" smtClean="0"/>
              <a:t>26-04-02 (Thu)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39A5CC-BDB3-743B-8722-443BB83F5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5671D5-A938-1C5C-0B05-60939FC4F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17B24-529E-4F14-B357-64B85E84DE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469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245DB9-EFD8-6902-9226-81B0C0599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AD6C522-99AB-9511-8BE0-E3E316BFF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BBD790-EDD9-06B5-6D41-76C50CA16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A7468-FB3E-4FF5-B8CB-5822A39D2CD3}" type="datetime1">
              <a:rPr lang="ko-KR" altLang="en-US" smtClean="0"/>
              <a:t>26-04-02 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0DFB25-ED26-F96D-1FC3-7E78F3B9D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1515F1-D3A0-9BAD-B8AD-6B293806F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17B24-529E-4F14-B357-64B85E84DE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0119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F37C303-08DB-FD87-B427-63AEC78EE565}"/>
              </a:ext>
            </a:extLst>
          </p:cNvPr>
          <p:cNvSpPr txBox="1"/>
          <p:nvPr userDrawn="1"/>
        </p:nvSpPr>
        <p:spPr>
          <a:xfrm>
            <a:off x="0" y="477131"/>
            <a:ext cx="11428712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just" latinLnBrk="1">
              <a:lnSpc>
                <a:spcPct val="120000"/>
              </a:lnSpc>
              <a:spcAft>
                <a:spcPts val="0"/>
              </a:spcAf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  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5BD6715-D99B-CC01-0501-48C227089DEA}"/>
              </a:ext>
            </a:extLst>
          </p:cNvPr>
          <p:cNvSpPr/>
          <p:nvPr userDrawn="1"/>
        </p:nvSpPr>
        <p:spPr>
          <a:xfrm>
            <a:off x="0" y="0"/>
            <a:ext cx="12192000" cy="28854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4AE4E19-F119-7FCF-8DB5-27E36647F238}"/>
              </a:ext>
            </a:extLst>
          </p:cNvPr>
          <p:cNvSpPr/>
          <p:nvPr userDrawn="1"/>
        </p:nvSpPr>
        <p:spPr>
          <a:xfrm>
            <a:off x="0" y="273306"/>
            <a:ext cx="12192000" cy="822070"/>
          </a:xfrm>
          <a:prstGeom prst="rect">
            <a:avLst/>
          </a:prstGeom>
          <a:solidFill>
            <a:srgbClr val="376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F0EA790-2896-96A2-9A5B-1F5820748893}"/>
              </a:ext>
            </a:extLst>
          </p:cNvPr>
          <p:cNvSpPr/>
          <p:nvPr userDrawn="1"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5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50673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7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F37C303-08DB-FD87-B427-63AEC78EE565}"/>
              </a:ext>
            </a:extLst>
          </p:cNvPr>
          <p:cNvSpPr txBox="1"/>
          <p:nvPr userDrawn="1"/>
        </p:nvSpPr>
        <p:spPr>
          <a:xfrm>
            <a:off x="0" y="332273"/>
            <a:ext cx="11428712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just" latinLnBrk="1">
              <a:lnSpc>
                <a:spcPct val="120000"/>
              </a:lnSpc>
              <a:spcAft>
                <a:spcPts val="0"/>
              </a:spcAf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  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1CAADF5-BAB3-6AF4-9F1D-F73F39B603EE}"/>
              </a:ext>
            </a:extLst>
          </p:cNvPr>
          <p:cNvSpPr/>
          <p:nvPr userDrawn="1"/>
        </p:nvSpPr>
        <p:spPr>
          <a:xfrm>
            <a:off x="0" y="0"/>
            <a:ext cx="12192000" cy="28854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4AE4E19-F119-7FCF-8DB5-27E36647F238}"/>
              </a:ext>
            </a:extLst>
          </p:cNvPr>
          <p:cNvSpPr/>
          <p:nvPr userDrawn="1"/>
        </p:nvSpPr>
        <p:spPr>
          <a:xfrm>
            <a:off x="0" y="254256"/>
            <a:ext cx="12192000" cy="548002"/>
          </a:xfrm>
          <a:prstGeom prst="rect">
            <a:avLst/>
          </a:prstGeom>
          <a:solidFill>
            <a:srgbClr val="376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F0EA790-2896-96A2-9A5B-1F5820748893}"/>
              </a:ext>
            </a:extLst>
          </p:cNvPr>
          <p:cNvSpPr/>
          <p:nvPr userDrawn="1"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5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93715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6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"/>
            <a:ext cx="12192000" cy="548678"/>
          </a:xfrm>
          <a:prstGeom prst="rect">
            <a:avLst/>
          </a:prstGeom>
          <a:solidFill>
            <a:srgbClr val="3760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75" dirty="0"/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8BB121A9-B78B-7926-11AB-3DEBF15D4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563D8-ABE7-4DF5-8886-618069B28877}" type="datetime1">
              <a:rPr lang="ko-KR" altLang="en-US" smtClean="0"/>
              <a:t>26-04-02 (Thu)</a:t>
            </a:fld>
            <a:endParaRPr lang="ko-KR" altLang="en-US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354B89CE-C576-586C-C56D-595DABBF8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49F33A4-F8BE-6557-2F07-8F2AB9357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6954" y="6417310"/>
            <a:ext cx="2743200" cy="365125"/>
          </a:xfrm>
        </p:spPr>
        <p:txBody>
          <a:bodyPr/>
          <a:lstStyle/>
          <a:p>
            <a:fld id="{3C717B24-529E-4F14-B357-64B85E84DE61}" type="slidenum">
              <a:rPr lang="ko-KR" altLang="en-US" smtClean="0"/>
              <a:pPr/>
              <a:t>‹#›</a:t>
            </a:fld>
            <a:r>
              <a:rPr lang="en-US" altLang="ko-KR" dirty="0"/>
              <a:t>/34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7179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CD9CF2-F30B-4AE2-87E7-887789E321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963FF5-86A6-0882-AE67-7AE6192B60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C2202D-8814-EBCA-010A-A19F232C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13A9-1144-484E-A51D-9DC6D3D7FF8E}" type="datetimeFigureOut">
              <a:rPr lang="ko-KR" altLang="en-US" smtClean="0"/>
              <a:t>26-04-02 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D80185-6F14-A3D5-718A-E5688F656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9AFAF5-57DE-A8E9-0FD8-887ABDB52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40405-8896-451D-8950-0922EAE3D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43248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187F53-D178-DBD7-C2EF-E85554E2E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B557EE-6DC1-1FC4-C048-D3C4A3AC1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FC029B-0171-4D4D-F4B3-6B5629CF0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13A9-1144-484E-A51D-9DC6D3D7FF8E}" type="datetimeFigureOut">
              <a:rPr lang="ko-KR" altLang="en-US" smtClean="0"/>
              <a:t>26-04-02 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EAA5E9-1109-FDCE-5323-95AC07BAA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D9AD6E-9DE1-3863-0625-A6A5AF5D4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40405-8896-451D-8950-0922EAE3D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630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49744A-A1CC-E31E-BD7D-551E6F1CC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2B3D61-68F7-5300-986E-20A075DCC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C4A478-8373-97B8-6445-1ED5FBA66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13A9-1144-484E-A51D-9DC6D3D7FF8E}" type="datetimeFigureOut">
              <a:rPr lang="ko-KR" altLang="en-US" smtClean="0"/>
              <a:t>26-04-02 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01FEF8-A566-B8E6-129C-1FEE92DE0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95541D-DC3F-3E59-3D64-00133BF5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40405-8896-451D-8950-0922EAE3D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4803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122013-502D-06D8-F9AF-8AC37699C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3EAF3C-54EF-B063-07DB-9D46B970C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63876B-CA55-36B4-96CA-9E9616177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D0C8A4-E52D-176B-0CB5-8509602BA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13A9-1144-484E-A51D-9DC6D3D7FF8E}" type="datetimeFigureOut">
              <a:rPr lang="ko-KR" altLang="en-US" smtClean="0"/>
              <a:t>26-04-02 (Thu)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1DE2AF-1754-5C04-F7CA-A03AAF359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B85025-8106-E982-8310-03BF8A827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40405-8896-451D-8950-0922EAE3D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6677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17D055-AF0B-385D-2EF9-866222907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5767EC-B206-9281-F448-4E41946AA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44AA0C-E4DF-7E08-1ED2-45DF827BC4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A4F986C-D434-B7E2-572F-9AB546862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198E2E8-2C48-D86C-08A5-36B1F3BF23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8022F8-8454-C6B3-CA68-29BCD4868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13A9-1144-484E-A51D-9DC6D3D7FF8E}" type="datetimeFigureOut">
              <a:rPr lang="ko-KR" altLang="en-US" smtClean="0"/>
              <a:t>26-04-02 (Thu)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4BF3B75-18E7-F68B-BCBA-C80FCB2F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4281A45-D256-39DA-C0AD-E48F65DBE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40405-8896-451D-8950-0922EAE3D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96632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8BDFE5-F068-4137-9934-41BD22D2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D1871AA-ECB7-0166-C1C0-7487ABDFF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13A9-1144-484E-A51D-9DC6D3D7FF8E}" type="datetimeFigureOut">
              <a:rPr lang="ko-KR" altLang="en-US" smtClean="0"/>
              <a:t>26-04-02 (Thu)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4A6B1A5-D71D-83F3-C819-D8766B844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E4BE37-1B3C-0BCA-5AD5-52652A083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40405-8896-451D-8950-0922EAE3D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5807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19CE43-1B70-9C8E-797A-7FEDC9904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13A9-1144-484E-A51D-9DC6D3D7FF8E}" type="datetimeFigureOut">
              <a:rPr lang="ko-KR" altLang="en-US" smtClean="0"/>
              <a:t>26-04-02 (Thu)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45173B4-D2E8-EAC2-AE45-102920323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FB598F-5FF4-B12B-D18A-EC3ECB24F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40405-8896-451D-8950-0922EAE3D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00599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EA44C7-206C-18F6-E789-3C4DF687B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8682F-4D94-BAB9-CE38-9DEEC2E78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D08F66-848F-60AA-BF7A-EDB9844C2E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C524AC-AD79-770F-E37A-2297500F0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13A9-1144-484E-A51D-9DC6D3D7FF8E}" type="datetimeFigureOut">
              <a:rPr lang="ko-KR" altLang="en-US" smtClean="0"/>
              <a:t>26-04-02 (Thu)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EC0584-C19D-E346-1C1D-1FDFCA089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3FB4E2-FE59-1009-8B92-290E153B4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40405-8896-451D-8950-0922EAE3D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2076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9EFE2-0557-9A8E-2A9C-266D57CCA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AA897E3-7E73-0D09-3645-595AA6D049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5C82AF-89D3-0DB6-BD1A-1DA4EB33D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C032DB-B0D5-0454-752F-EF025956C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13A9-1144-484E-A51D-9DC6D3D7FF8E}" type="datetimeFigureOut">
              <a:rPr lang="ko-KR" altLang="en-US" smtClean="0"/>
              <a:t>26-04-02 (Thu)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EC15AA-7205-7D36-CE4A-AF3DECAD6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2133C3-1932-6701-630B-ED31202C8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40405-8896-451D-8950-0922EAE3D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4559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C6B10E-34F6-22DA-289C-EDBE17DC4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74EF4D-2572-762D-C120-BC2AB50594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F8E628-5A38-FE3E-11B2-F0325F31B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13A9-1144-484E-A51D-9DC6D3D7FF8E}" type="datetimeFigureOut">
              <a:rPr lang="ko-KR" altLang="en-US" smtClean="0"/>
              <a:t>26-04-02 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A0EA9B-0CF8-E4C6-6B9F-F028F442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8A736C-5FDD-5926-1CDC-E3BF465F9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40405-8896-451D-8950-0922EAE3D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7824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A7F333-2F53-E99D-3C4A-90A21E4DB4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85E863B-A81A-DD39-8119-15526B035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3A8828-2AE8-2A28-3E64-1806E2675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13A9-1144-484E-A51D-9DC6D3D7FF8E}" type="datetimeFigureOut">
              <a:rPr lang="ko-KR" altLang="en-US" smtClean="0"/>
              <a:t>26-04-02 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982725-7E40-9413-391F-CF3B63A86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206E8A-0F9D-EBDF-89B0-823A23A1A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40405-8896-451D-8950-0922EAE3D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761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4CE1667-0631-E017-B71A-DF1B20A10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7EEB32-6CC4-CB06-283F-0555D782F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E44A45-3E85-8157-A916-4ACD950DB3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E9681E-1874-4BD2-A4C9-046DA0E0E818}" type="datetime1">
              <a:rPr lang="ko-KR" altLang="en-US" smtClean="0"/>
              <a:t>26-04-02 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EB0CBC-3106-0893-6437-A9AB81C2E7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27034A-1EB7-5D5C-1BBC-F052E5C67C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717B24-529E-4F14-B357-64B85E84DE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299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3" r:id="rId12"/>
    <p:sldLayoutId id="2147483660" r:id="rId1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BC0FCB3-D9F0-945E-A6EF-9570EC535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E9DA35-790E-FFF4-DCC1-1524C5A29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C6E622-2C3A-376B-3D9F-792676616A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EA13A9-1144-484E-A51D-9DC6D3D7FF8E}" type="datetimeFigureOut">
              <a:rPr lang="ko-KR" altLang="en-US" smtClean="0"/>
              <a:t>26-04-02 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9D7C6D-DD04-EC7C-9C81-4A61A325FB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728B78-9C46-3DEE-6106-BFCACBA72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40405-8896-451D-8950-0922EAE3D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7287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0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7.png"/><Relationship Id="rId21" Type="http://schemas.openxmlformats.org/officeDocument/2006/relationships/image" Target="../media/image18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31.png"/><Relationship Id="rId50" Type="http://schemas.openxmlformats.org/officeDocument/2006/relationships/customXml" Target="../ink/ink24.xml"/><Relationship Id="rId55" Type="http://schemas.openxmlformats.org/officeDocument/2006/relationships/image" Target="../media/image35.png"/><Relationship Id="rId7" Type="http://schemas.openxmlformats.org/officeDocument/2006/relationships/image" Target="../media/image1110.png"/><Relationship Id="rId2" Type="http://schemas.openxmlformats.org/officeDocument/2006/relationships/image" Target="../media/image10.png"/><Relationship Id="rId16" Type="http://schemas.openxmlformats.org/officeDocument/2006/relationships/customXml" Target="../ink/ink7.xml"/><Relationship Id="rId29" Type="http://schemas.openxmlformats.org/officeDocument/2006/relationships/image" Target="../media/image22.png"/><Relationship Id="rId11" Type="http://schemas.openxmlformats.org/officeDocument/2006/relationships/image" Target="../media/image130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6.png"/><Relationship Id="rId40" Type="http://schemas.openxmlformats.org/officeDocument/2006/relationships/customXml" Target="../ink/ink19.xml"/><Relationship Id="rId45" Type="http://schemas.openxmlformats.org/officeDocument/2006/relationships/image" Target="../media/image30.png"/><Relationship Id="rId53" Type="http://schemas.openxmlformats.org/officeDocument/2006/relationships/image" Target="../media/image34.png"/><Relationship Id="rId5" Type="http://schemas.openxmlformats.org/officeDocument/2006/relationships/image" Target="../media/image1010.png"/><Relationship Id="rId10" Type="http://schemas.openxmlformats.org/officeDocument/2006/relationships/customXml" Target="../ink/ink4.xml"/><Relationship Id="rId19" Type="http://schemas.openxmlformats.org/officeDocument/2006/relationships/image" Target="../media/image17.png"/><Relationship Id="rId31" Type="http://schemas.openxmlformats.org/officeDocument/2006/relationships/image" Target="../media/image23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4" Type="http://schemas.openxmlformats.org/officeDocument/2006/relationships/customXml" Target="../ink/ink1.xml"/><Relationship Id="rId9" Type="http://schemas.openxmlformats.org/officeDocument/2006/relationships/image" Target="../media/image126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21.png"/><Relationship Id="rId30" Type="http://schemas.openxmlformats.org/officeDocument/2006/relationships/customXml" Target="../ink/ink14.xml"/><Relationship Id="rId35" Type="http://schemas.openxmlformats.org/officeDocument/2006/relationships/image" Target="../media/image25.png"/><Relationship Id="rId43" Type="http://schemas.openxmlformats.org/officeDocument/2006/relationships/image" Target="../media/image29.png"/><Relationship Id="rId48" Type="http://schemas.openxmlformats.org/officeDocument/2006/relationships/customXml" Target="../ink/ink23.xml"/><Relationship Id="rId8" Type="http://schemas.openxmlformats.org/officeDocument/2006/relationships/customXml" Target="../ink/ink3.xml"/><Relationship Id="rId51" Type="http://schemas.openxmlformats.org/officeDocument/2006/relationships/image" Target="../media/image33.png"/><Relationship Id="rId3" Type="http://schemas.openxmlformats.org/officeDocument/2006/relationships/image" Target="../media/image11.png"/><Relationship Id="rId12" Type="http://schemas.openxmlformats.org/officeDocument/2006/relationships/customXml" Target="../ink/ink5.xml"/><Relationship Id="rId17" Type="http://schemas.openxmlformats.org/officeDocument/2006/relationships/image" Target="../media/image16.png"/><Relationship Id="rId25" Type="http://schemas.openxmlformats.org/officeDocument/2006/relationships/image" Target="../media/image20.png"/><Relationship Id="rId33" Type="http://schemas.openxmlformats.org/officeDocument/2006/relationships/image" Target="../media/image24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20" Type="http://schemas.openxmlformats.org/officeDocument/2006/relationships/customXml" Target="../ink/ink9.xml"/><Relationship Id="rId41" Type="http://schemas.openxmlformats.org/officeDocument/2006/relationships/image" Target="../media/image28.png"/><Relationship Id="rId54" Type="http://schemas.openxmlformats.org/officeDocument/2006/relationships/customXml" Target="../ink/ink26.xml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2.xml"/><Relationship Id="rId15" Type="http://schemas.openxmlformats.org/officeDocument/2006/relationships/image" Target="../media/image150.png"/><Relationship Id="rId23" Type="http://schemas.openxmlformats.org/officeDocument/2006/relationships/image" Target="../media/image19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3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jpe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3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9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2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5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3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9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2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1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4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3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3.png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emf"/><Relationship Id="rId2" Type="http://schemas.openxmlformats.org/officeDocument/2006/relationships/image" Target="../media/image129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1.emf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4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7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2.png"/><Relationship Id="rId4" Type="http://schemas.openxmlformats.org/officeDocument/2006/relationships/image" Target="../media/image141.png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8.png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13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2.pn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1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6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1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1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3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1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1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13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9A2381B-4C3E-45AD-AF24-9779D6B8B811}"/>
              </a:ext>
            </a:extLst>
          </p:cNvPr>
          <p:cNvSpPr txBox="1"/>
          <p:nvPr/>
        </p:nvSpPr>
        <p:spPr>
          <a:xfrm>
            <a:off x="10396301" y="384919"/>
            <a:ext cx="1244315" cy="30777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en-US" altLang="ko-KR" sz="14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 Semilight" panose="020B0502040204020203" pitchFamily="50" charset="-127"/>
              </a:rPr>
              <a:t>[ </a:t>
            </a:r>
            <a:r>
              <a:rPr lang="ko-KR" altLang="en-US" sz="14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 Semilight" panose="020B0502040204020203" pitchFamily="50" charset="-127"/>
              </a:rPr>
              <a:t>대외비 </a:t>
            </a:r>
            <a:r>
              <a:rPr lang="en-US" altLang="ko-KR" sz="14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 Semilight" panose="020B0502040204020203" pitchFamily="50" charset="-127"/>
              </a:rPr>
              <a:t>]</a:t>
            </a:r>
            <a:endParaRPr lang="ko-KR" altLang="en-US" sz="1400" dirty="0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Malgun Gothic Semilight" panose="020B0502040204020203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A3E757-6210-4ADB-B0B7-BCD86638ABD2}"/>
              </a:ext>
            </a:extLst>
          </p:cNvPr>
          <p:cNvSpPr txBox="1"/>
          <p:nvPr/>
        </p:nvSpPr>
        <p:spPr>
          <a:xfrm>
            <a:off x="536038" y="2459249"/>
            <a:ext cx="4028667" cy="927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dirty="0"/>
              <a:t>(</a:t>
            </a:r>
            <a:r>
              <a:rPr lang="ko-KR" altLang="en-US" sz="2000" b="1" dirty="0"/>
              <a:t>데이터홈쇼핑</a:t>
            </a:r>
            <a:r>
              <a:rPr lang="en-US" altLang="ko-KR" sz="2000" b="1" dirty="0"/>
              <a:t>)</a:t>
            </a:r>
          </a:p>
          <a:p>
            <a:pPr>
              <a:lnSpc>
                <a:spcPct val="120000"/>
              </a:lnSpc>
            </a:pPr>
            <a:r>
              <a:rPr lang="ko-KR" altLang="en-US" sz="2800" b="1"/>
              <a:t>재승인 청문심사 스터디</a:t>
            </a:r>
            <a:endParaRPr lang="ko-KR" altLang="en-US" sz="28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B07DC3-FF03-454C-993B-F1D3D2D63DC1}"/>
              </a:ext>
            </a:extLst>
          </p:cNvPr>
          <p:cNvSpPr txBox="1"/>
          <p:nvPr/>
        </p:nvSpPr>
        <p:spPr>
          <a:xfrm>
            <a:off x="536038" y="5723153"/>
            <a:ext cx="4567276" cy="621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400" b="1" dirty="0"/>
              <a:t>2026.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4. 2</a:t>
            </a:r>
          </a:p>
          <a:p>
            <a:pPr>
              <a:lnSpc>
                <a:spcPct val="130000"/>
              </a:lnSpc>
            </a:pPr>
            <a:r>
              <a:rPr lang="ko-KR" altLang="en-US" sz="1400" b="1" dirty="0"/>
              <a:t>홈쇼핑</a:t>
            </a:r>
            <a:r>
              <a:rPr lang="en-US" altLang="ko-KR" sz="1400" b="1" dirty="0"/>
              <a:t>BU </a:t>
            </a:r>
            <a:r>
              <a:rPr lang="ko-KR" altLang="en-US" sz="1400" b="1" dirty="0"/>
              <a:t>사업지원본부 사업지원부문 방송사업지원팀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A50A729-B7FF-41EC-8037-AE63AB1F840B}"/>
              </a:ext>
            </a:extLst>
          </p:cNvPr>
          <p:cNvCxnSpPr>
            <a:cxnSpLocks/>
          </p:cNvCxnSpPr>
          <p:nvPr/>
        </p:nvCxnSpPr>
        <p:spPr>
          <a:xfrm>
            <a:off x="602654" y="3408588"/>
            <a:ext cx="5292543" cy="0"/>
          </a:xfrm>
          <a:prstGeom prst="line">
            <a:avLst/>
          </a:prstGeom>
          <a:ln w="38100">
            <a:solidFill>
              <a:srgbClr val="1D4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오각형 16">
            <a:extLst>
              <a:ext uri="{FF2B5EF4-FFF2-40B4-BE49-F238E27FC236}">
                <a16:creationId xmlns:a16="http://schemas.microsoft.com/office/drawing/2014/main" id="{4F616798-84CA-41E0-A363-40AB2A9DF607}"/>
              </a:ext>
            </a:extLst>
          </p:cNvPr>
          <p:cNvSpPr/>
          <p:nvPr/>
        </p:nvSpPr>
        <p:spPr>
          <a:xfrm>
            <a:off x="0" y="174040"/>
            <a:ext cx="1415562" cy="515219"/>
          </a:xfrm>
          <a:prstGeom prst="homePlate">
            <a:avLst/>
          </a:prstGeom>
          <a:solidFill>
            <a:srgbClr val="1D4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7077D8-2A60-46AF-9F86-4E7467E7F46D}"/>
              </a:ext>
            </a:extLst>
          </p:cNvPr>
          <p:cNvSpPr txBox="1"/>
          <p:nvPr/>
        </p:nvSpPr>
        <p:spPr>
          <a:xfrm>
            <a:off x="0" y="231594"/>
            <a:ext cx="1226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-150" dirty="0">
                <a:solidFill>
                  <a:schemeClr val="bg1"/>
                </a:solidFill>
              </a:rPr>
              <a:t>보고</a:t>
            </a:r>
            <a:r>
              <a:rPr lang="en-US" altLang="ko-KR" sz="2000" b="1" spc="-150" dirty="0">
                <a:solidFill>
                  <a:schemeClr val="bg1"/>
                </a:solidFill>
              </a:rPr>
              <a:t>/</a:t>
            </a:r>
            <a:r>
              <a:rPr lang="ko-KR" altLang="en-US" sz="2000" b="1" spc="-150" dirty="0">
                <a:solidFill>
                  <a:schemeClr val="bg1"/>
                </a:solidFill>
              </a:rPr>
              <a:t>논의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DA047A-AF06-F8C1-2643-755513054A06}"/>
              </a:ext>
            </a:extLst>
          </p:cNvPr>
          <p:cNvSpPr txBox="1"/>
          <p:nvPr/>
        </p:nvSpPr>
        <p:spPr>
          <a:xfrm>
            <a:off x="602654" y="3699523"/>
            <a:ext cx="4287483" cy="1778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b="1" spc="-150" dirty="0"/>
              <a:t>I. </a:t>
            </a:r>
            <a:r>
              <a:rPr lang="ko-KR" altLang="en-US" sz="1500" b="1" spc="-150" dirty="0"/>
              <a:t>청문심사 개요</a:t>
            </a:r>
            <a:endParaRPr lang="en-US" altLang="ko-KR" sz="1500" b="1" spc="-150" dirty="0"/>
          </a:p>
          <a:p>
            <a:pPr>
              <a:lnSpc>
                <a:spcPct val="150000"/>
              </a:lnSpc>
            </a:pPr>
            <a:r>
              <a:rPr lang="en-US" altLang="ko-KR" sz="1500" b="1" spc="-150" dirty="0"/>
              <a:t>II. </a:t>
            </a:r>
            <a:r>
              <a:rPr lang="ko-KR" altLang="en-US" sz="1500" b="1" spc="-150" dirty="0"/>
              <a:t>재승인 개요</a:t>
            </a:r>
            <a:endParaRPr lang="en-US" altLang="ko-KR" sz="1500" b="1" spc="-150" dirty="0"/>
          </a:p>
          <a:p>
            <a:pPr>
              <a:lnSpc>
                <a:spcPct val="150000"/>
              </a:lnSpc>
            </a:pPr>
            <a:r>
              <a:rPr lang="en-US" altLang="ko-KR" sz="1500" b="1" spc="-150" dirty="0"/>
              <a:t>III. </a:t>
            </a:r>
            <a:r>
              <a:rPr lang="ko-KR" altLang="en-US" sz="1500" b="1" spc="-150" dirty="0"/>
              <a:t>청문심사 </a:t>
            </a:r>
            <a:r>
              <a:rPr lang="en-US" altLang="ko-KR" sz="1500" b="1" spc="-150" dirty="0"/>
              <a:t>Q&amp;A</a:t>
            </a:r>
          </a:p>
          <a:p>
            <a:pPr>
              <a:lnSpc>
                <a:spcPct val="150000"/>
              </a:lnSpc>
            </a:pPr>
            <a:r>
              <a:rPr lang="en-US" altLang="ko-KR" sz="1500" b="1" spc="-150" dirty="0"/>
              <a:t>     - </a:t>
            </a:r>
            <a:r>
              <a:rPr lang="ko-KR" altLang="en-US" sz="1500" b="1" spc="-150" dirty="0"/>
              <a:t>사업계획 구조</a:t>
            </a:r>
            <a:r>
              <a:rPr lang="en-US" altLang="ko-KR" sz="1500" b="1" spc="-150" dirty="0"/>
              <a:t>, </a:t>
            </a:r>
            <a:r>
              <a:rPr lang="ko-KR" altLang="en-US" sz="1500" b="1" spc="-150" dirty="0"/>
              <a:t>과거 </a:t>
            </a:r>
            <a:r>
              <a:rPr lang="en-US" altLang="ko-KR" sz="1500" b="1" spc="-150" dirty="0"/>
              <a:t>Q&amp;A, </a:t>
            </a:r>
            <a:r>
              <a:rPr lang="ko-KR" altLang="en-US" sz="1500" b="1" spc="-150" dirty="0"/>
              <a:t>예상 </a:t>
            </a:r>
            <a:r>
              <a:rPr lang="en-US" altLang="ko-KR" sz="1500" b="1" spc="-150" dirty="0"/>
              <a:t>Q&amp;A</a:t>
            </a:r>
            <a:r>
              <a:rPr lang="ko-KR" altLang="en-US" sz="1500" b="1" spc="-150" dirty="0"/>
              <a:t> </a:t>
            </a:r>
            <a:endParaRPr lang="en-US" altLang="ko-KR" sz="1500" b="1" spc="-150" dirty="0"/>
          </a:p>
          <a:p>
            <a:pPr>
              <a:lnSpc>
                <a:spcPct val="150000"/>
              </a:lnSpc>
            </a:pPr>
            <a:r>
              <a:rPr lang="en-US" altLang="ko-KR" sz="1500" b="1" spc="-150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4092779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2C85D-ECF1-E302-D20B-758BF1CBE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8209EC-E303-4E72-8AD1-15136DFCF778}"/>
              </a:ext>
            </a:extLst>
          </p:cNvPr>
          <p:cNvSpPr txBox="1"/>
          <p:nvPr/>
        </p:nvSpPr>
        <p:spPr>
          <a:xfrm>
            <a:off x="497785" y="1810410"/>
            <a:ext cx="6353175" cy="448328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spc="-100" dirty="0"/>
              <a:t>Part I. </a:t>
            </a:r>
            <a:r>
              <a:rPr lang="ko-KR" altLang="en-US" sz="2000" b="1" spc="-100" dirty="0"/>
              <a:t>청문심사 개요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CCCDD9-56C4-FE52-F143-66756408E0F7}"/>
              </a:ext>
            </a:extLst>
          </p:cNvPr>
          <p:cNvSpPr txBox="1"/>
          <p:nvPr/>
        </p:nvSpPr>
        <p:spPr>
          <a:xfrm>
            <a:off x="791912" y="2544501"/>
            <a:ext cx="4810125" cy="907749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1300" b="1" dirty="0">
                <a:latin typeface="+mn-ea"/>
              </a:rPr>
              <a:t>청문심사 개요</a:t>
            </a:r>
            <a:endParaRPr lang="en-US" altLang="ko-KR" sz="1300" b="1" dirty="0">
              <a:latin typeface="+mn-ea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1300" b="1" dirty="0">
                <a:latin typeface="+mn-ea"/>
              </a:rPr>
              <a:t>청문심사 사전 준비</a:t>
            </a:r>
            <a:endParaRPr lang="en-US" altLang="ko-KR" sz="1300" b="1" dirty="0">
              <a:latin typeface="+mn-ea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1300" b="1" dirty="0">
                <a:latin typeface="+mn-ea"/>
              </a:rPr>
              <a:t>청문심사 </a:t>
            </a:r>
            <a:r>
              <a:rPr lang="en-US" altLang="ko-KR" sz="1300" b="1" dirty="0">
                <a:latin typeface="+mn-ea"/>
              </a:rPr>
              <a:t>Q&amp;A </a:t>
            </a:r>
            <a:r>
              <a:rPr lang="ko-KR" altLang="en-US" sz="1300" b="1" dirty="0">
                <a:latin typeface="+mn-ea"/>
              </a:rPr>
              <a:t>준비 일정</a:t>
            </a:r>
            <a:endParaRPr lang="en-US" altLang="ko-KR" sz="1300" b="1" dirty="0">
              <a:latin typeface="+mn-ea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A3AF825-ECEF-81A7-1FCE-D0E7914FEBEA}"/>
              </a:ext>
            </a:extLst>
          </p:cNvPr>
          <p:cNvCxnSpPr>
            <a:cxnSpLocks/>
          </p:cNvCxnSpPr>
          <p:nvPr/>
        </p:nvCxnSpPr>
        <p:spPr>
          <a:xfrm>
            <a:off x="507404" y="2341788"/>
            <a:ext cx="5803944" cy="0"/>
          </a:xfrm>
          <a:prstGeom prst="line">
            <a:avLst/>
          </a:prstGeom>
          <a:ln w="38100">
            <a:solidFill>
              <a:srgbClr val="1D4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8879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0CA39990-17E6-EECC-9811-481AC5F5FF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316536"/>
              </p:ext>
            </p:extLst>
          </p:nvPr>
        </p:nvGraphicFramePr>
        <p:xfrm>
          <a:off x="371133" y="1164498"/>
          <a:ext cx="11449734" cy="5262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368">
                  <a:extLst>
                    <a:ext uri="{9D8B030D-6E8A-4147-A177-3AD203B41FA5}">
                      <a16:colId xmlns:a16="http://schemas.microsoft.com/office/drawing/2014/main" val="2790025584"/>
                    </a:ext>
                  </a:extLst>
                </a:gridCol>
                <a:gridCol w="10272366">
                  <a:extLst>
                    <a:ext uri="{9D8B030D-6E8A-4147-A177-3AD203B41FA5}">
                      <a16:colId xmlns:a16="http://schemas.microsoft.com/office/drawing/2014/main" val="4155892692"/>
                    </a:ext>
                  </a:extLst>
                </a:gridCol>
              </a:tblGrid>
              <a:tr h="3192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581450"/>
                  </a:ext>
                </a:extLst>
              </a:tr>
              <a:tr h="15550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심사위원</a:t>
                      </a:r>
                    </a:p>
                  </a:txBody>
                  <a:tcPr marL="54000" marR="36000" marT="0" marB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방송미디어통신위원회 상임위원 </a:t>
                      </a:r>
                      <a:r>
                        <a:rPr lang="en-US" altLang="ko-KR" sz="1200" b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200" b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</a:t>
                      </a:r>
                      <a:r>
                        <a:rPr lang="en-US" altLang="ko-KR" sz="1200" b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200" b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심사위원장</a:t>
                      </a:r>
                      <a:endParaRPr lang="en-US" altLang="ko-KR" sz="1050" b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심사위원 </a:t>
                      </a:r>
                      <a:r>
                        <a:rPr lang="en-US" altLang="ko-KR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 내외 </a:t>
                      </a:r>
                      <a:r>
                        <a:rPr lang="en-US" altLang="ko-KR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</a:t>
                      </a:r>
                      <a:r>
                        <a:rPr lang="en-US" altLang="ko-KR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언론 교수 </a:t>
                      </a:r>
                      <a:r>
                        <a:rPr lang="en-US" altLang="ko-KR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2~3</a:t>
                      </a:r>
                      <a:r>
                        <a:rPr lang="ko-KR" altLang="en-US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</a:t>
                      </a:r>
                      <a:r>
                        <a:rPr lang="en-US" altLang="ko-KR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유통</a:t>
                      </a:r>
                      <a:r>
                        <a:rPr lang="en-US" altLang="ko-KR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경영 교수 </a:t>
                      </a:r>
                      <a:r>
                        <a:rPr lang="en-US" altLang="ko-KR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2~3</a:t>
                      </a:r>
                      <a:r>
                        <a:rPr lang="ko-KR" altLang="en-US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</a:t>
                      </a:r>
                      <a:r>
                        <a:rPr lang="en-US" altLang="ko-KR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소비자단체 </a:t>
                      </a:r>
                      <a:r>
                        <a:rPr lang="en-US" altLang="ko-KR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1~2</a:t>
                      </a:r>
                      <a:r>
                        <a:rPr lang="ko-KR" altLang="en-US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</a:t>
                      </a:r>
                      <a:r>
                        <a:rPr lang="en-US" altLang="ko-KR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변호사 </a:t>
                      </a:r>
                      <a:r>
                        <a:rPr lang="en-US" altLang="ko-KR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1~2</a:t>
                      </a:r>
                      <a:r>
                        <a:rPr lang="ko-KR" altLang="en-US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</a:t>
                      </a:r>
                      <a:r>
                        <a:rPr lang="en-US" altLang="ko-KR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회계사 </a:t>
                      </a:r>
                      <a:r>
                        <a:rPr lang="en-US" altLang="ko-KR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200" b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 등</a:t>
                      </a:r>
                      <a:endParaRPr lang="en-US" altLang="ko-KR" sz="1200" b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* </a:t>
                      </a:r>
                      <a:r>
                        <a:rPr lang="ko-KR" altLang="en-US" sz="1200" b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심사 선정 </a:t>
                      </a:r>
                      <a:r>
                        <a:rPr lang="en-US" altLang="ko-KR" sz="1200" b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200" b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방미통위에서 </a:t>
                      </a:r>
                      <a:r>
                        <a:rPr lang="en-US" altLang="ko-KR" sz="1200" b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1200" b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여개 학회 추천 요청 </a:t>
                      </a:r>
                      <a:r>
                        <a:rPr lang="en-US" altLang="ko-KR" sz="1200" b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 홈쇼핑사별 이해관계자 제외 </a:t>
                      </a:r>
                      <a:r>
                        <a:rPr lang="en-US" altLang="ko-KR" sz="1200" b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b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돌발적이지 않은 분들로 선정</a:t>
                      </a:r>
                      <a:r>
                        <a:rPr lang="en-US" altLang="ko-KR" sz="1200" b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1200" b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일간 합숙 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2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일간 사업계획서 심사 → 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청문심사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수요일 또는 목요일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→ 다음날 결과 </a:t>
                      </a:r>
                      <a:r>
                        <a:rPr lang="ko-KR" altLang="en-US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언론 배포</a:t>
                      </a:r>
                      <a:endParaRPr lang="en-US" altLang="ko-KR" sz="1200" b="1" kern="120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일반적으로</a:t>
                      </a:r>
                      <a:r>
                        <a:rPr lang="en-US" altLang="ko-KR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파트별로 심사위원 </a:t>
                      </a:r>
                      <a:r>
                        <a:rPr lang="en-US" altLang="ko-KR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1~2</a:t>
                      </a:r>
                      <a:r>
                        <a:rPr lang="ko-KR" altLang="en-US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명이 담당</a:t>
                      </a:r>
                      <a:r>
                        <a:rPr lang="ko-KR" altLang="en-US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사전에 각 항목별 평가 완료 </a:t>
                      </a:r>
                      <a:r>
                        <a:rPr lang="en-US" altLang="ko-KR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전날 추가 자료 요청</a:t>
                      </a:r>
                      <a:r>
                        <a:rPr lang="ko-KR" altLang="en-US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청문심사 통해 점수 가감 </a:t>
                      </a:r>
                      <a:r>
                        <a:rPr lang="en-US" altLang="ko-KR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조건 부여</a:t>
                      </a:r>
                      <a:endParaRPr lang="en-US" altLang="ko-KR" sz="1200" b="0" kern="120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245916"/>
                  </a:ext>
                </a:extLst>
              </a:tr>
              <a:tr h="219351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심사절차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36000" marT="0" marB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44000" indent="-1440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</a:pPr>
                      <a:r>
                        <a:rPr lang="en-US" altLang="ko-KR" sz="1200" b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정통부 방식</a:t>
                      </a:r>
                      <a:r>
                        <a:rPr lang="en-US" altLang="ko-KR" sz="1200" b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비대면 </a:t>
                      </a:r>
                      <a:r>
                        <a:rPr lang="en-US" altLang="ko-KR" sz="1200" b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200" b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심사위원은 </a:t>
                      </a:r>
                      <a:r>
                        <a:rPr lang="ko-KR" altLang="en-US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다른 방에서 카메라로 보면서 </a:t>
                      </a:r>
                      <a:r>
                        <a:rPr lang="ko-KR" altLang="en-US" sz="1200" b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음성변조로</a:t>
                      </a:r>
                      <a:r>
                        <a:rPr lang="ko-KR" altLang="en-US" sz="1200" b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진행 </a:t>
                      </a:r>
                      <a:endParaRPr lang="en-US" altLang="ko-KR" sz="1200" b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  <a:tabLst>
                          <a:tab pos="558800" algn="l"/>
                        </a:tabLst>
                      </a:pPr>
                      <a:r>
                        <a:rPr lang="en-US" altLang="ko-KR" sz="1200" b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(</a:t>
                      </a:r>
                      <a:r>
                        <a:rPr lang="ko-KR" altLang="en-US" sz="1200" b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방통위 방식</a:t>
                      </a:r>
                      <a:r>
                        <a:rPr lang="en-US" altLang="ko-KR" sz="1200" b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대면 </a:t>
                      </a:r>
                      <a:r>
                        <a:rPr lang="en-US" altLang="ko-KR" sz="1200" b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200" b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일반적인 회의 형식  </a:t>
                      </a:r>
                      <a:endParaRPr lang="en-US" altLang="ko-KR" sz="1200" b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44000" indent="-1440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</a:pPr>
                      <a:r>
                        <a:rPr lang="ko-KR" altLang="en-US" sz="1200" b="1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절차 </a:t>
                      </a:r>
                      <a:r>
                        <a:rPr lang="en-US" altLang="ko-KR" sz="1200" b="1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CEO </a:t>
                      </a:r>
                      <a:r>
                        <a:rPr lang="ko-KR" altLang="en-US" sz="1200" b="1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모두발언 →</a:t>
                      </a:r>
                      <a:r>
                        <a:rPr lang="en-US" altLang="ko-KR" sz="1200" b="1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1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질의응답 →</a:t>
                      </a:r>
                      <a:r>
                        <a:rPr lang="en-US" altLang="ko-KR" sz="1200" b="1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CEO</a:t>
                      </a:r>
                      <a:r>
                        <a:rPr lang="ko-KR" altLang="en-US" sz="1200" b="1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마무리발언 </a:t>
                      </a:r>
                      <a:endParaRPr lang="en-US" altLang="ko-KR" sz="1200" b="1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44000" indent="-1440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</a:pP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질문 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1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개사당 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 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12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 내외 질문 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심사위원당 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1~2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</a:t>
                      </a:r>
                      <a:r>
                        <a:rPr lang="en-US" altLang="ko-KR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200" b="0" kern="120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200" b="1">
                          <a:latin typeface="+mn-ea"/>
                          <a:ea typeface="+mn-ea"/>
                        </a:rPr>
                        <a:t>    - 1</a:t>
                      </a:r>
                      <a:r>
                        <a:rPr lang="ko-KR" altLang="en-US" sz="1200" b="1">
                          <a:latin typeface="+mn-ea"/>
                          <a:ea typeface="+mn-ea"/>
                        </a:rPr>
                        <a:t>개씩 질문하는 경우도 있지만</a:t>
                      </a:r>
                      <a:endParaRPr lang="en-US" altLang="ko-KR" sz="1200" b="1"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5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200" b="1">
                          <a:latin typeface="+mn-ea"/>
                          <a:ea typeface="+mn-ea"/>
                        </a:rPr>
                        <a:t>    - </a:t>
                      </a:r>
                      <a:r>
                        <a:rPr lang="ko-KR" altLang="en-US" sz="12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몰아서</a:t>
                      </a:r>
                      <a:r>
                        <a:rPr lang="en-US" altLang="ko-KR" sz="12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예로 </a:t>
                      </a:r>
                      <a:r>
                        <a:rPr lang="en-US" altLang="ko-KR" sz="12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2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개 질문하고 답변 기다리는 형태</a:t>
                      </a:r>
                      <a:r>
                        <a:rPr lang="en-US" altLang="ko-KR" sz="12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 →</a:t>
                      </a:r>
                      <a:r>
                        <a:rPr lang="en-US" altLang="ko-KR" sz="12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사업계획서를 찾아서 답변하기가 쉽지 않음</a:t>
                      </a:r>
                      <a:endParaRPr lang="en-US" altLang="ko-KR" sz="12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4000" marR="0" lvl="0" indent="-1440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발언 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CEO, 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편성책임자만 발언권 있음 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두 분이 양해를 구하고 다른 참석자분들 발언 </a:t>
                      </a:r>
                      <a:r>
                        <a:rPr lang="ko-KR" altLang="en-US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가능</a:t>
                      </a:r>
                      <a:r>
                        <a:rPr lang="en-US" altLang="ko-KR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altLang="ko-KR" sz="12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7718342"/>
                  </a:ext>
                </a:extLst>
              </a:tr>
              <a:tr h="59731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심사내용</a:t>
                      </a:r>
                      <a:endParaRPr lang="en-US" altLang="ko-KR" sz="1200" b="1" kern="120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36000" marT="0" marB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</a:pPr>
                      <a:r>
                        <a:rPr lang="ko-KR" altLang="en-US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방송사업자로서 경영진의 </a:t>
                      </a:r>
                      <a:r>
                        <a:rPr lang="ko-KR" altLang="en-US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공적책임에 대한 의지</a:t>
                      </a:r>
                      <a:r>
                        <a:rPr lang="ko-KR" altLang="en-US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를 보고 싶어하는 자리</a:t>
                      </a:r>
                      <a:endParaRPr lang="en-US" altLang="ko-KR" sz="1200" b="0" kern="120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just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</a:pPr>
                      <a:r>
                        <a:rPr lang="ko-KR" altLang="en-US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사회적책임</a:t>
                      </a:r>
                      <a:r>
                        <a:rPr lang="en-US" altLang="ko-KR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공익사업</a:t>
                      </a:r>
                      <a:r>
                        <a:rPr lang="en-US" altLang="ko-KR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소외계층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장애인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등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중소기업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동반성장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공정거래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소비자 보호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174348"/>
                  </a:ext>
                </a:extLst>
              </a:tr>
              <a:tr h="59731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심사자료</a:t>
                      </a:r>
                      <a:endParaRPr lang="en-US" altLang="ko-KR" sz="1200" b="1" kern="120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36000" marT="0" marB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  <a:defRPr/>
                      </a:pPr>
                      <a:r>
                        <a:rPr lang="ko-KR" altLang="en-US" sz="1200" b="1">
                          <a:latin typeface="+mn-ea"/>
                        </a:rPr>
                        <a:t>재승인 사업계획서 </a:t>
                      </a:r>
                      <a:endParaRPr lang="en-US" altLang="ko-KR" sz="1200" b="1">
                        <a:latin typeface="+mn-ea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558800" algn="l"/>
                        </a:tabLst>
                        <a:defRPr/>
                      </a:pPr>
                      <a:r>
                        <a:rPr lang="en-US" altLang="ko-KR" sz="1200" b="1">
                          <a:latin typeface="+mn-ea"/>
                        </a:rPr>
                        <a:t>   - 5</a:t>
                      </a:r>
                      <a:r>
                        <a:rPr lang="ko-KR" altLang="en-US" sz="1200" b="1">
                          <a:latin typeface="+mn-ea"/>
                        </a:rPr>
                        <a:t>년간</a:t>
                      </a:r>
                      <a:r>
                        <a:rPr lang="en-US" altLang="ko-KR" sz="1200" b="1">
                          <a:latin typeface="+mn-ea"/>
                        </a:rPr>
                        <a:t>(2021</a:t>
                      </a:r>
                      <a:r>
                        <a:rPr lang="ko-KR" altLang="en-US" sz="1200" b="1">
                          <a:latin typeface="+mn-ea"/>
                        </a:rPr>
                        <a:t>년</a:t>
                      </a:r>
                      <a:r>
                        <a:rPr lang="en-US" altLang="ko-KR" sz="1200" b="1">
                          <a:latin typeface="+mn-ea"/>
                        </a:rPr>
                        <a:t>~2025</a:t>
                      </a:r>
                      <a:r>
                        <a:rPr lang="ko-KR" altLang="en-US" sz="1200" b="1">
                          <a:latin typeface="+mn-ea"/>
                        </a:rPr>
                        <a:t>년</a:t>
                      </a:r>
                      <a:r>
                        <a:rPr lang="en-US" altLang="ko-KR" sz="1200" b="1">
                          <a:latin typeface="+mn-ea"/>
                        </a:rPr>
                        <a:t>)</a:t>
                      </a:r>
                      <a:r>
                        <a:rPr lang="ko-KR" altLang="en-US" sz="1200" b="1">
                          <a:latin typeface="+mn-ea"/>
                        </a:rPr>
                        <a:t> 이행 실적 및 </a:t>
                      </a:r>
                      <a:r>
                        <a:rPr lang="en-US" altLang="ko-KR" sz="1200" b="1">
                          <a:latin typeface="+mn-ea"/>
                        </a:rPr>
                        <a:t>7</a:t>
                      </a:r>
                      <a:r>
                        <a:rPr lang="ko-KR" altLang="en-US" sz="1200" b="1">
                          <a:latin typeface="+mn-ea"/>
                        </a:rPr>
                        <a:t>년간</a:t>
                      </a:r>
                      <a:r>
                        <a:rPr lang="en-US" altLang="ko-KR" sz="1200" b="1">
                          <a:latin typeface="+mn-ea"/>
                        </a:rPr>
                        <a:t>(2026</a:t>
                      </a:r>
                      <a:r>
                        <a:rPr lang="ko-KR" altLang="en-US" sz="1200" b="1">
                          <a:latin typeface="+mn-ea"/>
                        </a:rPr>
                        <a:t>년</a:t>
                      </a:r>
                      <a:r>
                        <a:rPr lang="en-US" altLang="ko-KR" sz="1200" b="1">
                          <a:latin typeface="+mn-ea"/>
                        </a:rPr>
                        <a:t>~2032</a:t>
                      </a:r>
                      <a:r>
                        <a:rPr lang="ko-KR" altLang="en-US" sz="1200" b="1">
                          <a:latin typeface="+mn-ea"/>
                        </a:rPr>
                        <a:t>년</a:t>
                      </a:r>
                      <a:r>
                        <a:rPr lang="en-US" altLang="ko-KR" sz="1200" b="1">
                          <a:latin typeface="+mn-ea"/>
                        </a:rPr>
                        <a:t>)</a:t>
                      </a:r>
                      <a:r>
                        <a:rPr lang="ko-KR" altLang="en-US" sz="1200" b="1">
                          <a:latin typeface="+mn-ea"/>
                        </a:rPr>
                        <a:t> 사업 계획서 </a:t>
                      </a:r>
                      <a:r>
                        <a:rPr lang="en-US" altLang="ko-KR" sz="1200" b="1">
                          <a:latin typeface="+mn-ea"/>
                        </a:rPr>
                        <a:t>1</a:t>
                      </a:r>
                      <a:r>
                        <a:rPr lang="ko-KR" altLang="en-US" sz="1200" b="1">
                          <a:latin typeface="+mn-ea"/>
                        </a:rPr>
                        <a:t>권</a:t>
                      </a:r>
                      <a:r>
                        <a:rPr lang="en-US" altLang="ko-KR" sz="1200" b="1">
                          <a:latin typeface="+mn-ea"/>
                        </a:rPr>
                        <a:t>, </a:t>
                      </a:r>
                      <a:r>
                        <a:rPr lang="ko-KR" altLang="en-US" sz="1200" b="1">
                          <a:latin typeface="+mn-ea"/>
                        </a:rPr>
                        <a:t>첨부 </a:t>
                      </a:r>
                      <a:r>
                        <a:rPr lang="en-US" altLang="ko-KR" sz="1200" b="1">
                          <a:latin typeface="+mn-ea"/>
                        </a:rPr>
                        <a:t>1</a:t>
                      </a:r>
                      <a:r>
                        <a:rPr lang="ko-KR" altLang="en-US" sz="1200" b="1">
                          <a:latin typeface="+mn-ea"/>
                        </a:rPr>
                        <a:t>권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70645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9754BA4-169C-7892-53A6-4A2B82AA1729}"/>
              </a:ext>
            </a:extLst>
          </p:cNvPr>
          <p:cNvSpPr txBox="1"/>
          <p:nvPr/>
        </p:nvSpPr>
        <p:spPr>
          <a:xfrm>
            <a:off x="58483" y="73169"/>
            <a:ext cx="9572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청문심사 개요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F20AC7-278B-A5EA-28D1-5DB51951A88A}"/>
              </a:ext>
            </a:extLst>
          </p:cNvPr>
          <p:cNvSpPr txBox="1"/>
          <p:nvPr/>
        </p:nvSpPr>
        <p:spPr>
          <a:xfrm>
            <a:off x="268868" y="730320"/>
            <a:ext cx="11618331" cy="307777"/>
          </a:xfrm>
          <a:prstGeom prst="rect">
            <a:avLst/>
          </a:prstGeom>
          <a:noFill/>
          <a:ln>
            <a:solidFill>
              <a:schemeClr val="accent1">
                <a:shade val="15000"/>
                <a:alpha val="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■ 방송미디어통신위원회 방송미디어진흥기획과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: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유효기간 만료 전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(4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월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18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일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)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진행이 어려워 유효기간 연장 공문 발송 예정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4B806-202A-D2DE-DCB9-4521F244DC39}"/>
              </a:ext>
            </a:extLst>
          </p:cNvPr>
          <p:cNvSpPr txBox="1"/>
          <p:nvPr/>
        </p:nvSpPr>
        <p:spPr>
          <a:xfrm>
            <a:off x="11669486" y="6635877"/>
            <a:ext cx="5225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1/109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608643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165FE-6E7D-51A2-4181-37287F6C4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504028-3C7B-931B-7B67-4D8421B93B75}"/>
              </a:ext>
            </a:extLst>
          </p:cNvPr>
          <p:cNvSpPr txBox="1"/>
          <p:nvPr/>
        </p:nvSpPr>
        <p:spPr>
          <a:xfrm>
            <a:off x="71890" y="61558"/>
            <a:ext cx="9572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청문심사 사전 준비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6A938E9-250D-BEE7-894F-9FB5CB92C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15297"/>
              </p:ext>
            </p:extLst>
          </p:nvPr>
        </p:nvGraphicFramePr>
        <p:xfrm>
          <a:off x="407988" y="676821"/>
          <a:ext cx="11376025" cy="6016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303">
                  <a:extLst>
                    <a:ext uri="{9D8B030D-6E8A-4147-A177-3AD203B41FA5}">
                      <a16:colId xmlns:a16="http://schemas.microsoft.com/office/drawing/2014/main" val="2790025584"/>
                    </a:ext>
                  </a:extLst>
                </a:gridCol>
                <a:gridCol w="10268722">
                  <a:extLst>
                    <a:ext uri="{9D8B030D-6E8A-4147-A177-3AD203B41FA5}">
                      <a16:colId xmlns:a16="http://schemas.microsoft.com/office/drawing/2014/main" val="4155892692"/>
                    </a:ext>
                  </a:extLst>
                </a:gridCol>
              </a:tblGrid>
              <a:tr h="3531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581450"/>
                  </a:ext>
                </a:extLst>
              </a:tr>
              <a:tr h="8845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일정 및 장소</a:t>
                      </a:r>
                    </a:p>
                  </a:txBody>
                  <a:tcPr marL="54000" marR="36000" marT="0" marB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latinLnBrk="1">
                        <a:lnSpc>
                          <a:spcPct val="13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일정 </a:t>
                      </a:r>
                      <a:r>
                        <a:rPr lang="en-US" altLang="ko-KR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21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년의 경우 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31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실시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재승인 유효기간 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~26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18</a:t>
                      </a:r>
                      <a:r>
                        <a:rPr lang="ko-KR" altLang="en-US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</a:t>
                      </a:r>
                      <a:r>
                        <a:rPr lang="en-US" altLang="ko-KR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200" b="1" kern="120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indent="-108000" algn="just" latinLnBrk="1">
                        <a:lnSpc>
                          <a:spcPct val="13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장소 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위례 </a:t>
                      </a:r>
                      <a:r>
                        <a:rPr lang="ko-KR" altLang="en-US" sz="1200" b="1" kern="120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밀키토피아호텔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(21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데이터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천안 우정인재개발원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(22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TV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홈쇼핑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24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변경승인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algn="just" latinLnBrk="1">
                        <a:lnSpc>
                          <a:spcPct val="13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일정은 일주일 </a:t>
                      </a:r>
                      <a:r>
                        <a:rPr lang="ko-KR" altLang="en-US" sz="1200" b="1" kern="120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전쯤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통보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장소는 당일 아침 통보</a:t>
                      </a:r>
                      <a:endParaRPr lang="en-US" altLang="ko-KR" sz="12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174348"/>
                  </a:ext>
                </a:extLst>
              </a:tr>
              <a:tr h="11906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준비물 등</a:t>
                      </a:r>
                    </a:p>
                  </a:txBody>
                  <a:tcPr marL="54000" marR="36000" marT="0" marB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44000" indent="-144000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</a:pPr>
                      <a:r>
                        <a:rPr lang="ko-KR" altLang="en-US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신분증 지참 </a:t>
                      </a:r>
                      <a:r>
                        <a:rPr lang="en-US" altLang="ko-KR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핸드폰</a:t>
                      </a:r>
                      <a:r>
                        <a:rPr lang="en-US" altLang="ko-KR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지갑</a:t>
                      </a:r>
                      <a:r>
                        <a:rPr lang="en-US" altLang="ko-KR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필기구</a:t>
                      </a:r>
                      <a:r>
                        <a:rPr lang="en-US" altLang="ko-KR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메모지</a:t>
                      </a:r>
                      <a:r>
                        <a:rPr lang="en-US" altLang="ko-KR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시계 등 일체 반입 불가</a:t>
                      </a:r>
                      <a:r>
                        <a:rPr lang="en-US" altLang="ko-KR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</a:p>
                    <a:p>
                      <a:pPr marL="144000" indent="-144000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</a:pPr>
                      <a:r>
                        <a:rPr lang="ko-KR" altLang="en-US" sz="1200" b="1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사업계획서는 </a:t>
                      </a:r>
                      <a:r>
                        <a:rPr lang="en-US" altLang="ko-KR" sz="1200" b="1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CEO 1</a:t>
                      </a:r>
                      <a:r>
                        <a:rPr lang="ko-KR" altLang="en-US" sz="1200" b="1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권만 반입</a:t>
                      </a:r>
                      <a:r>
                        <a:rPr lang="en-US" altLang="ko-KR" sz="1200" b="1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b="1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반출 가능 </a:t>
                      </a:r>
                      <a:r>
                        <a:rPr lang="en-US" altLang="ko-KR" sz="1200" b="1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심사 중 낙서 시 반출 불가</a:t>
                      </a:r>
                      <a:r>
                        <a:rPr lang="en-US" altLang="ko-KR" sz="1200" b="1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</a:p>
                    <a:p>
                      <a:pPr>
                        <a:lnSpc>
                          <a:spcPct val="13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    </a:t>
                      </a:r>
                      <a:r>
                        <a:rPr lang="en-US" altLang="ko-KR" sz="1200" b="1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* </a:t>
                      </a:r>
                      <a:r>
                        <a:rPr lang="ko-KR" altLang="en-US" sz="1200" b="1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심사장</a:t>
                      </a:r>
                      <a:r>
                        <a:rPr lang="ko-KR" altLang="en-US" sz="1200" b="1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 내 사업계획서 </a:t>
                      </a:r>
                      <a:r>
                        <a:rPr lang="en-US" altLang="ko-KR" sz="1200" b="1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200" b="1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권 내외 비치</a:t>
                      </a:r>
                      <a:r>
                        <a:rPr lang="en-US" altLang="ko-KR" sz="1200" b="1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메모장</a:t>
                      </a:r>
                      <a:r>
                        <a:rPr lang="en-US" altLang="ko-KR" sz="1200" b="1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필기구 비치 </a:t>
                      </a:r>
                      <a:r>
                        <a:rPr lang="en-US" altLang="ko-KR" sz="1200" b="1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메모장 등 반출 불가</a:t>
                      </a:r>
                      <a:r>
                        <a:rPr lang="en-US" altLang="ko-KR" sz="1200" b="1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44000" indent="-144000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</a:pPr>
                      <a:r>
                        <a:rPr lang="ko-KR" altLang="en-US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드레스코드 </a:t>
                      </a:r>
                      <a:r>
                        <a:rPr lang="en-US" altLang="ko-KR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200" b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노타이 정장</a:t>
                      </a:r>
                      <a:endParaRPr lang="en-US" altLang="ko-KR" sz="1200" b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</a:txBody>
                  <a:tcPr marL="72000" marR="360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119315"/>
                  </a:ext>
                </a:extLst>
              </a:tr>
              <a:tr h="358790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청문심사</a:t>
                      </a:r>
                      <a:endParaRPr lang="en-US" altLang="ko-KR" sz="12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진행 순서</a:t>
                      </a:r>
                    </a:p>
                  </a:txBody>
                  <a:tcPr marL="54000" marR="36000" marT="0" marB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44000" indent="-144000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</a:pP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청문심사 순서 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 추첨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일주일 전 담당임원 간담회 등을 개최하여 청문심사 사전 안내 및 순서 추첨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  <a:tabLst>
                          <a:tab pos="558800" algn="l"/>
                        </a:tabLst>
                      </a:pP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* 2021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당시 청문심사 순서</a:t>
                      </a:r>
                      <a:endParaRPr lang="en-US" altLang="ko-KR" sz="1200" b="0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4000" indent="-144000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</a:pPr>
                      <a:endParaRPr lang="en-US" altLang="ko-KR" sz="1200" b="0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4000" indent="-144000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</a:pPr>
                      <a:endParaRPr lang="en-US" altLang="ko-KR" sz="1200" b="0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4000" indent="-144000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</a:pPr>
                      <a:endParaRPr lang="en-US" altLang="ko-KR" sz="1200" b="0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4000" indent="-144000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</a:pPr>
                      <a:endParaRPr lang="en-US" altLang="ko-KR" sz="1200" b="0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4000" indent="-144000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</a:pPr>
                      <a:endParaRPr lang="en-US" altLang="ko-KR" sz="1200" b="0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4000" indent="-144000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</a:pPr>
                      <a:endParaRPr lang="en-US" altLang="ko-KR" sz="1200" b="0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4000" indent="-144000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</a:pPr>
                      <a:endParaRPr lang="en-US" altLang="ko-KR" sz="1200" b="0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4000" indent="-144000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</a:pPr>
                      <a:endParaRPr lang="en-US" altLang="ko-KR" sz="1200" b="0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4000" indent="-144000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</a:pPr>
                      <a:endParaRPr lang="en-US" altLang="ko-KR" sz="1200" b="0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4000" indent="-144000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</a:pPr>
                      <a:endParaRPr lang="en-US" altLang="ko-KR" sz="1200" b="0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4000" indent="-144000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</a:pPr>
                      <a:endParaRPr lang="en-US" altLang="ko-KR" sz="1200" b="0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4000" indent="-144000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</a:pPr>
                      <a:endParaRPr lang="en-US" altLang="ko-KR" sz="1200" b="0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4000" indent="-144000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</a:pPr>
                      <a:endParaRPr lang="ko-KR" altLang="en-US" sz="1200" b="0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370667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552FF23-362A-230B-A784-E7461C0A21FF}"/>
              </a:ext>
            </a:extLst>
          </p:cNvPr>
          <p:cNvGraphicFramePr>
            <a:graphicFrameLocks noGrp="1"/>
          </p:cNvGraphicFramePr>
          <p:nvPr/>
        </p:nvGraphicFramePr>
        <p:xfrm>
          <a:off x="2169322" y="3684926"/>
          <a:ext cx="4858202" cy="2849880"/>
        </p:xfrm>
        <a:graphic>
          <a:graphicData uri="http://schemas.openxmlformats.org/drawingml/2006/table">
            <a:tbl>
              <a:tblPr firstRow="1" bandRow="1"/>
              <a:tblGrid>
                <a:gridCol w="799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9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1124">
                  <a:extLst>
                    <a:ext uri="{9D8B030D-6E8A-4147-A177-3AD203B41FA5}">
                      <a16:colId xmlns:a16="http://schemas.microsoft.com/office/drawing/2014/main" val="1306765875"/>
                    </a:ext>
                  </a:extLst>
                </a:gridCol>
              </a:tblGrid>
              <a:tr h="220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순 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회사명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’21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당시 심사결과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ko-KR" altLang="en-US" sz="11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9:30~10:10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820.71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lang="ko-KR" altLang="en-US" sz="11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쇼핑엔티</a:t>
                      </a:r>
                      <a:endParaRPr lang="ko-KR" altLang="en-US" sz="11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10:10~10:50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715.60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11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CJ</a:t>
                      </a:r>
                      <a:endParaRPr lang="ko-KR" altLang="en-US" sz="11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11:10~11:50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772.32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lang="ko-KR" altLang="en-US" sz="11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SK</a:t>
                      </a:r>
                      <a:r>
                        <a:rPr lang="ko-KR" altLang="en-US" sz="1100" b="1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스토아</a:t>
                      </a:r>
                      <a:endParaRPr lang="ko-KR" altLang="en-US" sz="11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11:50~12:30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738.20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endParaRPr lang="ko-KR" altLang="en-US" sz="11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GS SHOP</a:t>
                      </a:r>
                      <a:endParaRPr lang="ko-KR" altLang="en-US" sz="11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14:00~14:40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840.23</a:t>
                      </a:r>
                      <a:endParaRPr lang="ko-KR" altLang="en-US" sz="11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endParaRPr lang="ko-KR" altLang="en-US" sz="11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K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쇼핑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14:40~15:20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720.77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  <a:endParaRPr lang="ko-KR" altLang="en-US" sz="11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NS</a:t>
                      </a:r>
                      <a:endParaRPr lang="ko-KR" altLang="en-US" sz="11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15:40~16:20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799.71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ko-KR" altLang="en-US" sz="11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쇼핑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16:20~17:00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705.00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0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  <a:endParaRPr lang="ko-KR" altLang="en-US" sz="11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LT</a:t>
                      </a:r>
                      <a:endParaRPr lang="ko-KR" altLang="en-US" sz="11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17:20~18:00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759.96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0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endParaRPr lang="ko-KR" altLang="en-US" sz="11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신세계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TV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쇼핑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18:00~18:40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747.21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34258F3-291F-FC91-B003-6115673EE9EF}"/>
              </a:ext>
            </a:extLst>
          </p:cNvPr>
          <p:cNvSpPr txBox="1"/>
          <p:nvPr/>
        </p:nvSpPr>
        <p:spPr>
          <a:xfrm>
            <a:off x="11713031" y="6635877"/>
            <a:ext cx="5225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2/109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4139988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2FA1A-B0A6-11F8-7107-8E261DF1F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88DECF-FD73-CD6B-4640-822F730D1FB4}"/>
              </a:ext>
            </a:extLst>
          </p:cNvPr>
          <p:cNvSpPr txBox="1"/>
          <p:nvPr/>
        </p:nvSpPr>
        <p:spPr>
          <a:xfrm>
            <a:off x="60962" y="61952"/>
            <a:ext cx="10410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청문심사 </a:t>
            </a:r>
            <a:r>
              <a:rPr lang="ko-KR" altLang="en-US" sz="2000" b="1" dirty="0" err="1">
                <a:solidFill>
                  <a:schemeClr val="bg1"/>
                </a:solidFill>
                <a:latin typeface="+mn-ea"/>
              </a:rPr>
              <a:t>자리배치안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 및 답변 원칙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B592600-8B4D-0A7F-B525-91E615B6E1F6}"/>
              </a:ext>
            </a:extLst>
          </p:cNvPr>
          <p:cNvSpPr/>
          <p:nvPr/>
        </p:nvSpPr>
        <p:spPr>
          <a:xfrm>
            <a:off x="695195" y="1456225"/>
            <a:ext cx="4230000" cy="19509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A6099D-2E78-BEFE-81D6-E46E9D0226B5}"/>
              </a:ext>
            </a:extLst>
          </p:cNvPr>
          <p:cNvSpPr/>
          <p:nvPr/>
        </p:nvSpPr>
        <p:spPr>
          <a:xfrm>
            <a:off x="1797376" y="1636508"/>
            <a:ext cx="701649" cy="69915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lnSpc>
                <a:spcPct val="110000"/>
              </a:lnSpc>
              <a:defRPr/>
            </a:pPr>
            <a:r>
              <a:rPr lang="en-US" altLang="ko-KR" sz="11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CEO</a:t>
            </a:r>
            <a:endParaRPr lang="ko-KR" altLang="en-US" sz="9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896A891-4795-C695-B8A0-436E95CDAEAD}"/>
              </a:ext>
            </a:extLst>
          </p:cNvPr>
          <p:cNvSpPr/>
          <p:nvPr/>
        </p:nvSpPr>
        <p:spPr>
          <a:xfrm>
            <a:off x="3062115" y="1632579"/>
            <a:ext cx="700752" cy="69915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1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박우현</a:t>
            </a:r>
            <a:endParaRPr lang="en-US" altLang="ko-KR" sz="1100" b="1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10000"/>
              </a:lnSpc>
              <a:defRPr/>
            </a:pPr>
            <a:r>
              <a:rPr lang="ko-KR" altLang="en-US" sz="11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사업부장</a:t>
            </a:r>
            <a:endParaRPr lang="en-US" altLang="ko-KR" sz="1100" b="1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9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9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편성책임자</a:t>
            </a:r>
            <a:r>
              <a:rPr lang="en-US" altLang="ko-KR" sz="9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)</a:t>
            </a:r>
            <a:endParaRPr lang="ko-KR" altLang="en-US" sz="9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4F2317F-46EB-0BBB-63EA-B079E0643AE2}"/>
              </a:ext>
            </a:extLst>
          </p:cNvPr>
          <p:cNvSpPr/>
          <p:nvPr/>
        </p:nvSpPr>
        <p:spPr>
          <a:xfrm>
            <a:off x="1166880" y="2483061"/>
            <a:ext cx="701649" cy="69915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ko-KR" altLang="en-US" sz="11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박솔잎</a:t>
            </a:r>
            <a:endParaRPr lang="en-US" altLang="ko-KR" sz="1100" b="1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11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BU</a:t>
            </a:r>
            <a:r>
              <a:rPr lang="ko-KR" altLang="en-US" sz="11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장</a:t>
            </a:r>
            <a:endParaRPr lang="ko-KR" altLang="en-US" sz="11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DCC5765-BAD4-0488-B7A4-8FF5DD10F03E}"/>
              </a:ext>
            </a:extLst>
          </p:cNvPr>
          <p:cNvSpPr/>
          <p:nvPr/>
        </p:nvSpPr>
        <p:spPr>
          <a:xfrm>
            <a:off x="2438159" y="2483061"/>
            <a:ext cx="700752" cy="69915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lang="ko-KR" altLang="en-US" sz="11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채호석</a:t>
            </a:r>
            <a:endParaRPr lang="en-US" altLang="ko-KR" sz="1100" b="1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 eaLnBrk="1" latinLnBrk="1" hangingPunct="1">
              <a:defRPr/>
            </a:pPr>
            <a:r>
              <a:rPr lang="ko-KR" altLang="en-US" sz="11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팀장</a:t>
            </a:r>
            <a:endParaRPr lang="ko-KR" altLang="en-US" sz="11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11E8E95-9EB7-F16F-B8AA-65FD3B231662}"/>
              </a:ext>
            </a:extLst>
          </p:cNvPr>
          <p:cNvSpPr/>
          <p:nvPr/>
        </p:nvSpPr>
        <p:spPr>
          <a:xfrm>
            <a:off x="3708542" y="2483061"/>
            <a:ext cx="701649" cy="69915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lang="en-US" altLang="ko-KR" sz="11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CFO</a:t>
            </a:r>
            <a:endParaRPr lang="ko-KR" altLang="en-US" sz="11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D63DE8-4413-7A04-FC75-52319626805F}"/>
              </a:ext>
            </a:extLst>
          </p:cNvPr>
          <p:cNvSpPr/>
          <p:nvPr/>
        </p:nvSpPr>
        <p:spPr>
          <a:xfrm>
            <a:off x="651000" y="4016083"/>
            <a:ext cx="4319195" cy="14559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9244B5-99BE-51C6-0F89-DC498FFF7807}"/>
              </a:ext>
            </a:extLst>
          </p:cNvPr>
          <p:cNvSpPr/>
          <p:nvPr/>
        </p:nvSpPr>
        <p:spPr>
          <a:xfrm>
            <a:off x="1599154" y="4412919"/>
            <a:ext cx="701649" cy="69915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ko-KR" altLang="en-US" sz="11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채호석</a:t>
            </a:r>
            <a:endParaRPr lang="en-US" altLang="ko-KR" sz="1100" b="1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>
              <a:defRPr/>
            </a:pPr>
            <a:r>
              <a:rPr lang="ko-KR" altLang="en-US" sz="11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팀장</a:t>
            </a:r>
            <a:endParaRPr lang="ko-KR" altLang="en-US" sz="11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0DA8809-FC00-0B94-D8F7-BAD7A131F293}"/>
              </a:ext>
            </a:extLst>
          </p:cNvPr>
          <p:cNvSpPr/>
          <p:nvPr/>
        </p:nvSpPr>
        <p:spPr>
          <a:xfrm>
            <a:off x="3289346" y="4412574"/>
            <a:ext cx="700752" cy="69915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1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박우현</a:t>
            </a:r>
            <a:endParaRPr lang="en-US" altLang="ko-KR" sz="1100" b="1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10000"/>
              </a:lnSpc>
              <a:defRPr/>
            </a:pPr>
            <a:r>
              <a:rPr lang="ko-KR" altLang="en-US" sz="11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사업부장</a:t>
            </a:r>
            <a:endParaRPr lang="en-US" altLang="ko-KR" sz="1100" b="1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9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9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편성책임자</a:t>
            </a:r>
            <a:r>
              <a:rPr lang="en-US" altLang="ko-KR" sz="9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)</a:t>
            </a:r>
            <a:endParaRPr lang="ko-KR" altLang="en-US" sz="9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480111-B335-9FBD-A0C9-823393986916}"/>
              </a:ext>
            </a:extLst>
          </p:cNvPr>
          <p:cNvSpPr/>
          <p:nvPr/>
        </p:nvSpPr>
        <p:spPr>
          <a:xfrm>
            <a:off x="4133546" y="4412574"/>
            <a:ext cx="701649" cy="69915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lang="en-US" altLang="ko-KR" sz="11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CFO</a:t>
            </a:r>
            <a:endParaRPr lang="ko-KR" altLang="en-US" sz="11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7BF1702-A475-9CB1-63EE-A10326F3CB32}"/>
              </a:ext>
            </a:extLst>
          </p:cNvPr>
          <p:cNvSpPr/>
          <p:nvPr/>
        </p:nvSpPr>
        <p:spPr>
          <a:xfrm>
            <a:off x="754955" y="4412574"/>
            <a:ext cx="700752" cy="69915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lang="ko-KR" altLang="en-US" sz="11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박솔잎</a:t>
            </a:r>
            <a:endParaRPr lang="en-US" altLang="ko-KR" sz="1100" b="1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 eaLnBrk="1" latinLnBrk="1" hangingPunct="1">
              <a:defRPr/>
            </a:pPr>
            <a:r>
              <a:rPr lang="en-US" altLang="ko-KR" sz="11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BU</a:t>
            </a:r>
            <a:r>
              <a:rPr lang="ko-KR" altLang="en-US" sz="11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장</a:t>
            </a:r>
            <a:endParaRPr lang="ko-KR" altLang="en-US" sz="11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144B2DD-36CC-F230-B8A9-E69ACF4B277A}"/>
              </a:ext>
            </a:extLst>
          </p:cNvPr>
          <p:cNvSpPr/>
          <p:nvPr/>
        </p:nvSpPr>
        <p:spPr>
          <a:xfrm>
            <a:off x="2444250" y="4412574"/>
            <a:ext cx="701649" cy="69915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ko-KR" sz="11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CEO</a:t>
            </a:r>
            <a:endParaRPr lang="ko-KR" altLang="en-US" sz="11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D149CB-A2E1-31F1-88F0-67A57DC7D68D}"/>
              </a:ext>
            </a:extLst>
          </p:cNvPr>
          <p:cNvSpPr txBox="1"/>
          <p:nvPr/>
        </p:nvSpPr>
        <p:spPr>
          <a:xfrm>
            <a:off x="678261" y="1079880"/>
            <a:ext cx="3562090" cy="33233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2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① 좌석이 </a:t>
            </a:r>
            <a:r>
              <a:rPr lang="en-US" altLang="ko-KR" sz="12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2</a:t>
            </a:r>
            <a:r>
              <a:rPr lang="ko-KR" altLang="en-US" sz="12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열로 세팅되어 있는 경우</a:t>
            </a:r>
            <a:endParaRPr lang="en-US" altLang="ko-KR" sz="1200" b="1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37D8EB-772F-1EC4-6F56-8348DFFB9E87}"/>
              </a:ext>
            </a:extLst>
          </p:cNvPr>
          <p:cNvSpPr txBox="1"/>
          <p:nvPr/>
        </p:nvSpPr>
        <p:spPr>
          <a:xfrm>
            <a:off x="678261" y="3648200"/>
            <a:ext cx="3562090" cy="33233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2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② 좌석이 </a:t>
            </a:r>
            <a:r>
              <a:rPr lang="en-US" altLang="ko-KR" sz="12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1</a:t>
            </a:r>
            <a:r>
              <a:rPr lang="ko-KR" altLang="en-US" sz="12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열로 세팅되어 있는 경우</a:t>
            </a:r>
            <a:endParaRPr lang="en-US" altLang="ko-KR" sz="1200" b="1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D1DD2C-B2A6-D6C0-5D90-F673C07FDF06}"/>
              </a:ext>
            </a:extLst>
          </p:cNvPr>
          <p:cNvSpPr txBox="1"/>
          <p:nvPr/>
        </p:nvSpPr>
        <p:spPr>
          <a:xfrm>
            <a:off x="516000" y="640099"/>
            <a:ext cx="3562090" cy="35234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■ 청문심사장 </a:t>
            </a:r>
            <a:r>
              <a:rPr lang="ko-KR" altLang="en-US" sz="1300" b="1" dirty="0" err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자리배치안</a:t>
            </a:r>
            <a:endParaRPr lang="en-US" altLang="ko-KR" sz="13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3CF43D-AA74-EA55-0328-A67ACFB76E6A}"/>
              </a:ext>
            </a:extLst>
          </p:cNvPr>
          <p:cNvSpPr txBox="1"/>
          <p:nvPr/>
        </p:nvSpPr>
        <p:spPr>
          <a:xfrm>
            <a:off x="5569329" y="640099"/>
            <a:ext cx="3562090" cy="35234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■ 심사위원 질문에 대한 답변 담당</a:t>
            </a:r>
            <a:endParaRPr lang="en-US" altLang="ko-KR" sz="13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E94188E9-EA4B-4C1D-8500-F797ECA4A4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656886"/>
              </p:ext>
            </p:extLst>
          </p:nvPr>
        </p:nvGraphicFramePr>
        <p:xfrm>
          <a:off x="5569329" y="1788168"/>
          <a:ext cx="6280699" cy="4816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335">
                  <a:extLst>
                    <a:ext uri="{9D8B030D-6E8A-4147-A177-3AD203B41FA5}">
                      <a16:colId xmlns:a16="http://schemas.microsoft.com/office/drawing/2014/main" val="3615978348"/>
                    </a:ext>
                  </a:extLst>
                </a:gridCol>
                <a:gridCol w="1761732">
                  <a:extLst>
                    <a:ext uri="{9D8B030D-6E8A-4147-A177-3AD203B41FA5}">
                      <a16:colId xmlns:a16="http://schemas.microsoft.com/office/drawing/2014/main" val="3593883798"/>
                    </a:ext>
                  </a:extLst>
                </a:gridCol>
                <a:gridCol w="3190632">
                  <a:extLst>
                    <a:ext uri="{9D8B030D-6E8A-4147-A177-3AD203B41FA5}">
                      <a16:colId xmlns:a16="http://schemas.microsoft.com/office/drawing/2014/main" val="2710339988"/>
                    </a:ext>
                  </a:extLst>
                </a:gridCol>
              </a:tblGrid>
              <a:tr h="221055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참석자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답변사항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중점 준비 영역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42565"/>
                  </a:ext>
                </a:extLst>
              </a:tr>
              <a:tr h="926434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CEO</a:t>
                      </a:r>
                      <a:endParaRPr lang="ko-KR" altLang="en-US" sz="1200" b="1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인사말</a:t>
                      </a: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맺음말</a:t>
                      </a:r>
                      <a:endParaRPr lang="en-US" altLang="ko-KR" sz="1200" b="1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0000" indent="-9000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1" spc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사업 운영 방향</a:t>
                      </a:r>
                      <a:endParaRPr lang="ko-KR" altLang="en-US" sz="1200" b="1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종합</a:t>
                      </a: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데이터홈쇼핑 차별화</a:t>
                      </a:r>
                      <a:endParaRPr lang="en-US" altLang="ko-KR" sz="1200" b="1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(2</a:t>
                      </a:r>
                      <a:r>
                        <a:rPr lang="ko-KR" altLang="en-US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</a:t>
                      </a: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방송의 공적책임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823533"/>
                  </a:ext>
                </a:extLst>
              </a:tr>
              <a:tr h="926434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편성책임자</a:t>
                      </a:r>
                      <a:endParaRPr lang="en-US" altLang="ko-KR" sz="1200" b="1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1" spc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홈쇼핑 사업 상세</a:t>
                      </a:r>
                      <a:endParaRPr lang="en-US" altLang="ko-KR" sz="1200" b="1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(2</a:t>
                      </a:r>
                      <a:r>
                        <a:rPr lang="ko-KR" altLang="en-US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</a:t>
                      </a: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시청자위원회 </a:t>
                      </a:r>
                      <a:endParaRPr lang="en-US" altLang="ko-KR" sz="1200" b="1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200" b="1" u="none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(3</a:t>
                      </a:r>
                      <a:r>
                        <a:rPr lang="ko-KR" altLang="en-US" sz="1200" b="1" u="none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</a:t>
                      </a:r>
                      <a:r>
                        <a:rPr lang="en-US" altLang="ko-KR" sz="1200" b="1" u="none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1" u="none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중소기업 지원</a:t>
                      </a: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altLang="ko-KR" sz="1200" b="1" u="sng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(3</a:t>
                      </a:r>
                      <a:r>
                        <a:rPr lang="ko-KR" altLang="en-US" sz="1200" b="1" u="sng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</a:t>
                      </a:r>
                      <a:r>
                        <a:rPr lang="en-US" altLang="ko-KR" sz="1200" b="1" u="sng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1" u="sng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신사업</a:t>
                      </a:r>
                      <a:r>
                        <a:rPr lang="en-US" altLang="ko-KR" sz="1200" b="1" u="sng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(CVC)</a:t>
                      </a:r>
                    </a:p>
                    <a:p>
                      <a:pPr marL="0" indent="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(4</a:t>
                      </a:r>
                      <a:r>
                        <a:rPr lang="ko-KR" altLang="en-US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</a:t>
                      </a: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콘텐츠</a:t>
                      </a:r>
                      <a:endParaRPr lang="en-US" altLang="ko-KR" sz="1200" b="1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200" b="1" u="sng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(5</a:t>
                      </a:r>
                      <a:r>
                        <a:rPr lang="ko-KR" altLang="en-US" sz="1200" b="1" u="sng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</a:t>
                      </a:r>
                      <a:r>
                        <a:rPr lang="en-US" altLang="ko-KR" sz="1200" b="1" u="sng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1" u="sng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인력</a:t>
                      </a:r>
                      <a:r>
                        <a:rPr lang="en-US" altLang="ko-KR" sz="1200" b="1" u="sng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u="sng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교육</a:t>
                      </a:r>
                      <a:endParaRPr lang="en-US" altLang="ko-KR" sz="1200" b="1" u="sng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(6</a:t>
                      </a:r>
                      <a:r>
                        <a:rPr lang="ko-KR" altLang="en-US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</a:t>
                      </a: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방송기술</a:t>
                      </a:r>
                      <a:endParaRPr lang="en-US" altLang="ko-KR" sz="1200" b="1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200" b="1" u="sng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(7</a:t>
                      </a:r>
                      <a:r>
                        <a:rPr lang="ko-KR" altLang="en-US" sz="1200" b="1" u="sng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</a:t>
                      </a:r>
                      <a:r>
                        <a:rPr lang="en-US" altLang="ko-KR" sz="1200" b="1" u="sng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1" u="sng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소비자</a:t>
                      </a:r>
                      <a:r>
                        <a:rPr lang="en-US" altLang="ko-KR" sz="1200" b="1" u="sng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u="sng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품질</a:t>
                      </a:r>
                      <a:r>
                        <a:rPr lang="en-US" altLang="ko-KR" sz="1200" b="1" u="sng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u="sng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심의</a:t>
                      </a:r>
                      <a:r>
                        <a:rPr lang="en-US" altLang="ko-KR" sz="1200" b="1" u="sng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u="sng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</a:t>
                      </a:r>
                      <a:endParaRPr lang="en-US" altLang="ko-KR" sz="1200" b="1" u="sng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200" b="1" u="sng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(8</a:t>
                      </a:r>
                      <a:r>
                        <a:rPr lang="ko-KR" altLang="en-US" sz="1200" b="1" u="sng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</a:t>
                      </a:r>
                      <a:r>
                        <a:rPr lang="en-US" altLang="ko-KR" sz="1200" b="1" u="sng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1" u="sng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방송발전공익사업</a:t>
                      </a: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데이터특화 기술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94004"/>
                  </a:ext>
                </a:extLst>
              </a:tr>
              <a:tr h="926434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홈쇼핑</a:t>
                      </a: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BU</a:t>
                      </a:r>
                      <a:r>
                        <a:rPr lang="ko-KR" altLang="en-US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</a:t>
                      </a:r>
                      <a:endParaRPr lang="en-US" altLang="ko-KR" sz="1200" b="1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1" spc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홈쇼핑 </a:t>
                      </a:r>
                      <a:r>
                        <a:rPr lang="en-US" altLang="ko-KR" sz="1200" b="1" spc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Biz </a:t>
                      </a:r>
                      <a:r>
                        <a:rPr lang="ko-KR" altLang="en-US" sz="1200" b="1" spc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방향</a:t>
                      </a:r>
                      <a:endParaRPr lang="en-US" altLang="ko-KR" sz="1200" b="1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3997546"/>
                  </a:ext>
                </a:extLst>
              </a:tr>
              <a:tr h="926434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CFO</a:t>
                      </a:r>
                      <a:endParaRPr lang="ko-KR" altLang="en-US" sz="1200" b="1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재무 및 경영투명성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(2</a:t>
                      </a:r>
                      <a:r>
                        <a:rPr lang="ko-KR" altLang="en-US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</a:t>
                      </a: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공익사업</a:t>
                      </a:r>
                      <a:endParaRPr lang="en-US" altLang="ko-KR" sz="1200" b="1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(3</a:t>
                      </a:r>
                      <a:r>
                        <a:rPr lang="ko-KR" altLang="en-US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</a:t>
                      </a: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공정거래</a:t>
                      </a: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(5</a:t>
                      </a:r>
                      <a:r>
                        <a:rPr lang="ko-KR" altLang="en-US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</a:t>
                      </a: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경영투명성</a:t>
                      </a:r>
                      <a:endParaRPr lang="en-US" altLang="ko-KR" sz="1200" b="1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(6</a:t>
                      </a:r>
                      <a:r>
                        <a:rPr lang="ko-KR" altLang="en-US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</a:t>
                      </a: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재무 파트</a:t>
                      </a: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(7</a:t>
                      </a:r>
                      <a:r>
                        <a:rPr lang="ko-KR" altLang="en-US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</a:t>
                      </a:r>
                      <a:r>
                        <a:rPr lang="en-US" altLang="ko-KR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개인정보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3629204"/>
                  </a:ext>
                </a:extLst>
              </a:tr>
              <a:tr h="836302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방송사업지원</a:t>
                      </a:r>
                      <a:endParaRPr lang="en-US" altLang="ko-KR" sz="1200" b="1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latinLnBrk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팀장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기타 실무적인 질문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428859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B5D97995-6FD4-C074-FAC1-A3479E593F61}"/>
              </a:ext>
            </a:extLst>
          </p:cNvPr>
          <p:cNvSpPr txBox="1"/>
          <p:nvPr/>
        </p:nvSpPr>
        <p:spPr>
          <a:xfrm>
            <a:off x="5569329" y="1018793"/>
            <a:ext cx="5246914" cy="786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 marR="0" lvl="0" indent="-14400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558800" algn="l"/>
              </a:tabLst>
              <a:defRPr/>
            </a:pPr>
            <a:r>
              <a:rPr lang="ko-KR" altLang="en-US" sz="1200" b="0" kern="1200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dk1"/>
                </a:solidFill>
                <a:latin typeface="+mn-ea"/>
                <a:ea typeface="+mn-ea"/>
                <a:cs typeface="+mn-cs"/>
              </a:rPr>
              <a:t>발언 </a:t>
            </a:r>
            <a:r>
              <a:rPr lang="en-US" altLang="ko-KR" sz="1200" b="0" kern="1200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dk1"/>
                </a:solidFill>
                <a:latin typeface="+mn-ea"/>
                <a:ea typeface="+mn-ea"/>
                <a:cs typeface="+mn-cs"/>
              </a:rPr>
              <a:t>: CEO, </a:t>
            </a:r>
            <a:r>
              <a:rPr lang="ko-KR" altLang="en-US" sz="1200" b="0" kern="1200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dk1"/>
                </a:solidFill>
                <a:latin typeface="+mn-ea"/>
                <a:ea typeface="+mn-ea"/>
                <a:cs typeface="+mn-cs"/>
              </a:rPr>
              <a:t>편성책임자만 발언권 있음</a:t>
            </a:r>
            <a:endParaRPr lang="en-US" altLang="ko-KR" sz="1200" b="0" kern="1200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chemeClr val="dk1"/>
              </a:solidFill>
              <a:latin typeface="+mn-ea"/>
              <a:ea typeface="+mn-ea"/>
              <a:cs typeface="+mn-cs"/>
            </a:endParaRPr>
          </a:p>
          <a:p>
            <a:pPr marR="0" lvl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558800" algn="l"/>
              </a:tabLst>
              <a:defRPr/>
            </a:pPr>
            <a:r>
              <a:rPr lang="en-US" altLang="ko-KR" sz="1200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dk1"/>
                </a:solidFill>
                <a:latin typeface="+mn-ea"/>
              </a:rPr>
              <a:t>           </a:t>
            </a:r>
            <a:r>
              <a:rPr lang="ko-KR" altLang="en-US" sz="1200" b="0" kern="1200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dk1"/>
                </a:solidFill>
                <a:latin typeface="+mn-ea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dk1"/>
                </a:solidFill>
                <a:latin typeface="+mn-ea"/>
                <a:ea typeface="+mn-ea"/>
                <a:cs typeface="+mn-cs"/>
              </a:rPr>
              <a:t>(</a:t>
            </a:r>
            <a:r>
              <a:rPr lang="ko-KR" altLang="en-US" sz="1200" b="0" kern="1200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dk1"/>
                </a:solidFill>
                <a:latin typeface="+mn-ea"/>
                <a:ea typeface="+mn-ea"/>
                <a:cs typeface="+mn-cs"/>
              </a:rPr>
              <a:t>단</a:t>
            </a:r>
            <a:r>
              <a:rPr lang="en-US" altLang="ko-KR" sz="1200" b="0" kern="1200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dk1"/>
                </a:solidFill>
                <a:latin typeface="+mn-ea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dk1"/>
                </a:solidFill>
                <a:latin typeface="+mn-ea"/>
                <a:ea typeface="+mn-ea"/>
                <a:cs typeface="+mn-cs"/>
              </a:rPr>
              <a:t>두 분이 양해를 구하고 다른 참석자분들 발언 가능</a:t>
            </a:r>
            <a:r>
              <a:rPr lang="en-US" altLang="ko-KR" sz="1200" b="0" kern="1200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dk1"/>
                </a:solidFill>
                <a:latin typeface="+mn-ea"/>
                <a:ea typeface="+mn-ea"/>
                <a:cs typeface="+mn-cs"/>
              </a:rPr>
              <a:t>)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0" kern="1200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dk1"/>
                </a:solidFill>
                <a:latin typeface="+mn-ea"/>
                <a:ea typeface="+mn-ea"/>
                <a:cs typeface="+mn-cs"/>
              </a:rPr>
              <a:t>    </a:t>
            </a:r>
            <a:endParaRPr lang="ko-KR" altLang="en-US" sz="1200" b="0" kern="1200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rgbClr val="0000FF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DCFBCB-8FDF-0921-5931-6D5D181F2C2F}"/>
              </a:ext>
            </a:extLst>
          </p:cNvPr>
          <p:cNvSpPr txBox="1"/>
          <p:nvPr/>
        </p:nvSpPr>
        <p:spPr>
          <a:xfrm>
            <a:off x="11669486" y="6635877"/>
            <a:ext cx="5225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3/109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298327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5D811-C8A6-6ACE-AF05-13533E86D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0632B3-E9B1-1632-4B14-8CD5C9F9E7C4}"/>
              </a:ext>
            </a:extLst>
          </p:cNvPr>
          <p:cNvSpPr txBox="1"/>
          <p:nvPr/>
        </p:nvSpPr>
        <p:spPr>
          <a:xfrm>
            <a:off x="58936" y="73169"/>
            <a:ext cx="9572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청문심사 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Q&amp;A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준비 일정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18AB6FB-9194-1178-2F02-96D0958E54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876104"/>
              </p:ext>
            </p:extLst>
          </p:nvPr>
        </p:nvGraphicFramePr>
        <p:xfrm>
          <a:off x="407988" y="937545"/>
          <a:ext cx="5162024" cy="5297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432">
                  <a:extLst>
                    <a:ext uri="{9D8B030D-6E8A-4147-A177-3AD203B41FA5}">
                      <a16:colId xmlns:a16="http://schemas.microsoft.com/office/drawing/2014/main" val="2790025584"/>
                    </a:ext>
                  </a:extLst>
                </a:gridCol>
                <a:gridCol w="737432">
                  <a:extLst>
                    <a:ext uri="{9D8B030D-6E8A-4147-A177-3AD203B41FA5}">
                      <a16:colId xmlns:a16="http://schemas.microsoft.com/office/drawing/2014/main" val="2078834508"/>
                    </a:ext>
                  </a:extLst>
                </a:gridCol>
                <a:gridCol w="737432">
                  <a:extLst>
                    <a:ext uri="{9D8B030D-6E8A-4147-A177-3AD203B41FA5}">
                      <a16:colId xmlns:a16="http://schemas.microsoft.com/office/drawing/2014/main" val="4155892692"/>
                    </a:ext>
                  </a:extLst>
                </a:gridCol>
                <a:gridCol w="737432">
                  <a:extLst>
                    <a:ext uri="{9D8B030D-6E8A-4147-A177-3AD203B41FA5}">
                      <a16:colId xmlns:a16="http://schemas.microsoft.com/office/drawing/2014/main" val="2173607789"/>
                    </a:ext>
                  </a:extLst>
                </a:gridCol>
                <a:gridCol w="737432">
                  <a:extLst>
                    <a:ext uri="{9D8B030D-6E8A-4147-A177-3AD203B41FA5}">
                      <a16:colId xmlns:a16="http://schemas.microsoft.com/office/drawing/2014/main" val="1063285273"/>
                    </a:ext>
                  </a:extLst>
                </a:gridCol>
                <a:gridCol w="737432">
                  <a:extLst>
                    <a:ext uri="{9D8B030D-6E8A-4147-A177-3AD203B41FA5}">
                      <a16:colId xmlns:a16="http://schemas.microsoft.com/office/drawing/2014/main" val="2963408518"/>
                    </a:ext>
                  </a:extLst>
                </a:gridCol>
                <a:gridCol w="737432">
                  <a:extLst>
                    <a:ext uri="{9D8B030D-6E8A-4147-A177-3AD203B41FA5}">
                      <a16:colId xmlns:a16="http://schemas.microsoft.com/office/drawing/2014/main" val="2118523709"/>
                    </a:ext>
                  </a:extLst>
                </a:gridCol>
              </a:tblGrid>
              <a:tr h="2140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목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금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토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581450"/>
                  </a:ext>
                </a:extLst>
              </a:tr>
              <a:tr h="726264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3/29</a:t>
                      </a:r>
                      <a:endParaRPr lang="ko-KR" altLang="en-US" sz="9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3/30</a:t>
                      </a:r>
                      <a:endParaRPr lang="ko-KR" altLang="en-US" sz="9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3/31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4/1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4/2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4/3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4/4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654090"/>
                  </a:ext>
                </a:extLst>
              </a:tr>
              <a:tr h="726264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4/5</a:t>
                      </a:r>
                      <a:endParaRPr lang="ko-KR" altLang="en-US" sz="9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4/6</a:t>
                      </a:r>
                      <a:endParaRPr lang="ko-KR" altLang="en-US" sz="9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4/7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4/8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4/9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4/10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4/11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65359"/>
                  </a:ext>
                </a:extLst>
              </a:tr>
              <a:tr h="726264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4/12</a:t>
                      </a:r>
                      <a:endParaRPr lang="ko-KR" altLang="en-US" sz="9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4/13</a:t>
                      </a:r>
                      <a:endParaRPr lang="ko-KR" altLang="en-US" sz="9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4/14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4/15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4/16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4/17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4/18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733090"/>
                  </a:ext>
                </a:extLst>
              </a:tr>
              <a:tr h="726264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4/19</a:t>
                      </a:r>
                      <a:endParaRPr lang="ko-KR" altLang="en-US" sz="9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4/20</a:t>
                      </a:r>
                      <a:endParaRPr lang="ko-KR" altLang="en-US" sz="9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4/21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4/22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4/23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4/24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4/25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33588"/>
                  </a:ext>
                </a:extLst>
              </a:tr>
              <a:tr h="726264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4/26</a:t>
                      </a:r>
                      <a:endParaRPr lang="ko-KR" altLang="en-US" sz="9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4/27</a:t>
                      </a:r>
                      <a:endParaRPr lang="ko-KR" altLang="en-US" sz="9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4/28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4/29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4/30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5/1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5/2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28781"/>
                  </a:ext>
                </a:extLst>
              </a:tr>
              <a:tr h="726264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5/3</a:t>
                      </a:r>
                      <a:endParaRPr lang="ko-KR" altLang="en-US" sz="9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5/4</a:t>
                      </a:r>
                      <a:endParaRPr lang="ko-KR" altLang="en-US" sz="9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5/5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5/6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5/7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5/8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5/9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724316"/>
                  </a:ext>
                </a:extLst>
              </a:tr>
              <a:tr h="726264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5/10</a:t>
                      </a:r>
                      <a:endParaRPr lang="ko-KR" altLang="en-US" sz="9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9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5/11</a:t>
                      </a:r>
                      <a:endParaRPr lang="ko-KR" altLang="en-US" sz="9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5/12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5/13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5/14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5/15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5/16</a:t>
                      </a:r>
                      <a:endParaRPr lang="ko-KR" altLang="en-US" sz="900" b="1" kern="120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092686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0F313F4-7023-5B52-025F-32D2FAB6F7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71958"/>
              </p:ext>
            </p:extLst>
          </p:nvPr>
        </p:nvGraphicFramePr>
        <p:xfrm>
          <a:off x="5900285" y="927342"/>
          <a:ext cx="6028190" cy="5724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656">
                  <a:extLst>
                    <a:ext uri="{9D8B030D-6E8A-4147-A177-3AD203B41FA5}">
                      <a16:colId xmlns:a16="http://schemas.microsoft.com/office/drawing/2014/main" val="2078834508"/>
                    </a:ext>
                  </a:extLst>
                </a:gridCol>
                <a:gridCol w="715656">
                  <a:extLst>
                    <a:ext uri="{9D8B030D-6E8A-4147-A177-3AD203B41FA5}">
                      <a16:colId xmlns:a16="http://schemas.microsoft.com/office/drawing/2014/main" val="4155892692"/>
                    </a:ext>
                  </a:extLst>
                </a:gridCol>
                <a:gridCol w="2851931">
                  <a:extLst>
                    <a:ext uri="{9D8B030D-6E8A-4147-A177-3AD203B41FA5}">
                      <a16:colId xmlns:a16="http://schemas.microsoft.com/office/drawing/2014/main" val="2173607789"/>
                    </a:ext>
                  </a:extLst>
                </a:gridCol>
                <a:gridCol w="1744947">
                  <a:extLst>
                    <a:ext uri="{9D8B030D-6E8A-4147-A177-3AD203B41FA5}">
                      <a16:colId xmlns:a16="http://schemas.microsoft.com/office/drawing/2014/main" val="3850942670"/>
                    </a:ext>
                  </a:extLst>
                </a:gridCol>
              </a:tblGrid>
              <a:tr h="170813">
                <a:tc>
                  <a:txBody>
                    <a:bodyPr/>
                    <a:lstStyle/>
                    <a:p>
                      <a:pPr marL="0"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일자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스터디 내용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참석자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581450"/>
                  </a:ext>
                </a:extLst>
              </a:tr>
              <a:tr h="1676123">
                <a:tc>
                  <a:txBody>
                    <a:bodyPr/>
                    <a:lstStyle/>
                    <a:p>
                      <a:pPr marL="0"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차</a:t>
                      </a:r>
                      <a:endParaRPr lang="en-US" altLang="ko-KR" sz="11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스터디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3.16(</a:t>
                      </a: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</a:t>
                      </a:r>
                      <a:r>
                        <a:rPr lang="en-US" altLang="ko-KR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en-US" altLang="ko-KR" sz="11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14:00</a:t>
                      </a:r>
                    </a:p>
                    <a:p>
                      <a:pPr marL="0"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~</a:t>
                      </a:r>
                    </a:p>
                    <a:p>
                      <a:pPr marL="0"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16:00</a:t>
                      </a:r>
                      <a:endParaRPr lang="ko-KR" altLang="en-US" sz="11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-108000"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청문심사 개요</a:t>
                      </a:r>
                      <a:r>
                        <a:rPr lang="en-US" altLang="ko-KR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재승인 개요</a:t>
                      </a:r>
                      <a:endParaRPr lang="en-US" altLang="ko-KR" sz="11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-108000"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사업계획서 구성 및 주요 항목</a:t>
                      </a:r>
                      <a:r>
                        <a:rPr lang="en-US" altLang="ko-KR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용어 등</a:t>
                      </a:r>
                      <a:endParaRPr lang="en-US" altLang="ko-KR" sz="11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-10800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사업계획서 </a:t>
                      </a:r>
                      <a:r>
                        <a:rPr lang="en-US" altLang="ko-KR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review</a:t>
                      </a:r>
                      <a:endParaRPr lang="en-US" altLang="ko-KR" sz="11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-108000" algn="just" latinLnBrk="1">
                        <a:lnSpc>
                          <a:spcPct val="14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CEO</a:t>
                      </a:r>
                    </a:p>
                    <a:p>
                      <a:pPr marL="0" indent="-108000" algn="just" latinLnBrk="1">
                        <a:lnSpc>
                          <a:spcPct val="14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홈쇼핑</a:t>
                      </a: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BU</a:t>
                      </a:r>
                      <a:r>
                        <a:rPr lang="ko-KR" altLang="en-US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장</a:t>
                      </a: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-108000" algn="just" latinLnBrk="1">
                        <a:lnSpc>
                          <a:spcPct val="14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경영지원본부장</a:t>
                      </a: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-108000" algn="just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통합채널사업부장</a:t>
                      </a: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-108000" algn="just" latinLnBrk="1">
                        <a:lnSpc>
                          <a:spcPct val="14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1" kern="120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허남준부문장</a:t>
                      </a: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-108000" algn="just" latinLnBrk="1">
                        <a:lnSpc>
                          <a:spcPct val="14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김현정부문장</a:t>
                      </a: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-108000" algn="just" latinLnBrk="1">
                        <a:lnSpc>
                          <a:spcPct val="14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1" kern="120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채호석팀장</a:t>
                      </a: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just" latinLnBrk="1">
                        <a:lnSpc>
                          <a:spcPct val="14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9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사업지원본부장 신임임원 교육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096316"/>
                  </a:ext>
                </a:extLst>
              </a:tr>
              <a:tr h="1676123">
                <a:tc>
                  <a:txBody>
                    <a:bodyPr/>
                    <a:lstStyle/>
                    <a:p>
                      <a:pPr marL="0"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차</a:t>
                      </a:r>
                      <a:endParaRPr lang="en-US" altLang="ko-KR" sz="11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스터디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-153670"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3.23(</a:t>
                      </a: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</a:t>
                      </a:r>
                      <a:r>
                        <a:rPr lang="en-US" altLang="ko-KR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1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-153670"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en-US" altLang="ko-KR" sz="11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14:00</a:t>
                      </a:r>
                    </a:p>
                    <a:p>
                      <a:pPr marL="0"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~</a:t>
                      </a:r>
                    </a:p>
                    <a:p>
                      <a:pPr marL="0"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16:00</a:t>
                      </a:r>
                      <a:endParaRPr lang="ko-KR" altLang="en-US" sz="11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-10800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청문심사 예상 질문 및 답변</a:t>
                      </a:r>
                      <a:endParaRPr lang="en-US" altLang="ko-KR" sz="11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-108000" algn="just" latinLnBrk="1">
                        <a:lnSpc>
                          <a:spcPct val="14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CEO</a:t>
                      </a:r>
                    </a:p>
                    <a:p>
                      <a:pPr marL="0" indent="-108000" algn="just" latinLnBrk="1">
                        <a:lnSpc>
                          <a:spcPct val="14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홈쇼핑</a:t>
                      </a: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BU</a:t>
                      </a:r>
                      <a:r>
                        <a:rPr lang="ko-KR" altLang="en-US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장</a:t>
                      </a: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-108000" algn="just" latinLnBrk="1">
                        <a:lnSpc>
                          <a:spcPct val="14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경영지원본부장</a:t>
                      </a: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-108000" algn="just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통합채널사업부장</a:t>
                      </a: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-108000" algn="just" latinLnBrk="1">
                        <a:lnSpc>
                          <a:spcPct val="14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사업지원본부장</a:t>
                      </a: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-108000" algn="just" latinLnBrk="1">
                        <a:lnSpc>
                          <a:spcPct val="14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1" kern="120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허남준부문장</a:t>
                      </a: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-108000" algn="just" latinLnBrk="1">
                        <a:lnSpc>
                          <a:spcPct val="14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김현정부문장</a:t>
                      </a: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-108000" algn="just" latinLnBrk="1">
                        <a:lnSpc>
                          <a:spcPct val="14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1" kern="120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채호석팀장</a:t>
                      </a:r>
                      <a:endParaRPr lang="ko-KR" altLang="en-US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431239"/>
                  </a:ext>
                </a:extLst>
              </a:tr>
              <a:tr h="1676123">
                <a:tc>
                  <a:txBody>
                    <a:bodyPr/>
                    <a:lstStyle/>
                    <a:p>
                      <a:pPr marL="0"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차</a:t>
                      </a:r>
                      <a:endParaRPr lang="en-US" altLang="ko-KR" sz="11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스터디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-153670"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미정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-10800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청문심사 예상 질문 및 답변</a:t>
                      </a:r>
                      <a:endParaRPr lang="en-US" altLang="ko-KR" sz="11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-10800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청문심사 최종 점검</a:t>
                      </a:r>
                      <a:endParaRPr lang="en-US" altLang="ko-KR" sz="11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-10800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청문심사 당일 일정</a:t>
                      </a:r>
                      <a:r>
                        <a:rPr lang="en-US" altLang="ko-KR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절차 및 준비사항 등</a:t>
                      </a:r>
                      <a:endParaRPr lang="en-US" altLang="ko-KR" sz="11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-108000" algn="just" latinLnBrk="1">
                        <a:lnSpc>
                          <a:spcPct val="14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CEO</a:t>
                      </a:r>
                    </a:p>
                    <a:p>
                      <a:pPr marL="0" indent="-108000" algn="just" latinLnBrk="1">
                        <a:lnSpc>
                          <a:spcPct val="14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홈쇼핑</a:t>
                      </a: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BU</a:t>
                      </a:r>
                      <a:r>
                        <a:rPr lang="ko-KR" altLang="en-US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장</a:t>
                      </a: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-108000" algn="just" latinLnBrk="1">
                        <a:lnSpc>
                          <a:spcPct val="14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경영지원본부장</a:t>
                      </a: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-108000" algn="just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통합채널사업부장</a:t>
                      </a: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-108000" algn="just" latinLnBrk="1">
                        <a:lnSpc>
                          <a:spcPct val="14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사업지원본부장</a:t>
                      </a: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-108000" algn="just" latinLnBrk="1">
                        <a:lnSpc>
                          <a:spcPct val="14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1" kern="120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허남준부문장</a:t>
                      </a: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-108000" algn="just" latinLnBrk="1">
                        <a:lnSpc>
                          <a:spcPct val="14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김현정부문장</a:t>
                      </a: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-108000" algn="just" latinLnBrk="1">
                        <a:lnSpc>
                          <a:spcPct val="14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1" kern="120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채호석팀장</a:t>
                      </a:r>
                      <a:endParaRPr lang="ko-KR" altLang="en-US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020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178CB6D-77A1-117D-76A9-2D7FF448317E}"/>
              </a:ext>
            </a:extLst>
          </p:cNvPr>
          <p:cNvSpPr txBox="1"/>
          <p:nvPr/>
        </p:nvSpPr>
        <p:spPr>
          <a:xfrm>
            <a:off x="5982984" y="530744"/>
            <a:ext cx="4821379" cy="33361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en-US" altLang="ko-KR" sz="12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&lt; </a:t>
            </a:r>
            <a:r>
              <a:rPr lang="ko-KR" altLang="en-US" sz="12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주요 스터디 내용 </a:t>
            </a:r>
            <a:r>
              <a:rPr lang="en-US" altLang="ko-KR" sz="12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B5536A-5B37-3681-CBCC-E30F5F53D71D}"/>
              </a:ext>
            </a:extLst>
          </p:cNvPr>
          <p:cNvSpPr txBox="1"/>
          <p:nvPr/>
        </p:nvSpPr>
        <p:spPr>
          <a:xfrm>
            <a:off x="2984972" y="2792621"/>
            <a:ext cx="748485" cy="48218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9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사업계획서</a:t>
            </a:r>
            <a:endParaRPr lang="en-US" altLang="ko-KR" sz="9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+mn-ea"/>
            </a:endParaRPr>
          </a:p>
          <a:p>
            <a:pPr algn="ctr"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9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최종본 제출</a:t>
            </a:r>
            <a:endParaRPr lang="en-US" altLang="ko-KR" sz="9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+mn-ea"/>
            </a:endParaRPr>
          </a:p>
          <a:p>
            <a:pPr algn="ctr">
              <a:lnSpc>
                <a:spcPct val="120000"/>
              </a:lnSpc>
              <a:tabLst>
                <a:tab pos="558800" algn="l"/>
              </a:tabLst>
            </a:pPr>
            <a:r>
              <a:rPr lang="en-US" altLang="ko-KR" sz="9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9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예상</a:t>
            </a:r>
            <a:r>
              <a:rPr lang="en-US" altLang="ko-KR" sz="9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7044B0-244D-D42B-23EA-1AD423B10E5F}"/>
              </a:ext>
            </a:extLst>
          </p:cNvPr>
          <p:cNvSpPr txBox="1"/>
          <p:nvPr/>
        </p:nvSpPr>
        <p:spPr>
          <a:xfrm>
            <a:off x="407988" y="540511"/>
            <a:ext cx="4821379" cy="33361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en-US" altLang="ko-KR" sz="12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&lt; </a:t>
            </a:r>
            <a:r>
              <a:rPr lang="ko-KR" altLang="en-US" sz="12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일정 </a:t>
            </a:r>
            <a:r>
              <a:rPr lang="en-US" altLang="ko-KR" sz="12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BAB5CE-D9DB-7BA5-7C27-3749A5C8B520}"/>
              </a:ext>
            </a:extLst>
          </p:cNvPr>
          <p:cNvSpPr txBox="1"/>
          <p:nvPr/>
        </p:nvSpPr>
        <p:spPr>
          <a:xfrm>
            <a:off x="2984971" y="4349318"/>
            <a:ext cx="748485" cy="31598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9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rgbClr val="FF0000"/>
                </a:solidFill>
                <a:latin typeface="+mn-ea"/>
              </a:rPr>
              <a:t>청문심사</a:t>
            </a:r>
            <a:endParaRPr lang="en-US" altLang="ko-KR" sz="9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rgbClr val="FF0000"/>
              </a:solidFill>
              <a:latin typeface="+mn-ea"/>
            </a:endParaRPr>
          </a:p>
          <a:p>
            <a:pPr algn="ctr">
              <a:lnSpc>
                <a:spcPct val="120000"/>
              </a:lnSpc>
              <a:tabLst>
                <a:tab pos="558800" algn="l"/>
              </a:tabLst>
            </a:pPr>
            <a:r>
              <a:rPr lang="en-US" altLang="ko-KR" sz="9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9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rgbClr val="FF0000"/>
                </a:solidFill>
                <a:latin typeface="+mn-ea"/>
              </a:rPr>
              <a:t>예상</a:t>
            </a:r>
            <a:r>
              <a:rPr lang="en-US" altLang="ko-KR" sz="9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rgbClr val="FF0000"/>
                </a:solidFill>
                <a:latin typeface="+mn-ea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A1CFE3-3808-09BA-7409-54F7462AE840}"/>
              </a:ext>
            </a:extLst>
          </p:cNvPr>
          <p:cNvSpPr txBox="1"/>
          <p:nvPr/>
        </p:nvSpPr>
        <p:spPr>
          <a:xfrm>
            <a:off x="4821527" y="2875720"/>
            <a:ext cx="748485" cy="315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9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승인기간</a:t>
            </a:r>
            <a:endParaRPr lang="en-US" altLang="ko-KR" sz="9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+mn-ea"/>
            </a:endParaRPr>
          </a:p>
          <a:p>
            <a:pPr algn="ctr"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9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만료일</a:t>
            </a:r>
            <a:endParaRPr lang="en-US" altLang="ko-KR" sz="9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CBF5B9-91EC-7BDE-D192-4127D7C81002}"/>
              </a:ext>
            </a:extLst>
          </p:cNvPr>
          <p:cNvSpPr txBox="1"/>
          <p:nvPr/>
        </p:nvSpPr>
        <p:spPr>
          <a:xfrm>
            <a:off x="4196283" y="6282499"/>
            <a:ext cx="1440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b="1" dirty="0">
                <a:latin typeface="+mn-ea"/>
              </a:rPr>
              <a:t>*</a:t>
            </a:r>
            <a:r>
              <a:rPr lang="ko-KR" altLang="en-US" sz="900" b="1" dirty="0">
                <a:latin typeface="+mn-ea"/>
              </a:rPr>
              <a:t>데이터홈쇼핑 승인기간</a:t>
            </a:r>
            <a:endParaRPr lang="en-US" altLang="ko-KR" sz="900" b="1" dirty="0">
              <a:latin typeface="+mn-ea"/>
            </a:endParaRPr>
          </a:p>
          <a:p>
            <a:r>
              <a:rPr lang="en-US" altLang="ko-KR" sz="900" b="1" dirty="0">
                <a:latin typeface="+mn-ea"/>
              </a:rPr>
              <a:t>  2021.4.19~2026.4.18</a:t>
            </a:r>
            <a:endParaRPr lang="ko-KR" altLang="en-US" sz="9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C28727-3F12-48DD-0FD2-135CE6FAB0BF}"/>
              </a:ext>
            </a:extLst>
          </p:cNvPr>
          <p:cNvSpPr txBox="1"/>
          <p:nvPr/>
        </p:nvSpPr>
        <p:spPr>
          <a:xfrm>
            <a:off x="11669486" y="6635877"/>
            <a:ext cx="5225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4/109</a:t>
            </a:r>
            <a:endParaRPr lang="ko-KR" altLang="en-US" sz="9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697B07-6563-EED3-361D-73824CE700C3}"/>
              </a:ext>
            </a:extLst>
          </p:cNvPr>
          <p:cNvSpPr txBox="1"/>
          <p:nvPr/>
        </p:nvSpPr>
        <p:spPr>
          <a:xfrm>
            <a:off x="2984970" y="5762463"/>
            <a:ext cx="748485" cy="31598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9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rgbClr val="FF0000"/>
                </a:solidFill>
                <a:latin typeface="+mn-ea"/>
              </a:rPr>
              <a:t>청문심사</a:t>
            </a:r>
            <a:endParaRPr lang="en-US" altLang="ko-KR" sz="9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rgbClr val="FF0000"/>
              </a:solidFill>
              <a:latin typeface="+mn-ea"/>
            </a:endParaRPr>
          </a:p>
          <a:p>
            <a:pPr algn="ctr">
              <a:lnSpc>
                <a:spcPct val="120000"/>
              </a:lnSpc>
              <a:tabLst>
                <a:tab pos="558800" algn="l"/>
              </a:tabLst>
            </a:pPr>
            <a:r>
              <a:rPr lang="en-US" altLang="ko-KR" sz="9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9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rgbClr val="FF0000"/>
                </a:solidFill>
                <a:latin typeface="+mn-ea"/>
              </a:rPr>
              <a:t>예상</a:t>
            </a:r>
            <a:r>
              <a:rPr lang="en-US" altLang="ko-KR" sz="9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rgbClr val="FF0000"/>
                </a:solidFill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00600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5C1C7D-DB85-F020-B32A-7265F8ED3399}"/>
              </a:ext>
            </a:extLst>
          </p:cNvPr>
          <p:cNvSpPr txBox="1"/>
          <p:nvPr/>
        </p:nvSpPr>
        <p:spPr>
          <a:xfrm>
            <a:off x="507404" y="1810410"/>
            <a:ext cx="6353175" cy="448328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spc="-100" dirty="0"/>
              <a:t>Part II. </a:t>
            </a:r>
            <a:r>
              <a:rPr lang="ko-KR" altLang="en-US" sz="2000" b="1" spc="-100" dirty="0"/>
              <a:t>재승인 개요 </a:t>
            </a:r>
            <a:endParaRPr lang="en-US" altLang="ko-KR" sz="2000" b="1" spc="-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CC74C8-7895-0713-9C4B-404C32CE0801}"/>
              </a:ext>
            </a:extLst>
          </p:cNvPr>
          <p:cNvSpPr txBox="1"/>
          <p:nvPr/>
        </p:nvSpPr>
        <p:spPr>
          <a:xfrm>
            <a:off x="748611" y="2574319"/>
            <a:ext cx="4810125" cy="1807995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1300" b="1" dirty="0"/>
              <a:t>재승인 제도 개요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1300" b="1" dirty="0"/>
              <a:t>재승인 영향</a:t>
            </a:r>
            <a:endParaRPr lang="en-US" altLang="ko-KR" sz="1300" b="1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1300" b="1" dirty="0"/>
              <a:t>데이터홈쇼핑 재승인 일정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1300" b="1" dirty="0"/>
              <a:t>방송미디어통신위원회 심사 방향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1300" b="1" dirty="0"/>
              <a:t>재승인 심사 내용</a:t>
            </a:r>
            <a:endParaRPr lang="en-US" altLang="ko-KR" sz="1300" b="1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1300" b="1" dirty="0"/>
              <a:t>재승인 전략 기조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1664303-3626-C6FC-1D7A-88A64B8508EE}"/>
              </a:ext>
            </a:extLst>
          </p:cNvPr>
          <p:cNvCxnSpPr>
            <a:cxnSpLocks/>
          </p:cNvCxnSpPr>
          <p:nvPr/>
        </p:nvCxnSpPr>
        <p:spPr>
          <a:xfrm>
            <a:off x="507404" y="2341788"/>
            <a:ext cx="5292543" cy="0"/>
          </a:xfrm>
          <a:prstGeom prst="line">
            <a:avLst/>
          </a:prstGeom>
          <a:ln w="38100">
            <a:solidFill>
              <a:srgbClr val="1D4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7325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85533-FB40-6607-1198-B1E0A728F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3D005A-2E86-0218-35E1-62B972A76076}"/>
              </a:ext>
            </a:extLst>
          </p:cNvPr>
          <p:cNvSpPr txBox="1"/>
          <p:nvPr/>
        </p:nvSpPr>
        <p:spPr>
          <a:xfrm>
            <a:off x="65043" y="69109"/>
            <a:ext cx="54331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재승인 제도 개요</a:t>
            </a:r>
          </a:p>
        </p:txBody>
      </p:sp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642A5BF4-A8E1-E3EA-C6CD-B11FF21C52EF}"/>
              </a:ext>
            </a:extLst>
          </p:cNvPr>
          <p:cNvGraphicFramePr>
            <a:graphicFrameLocks noGrp="1"/>
          </p:cNvGraphicFramePr>
          <p:nvPr/>
        </p:nvGraphicFramePr>
        <p:xfrm>
          <a:off x="9348764" y="2683220"/>
          <a:ext cx="2554673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21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21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TV</a:t>
                      </a: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홈쇼핑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1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1994.3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7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spc="-1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※ </a:t>
                      </a:r>
                      <a:r>
                        <a:rPr lang="ko-KR" altLang="en-US" sz="1000" b="1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재승인일정</a:t>
                      </a:r>
                      <a:endParaRPr lang="en-US" altLang="ko-KR" sz="1000" b="1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300" b="1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25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HD, NS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26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LT,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홈앤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27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GS, CJ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1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1997.3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</a:pP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1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2000.3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</a:pP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1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2003.3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</a:pP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1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2006.3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</a:pP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1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2009.3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</a:pP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1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2012.3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</a:pP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21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2017.3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21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2022.3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</a:pP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21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2027.3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indent="0" algn="just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793116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23B3D420-0A8B-EF12-73E1-2CE84C9EBE35}"/>
              </a:ext>
            </a:extLst>
          </p:cNvPr>
          <p:cNvSpPr txBox="1"/>
          <p:nvPr/>
        </p:nvSpPr>
        <p:spPr>
          <a:xfrm>
            <a:off x="9243156" y="575102"/>
            <a:ext cx="2435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dirty="0">
                <a:latin typeface="+mn-ea"/>
              </a:rPr>
              <a:t>※ [</a:t>
            </a:r>
            <a:r>
              <a:rPr lang="ko-KR" altLang="en-US" sz="1050" b="1" dirty="0">
                <a:latin typeface="+mn-ea"/>
              </a:rPr>
              <a:t>참고</a:t>
            </a:r>
            <a:r>
              <a:rPr lang="en-US" altLang="ko-KR" sz="1050" b="1" dirty="0">
                <a:latin typeface="+mn-ea"/>
              </a:rPr>
              <a:t>] </a:t>
            </a:r>
            <a:r>
              <a:rPr lang="ko-KR" altLang="en-US" sz="1050" b="1" dirty="0">
                <a:latin typeface="+mn-ea"/>
              </a:rPr>
              <a:t>당사 재승인 심사 연혁</a:t>
            </a:r>
          </a:p>
        </p:txBody>
      </p:sp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2AE9E983-8A51-3915-F93D-57FD136F6929}"/>
              </a:ext>
            </a:extLst>
          </p:cNvPr>
          <p:cNvGraphicFramePr>
            <a:graphicFrameLocks noGrp="1"/>
          </p:cNvGraphicFramePr>
          <p:nvPr/>
        </p:nvGraphicFramePr>
        <p:xfrm>
          <a:off x="9343951" y="866430"/>
          <a:ext cx="2559486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9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데이터홈쇼핑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2005.4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000" b="0" spc="-3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000" b="0" spc="-3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사업자</a:t>
                      </a:r>
                      <a:endParaRPr lang="en-US" altLang="ko-KR" sz="1000" b="0" spc="-3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000" b="0" spc="-3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동시진행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2008.4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</a:pP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2011.4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</a:pP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2016.4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2021.4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2026.4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FA5071BE-56E1-6813-7146-0E304F67D4A2}"/>
              </a:ext>
            </a:extLst>
          </p:cNvPr>
          <p:cNvSpPr txBox="1"/>
          <p:nvPr/>
        </p:nvSpPr>
        <p:spPr>
          <a:xfrm>
            <a:off x="247484" y="705907"/>
            <a:ext cx="9700737" cy="121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/>
              <a:t>■ </a:t>
            </a:r>
            <a:r>
              <a:rPr lang="ko-KR" altLang="en-US" sz="1400" b="1" dirty="0">
                <a:latin typeface="+mn-ea"/>
              </a:rPr>
              <a:t>재승인 배경</a:t>
            </a:r>
            <a:endParaRPr lang="en-US" altLang="ko-KR" sz="14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   -</a:t>
            </a:r>
            <a:r>
              <a:rPr lang="ko-KR" altLang="en-US" sz="1200" dirty="0">
                <a:latin typeface="+mn-ea"/>
              </a:rPr>
              <a:t> 홈쇼핑사업은 공공재인 방송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전파</a:t>
            </a:r>
            <a:r>
              <a:rPr lang="en-US" altLang="ko-KR" sz="1200" dirty="0">
                <a:latin typeface="+mn-ea"/>
              </a:rPr>
              <a:t>)</a:t>
            </a:r>
            <a:r>
              <a:rPr lang="ko-KR" altLang="en-US" sz="1200" dirty="0">
                <a:latin typeface="+mn-ea"/>
              </a:rPr>
              <a:t>를 이용 상업적 이익을 취하기에</a:t>
            </a:r>
            <a:r>
              <a:rPr lang="en-US" altLang="ko-KR" sz="1200" dirty="0">
                <a:latin typeface="+mn-ea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    </a:t>
            </a:r>
            <a:r>
              <a:rPr lang="ko-KR" altLang="en-US" sz="1200" dirty="0">
                <a:latin typeface="+mn-ea"/>
              </a:rPr>
              <a:t> 방송법에 따라 사업자를 제한하고 </a:t>
            </a:r>
            <a:r>
              <a:rPr lang="en-US" altLang="ko-KR" sz="1200" dirty="0">
                <a:latin typeface="+mn-ea"/>
              </a:rPr>
              <a:t>7</a:t>
            </a:r>
            <a:r>
              <a:rPr lang="ko-KR" altLang="en-US" sz="1200" dirty="0">
                <a:latin typeface="+mn-ea"/>
              </a:rPr>
              <a:t>년마다 공적책임에 대한 계획과 실적을 </a:t>
            </a:r>
            <a:r>
              <a:rPr lang="ko-KR" altLang="en-US" sz="1200" dirty="0" err="1">
                <a:latin typeface="+mn-ea"/>
              </a:rPr>
              <a:t>심사받도록</a:t>
            </a:r>
            <a:r>
              <a:rPr lang="ko-KR" altLang="en-US" sz="1200" dirty="0">
                <a:latin typeface="+mn-ea"/>
              </a:rPr>
              <a:t> 함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cs typeface="+mn-cs"/>
              </a:rPr>
              <a:t>     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※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방송법 시행령 개정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(‘22.8.16)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으로 과거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5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년에서 </a:t>
            </a:r>
            <a:r>
              <a:rPr kumimoji="0" lang="ko-KR" altLang="en-US" sz="1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금번부터 </a:t>
            </a:r>
            <a:r>
              <a:rPr kumimoji="0" lang="en-US" altLang="ko-KR" sz="1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7</a:t>
            </a:r>
            <a:r>
              <a:rPr kumimoji="0" lang="ko-KR" altLang="en-US" sz="1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년으로 재승인 </a:t>
            </a:r>
            <a:r>
              <a:rPr lang="ko-KR" altLang="en-US" sz="1000" b="1" u="sng" dirty="0">
                <a:solidFill>
                  <a:prstClr val="black"/>
                </a:solidFill>
                <a:latin typeface="+mn-ea"/>
              </a:rPr>
              <a:t>승인</a:t>
            </a:r>
            <a:r>
              <a:rPr kumimoji="0" lang="ko-KR" altLang="en-US" sz="1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기간 연장 </a:t>
            </a:r>
            <a:endParaRPr lang="en-US" altLang="ko-KR" sz="1200" b="1" u="sng" dirty="0">
              <a:latin typeface="+mn-ea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1E3EA95-D8E7-DE9D-C019-F4AA770E615E}"/>
              </a:ext>
            </a:extLst>
          </p:cNvPr>
          <p:cNvSpPr txBox="1"/>
          <p:nvPr/>
        </p:nvSpPr>
        <p:spPr>
          <a:xfrm>
            <a:off x="288563" y="5661223"/>
            <a:ext cx="9700737" cy="933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/>
              <a:t>■ </a:t>
            </a:r>
            <a:r>
              <a:rPr lang="ko-KR" altLang="en-US" sz="1400" b="1" dirty="0">
                <a:latin typeface="+mn-ea"/>
              </a:rPr>
              <a:t>재승인 심사 </a:t>
            </a:r>
            <a:endParaRPr lang="en-US" altLang="ko-KR" sz="14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   </a:t>
            </a:r>
            <a:r>
              <a:rPr lang="en-US" altLang="ko-KR" sz="1200" b="1" dirty="0">
                <a:latin typeface="+mn-ea"/>
              </a:rPr>
              <a:t>- </a:t>
            </a:r>
            <a:r>
              <a:rPr lang="ko-KR" altLang="en-US" sz="1200" b="1" dirty="0">
                <a:latin typeface="+mn-ea"/>
              </a:rPr>
              <a:t>승인기준 </a:t>
            </a:r>
            <a:r>
              <a:rPr lang="en-US" altLang="ko-KR" sz="1200" b="1" dirty="0">
                <a:latin typeface="+mn-ea"/>
              </a:rPr>
              <a:t>: </a:t>
            </a:r>
            <a:r>
              <a:rPr lang="ko-KR" altLang="en-US" sz="1200" b="1" dirty="0">
                <a:latin typeface="+mn-ea"/>
              </a:rPr>
              <a:t>총점 </a:t>
            </a:r>
            <a:r>
              <a:rPr lang="en-US" altLang="ko-KR" sz="1200" b="1" dirty="0">
                <a:latin typeface="+mn-ea"/>
              </a:rPr>
              <a:t>1,000</a:t>
            </a:r>
            <a:r>
              <a:rPr lang="ko-KR" altLang="en-US" sz="1200" b="1" dirty="0">
                <a:latin typeface="+mn-ea"/>
              </a:rPr>
              <a:t>점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중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650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점 이상</a:t>
            </a:r>
            <a:r>
              <a:rPr lang="ko-KR" altLang="en-US" sz="1200" b="1" dirty="0">
                <a:latin typeface="+mn-ea"/>
              </a:rPr>
              <a:t> 및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3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장 공정거래와 중소기업 관련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260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점 중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130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점 이상</a:t>
            </a:r>
            <a:r>
              <a:rPr lang="ko-KR" altLang="en-US" sz="1200" b="1" dirty="0">
                <a:latin typeface="+mn-ea"/>
              </a:rPr>
              <a:t> 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      </a:t>
            </a:r>
            <a:r>
              <a:rPr lang="ko-KR" altLang="ko-KR" sz="1000" dirty="0">
                <a:latin typeface="+mn-ea"/>
              </a:rPr>
              <a:t>※</a:t>
            </a:r>
            <a:r>
              <a:rPr lang="en-US" altLang="ko-KR" sz="1000" dirty="0">
                <a:latin typeface="+mn-ea"/>
              </a:rPr>
              <a:t> ‘18</a:t>
            </a:r>
            <a:r>
              <a:rPr lang="ko-KR" altLang="en-US" sz="1000" dirty="0">
                <a:latin typeface="+mn-ea"/>
              </a:rPr>
              <a:t>년 롯데 </a:t>
            </a:r>
            <a:r>
              <a:rPr lang="en-US" altLang="ko-KR" sz="1000" dirty="0">
                <a:latin typeface="+mn-ea"/>
              </a:rPr>
              <a:t>668.73</a:t>
            </a:r>
            <a:r>
              <a:rPr lang="ko-KR" altLang="en-US" sz="1000" dirty="0">
                <a:latin typeface="+mn-ea"/>
              </a:rPr>
              <a:t>점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재승인조건 부여</a:t>
            </a:r>
            <a:r>
              <a:rPr lang="en-US" altLang="ko-KR" sz="1000" dirty="0">
                <a:latin typeface="+mn-ea"/>
              </a:rPr>
              <a:t>) </a:t>
            </a:r>
            <a:endParaRPr lang="en-US" altLang="ko-KR" sz="1200" dirty="0">
              <a:latin typeface="+mn-ea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1D2E3AC-B75D-3C2B-F65F-494405B2E27E}"/>
              </a:ext>
            </a:extLst>
          </p:cNvPr>
          <p:cNvSpPr txBox="1"/>
          <p:nvPr/>
        </p:nvSpPr>
        <p:spPr>
          <a:xfrm>
            <a:off x="247483" y="3395538"/>
            <a:ext cx="9700737" cy="933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/>
              <a:t>■ </a:t>
            </a:r>
            <a:r>
              <a:rPr lang="ko-KR" altLang="en-US" sz="1400" b="1" dirty="0">
                <a:latin typeface="+mn-ea"/>
              </a:rPr>
              <a:t>재승인 현황</a:t>
            </a:r>
            <a:endParaRPr lang="en-US" altLang="ko-KR" sz="14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    -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데이터홈쇼핑 채널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(2021.4.19~2026.4.18) : 10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개 사업자 동시 진행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0000FF"/>
                </a:solidFill>
                <a:latin typeface="+mn-ea"/>
              </a:rPr>
              <a:t>     </a:t>
            </a:r>
            <a:r>
              <a:rPr lang="en-US" altLang="ko-KR" sz="1200" dirty="0">
                <a:latin typeface="+mn-ea"/>
              </a:rPr>
              <a:t>- TV</a:t>
            </a:r>
            <a:r>
              <a:rPr lang="ko-KR" altLang="en-US" sz="1200" dirty="0">
                <a:latin typeface="+mn-ea"/>
              </a:rPr>
              <a:t>홈쇼핑 채널 </a:t>
            </a:r>
            <a:r>
              <a:rPr lang="en-US" altLang="ko-KR" sz="1200" dirty="0">
                <a:latin typeface="+mn-ea"/>
              </a:rPr>
              <a:t>(2022.3.13~2027.3.12) : GS, CJ </a:t>
            </a:r>
            <a:r>
              <a:rPr lang="ko-KR" altLang="en-US" sz="1200" dirty="0">
                <a:latin typeface="+mn-ea"/>
              </a:rPr>
              <a:t>진행</a:t>
            </a:r>
            <a:endParaRPr lang="en-US" altLang="ko-KR" sz="12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72E499-3473-C44C-2EAD-6260A1FD3839}"/>
              </a:ext>
            </a:extLst>
          </p:cNvPr>
          <p:cNvSpPr txBox="1"/>
          <p:nvPr/>
        </p:nvSpPr>
        <p:spPr>
          <a:xfrm>
            <a:off x="288563" y="2192302"/>
            <a:ext cx="9700737" cy="933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/>
              <a:t>■ </a:t>
            </a:r>
            <a:r>
              <a:rPr lang="ko-KR" altLang="en-US" sz="1400" b="1">
                <a:latin typeface="+mn-ea"/>
              </a:rPr>
              <a:t>재승인 </a:t>
            </a:r>
            <a:r>
              <a:rPr lang="ko-KR" altLang="en-US" sz="1400" b="1" dirty="0">
                <a:latin typeface="+mn-ea"/>
              </a:rPr>
              <a:t>기준 및 절차</a:t>
            </a:r>
            <a:endParaRPr lang="en-US" altLang="ko-KR" sz="1400" b="1" dirty="0">
              <a:latin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FF"/>
              </a:buClr>
            </a:pPr>
            <a:r>
              <a:rPr lang="en-US" altLang="ko-KR" sz="1200" dirty="0">
                <a:latin typeface="+mn-ea"/>
              </a:rPr>
              <a:t>     - </a:t>
            </a:r>
            <a:r>
              <a:rPr lang="ko-KR" altLang="en-US" sz="1200" dirty="0">
                <a:latin typeface="+mn-ea"/>
              </a:rPr>
              <a:t>심사항목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심사절차 등이 방송법에 명시되어 있음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FF"/>
              </a:buClr>
            </a:pPr>
            <a:r>
              <a:rPr lang="en-US" altLang="ko-KR" sz="1200" dirty="0">
                <a:latin typeface="+mn-ea"/>
              </a:rPr>
              <a:t>       </a:t>
            </a:r>
            <a:r>
              <a:rPr lang="ko-KR" altLang="en-US" sz="1200" dirty="0">
                <a:latin typeface="+mn-ea"/>
              </a:rPr>
              <a:t>방송법 제</a:t>
            </a:r>
            <a:r>
              <a:rPr lang="en-US" altLang="ko-KR" sz="1200" dirty="0">
                <a:latin typeface="+mn-ea"/>
              </a:rPr>
              <a:t>10</a:t>
            </a:r>
            <a:r>
              <a:rPr lang="ko-KR" altLang="en-US" sz="1200" dirty="0">
                <a:latin typeface="+mn-ea"/>
              </a:rPr>
              <a:t>조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심사기준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절차</a:t>
            </a:r>
            <a:r>
              <a:rPr lang="en-US" altLang="ko-KR" sz="1200" dirty="0">
                <a:latin typeface="+mn-ea"/>
              </a:rPr>
              <a:t>), </a:t>
            </a:r>
            <a:r>
              <a:rPr lang="ko-KR" altLang="en-US" sz="1200" dirty="0">
                <a:latin typeface="+mn-ea"/>
              </a:rPr>
              <a:t>방송법 제</a:t>
            </a:r>
            <a:r>
              <a:rPr lang="en-US" altLang="ko-KR" sz="1200" dirty="0">
                <a:latin typeface="+mn-ea"/>
              </a:rPr>
              <a:t>17</a:t>
            </a:r>
            <a:r>
              <a:rPr lang="ko-KR" altLang="en-US" sz="1200" dirty="0">
                <a:latin typeface="+mn-ea"/>
              </a:rPr>
              <a:t>조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재허가 등</a:t>
            </a:r>
            <a:r>
              <a:rPr lang="en-US" altLang="ko-KR" sz="1200" dirty="0">
                <a:latin typeface="+mn-ea"/>
              </a:rPr>
              <a:t>), </a:t>
            </a:r>
            <a:r>
              <a:rPr lang="ko-KR" altLang="en-US" sz="1200" dirty="0">
                <a:latin typeface="+mn-ea"/>
              </a:rPr>
              <a:t>방송법 제</a:t>
            </a:r>
            <a:r>
              <a:rPr lang="en-US" altLang="ko-KR" sz="1200" dirty="0">
                <a:latin typeface="+mn-ea"/>
              </a:rPr>
              <a:t>18</a:t>
            </a:r>
            <a:r>
              <a:rPr lang="ko-KR" altLang="en-US" sz="1200" dirty="0">
                <a:latin typeface="+mn-ea"/>
              </a:rPr>
              <a:t>조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허가승인등록의 취소 등</a:t>
            </a:r>
            <a:r>
              <a:rPr lang="en-US" altLang="ko-KR" sz="1200" dirty="0">
                <a:latin typeface="+mn-ea"/>
              </a:rPr>
              <a:t>)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4A31D1B-A0DC-F4A8-C252-B6075D9C2C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310903"/>
              </p:ext>
            </p:extLst>
          </p:nvPr>
        </p:nvGraphicFramePr>
        <p:xfrm>
          <a:off x="9339593" y="5660510"/>
          <a:ext cx="2559486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698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98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2011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디앤샵 합병 변경승인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6983970"/>
                  </a:ext>
                </a:extLst>
              </a:tr>
              <a:tr h="18698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2021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지에스홈쇼핑 합병 변경승인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030409"/>
                  </a:ext>
                </a:extLst>
              </a:tr>
              <a:tr h="18698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2024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파르나스호텔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분할 변경승인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156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0126FEA-5B55-BAB7-71DD-15A8B74D34FE}"/>
              </a:ext>
            </a:extLst>
          </p:cNvPr>
          <p:cNvSpPr txBox="1"/>
          <p:nvPr/>
        </p:nvSpPr>
        <p:spPr>
          <a:xfrm>
            <a:off x="9247508" y="5421439"/>
            <a:ext cx="2435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dirty="0">
                <a:latin typeface="+mn-ea"/>
              </a:rPr>
              <a:t>※ [</a:t>
            </a:r>
            <a:r>
              <a:rPr lang="ko-KR" altLang="en-US" sz="1050" b="1" dirty="0">
                <a:latin typeface="+mn-ea"/>
              </a:rPr>
              <a:t>참고</a:t>
            </a:r>
            <a:r>
              <a:rPr lang="en-US" altLang="ko-KR" sz="1050" b="1" dirty="0">
                <a:latin typeface="+mn-ea"/>
              </a:rPr>
              <a:t>] </a:t>
            </a:r>
            <a:r>
              <a:rPr lang="ko-KR" altLang="en-US" sz="1050" b="1" dirty="0">
                <a:latin typeface="+mn-ea"/>
              </a:rPr>
              <a:t>당사 변경승인 심사 연혁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F31DF1-E16D-B7DC-BF97-6FC9A0B49A3F}"/>
              </a:ext>
            </a:extLst>
          </p:cNvPr>
          <p:cNvSpPr txBox="1"/>
          <p:nvPr/>
        </p:nvSpPr>
        <p:spPr>
          <a:xfrm>
            <a:off x="627015" y="4337164"/>
            <a:ext cx="45371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※ TV</a:t>
            </a:r>
            <a:r>
              <a:rPr lang="ko-KR" altLang="en-US" sz="1000" b="1"/>
              <a:t>홈쇼핑 중기 </a:t>
            </a:r>
            <a:r>
              <a:rPr lang="ko-KR" altLang="en-US" sz="1000" b="1" dirty="0"/>
              <a:t>정액 </a:t>
            </a:r>
            <a:r>
              <a:rPr lang="ko-KR" altLang="en-US" sz="1000" b="1"/>
              <a:t>편성비중 </a:t>
            </a:r>
            <a:endParaRPr lang="ko-KR" altLang="en-US" sz="1000" b="1" dirty="0"/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45C8DBFE-8BA9-75B4-290A-8669EA11AF94}"/>
              </a:ext>
            </a:extLst>
          </p:cNvPr>
          <p:cNvGraphicFramePr>
            <a:graphicFrameLocks noGrp="1"/>
          </p:cNvGraphicFramePr>
          <p:nvPr/>
        </p:nvGraphicFramePr>
        <p:xfrm>
          <a:off x="697737" y="4751227"/>
          <a:ext cx="7795526" cy="906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496">
                  <a:extLst>
                    <a:ext uri="{9D8B030D-6E8A-4147-A177-3AD203B41FA5}">
                      <a16:colId xmlns:a16="http://schemas.microsoft.com/office/drawing/2014/main" val="946256590"/>
                    </a:ext>
                  </a:extLst>
                </a:gridCol>
                <a:gridCol w="608730">
                  <a:extLst>
                    <a:ext uri="{9D8B030D-6E8A-4147-A177-3AD203B41FA5}">
                      <a16:colId xmlns:a16="http://schemas.microsoft.com/office/drawing/2014/main" val="2876353299"/>
                    </a:ext>
                  </a:extLst>
                </a:gridCol>
                <a:gridCol w="608730">
                  <a:extLst>
                    <a:ext uri="{9D8B030D-6E8A-4147-A177-3AD203B41FA5}">
                      <a16:colId xmlns:a16="http://schemas.microsoft.com/office/drawing/2014/main" val="1950533679"/>
                    </a:ext>
                  </a:extLst>
                </a:gridCol>
                <a:gridCol w="608730">
                  <a:extLst>
                    <a:ext uri="{9D8B030D-6E8A-4147-A177-3AD203B41FA5}">
                      <a16:colId xmlns:a16="http://schemas.microsoft.com/office/drawing/2014/main" val="160793181"/>
                    </a:ext>
                  </a:extLst>
                </a:gridCol>
                <a:gridCol w="608730">
                  <a:extLst>
                    <a:ext uri="{9D8B030D-6E8A-4147-A177-3AD203B41FA5}">
                      <a16:colId xmlns:a16="http://schemas.microsoft.com/office/drawing/2014/main" val="1662965099"/>
                    </a:ext>
                  </a:extLst>
                </a:gridCol>
                <a:gridCol w="608730">
                  <a:extLst>
                    <a:ext uri="{9D8B030D-6E8A-4147-A177-3AD203B41FA5}">
                      <a16:colId xmlns:a16="http://schemas.microsoft.com/office/drawing/2014/main" val="526781707"/>
                    </a:ext>
                  </a:extLst>
                </a:gridCol>
                <a:gridCol w="608730">
                  <a:extLst>
                    <a:ext uri="{9D8B030D-6E8A-4147-A177-3AD203B41FA5}">
                      <a16:colId xmlns:a16="http://schemas.microsoft.com/office/drawing/2014/main" val="2655173296"/>
                    </a:ext>
                  </a:extLst>
                </a:gridCol>
                <a:gridCol w="608730">
                  <a:extLst>
                    <a:ext uri="{9D8B030D-6E8A-4147-A177-3AD203B41FA5}">
                      <a16:colId xmlns:a16="http://schemas.microsoft.com/office/drawing/2014/main" val="445200117"/>
                    </a:ext>
                  </a:extLst>
                </a:gridCol>
                <a:gridCol w="608730">
                  <a:extLst>
                    <a:ext uri="{9D8B030D-6E8A-4147-A177-3AD203B41FA5}">
                      <a16:colId xmlns:a16="http://schemas.microsoft.com/office/drawing/2014/main" val="3418451159"/>
                    </a:ext>
                  </a:extLst>
                </a:gridCol>
                <a:gridCol w="608730">
                  <a:extLst>
                    <a:ext uri="{9D8B030D-6E8A-4147-A177-3AD203B41FA5}">
                      <a16:colId xmlns:a16="http://schemas.microsoft.com/office/drawing/2014/main" val="3636860818"/>
                    </a:ext>
                  </a:extLst>
                </a:gridCol>
                <a:gridCol w="608730">
                  <a:extLst>
                    <a:ext uri="{9D8B030D-6E8A-4147-A177-3AD203B41FA5}">
                      <a16:colId xmlns:a16="http://schemas.microsoft.com/office/drawing/2014/main" val="4240220504"/>
                    </a:ext>
                  </a:extLst>
                </a:gridCol>
                <a:gridCol w="608730">
                  <a:extLst>
                    <a:ext uri="{9D8B030D-6E8A-4147-A177-3AD203B41FA5}">
                      <a16:colId xmlns:a16="http://schemas.microsoft.com/office/drawing/2014/main" val="3950743666"/>
                    </a:ext>
                  </a:extLst>
                </a:gridCol>
              </a:tblGrid>
              <a:tr h="296431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2017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년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2020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년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2022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년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2025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년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2027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년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543482"/>
                  </a:ext>
                </a:extLst>
              </a:tr>
              <a:tr h="3134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GS, CJ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10%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17%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>
                          <a:solidFill>
                            <a:schemeClr val="tx1"/>
                          </a:solidFill>
                        </a:rPr>
                        <a:t>20%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763293"/>
                  </a:ext>
                </a:extLst>
              </a:tr>
              <a:tr h="2964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현대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, NS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10%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17%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686132"/>
                  </a:ext>
                </a:extLst>
              </a:tr>
            </a:tbl>
          </a:graphicData>
        </a:graphic>
      </p:graphicFrame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3A80DDC9-8D56-0BBB-A117-4F34338A7D9A}"/>
              </a:ext>
            </a:extLst>
          </p:cNvPr>
          <p:cNvCxnSpPr>
            <a:cxnSpLocks/>
          </p:cNvCxnSpPr>
          <p:nvPr/>
        </p:nvCxnSpPr>
        <p:spPr>
          <a:xfrm>
            <a:off x="697737" y="5352337"/>
            <a:ext cx="77955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52">
            <a:extLst>
              <a:ext uri="{FF2B5EF4-FFF2-40B4-BE49-F238E27FC236}">
                <a16:creationId xmlns:a16="http://schemas.microsoft.com/office/drawing/2014/main" id="{CC4F5F2C-F451-CCA2-A6F4-15975F382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9615" y="5218009"/>
            <a:ext cx="3257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ko-KR" altLang="en-US" sz="1050" b="1" dirty="0">
                <a:latin typeface="+mn-ea"/>
                <a:ea typeface="+mn-ea"/>
              </a:rPr>
              <a:t>●</a:t>
            </a:r>
          </a:p>
        </p:txBody>
      </p:sp>
      <p:sp>
        <p:nvSpPr>
          <p:cNvPr id="28" name="TextBox 52">
            <a:extLst>
              <a:ext uri="{FF2B5EF4-FFF2-40B4-BE49-F238E27FC236}">
                <a16:creationId xmlns:a16="http://schemas.microsoft.com/office/drawing/2014/main" id="{70BF33F1-07A1-5412-5DBC-B90D489B4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9704" y="5218009"/>
            <a:ext cx="3257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ko-KR" altLang="en-US" sz="1050" b="1" dirty="0">
                <a:latin typeface="+mn-ea"/>
                <a:ea typeface="+mn-ea"/>
              </a:rPr>
              <a:t>●</a:t>
            </a:r>
          </a:p>
        </p:txBody>
      </p:sp>
      <p:sp>
        <p:nvSpPr>
          <p:cNvPr id="29" name="TextBox 52">
            <a:extLst>
              <a:ext uri="{FF2B5EF4-FFF2-40B4-BE49-F238E27FC236}">
                <a16:creationId xmlns:a16="http://schemas.microsoft.com/office/drawing/2014/main" id="{E85A223A-EF46-53FE-9BDF-EA85C0860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2034" y="5218009"/>
            <a:ext cx="3257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ko-KR" altLang="en-US" sz="1050" b="1" dirty="0">
                <a:latin typeface="+mn-ea"/>
                <a:ea typeface="+mn-ea"/>
              </a:rPr>
              <a:t>●</a:t>
            </a:r>
          </a:p>
        </p:txBody>
      </p:sp>
      <p:sp>
        <p:nvSpPr>
          <p:cNvPr id="30" name="TextBox 52">
            <a:extLst>
              <a:ext uri="{FF2B5EF4-FFF2-40B4-BE49-F238E27FC236}">
                <a16:creationId xmlns:a16="http://schemas.microsoft.com/office/drawing/2014/main" id="{3373C349-8C24-EAB4-1382-626A10283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2127" y="5218009"/>
            <a:ext cx="3257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ko-KR" altLang="en-US" sz="1050" b="1" dirty="0">
                <a:latin typeface="+mn-ea"/>
                <a:ea typeface="+mn-ea"/>
              </a:rPr>
              <a:t>●</a:t>
            </a:r>
          </a:p>
        </p:txBody>
      </p:sp>
      <p:sp>
        <p:nvSpPr>
          <p:cNvPr id="31" name="TextBox 52">
            <a:extLst>
              <a:ext uri="{FF2B5EF4-FFF2-40B4-BE49-F238E27FC236}">
                <a16:creationId xmlns:a16="http://schemas.microsoft.com/office/drawing/2014/main" id="{6A35DBA0-E2D1-C9B6-BF41-9C00EE693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1876" y="5218009"/>
            <a:ext cx="3257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ko-KR" altLang="en-US" sz="1050" b="1" dirty="0">
                <a:latin typeface="+mn-ea"/>
                <a:ea typeface="+mn-ea"/>
              </a:rPr>
              <a:t>●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EE0C9F-47FB-8312-3275-ED75E48B0604}"/>
              </a:ext>
            </a:extLst>
          </p:cNvPr>
          <p:cNvSpPr txBox="1"/>
          <p:nvPr/>
        </p:nvSpPr>
        <p:spPr>
          <a:xfrm>
            <a:off x="669442" y="4529131"/>
            <a:ext cx="7382434" cy="24622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 </a:t>
            </a:r>
            <a:r>
              <a:rPr lang="en-US" altLang="ko-KR" sz="1000" dirty="0"/>
              <a:t>- 22</a:t>
            </a:r>
            <a:r>
              <a:rPr lang="ko-KR" altLang="en-US" sz="1000" dirty="0"/>
              <a:t>년</a:t>
            </a:r>
            <a:r>
              <a:rPr lang="en-US" altLang="ko-KR" sz="1000" dirty="0"/>
              <a:t>~25</a:t>
            </a:r>
            <a:r>
              <a:rPr lang="ko-KR" altLang="en-US" sz="1000" dirty="0"/>
              <a:t>년까지 현대</a:t>
            </a:r>
            <a:r>
              <a:rPr lang="en-US" altLang="ko-KR" sz="1000" dirty="0"/>
              <a:t>, NS</a:t>
            </a:r>
            <a:r>
              <a:rPr lang="ko-KR" altLang="en-US" sz="1000" dirty="0"/>
              <a:t>보다 </a:t>
            </a:r>
            <a:r>
              <a:rPr lang="en-US" altLang="ko-KR" sz="1000" dirty="0"/>
              <a:t>7% </a:t>
            </a:r>
            <a:r>
              <a:rPr lang="ko-KR" altLang="en-US" sz="1000" dirty="0"/>
              <a:t>정액 추가 편성 가능하여 수익성 우위 </a:t>
            </a:r>
            <a:r>
              <a:rPr lang="en-US" altLang="ko-KR" sz="1000" dirty="0"/>
              <a:t>(</a:t>
            </a:r>
            <a:r>
              <a:rPr lang="ko-KR" altLang="en-US" sz="1000" dirty="0"/>
              <a:t>정액 편성 비중 </a:t>
            </a:r>
            <a:r>
              <a:rPr lang="en-US" altLang="ko-KR" sz="1000" dirty="0"/>
              <a:t>1%</a:t>
            </a:r>
            <a:r>
              <a:rPr lang="ko-KR" altLang="en-US" sz="1000" dirty="0"/>
              <a:t>의 가치는 </a:t>
            </a:r>
            <a:r>
              <a:rPr lang="en-US" altLang="ko-KR" sz="1000" dirty="0"/>
              <a:t>57</a:t>
            </a:r>
            <a:r>
              <a:rPr lang="ko-KR" altLang="en-US" sz="1000" dirty="0"/>
              <a:t>억원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DA48A6-ADDF-A59C-BCA2-A1C4DEE5A85E}"/>
              </a:ext>
            </a:extLst>
          </p:cNvPr>
          <p:cNvSpPr txBox="1"/>
          <p:nvPr/>
        </p:nvSpPr>
        <p:spPr>
          <a:xfrm>
            <a:off x="11669486" y="6635877"/>
            <a:ext cx="5225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5/109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562750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14A459-B058-3862-E796-EA7FE3AD0132}"/>
              </a:ext>
            </a:extLst>
          </p:cNvPr>
          <p:cNvSpPr txBox="1"/>
          <p:nvPr/>
        </p:nvSpPr>
        <p:spPr>
          <a:xfrm>
            <a:off x="56738" y="69004"/>
            <a:ext cx="54331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재승인 영향</a:t>
            </a:r>
          </a:p>
        </p:txBody>
      </p:sp>
      <p:sp>
        <p:nvSpPr>
          <p:cNvPr id="4" name="TextBox 62">
            <a:extLst>
              <a:ext uri="{FF2B5EF4-FFF2-40B4-BE49-F238E27FC236}">
                <a16:creationId xmlns:a16="http://schemas.microsoft.com/office/drawing/2014/main" id="{5BA0CACC-B10B-610F-F616-1B7E8516C70C}"/>
              </a:ext>
            </a:extLst>
          </p:cNvPr>
          <p:cNvSpPr txBox="1"/>
          <p:nvPr/>
        </p:nvSpPr>
        <p:spPr>
          <a:xfrm>
            <a:off x="515914" y="1228707"/>
            <a:ext cx="4974019" cy="52272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57828" rtl="0" eaLnBrk="1" latinLnBrk="1" hangingPunct="1">
              <a:defRPr sz="18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8914" algn="l" defTabSz="957828" rtl="0" eaLnBrk="1" latinLnBrk="1" hangingPunct="1">
              <a:defRPr sz="18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828" algn="l" defTabSz="957828" rtl="0" eaLnBrk="1" latinLnBrk="1" hangingPunct="1">
              <a:defRPr sz="18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6743" algn="l" defTabSz="957828" rtl="0" eaLnBrk="1" latinLnBrk="1" hangingPunct="1">
              <a:defRPr sz="18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5657" algn="l" defTabSz="957828" rtl="0" eaLnBrk="1" latinLnBrk="1" hangingPunct="1">
              <a:defRPr sz="18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4570" algn="l" defTabSz="957828" rtl="0" eaLnBrk="1" latinLnBrk="1" hangingPunct="1">
              <a:defRPr sz="18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3483" algn="l" defTabSz="957828" rtl="0" eaLnBrk="1" latinLnBrk="1" hangingPunct="1">
              <a:defRPr sz="18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52397" algn="l" defTabSz="957828" rtl="0" eaLnBrk="1" latinLnBrk="1" hangingPunct="1">
              <a:defRPr sz="18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31311" algn="l" defTabSz="957828" rtl="0" eaLnBrk="1" latinLnBrk="1" hangingPunct="1">
              <a:defRPr sz="18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b="1" dirty="0">
                <a:latin typeface="+mn-ea"/>
              </a:rPr>
              <a:t>1. </a:t>
            </a:r>
            <a:r>
              <a:rPr lang="ko-KR" altLang="en-US" sz="1400" b="1" dirty="0">
                <a:solidFill>
                  <a:srgbClr val="0000FF"/>
                </a:solidFill>
                <a:latin typeface="+mn-ea"/>
              </a:rPr>
              <a:t>편성 등 </a:t>
            </a:r>
            <a:r>
              <a:rPr lang="en-US" altLang="ko-KR" sz="1400" b="1" dirty="0">
                <a:solidFill>
                  <a:srgbClr val="0000FF"/>
                </a:solidFill>
                <a:latin typeface="+mn-ea"/>
              </a:rPr>
              <a:t>Biz </a:t>
            </a:r>
            <a:r>
              <a:rPr lang="ko-KR" altLang="en-US" sz="1400" b="1" dirty="0">
                <a:solidFill>
                  <a:srgbClr val="0000FF"/>
                </a:solidFill>
                <a:latin typeface="+mn-ea"/>
              </a:rPr>
              <a:t>영향  </a:t>
            </a:r>
            <a:endParaRPr lang="en-US" altLang="ko-KR" sz="14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+mn-ea"/>
              </a:rPr>
              <a:t>   - (</a:t>
            </a:r>
            <a:r>
              <a:rPr lang="ko-KR" altLang="en-US" sz="1200" b="1" dirty="0">
                <a:latin typeface="+mn-ea"/>
              </a:rPr>
              <a:t>전체</a:t>
            </a:r>
            <a:r>
              <a:rPr lang="en-US" altLang="ko-KR" sz="1200" b="1" dirty="0">
                <a:latin typeface="+mn-ea"/>
              </a:rPr>
              <a:t>/</a:t>
            </a:r>
            <a:r>
              <a:rPr lang="ko-KR" altLang="en-US" sz="1200" b="1" dirty="0">
                <a:latin typeface="+mn-ea"/>
              </a:rPr>
              <a:t>주시청시간대</a:t>
            </a:r>
            <a:r>
              <a:rPr lang="en-US" altLang="ko-KR" sz="1200" b="1" dirty="0">
                <a:latin typeface="+mn-ea"/>
              </a:rPr>
              <a:t>) </a:t>
            </a:r>
            <a:r>
              <a:rPr lang="ko-KR" altLang="en-US" sz="1200" b="1" dirty="0">
                <a:latin typeface="+mn-ea"/>
              </a:rPr>
              <a:t>중소기업 편성비중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+mn-ea"/>
              </a:rPr>
              <a:t>   - (</a:t>
            </a:r>
            <a:r>
              <a:rPr lang="ko-KR" altLang="en-US" sz="1200" b="1" dirty="0">
                <a:latin typeface="+mn-ea"/>
              </a:rPr>
              <a:t>전체</a:t>
            </a:r>
            <a:r>
              <a:rPr lang="en-US" altLang="ko-KR" sz="1200" b="1" dirty="0">
                <a:latin typeface="+mn-ea"/>
              </a:rPr>
              <a:t>/</a:t>
            </a:r>
            <a:r>
              <a:rPr lang="ko-KR" altLang="en-US" sz="1200" b="1" dirty="0">
                <a:latin typeface="+mn-ea"/>
              </a:rPr>
              <a:t>주시청시간대</a:t>
            </a:r>
            <a:r>
              <a:rPr lang="en-US" altLang="ko-KR" sz="1200" b="1" dirty="0">
                <a:latin typeface="+mn-ea"/>
              </a:rPr>
              <a:t>) </a:t>
            </a:r>
            <a:r>
              <a:rPr lang="ko-KR" altLang="en-US" sz="1200" b="1" dirty="0">
                <a:latin typeface="+mn-ea"/>
              </a:rPr>
              <a:t>중소기업 정액편성비중</a:t>
            </a:r>
            <a:r>
              <a:rPr lang="en-US" altLang="ko-KR" sz="1200" b="1" dirty="0">
                <a:latin typeface="+mn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+mn-ea"/>
              </a:rPr>
              <a:t>   - </a:t>
            </a:r>
            <a:r>
              <a:rPr lang="ko-KR" altLang="en-US" sz="1200" b="1" dirty="0">
                <a:latin typeface="+mn-ea"/>
              </a:rPr>
              <a:t>중소기업 </a:t>
            </a:r>
            <a:r>
              <a:rPr lang="ko-KR" altLang="en-US" sz="1200" b="1" dirty="0" err="1">
                <a:latin typeface="+mn-ea"/>
              </a:rPr>
              <a:t>판매수수료율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+mn-ea"/>
              </a:rPr>
              <a:t>   - </a:t>
            </a:r>
            <a:r>
              <a:rPr lang="ko-KR" altLang="en-US" sz="1200" b="1" dirty="0">
                <a:latin typeface="+mn-ea"/>
              </a:rPr>
              <a:t>중소기업 직매입금액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800" b="1" dirty="0">
              <a:latin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 </a:t>
            </a:r>
            <a:r>
              <a:rPr lang="ko-KR" altLang="en-US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비용</a:t>
            </a:r>
            <a:r>
              <a:rPr lang="en-US" altLang="ko-KR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투자 영향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+mn-ea"/>
              </a:rPr>
              <a:t>   - </a:t>
            </a:r>
            <a:r>
              <a:rPr lang="ko-KR" altLang="en-US" sz="1200" b="1" dirty="0">
                <a:latin typeface="+mn-ea"/>
              </a:rPr>
              <a:t>데이터홈쇼핑 방송 제작비</a:t>
            </a:r>
            <a:r>
              <a:rPr lang="en-US" altLang="ko-KR" sz="1200" b="1" dirty="0">
                <a:latin typeface="+mn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+mn-ea"/>
              </a:rPr>
              <a:t>   - TV </a:t>
            </a:r>
            <a:r>
              <a:rPr lang="ko-KR" altLang="en-US" sz="1200" b="1" dirty="0">
                <a:latin typeface="+mn-ea"/>
              </a:rPr>
              <a:t>및 데이터홈쇼핑 시설</a:t>
            </a:r>
            <a:r>
              <a:rPr lang="en-US" altLang="ko-KR" sz="1200" b="1" dirty="0">
                <a:latin typeface="+mn-ea"/>
              </a:rPr>
              <a:t>·</a:t>
            </a:r>
            <a:r>
              <a:rPr lang="ko-KR" altLang="en-US" sz="1200" b="1" dirty="0">
                <a:latin typeface="+mn-ea"/>
              </a:rPr>
              <a:t>기술투자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+mn-ea"/>
              </a:rPr>
              <a:t>   - (</a:t>
            </a:r>
            <a:r>
              <a:rPr lang="ko-KR" altLang="en-US" sz="1200" b="1" dirty="0">
                <a:latin typeface="+mn-ea"/>
              </a:rPr>
              <a:t>홈</a:t>
            </a:r>
            <a:r>
              <a:rPr lang="en-US" altLang="ko-KR" sz="1200" b="1" dirty="0">
                <a:latin typeface="+mn-ea"/>
              </a:rPr>
              <a:t>BU)</a:t>
            </a:r>
            <a:r>
              <a:rPr lang="ko-KR" altLang="en-US" sz="1200" b="1" dirty="0">
                <a:latin typeface="+mn-ea"/>
              </a:rPr>
              <a:t>교육훈련비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+mn-ea"/>
              </a:rPr>
              <a:t>   </a:t>
            </a:r>
            <a:r>
              <a:rPr lang="en-US" altLang="ko-KR" sz="1200" b="1" dirty="0">
                <a:latin typeface="+mn-ea"/>
              </a:rPr>
              <a:t>- (</a:t>
            </a:r>
            <a:r>
              <a:rPr lang="ko-KR" altLang="en-US" sz="1200" b="1" dirty="0">
                <a:latin typeface="+mn-ea"/>
              </a:rPr>
              <a:t>전사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공익사업</a:t>
            </a:r>
            <a:r>
              <a:rPr lang="en-US" altLang="ko-KR" sz="1200" b="1" dirty="0">
                <a:latin typeface="+mn-ea"/>
              </a:rPr>
              <a:t>, (</a:t>
            </a:r>
            <a:r>
              <a:rPr lang="ko-KR" altLang="en-US" sz="1200" b="1" dirty="0">
                <a:latin typeface="+mn-ea"/>
              </a:rPr>
              <a:t>홈</a:t>
            </a:r>
            <a:r>
              <a:rPr lang="en-US" altLang="ko-KR" sz="1200" b="1" dirty="0">
                <a:latin typeface="+mn-ea"/>
              </a:rPr>
              <a:t>BU)</a:t>
            </a:r>
            <a:r>
              <a:rPr lang="ko-KR" altLang="en-US" sz="1200" b="1" dirty="0">
                <a:latin typeface="+mn-ea"/>
              </a:rPr>
              <a:t>동반성장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800" b="1" dirty="0">
              <a:latin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신규 채용 영향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  - </a:t>
            </a:r>
            <a:r>
              <a:rPr lang="ko-KR" altLang="en-US" sz="1200" dirty="0">
                <a:latin typeface="+mn-ea"/>
              </a:rPr>
              <a:t>연도별 신규 채용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장애인 채용 등</a:t>
            </a:r>
            <a:r>
              <a:rPr lang="en-US" altLang="ko-KR" sz="1200" dirty="0">
                <a:latin typeface="+mn-ea"/>
              </a:rPr>
              <a:t> </a:t>
            </a:r>
          </a:p>
          <a:p>
            <a:pPr>
              <a:lnSpc>
                <a:spcPct val="150000"/>
              </a:lnSpc>
            </a:pPr>
            <a:endParaRPr lang="en-US" altLang="ko-KR" sz="800" b="1" dirty="0">
              <a:latin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상기 외 부가된 재승인 조건  </a:t>
            </a:r>
            <a:endParaRPr lang="en-US" altLang="ko-KR" sz="14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-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TV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홈쇼핑에 편성된 상품은 데이터홈쇼핑 편성 불가 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나머지 정성적 계획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(100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여개 항목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latin typeface="+mn-ea"/>
              </a:rPr>
              <a:t>  </a:t>
            </a:r>
            <a:r>
              <a:rPr lang="en-US" altLang="ko-KR" sz="1200" dirty="0">
                <a:latin typeface="+mn-ea"/>
              </a:rPr>
              <a:t>  - </a:t>
            </a:r>
            <a:r>
              <a:rPr lang="ko-KR" altLang="en-US" sz="1200" dirty="0">
                <a:latin typeface="+mn-ea"/>
              </a:rPr>
              <a:t>계획 이행 및 실적 증빙 필요</a:t>
            </a:r>
            <a:endParaRPr lang="en-US" altLang="ko-KR" sz="12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5639A0-313A-6D92-65FB-ED86C7B948F3}"/>
              </a:ext>
            </a:extLst>
          </p:cNvPr>
          <p:cNvSpPr txBox="1"/>
          <p:nvPr/>
        </p:nvSpPr>
        <p:spPr>
          <a:xfrm>
            <a:off x="5786798" y="1316564"/>
            <a:ext cx="5689600" cy="190327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/>
              <a:t>■ 연도별 준수 </a:t>
            </a:r>
            <a:r>
              <a:rPr lang="en-US" altLang="ko-KR" sz="1200" b="1"/>
              <a:t>: 3</a:t>
            </a:r>
            <a:r>
              <a:rPr lang="ko-KR" altLang="en-US" sz="1200" b="1"/>
              <a:t>월 제출 </a:t>
            </a:r>
            <a:r>
              <a:rPr lang="en-US" altLang="ko-KR" sz="1200" b="1"/>
              <a:t>- 6</a:t>
            </a:r>
            <a:r>
              <a:rPr lang="ko-KR" altLang="en-US" sz="1200" b="1"/>
              <a:t>월 현장조사 </a:t>
            </a:r>
            <a:r>
              <a:rPr lang="en-US" altLang="ko-KR" sz="1200" b="1"/>
              <a:t>- 11</a:t>
            </a:r>
            <a:r>
              <a:rPr lang="ko-KR" altLang="en-US" sz="1200" b="1"/>
              <a:t>월 제재부과</a:t>
            </a:r>
            <a:endParaRPr lang="en-US" altLang="ko-KR" sz="1200" b="1"/>
          </a:p>
          <a:p>
            <a:pPr>
              <a:lnSpc>
                <a:spcPct val="150000"/>
              </a:lnSpc>
            </a:pPr>
            <a:r>
              <a:rPr lang="ko-KR" altLang="en-US" sz="1200" b="1"/>
              <a:t>    → </a:t>
            </a:r>
            <a:r>
              <a:rPr lang="ko-KR" altLang="en-US" sz="1200" b="1">
                <a:solidFill>
                  <a:prstClr val="black"/>
                </a:solidFill>
              </a:rPr>
              <a:t>시정권고 </a:t>
            </a:r>
            <a:r>
              <a:rPr lang="en-US" altLang="ko-KR" sz="1200" b="1">
                <a:solidFill>
                  <a:prstClr val="black"/>
                </a:solidFill>
              </a:rPr>
              <a:t>– </a:t>
            </a:r>
            <a:r>
              <a:rPr lang="ko-KR" altLang="en-US" sz="1200" b="1">
                <a:solidFill>
                  <a:prstClr val="black"/>
                </a:solidFill>
              </a:rPr>
              <a:t>경고</a:t>
            </a:r>
            <a:r>
              <a:rPr lang="ko-KR" altLang="en-US" sz="1200" b="1"/>
              <a:t> </a:t>
            </a:r>
            <a:r>
              <a:rPr lang="en-US" altLang="ko-KR" sz="1200" b="1"/>
              <a:t>- </a:t>
            </a:r>
            <a:r>
              <a:rPr lang="ko-KR" altLang="en-US" sz="1200" b="1"/>
              <a:t>시정명령 </a:t>
            </a:r>
            <a:r>
              <a:rPr lang="en-US" altLang="ko-KR" sz="1200" b="1" dirty="0"/>
              <a:t>(</a:t>
            </a:r>
            <a:r>
              <a:rPr lang="ko-KR" altLang="ko-KR" sz="1200" b="1" dirty="0"/>
              <a:t>방송법 제</a:t>
            </a:r>
            <a:r>
              <a:rPr lang="en-US" altLang="ko-KR" sz="1200" b="1" dirty="0"/>
              <a:t>99</a:t>
            </a:r>
            <a:r>
              <a:rPr lang="ko-KR" altLang="ko-KR" sz="1200" b="1" dirty="0"/>
              <a:t>조 제</a:t>
            </a:r>
            <a:r>
              <a:rPr lang="en-US" altLang="ko-KR" sz="1200" b="1" dirty="0"/>
              <a:t>1</a:t>
            </a:r>
            <a:r>
              <a:rPr lang="ko-KR" altLang="ko-KR" sz="1200" b="1" dirty="0"/>
              <a:t>항</a:t>
            </a:r>
            <a:r>
              <a:rPr lang="en-US" altLang="ko-KR" sz="1200" b="1"/>
              <a:t>) </a:t>
            </a:r>
            <a:endParaRPr lang="ko-KR" altLang="ko-KR" sz="1200" dirty="0"/>
          </a:p>
          <a:p>
            <a:pPr>
              <a:lnSpc>
                <a:spcPct val="150000"/>
              </a:lnSpc>
            </a:pPr>
            <a:r>
              <a:rPr lang="ko-KR" altLang="en-US" sz="1200" b="1"/>
              <a:t>■ </a:t>
            </a:r>
            <a:r>
              <a:rPr lang="ko-KR" altLang="en-US" sz="1200" b="1">
                <a:solidFill>
                  <a:srgbClr val="1919E5"/>
                </a:solidFill>
              </a:rPr>
              <a:t>재승인 절차 위반 또는 시정명령 후 동일사안 발생시 </a:t>
            </a:r>
            <a:r>
              <a:rPr lang="en-US" altLang="ko-KR" sz="1200" b="1" dirty="0"/>
              <a:t>(</a:t>
            </a:r>
            <a:r>
              <a:rPr lang="ko-KR" altLang="ko-KR" sz="1200" b="1" dirty="0"/>
              <a:t>동법 제</a:t>
            </a:r>
            <a:r>
              <a:rPr lang="en-US" altLang="ko-KR" sz="1200" b="1" dirty="0"/>
              <a:t>18</a:t>
            </a:r>
            <a:r>
              <a:rPr lang="ko-KR" altLang="ko-KR" sz="1200" b="1" dirty="0"/>
              <a:t>조 제</a:t>
            </a:r>
            <a:r>
              <a:rPr lang="en-US" altLang="ko-KR" sz="1200" b="1" dirty="0"/>
              <a:t>1</a:t>
            </a:r>
            <a:r>
              <a:rPr lang="ko-KR" altLang="ko-KR" sz="1200" b="1" dirty="0"/>
              <a:t>항 제</a:t>
            </a:r>
            <a:r>
              <a:rPr lang="en-US" altLang="ko-KR" sz="1200" b="1" dirty="0"/>
              <a:t>9</a:t>
            </a:r>
            <a:r>
              <a:rPr lang="ko-KR" altLang="ko-KR" sz="1200" b="1" dirty="0"/>
              <a:t>호</a:t>
            </a:r>
            <a:r>
              <a:rPr lang="en-US" altLang="ko-KR" sz="1200" b="1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/>
              <a:t>    (1) </a:t>
            </a:r>
            <a:r>
              <a:rPr lang="ko-KR" altLang="ko-KR" sz="1200" b="1" dirty="0"/>
              <a:t>승인 </a:t>
            </a:r>
            <a:r>
              <a:rPr lang="ko-KR" altLang="ko-KR" sz="1200" b="1"/>
              <a:t>유효기간 단축</a:t>
            </a:r>
            <a:endParaRPr lang="en-US" altLang="ko-KR" sz="1200" b="1" dirty="0"/>
          </a:p>
          <a:p>
            <a:pPr>
              <a:lnSpc>
                <a:spcPct val="150000"/>
              </a:lnSpc>
            </a:pPr>
            <a:r>
              <a:rPr lang="en-US" altLang="ko-KR" sz="1200" b="1" dirty="0"/>
              <a:t>    (2) 6</a:t>
            </a:r>
            <a:r>
              <a:rPr lang="ko-KR" altLang="ko-KR" sz="1200" b="1" dirty="0"/>
              <a:t>개월 이내 업무 전부 또는 일부 정지</a:t>
            </a:r>
            <a:r>
              <a:rPr lang="ko-KR" altLang="en-US" sz="1200" b="1" dirty="0"/>
              <a:t>나 </a:t>
            </a:r>
            <a:r>
              <a:rPr lang="ko-KR" altLang="ko-KR" sz="1200" b="1"/>
              <a:t>광고 중단</a:t>
            </a:r>
            <a:endParaRPr lang="en-US" altLang="ko-KR" sz="1200" b="1" dirty="0"/>
          </a:p>
          <a:p>
            <a:pPr>
              <a:lnSpc>
                <a:spcPct val="150000"/>
              </a:lnSpc>
            </a:pPr>
            <a:r>
              <a:rPr lang="en-US" altLang="ko-KR" sz="1200" b="1" dirty="0"/>
              <a:t>    (3) </a:t>
            </a:r>
            <a:r>
              <a:rPr lang="ko-KR" altLang="ko-KR" sz="1200" b="1" dirty="0"/>
              <a:t>승인 </a:t>
            </a:r>
            <a:r>
              <a:rPr lang="ko-KR" altLang="ko-KR" sz="1200" b="1"/>
              <a:t>취소</a:t>
            </a:r>
            <a:r>
              <a:rPr lang="en-US" altLang="ko-KR" sz="1200" b="1"/>
              <a:t> </a:t>
            </a:r>
          </a:p>
          <a:p>
            <a:pPr>
              <a:lnSpc>
                <a:spcPct val="150000"/>
              </a:lnSpc>
            </a:pPr>
            <a:endParaRPr lang="en-US" altLang="ko-KR" sz="1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B944A7-DDBD-1876-4F48-0DDDA60F7C31}"/>
              </a:ext>
            </a:extLst>
          </p:cNvPr>
          <p:cNvSpPr txBox="1"/>
          <p:nvPr/>
        </p:nvSpPr>
        <p:spPr>
          <a:xfrm>
            <a:off x="5853769" y="3949517"/>
            <a:ext cx="5555659" cy="250645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1" dirty="0">
                <a:latin typeface="+mn-ea"/>
              </a:rPr>
              <a:t>※ 재승인 제재 사례 </a:t>
            </a:r>
            <a:r>
              <a:rPr lang="en-US" altLang="ko-KR" sz="1100" b="1" dirty="0">
                <a:latin typeface="+mn-ea"/>
              </a:rPr>
              <a:t>: </a:t>
            </a:r>
            <a:r>
              <a:rPr lang="ko-KR" altLang="en-US" sz="1100" b="1" dirty="0">
                <a:latin typeface="+mn-ea"/>
              </a:rPr>
              <a:t>롯데홈쇼핑</a:t>
            </a:r>
            <a:endParaRPr lang="en-US" altLang="ko-KR" sz="11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+mn-ea"/>
              </a:rPr>
              <a:t>  </a:t>
            </a:r>
            <a:r>
              <a:rPr lang="en-US" altLang="ko-KR" sz="1100" dirty="0">
                <a:latin typeface="+mn-ea"/>
              </a:rPr>
              <a:t>- </a:t>
            </a:r>
            <a:r>
              <a:rPr lang="ko-KR" altLang="en-US" sz="1100" dirty="0">
                <a:latin typeface="+mn-ea"/>
              </a:rPr>
              <a:t>위반 내용</a:t>
            </a:r>
            <a:r>
              <a:rPr lang="en-US" altLang="ko-KR" sz="1100" dirty="0">
                <a:latin typeface="+mn-ea"/>
              </a:rPr>
              <a:t>: </a:t>
            </a:r>
            <a:r>
              <a:rPr lang="ko-KR" altLang="en-US" sz="1100" b="1" u="sng" dirty="0">
                <a:latin typeface="+mn-ea"/>
              </a:rPr>
              <a:t>재승인 심사 시 임직원 범죄행위 누락</a:t>
            </a:r>
            <a:r>
              <a:rPr lang="en-US" altLang="ko-KR" sz="1100" dirty="0">
                <a:latin typeface="+mn-ea"/>
              </a:rPr>
              <a:t>(</a:t>
            </a:r>
            <a:r>
              <a:rPr lang="ko-KR" altLang="en-US" sz="1100" dirty="0">
                <a:latin typeface="+mn-ea"/>
              </a:rPr>
              <a:t>제</a:t>
            </a:r>
            <a:r>
              <a:rPr lang="en-US" altLang="ko-KR" sz="1100" dirty="0">
                <a:latin typeface="+mn-ea"/>
              </a:rPr>
              <a:t>18</a:t>
            </a:r>
            <a:r>
              <a:rPr lang="ko-KR" altLang="en-US" sz="1100" dirty="0">
                <a:latin typeface="+mn-ea"/>
              </a:rPr>
              <a:t>조 제</a:t>
            </a:r>
            <a:r>
              <a:rPr lang="en-US" altLang="ko-KR" sz="1100" dirty="0">
                <a:latin typeface="+mn-ea"/>
              </a:rPr>
              <a:t>1</a:t>
            </a:r>
            <a:r>
              <a:rPr lang="ko-KR" altLang="en-US" sz="1100" dirty="0">
                <a:latin typeface="+mn-ea"/>
              </a:rPr>
              <a:t>항 제</a:t>
            </a:r>
            <a:r>
              <a:rPr lang="en-US" altLang="ko-KR" sz="1100" dirty="0">
                <a:latin typeface="+mn-ea"/>
              </a:rPr>
              <a:t>1</a:t>
            </a:r>
            <a:r>
              <a:rPr lang="ko-KR" altLang="en-US" sz="1100" dirty="0">
                <a:latin typeface="+mn-ea"/>
              </a:rPr>
              <a:t>호</a:t>
            </a:r>
            <a:r>
              <a:rPr lang="en-US" altLang="ko-KR" sz="110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+mn-ea"/>
              </a:rPr>
              <a:t>     </a:t>
            </a:r>
            <a:r>
              <a:rPr lang="en-US" altLang="ko-KR" sz="1100" b="1" dirty="0">
                <a:latin typeface="+mn-ea"/>
              </a:rPr>
              <a:t>→ </a:t>
            </a:r>
            <a:r>
              <a:rPr lang="en-US" altLang="ko-KR" sz="1100" b="1" u="sng" dirty="0">
                <a:latin typeface="+mn-ea"/>
              </a:rPr>
              <a:t>5</a:t>
            </a:r>
            <a:r>
              <a:rPr lang="ko-KR" altLang="en-US" sz="1100" b="1" u="sng" dirty="0" err="1">
                <a:latin typeface="+mn-ea"/>
              </a:rPr>
              <a:t>년에서</a:t>
            </a:r>
            <a:r>
              <a:rPr lang="ko-KR" altLang="en-US" sz="1100" b="1" u="sng" dirty="0">
                <a:latin typeface="+mn-ea"/>
              </a:rPr>
              <a:t> </a:t>
            </a:r>
            <a:r>
              <a:rPr lang="en-US" altLang="ko-KR" sz="1100" b="1" u="sng" dirty="0">
                <a:latin typeface="+mn-ea"/>
              </a:rPr>
              <a:t>3</a:t>
            </a:r>
            <a:r>
              <a:rPr lang="ko-KR" altLang="en-US" sz="1100" b="1" u="sng" dirty="0">
                <a:latin typeface="+mn-ea"/>
              </a:rPr>
              <a:t>년으로 승인 유효기간 단축과 영업정지 </a:t>
            </a:r>
            <a:r>
              <a:rPr lang="en-US" altLang="ko-KR" sz="1100" b="1" u="sng" dirty="0">
                <a:latin typeface="+mn-ea"/>
              </a:rPr>
              <a:t>6</a:t>
            </a:r>
            <a:r>
              <a:rPr lang="ko-KR" altLang="en-US" sz="1100" b="1" u="sng" dirty="0">
                <a:latin typeface="+mn-ea"/>
              </a:rPr>
              <a:t>개월</a:t>
            </a:r>
            <a:endParaRPr lang="en-US" altLang="ko-KR" sz="1100" b="1" u="sng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+mn-ea"/>
              </a:rPr>
              <a:t>        (</a:t>
            </a:r>
            <a:r>
              <a:rPr lang="ko-KR" altLang="en-US" sz="1100" dirty="0">
                <a:latin typeface="+mn-ea"/>
              </a:rPr>
              <a:t>영업이익 </a:t>
            </a:r>
            <a:r>
              <a:rPr lang="en-US" altLang="ko-KR" sz="1100" dirty="0">
                <a:latin typeface="+mn-ea"/>
              </a:rPr>
              <a:t>22</a:t>
            </a:r>
            <a:r>
              <a:rPr lang="ko-KR" altLang="en-US" sz="1100" dirty="0">
                <a:latin typeface="+mn-ea"/>
              </a:rPr>
              <a:t>년 </a:t>
            </a:r>
            <a:r>
              <a:rPr lang="en-US" altLang="ko-KR" sz="1100" dirty="0">
                <a:latin typeface="+mn-ea"/>
              </a:rPr>
              <a:t>890</a:t>
            </a:r>
            <a:r>
              <a:rPr lang="ko-KR" altLang="en-US" sz="1100" dirty="0">
                <a:latin typeface="+mn-ea"/>
              </a:rPr>
              <a:t>억원 → </a:t>
            </a:r>
            <a:r>
              <a:rPr lang="en-US" altLang="ko-KR" sz="1100" dirty="0">
                <a:latin typeface="+mn-ea"/>
              </a:rPr>
              <a:t>23</a:t>
            </a:r>
            <a:r>
              <a:rPr lang="ko-KR" altLang="en-US" sz="1100" dirty="0">
                <a:latin typeface="+mn-ea"/>
              </a:rPr>
              <a:t>년 </a:t>
            </a:r>
            <a:r>
              <a:rPr lang="en-US" altLang="ko-KR" sz="1100" dirty="0">
                <a:latin typeface="+mn-ea"/>
              </a:rPr>
              <a:t>83</a:t>
            </a:r>
            <a:r>
              <a:rPr lang="ko-KR" altLang="en-US" sz="1100" dirty="0">
                <a:latin typeface="+mn-ea"/>
              </a:rPr>
              <a:t>억원</a:t>
            </a:r>
            <a:r>
              <a:rPr lang="en-US" altLang="ko-KR" sz="110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1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+mn-ea"/>
              </a:rPr>
              <a:t>  [</a:t>
            </a:r>
            <a:r>
              <a:rPr lang="ko-KR" altLang="en-US" sz="1100" b="1" dirty="0">
                <a:latin typeface="+mn-ea"/>
              </a:rPr>
              <a:t>처분 등 타임라인</a:t>
            </a:r>
            <a:r>
              <a:rPr lang="en-US" altLang="ko-KR" sz="1100" b="1" dirty="0">
                <a:latin typeface="+mn-ea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+mn-ea"/>
              </a:rPr>
              <a:t>  ’15</a:t>
            </a:r>
            <a:r>
              <a:rPr lang="ko-KR" altLang="en-US" sz="1100" dirty="0">
                <a:latin typeface="+mn-ea"/>
              </a:rPr>
              <a:t>년 </a:t>
            </a:r>
            <a:r>
              <a:rPr lang="en-US" altLang="ko-KR" sz="1100" dirty="0">
                <a:latin typeface="+mn-ea"/>
              </a:rPr>
              <a:t>: </a:t>
            </a:r>
            <a:r>
              <a:rPr lang="ko-KR" altLang="en-US" sz="1100" dirty="0">
                <a:latin typeface="+mn-ea"/>
              </a:rPr>
              <a:t>재승인 유효기간 </a:t>
            </a:r>
            <a:r>
              <a:rPr lang="en-US" altLang="ko-KR" sz="1100" dirty="0">
                <a:latin typeface="+mn-ea"/>
              </a:rPr>
              <a:t>2</a:t>
            </a:r>
            <a:r>
              <a:rPr lang="ko-KR" altLang="en-US" sz="1100" dirty="0">
                <a:latin typeface="+mn-ea"/>
              </a:rPr>
              <a:t>년 단축</a:t>
            </a:r>
            <a:endParaRPr lang="en-US" altLang="ko-KR" sz="11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+mn-ea"/>
              </a:rPr>
              <a:t>  ’16</a:t>
            </a:r>
            <a:r>
              <a:rPr lang="ko-KR" altLang="en-US" sz="1100" dirty="0">
                <a:latin typeface="+mn-ea"/>
              </a:rPr>
              <a:t>년</a:t>
            </a:r>
            <a:r>
              <a:rPr lang="en-US" altLang="ko-KR" sz="1100" dirty="0">
                <a:latin typeface="+mn-ea"/>
              </a:rPr>
              <a:t> : 6</a:t>
            </a:r>
            <a:r>
              <a:rPr lang="ko-KR" altLang="en-US" sz="1100" dirty="0">
                <a:latin typeface="+mn-ea"/>
              </a:rPr>
              <a:t>개월간 매일 오전</a:t>
            </a:r>
            <a:r>
              <a:rPr lang="en-US" altLang="ko-KR" sz="1100" dirty="0">
                <a:latin typeface="+mn-ea"/>
              </a:rPr>
              <a:t>·</a:t>
            </a:r>
            <a:r>
              <a:rPr lang="ko-KR" altLang="en-US" sz="1100" dirty="0">
                <a:latin typeface="+mn-ea"/>
              </a:rPr>
              <a:t>오후 </a:t>
            </a:r>
            <a:r>
              <a:rPr lang="en-US" altLang="ko-KR" sz="1100" dirty="0">
                <a:latin typeface="+mn-ea"/>
              </a:rPr>
              <a:t>8~11</a:t>
            </a:r>
            <a:r>
              <a:rPr lang="ko-KR" altLang="en-US" sz="1100" dirty="0">
                <a:latin typeface="+mn-ea"/>
              </a:rPr>
              <a:t>시 </a:t>
            </a:r>
            <a:r>
              <a:rPr lang="en-US" altLang="ko-KR" sz="1100" dirty="0">
                <a:latin typeface="+mn-ea"/>
              </a:rPr>
              <a:t>(</a:t>
            </a:r>
            <a:r>
              <a:rPr lang="ko-KR" altLang="en-US" sz="1100" dirty="0">
                <a:latin typeface="+mn-ea"/>
              </a:rPr>
              <a:t>총 </a:t>
            </a:r>
            <a:r>
              <a:rPr lang="en-US" altLang="ko-KR" sz="1100" dirty="0">
                <a:latin typeface="+mn-ea"/>
              </a:rPr>
              <a:t>6</a:t>
            </a:r>
            <a:r>
              <a:rPr lang="ko-KR" altLang="en-US" sz="1100" dirty="0">
                <a:latin typeface="+mn-ea"/>
              </a:rPr>
              <a:t>시간</a:t>
            </a:r>
            <a:r>
              <a:rPr lang="en-US" altLang="ko-KR" sz="1100" dirty="0">
                <a:latin typeface="+mn-ea"/>
              </a:rPr>
              <a:t>/</a:t>
            </a:r>
            <a:r>
              <a:rPr lang="ko-KR" altLang="en-US" sz="1100" dirty="0">
                <a:latin typeface="+mn-ea"/>
              </a:rPr>
              <a:t>일</a:t>
            </a:r>
            <a:r>
              <a:rPr lang="en-US" altLang="ko-KR" sz="1100" dirty="0">
                <a:latin typeface="+mn-ea"/>
              </a:rPr>
              <a:t>) </a:t>
            </a:r>
            <a:r>
              <a:rPr lang="ko-KR" altLang="en-US" sz="1100" dirty="0">
                <a:latin typeface="+mn-ea"/>
              </a:rPr>
              <a:t>영업정지 </a:t>
            </a:r>
            <a:r>
              <a:rPr lang="en-US" altLang="ko-KR" sz="1100" dirty="0">
                <a:latin typeface="+mn-ea"/>
              </a:rPr>
              <a:t>(</a:t>
            </a:r>
            <a:r>
              <a:rPr lang="ko-KR" altLang="en-US" sz="1100" dirty="0">
                <a:latin typeface="+mn-ea"/>
              </a:rPr>
              <a:t>롯데 승소</a:t>
            </a:r>
            <a:r>
              <a:rPr lang="en-US" altLang="ko-KR" sz="110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+mn-ea"/>
              </a:rPr>
              <a:t>  ’19</a:t>
            </a:r>
            <a:r>
              <a:rPr lang="ko-KR" altLang="en-US" sz="1100" dirty="0">
                <a:latin typeface="+mn-ea"/>
              </a:rPr>
              <a:t>년 </a:t>
            </a:r>
            <a:r>
              <a:rPr lang="en-US" altLang="ko-KR" sz="1100" dirty="0">
                <a:latin typeface="+mn-ea"/>
              </a:rPr>
              <a:t>: 6</a:t>
            </a:r>
            <a:r>
              <a:rPr lang="ko-KR" altLang="en-US" sz="1100" dirty="0">
                <a:latin typeface="+mn-ea"/>
              </a:rPr>
              <a:t>개월간 매일 오전 </a:t>
            </a:r>
            <a:r>
              <a:rPr lang="en-US" altLang="ko-KR" sz="1100" dirty="0">
                <a:latin typeface="+mn-ea"/>
              </a:rPr>
              <a:t>2~8</a:t>
            </a:r>
            <a:r>
              <a:rPr lang="ko-KR" altLang="en-US" sz="1100" dirty="0">
                <a:latin typeface="+mn-ea"/>
              </a:rPr>
              <a:t>시 </a:t>
            </a:r>
            <a:r>
              <a:rPr lang="en-US" altLang="ko-KR" sz="1100" dirty="0">
                <a:latin typeface="+mn-ea"/>
              </a:rPr>
              <a:t>(</a:t>
            </a:r>
            <a:r>
              <a:rPr lang="ko-KR" altLang="en-US" sz="1100" dirty="0">
                <a:latin typeface="+mn-ea"/>
              </a:rPr>
              <a:t>총 </a:t>
            </a:r>
            <a:r>
              <a:rPr lang="en-US" altLang="ko-KR" sz="1100" dirty="0">
                <a:latin typeface="+mn-ea"/>
              </a:rPr>
              <a:t>6</a:t>
            </a:r>
            <a:r>
              <a:rPr lang="ko-KR" altLang="en-US" sz="1100" dirty="0">
                <a:latin typeface="+mn-ea"/>
              </a:rPr>
              <a:t>시간</a:t>
            </a:r>
            <a:r>
              <a:rPr lang="en-US" altLang="ko-KR" sz="1100" dirty="0">
                <a:latin typeface="+mn-ea"/>
              </a:rPr>
              <a:t>/</a:t>
            </a:r>
            <a:r>
              <a:rPr lang="ko-KR" altLang="en-US" sz="1100" dirty="0">
                <a:latin typeface="+mn-ea"/>
              </a:rPr>
              <a:t>일</a:t>
            </a:r>
            <a:r>
              <a:rPr lang="en-US" altLang="ko-KR" sz="1100" dirty="0">
                <a:latin typeface="+mn-ea"/>
              </a:rPr>
              <a:t>) </a:t>
            </a:r>
            <a:r>
              <a:rPr lang="ko-KR" altLang="en-US" sz="1100" dirty="0">
                <a:latin typeface="+mn-ea"/>
              </a:rPr>
              <a:t>영업정지 </a:t>
            </a:r>
            <a:r>
              <a:rPr lang="en-US" altLang="ko-KR" sz="1100" dirty="0">
                <a:latin typeface="+mn-ea"/>
              </a:rPr>
              <a:t>(</a:t>
            </a:r>
            <a:r>
              <a:rPr lang="ko-KR" altLang="en-US" sz="1100" dirty="0">
                <a:latin typeface="+mn-ea"/>
              </a:rPr>
              <a:t>롯데 패소</a:t>
            </a:r>
            <a:r>
              <a:rPr lang="en-US" altLang="ko-KR" sz="1100" dirty="0">
                <a:latin typeface="+mn-ea"/>
              </a:rPr>
              <a:t>·</a:t>
            </a:r>
            <a:r>
              <a:rPr lang="ko-KR" altLang="en-US" sz="1100" dirty="0">
                <a:latin typeface="+mn-ea"/>
              </a:rPr>
              <a:t>확정</a:t>
            </a:r>
            <a:r>
              <a:rPr lang="en-US" altLang="ko-KR" sz="110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+mn-ea"/>
              </a:rPr>
              <a:t>  ’23</a:t>
            </a:r>
            <a:r>
              <a:rPr lang="ko-KR" altLang="en-US" sz="1100" dirty="0">
                <a:latin typeface="+mn-ea"/>
              </a:rPr>
              <a:t>년 </a:t>
            </a:r>
            <a:r>
              <a:rPr lang="en-US" altLang="ko-KR" sz="1100" dirty="0">
                <a:latin typeface="+mn-ea"/>
              </a:rPr>
              <a:t>: 6</a:t>
            </a:r>
            <a:r>
              <a:rPr lang="ko-KR" altLang="en-US" sz="1100" dirty="0">
                <a:latin typeface="+mn-ea"/>
              </a:rPr>
              <a:t>개월간</a:t>
            </a:r>
            <a:r>
              <a:rPr lang="en-US" altLang="ko-KR" sz="1100" dirty="0">
                <a:latin typeface="+mn-ea"/>
              </a:rPr>
              <a:t>(2</a:t>
            </a:r>
            <a:r>
              <a:rPr lang="ko-KR" altLang="en-US" sz="1100" dirty="0">
                <a:latin typeface="+mn-ea"/>
              </a:rPr>
              <a:t>월</a:t>
            </a:r>
            <a:r>
              <a:rPr lang="en-US" altLang="ko-KR" sz="1100" dirty="0">
                <a:latin typeface="+mn-ea"/>
              </a:rPr>
              <a:t>~7</a:t>
            </a:r>
            <a:r>
              <a:rPr lang="ko-KR" altLang="en-US" sz="1100" dirty="0">
                <a:latin typeface="+mn-ea"/>
              </a:rPr>
              <a:t>월</a:t>
            </a:r>
            <a:r>
              <a:rPr lang="en-US" altLang="ko-KR" sz="1100" dirty="0">
                <a:latin typeface="+mn-ea"/>
              </a:rPr>
              <a:t>) </a:t>
            </a:r>
            <a:r>
              <a:rPr lang="ko-KR" altLang="en-US" sz="1100" dirty="0">
                <a:latin typeface="+mn-ea"/>
              </a:rPr>
              <a:t>새벽 </a:t>
            </a:r>
            <a:r>
              <a:rPr lang="en-US" altLang="ko-KR" sz="1100" dirty="0">
                <a:latin typeface="+mn-ea"/>
              </a:rPr>
              <a:t>2</a:t>
            </a:r>
            <a:r>
              <a:rPr lang="ko-KR" altLang="en-US" sz="1100" dirty="0">
                <a:latin typeface="+mn-ea"/>
              </a:rPr>
              <a:t>시</a:t>
            </a:r>
            <a:r>
              <a:rPr lang="en-US" altLang="ko-KR" sz="1100" dirty="0">
                <a:latin typeface="+mn-ea"/>
              </a:rPr>
              <a:t>~8</a:t>
            </a:r>
            <a:r>
              <a:rPr lang="ko-KR" altLang="en-US" sz="1100" dirty="0">
                <a:latin typeface="+mn-ea"/>
              </a:rPr>
              <a:t>시 시간대 방송 중단</a:t>
            </a:r>
            <a:endParaRPr lang="en-US" altLang="ko-KR" sz="11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DEF8AB5-342A-32B5-D68D-CB849CC7E9A5}"/>
              </a:ext>
            </a:extLst>
          </p:cNvPr>
          <p:cNvSpPr/>
          <p:nvPr/>
        </p:nvSpPr>
        <p:spPr>
          <a:xfrm>
            <a:off x="373139" y="733800"/>
            <a:ext cx="512206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  <a:latin typeface="+mn-ea"/>
              </a:rPr>
              <a:t>재승인 사업계획 </a:t>
            </a:r>
            <a:r>
              <a:rPr lang="en-US" altLang="ko-KR" sz="1600" b="1">
                <a:solidFill>
                  <a:sysClr val="windowText" lastClr="000000"/>
                </a:solidFill>
                <a:latin typeface="+mn-ea"/>
              </a:rPr>
              <a:t>122</a:t>
            </a:r>
            <a:r>
              <a:rPr lang="ko-KR" altLang="en-US" sz="1600" b="1">
                <a:solidFill>
                  <a:sysClr val="windowText" lastClr="000000"/>
                </a:solidFill>
                <a:latin typeface="+mn-ea"/>
              </a:rPr>
              <a:t>개 항목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5D41875-79E6-F5E4-2955-0F915F5B94B3}"/>
              </a:ext>
            </a:extLst>
          </p:cNvPr>
          <p:cNvSpPr/>
          <p:nvPr/>
        </p:nvSpPr>
        <p:spPr>
          <a:xfrm>
            <a:off x="5632708" y="733800"/>
            <a:ext cx="6131723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  <a:latin typeface="+mn-ea"/>
              </a:rPr>
              <a:t>미준수 제재</a:t>
            </a:r>
            <a:endParaRPr lang="ko-KR" altLang="en-US" sz="1600" b="1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8CF1DEE-91BB-5DC2-333C-7CD6575ED609}"/>
              </a:ext>
            </a:extLst>
          </p:cNvPr>
          <p:cNvSpPr/>
          <p:nvPr/>
        </p:nvSpPr>
        <p:spPr>
          <a:xfrm>
            <a:off x="373139" y="1133061"/>
            <a:ext cx="5122060" cy="5446644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4AEB5F-3D45-4A1C-6A65-858F39E44EC5}"/>
              </a:ext>
            </a:extLst>
          </p:cNvPr>
          <p:cNvSpPr/>
          <p:nvPr/>
        </p:nvSpPr>
        <p:spPr>
          <a:xfrm>
            <a:off x="5632708" y="1133061"/>
            <a:ext cx="6131723" cy="5446644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갈매기형 수장 10">
            <a:extLst>
              <a:ext uri="{FF2B5EF4-FFF2-40B4-BE49-F238E27FC236}">
                <a16:creationId xmlns:a16="http://schemas.microsoft.com/office/drawing/2014/main" id="{92487C70-C203-1297-FA68-6877DBA16D46}"/>
              </a:ext>
            </a:extLst>
          </p:cNvPr>
          <p:cNvSpPr/>
          <p:nvPr/>
        </p:nvSpPr>
        <p:spPr>
          <a:xfrm>
            <a:off x="5435473" y="639632"/>
            <a:ext cx="249710" cy="569197"/>
          </a:xfrm>
          <a:prstGeom prst="chevron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A2E357-5D5C-53A3-BF6F-43A80BDBCDFA}"/>
              </a:ext>
            </a:extLst>
          </p:cNvPr>
          <p:cNvSpPr txBox="1"/>
          <p:nvPr/>
        </p:nvSpPr>
        <p:spPr>
          <a:xfrm>
            <a:off x="11669486" y="6635877"/>
            <a:ext cx="5225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6/109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928000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147A8-E410-6DFD-A145-D18C504DB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9F18623A-E276-57B5-2C28-B69E948C3707}"/>
              </a:ext>
            </a:extLst>
          </p:cNvPr>
          <p:cNvSpPr txBox="1"/>
          <p:nvPr/>
        </p:nvSpPr>
        <p:spPr>
          <a:xfrm>
            <a:off x="61217" y="64418"/>
            <a:ext cx="9572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재승인 일정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TextBox 88">
            <a:extLst>
              <a:ext uri="{FF2B5EF4-FFF2-40B4-BE49-F238E27FC236}">
                <a16:creationId xmlns:a16="http://schemas.microsoft.com/office/drawing/2014/main" id="{28F94F42-3A68-F0FC-DE54-A55EF9E6B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993" y="2096897"/>
            <a:ext cx="127827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FontTx/>
              <a:buNone/>
              <a:defRPr/>
            </a:pPr>
            <a:r>
              <a:rPr lang="en-US" altLang="ko-KR" sz="900" dirty="0">
                <a:latin typeface="+mn-ea"/>
                <a:ea typeface="+mn-ea"/>
              </a:rPr>
              <a:t>(</a:t>
            </a:r>
            <a:r>
              <a:rPr lang="ko-KR" altLang="en-US" sz="900" dirty="0">
                <a:latin typeface="+mn-ea"/>
                <a:ea typeface="+mn-ea"/>
              </a:rPr>
              <a:t>재무 </a:t>
            </a:r>
            <a:r>
              <a:rPr lang="ko-KR" altLang="en-US" sz="900" dirty="0" err="1">
                <a:latin typeface="+mn-ea"/>
                <a:ea typeface="+mn-ea"/>
              </a:rPr>
              <a:t>가마감</a:t>
            </a:r>
            <a:r>
              <a:rPr lang="ko-KR" altLang="en-US" sz="900" dirty="0">
                <a:latin typeface="+mn-ea"/>
                <a:ea typeface="+mn-ea"/>
              </a:rPr>
              <a:t> 포함</a:t>
            </a:r>
            <a:r>
              <a:rPr lang="en-US" altLang="ko-KR" sz="900" dirty="0">
                <a:latin typeface="+mn-ea"/>
                <a:ea typeface="+mn-ea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9F00C0-160B-7312-C42B-485C39A2DEDC}"/>
              </a:ext>
            </a:extLst>
          </p:cNvPr>
          <p:cNvSpPr txBox="1"/>
          <p:nvPr/>
        </p:nvSpPr>
        <p:spPr>
          <a:xfrm>
            <a:off x="4438532" y="762892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(</a:t>
            </a:r>
            <a:r>
              <a:rPr lang="ko-KR" altLang="en-US" sz="900" b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만료 </a:t>
            </a: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6</a:t>
            </a:r>
            <a:r>
              <a:rPr lang="ko-KR" altLang="en-US" sz="900" b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개월 전</a:t>
            </a: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)</a:t>
            </a:r>
          </a:p>
          <a:p>
            <a:pPr algn="ctr"/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1</a:t>
            </a:r>
            <a:r>
              <a:rPr lang="ko-KR" altLang="en-US" sz="900" b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차 제출</a:t>
            </a:r>
            <a:endParaRPr lang="en-US" altLang="ko-KR" sz="900" b="1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FEE0CD-CE75-581C-E58A-3882A85A10F9}"/>
              </a:ext>
            </a:extLst>
          </p:cNvPr>
          <p:cNvSpPr txBox="1"/>
          <p:nvPr/>
        </p:nvSpPr>
        <p:spPr>
          <a:xfrm>
            <a:off x="8179951" y="884642"/>
            <a:ext cx="63831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b="1">
                <a:solidFill>
                  <a:srgbClr val="0000FF"/>
                </a:solidFill>
                <a:latin typeface="+mn-ea"/>
              </a:rPr>
              <a:t>3</a:t>
            </a:r>
            <a:r>
              <a:rPr lang="ko-KR" altLang="en-US" sz="900" b="1">
                <a:solidFill>
                  <a:srgbClr val="0000FF"/>
                </a:solidFill>
                <a:latin typeface="+mn-ea"/>
              </a:rPr>
              <a:t>차 </a:t>
            </a:r>
            <a:r>
              <a:rPr lang="ko-KR" altLang="en-US" sz="900" b="1" dirty="0">
                <a:solidFill>
                  <a:srgbClr val="0000FF"/>
                </a:solidFill>
                <a:latin typeface="+mn-ea"/>
              </a:rPr>
              <a:t>제출</a:t>
            </a:r>
            <a:endParaRPr lang="en-US" altLang="ko-KR" sz="9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10" name="Line 16">
            <a:extLst>
              <a:ext uri="{FF2B5EF4-FFF2-40B4-BE49-F238E27FC236}">
                <a16:creationId xmlns:a16="http://schemas.microsoft.com/office/drawing/2014/main" id="{AE8B741A-DDA8-EE7C-63A9-4F80AA23A93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418" y="1413368"/>
            <a:ext cx="11297790" cy="0"/>
          </a:xfrm>
          <a:prstGeom prst="line">
            <a:avLst/>
          </a:prstGeom>
          <a:noFill/>
          <a:ln w="38100">
            <a:solidFill>
              <a:schemeClr val="bg1">
                <a:lumMod val="50000"/>
              </a:schemeClr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latinLnBrk="1" hangingPunct="1">
              <a:defRPr/>
            </a:pPr>
            <a:endParaRPr lang="ko-KR" altLang="en-US" sz="1050" b="1">
              <a:latin typeface="+mn-ea"/>
            </a:endParaRPr>
          </a:p>
        </p:txBody>
      </p:sp>
      <p:sp>
        <p:nvSpPr>
          <p:cNvPr id="14" name="Text Box 25">
            <a:extLst>
              <a:ext uri="{FF2B5EF4-FFF2-40B4-BE49-F238E27FC236}">
                <a16:creationId xmlns:a16="http://schemas.microsoft.com/office/drawing/2014/main" id="{43BD403F-8FE6-435D-582D-B8C0FC635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6006" y="1091219"/>
            <a:ext cx="407484" cy="2616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100" b="1" dirty="0">
                <a:latin typeface="+mn-ea"/>
                <a:ea typeface="+mn-ea"/>
              </a:rPr>
              <a:t>4</a:t>
            </a:r>
            <a:r>
              <a:rPr lang="ko-KR" altLang="en-US" sz="1100" b="1" dirty="0">
                <a:latin typeface="+mn-ea"/>
                <a:ea typeface="+mn-ea"/>
              </a:rPr>
              <a:t>월</a:t>
            </a:r>
            <a:endParaRPr lang="en-US" altLang="ko-KR" sz="1100" b="1" dirty="0">
              <a:latin typeface="+mn-ea"/>
              <a:ea typeface="+mn-ea"/>
            </a:endParaRPr>
          </a:p>
        </p:txBody>
      </p:sp>
      <p:sp>
        <p:nvSpPr>
          <p:cNvPr id="15" name="TextBox 52">
            <a:extLst>
              <a:ext uri="{FF2B5EF4-FFF2-40B4-BE49-F238E27FC236}">
                <a16:creationId xmlns:a16="http://schemas.microsoft.com/office/drawing/2014/main" id="{D62A7B10-7446-9C43-A6A8-CB9DA1AAD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0589" y="1276942"/>
            <a:ext cx="3257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ko-KR" altLang="en-US" sz="1050" b="1" dirty="0">
                <a:latin typeface="+mn-ea"/>
                <a:ea typeface="+mn-ea"/>
              </a:rPr>
              <a:t>●</a:t>
            </a:r>
          </a:p>
        </p:txBody>
      </p:sp>
      <p:sp>
        <p:nvSpPr>
          <p:cNvPr id="16" name="Text Box 25">
            <a:extLst>
              <a:ext uri="{FF2B5EF4-FFF2-40B4-BE49-F238E27FC236}">
                <a16:creationId xmlns:a16="http://schemas.microsoft.com/office/drawing/2014/main" id="{655299B9-D3D7-BD21-A093-151EED12B2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418" y="1091219"/>
            <a:ext cx="647934" cy="2616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0"/>
              </a:spcBef>
              <a:buNone/>
              <a:defRPr/>
            </a:pPr>
            <a:r>
              <a:rPr lang="en-US" altLang="ko-KR" sz="1100" b="1" dirty="0">
                <a:latin typeface="+mn-ea"/>
                <a:ea typeface="+mn-ea"/>
              </a:rPr>
              <a:t>‘25.1</a:t>
            </a:r>
            <a:r>
              <a:rPr lang="ko-KR" altLang="en-US" sz="1100" b="1" dirty="0">
                <a:latin typeface="+mn-ea"/>
                <a:ea typeface="+mn-ea"/>
              </a:rPr>
              <a:t>월</a:t>
            </a:r>
            <a:endParaRPr lang="en-US" altLang="ko-KR" sz="1100" b="1" dirty="0">
              <a:latin typeface="+mn-ea"/>
              <a:ea typeface="+mn-ea"/>
            </a:endParaRPr>
          </a:p>
        </p:txBody>
      </p:sp>
      <p:sp>
        <p:nvSpPr>
          <p:cNvPr id="17" name="TextBox 52">
            <a:extLst>
              <a:ext uri="{FF2B5EF4-FFF2-40B4-BE49-F238E27FC236}">
                <a16:creationId xmlns:a16="http://schemas.microsoft.com/office/drawing/2014/main" id="{7317056B-D0B4-DA7F-C98A-908B64014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520" y="1276942"/>
            <a:ext cx="3257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ko-KR" altLang="en-US" sz="1050" b="1" dirty="0">
                <a:latin typeface="+mn-ea"/>
                <a:ea typeface="+mn-ea"/>
              </a:rPr>
              <a:t>●</a:t>
            </a:r>
          </a:p>
        </p:txBody>
      </p:sp>
      <p:sp>
        <p:nvSpPr>
          <p:cNvPr id="18" name="Text Box 25">
            <a:extLst>
              <a:ext uri="{FF2B5EF4-FFF2-40B4-BE49-F238E27FC236}">
                <a16:creationId xmlns:a16="http://schemas.microsoft.com/office/drawing/2014/main" id="{D60D25C8-9EED-7CF0-465B-FA99798E8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123" y="1596029"/>
            <a:ext cx="1078061" cy="5027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0"/>
              </a:spcBef>
              <a:buNone/>
              <a:defRPr/>
            </a:pP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‘21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년 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~ ’25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년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  <a:p>
            <a:pPr algn="ctr">
              <a:spcBef>
                <a:spcPct val="0"/>
              </a:spcBef>
              <a:buNone/>
              <a:defRPr/>
            </a:pP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실적 정리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9" name="Text Box 25">
            <a:extLst>
              <a:ext uri="{FF2B5EF4-FFF2-40B4-BE49-F238E27FC236}">
                <a16:creationId xmlns:a16="http://schemas.microsoft.com/office/drawing/2014/main" id="{1806A99A-BE2C-DD7E-7893-A6E14F6AE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989" y="1091219"/>
            <a:ext cx="407484" cy="2616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100" b="1" dirty="0">
                <a:latin typeface="+mn-ea"/>
                <a:ea typeface="+mn-ea"/>
              </a:rPr>
              <a:t>7</a:t>
            </a:r>
            <a:r>
              <a:rPr lang="ko-KR" altLang="en-US" sz="1100" b="1" dirty="0">
                <a:latin typeface="+mn-ea"/>
                <a:ea typeface="+mn-ea"/>
              </a:rPr>
              <a:t>월</a:t>
            </a:r>
            <a:endParaRPr lang="en-US" altLang="ko-KR" sz="1100" b="1" dirty="0">
              <a:latin typeface="+mn-ea"/>
              <a:ea typeface="+mn-ea"/>
            </a:endParaRPr>
          </a:p>
        </p:txBody>
      </p:sp>
      <p:sp>
        <p:nvSpPr>
          <p:cNvPr id="20" name="TextBox 52">
            <a:extLst>
              <a:ext uri="{FF2B5EF4-FFF2-40B4-BE49-F238E27FC236}">
                <a16:creationId xmlns:a16="http://schemas.microsoft.com/office/drawing/2014/main" id="{B4EE5A16-09CF-1794-8CFC-1239D0165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8125" y="1276942"/>
            <a:ext cx="3257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ko-KR" altLang="en-US" sz="1050" b="1" dirty="0">
                <a:latin typeface="+mn-ea"/>
                <a:ea typeface="+mn-ea"/>
              </a:rPr>
              <a:t>●</a:t>
            </a:r>
          </a:p>
        </p:txBody>
      </p:sp>
      <p:sp>
        <p:nvSpPr>
          <p:cNvPr id="21" name="Text Box 25">
            <a:extLst>
              <a:ext uri="{FF2B5EF4-FFF2-40B4-BE49-F238E27FC236}">
                <a16:creationId xmlns:a16="http://schemas.microsoft.com/office/drawing/2014/main" id="{87C1FB09-EBE0-FCC4-B2EB-A233D265C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4106" y="1596029"/>
            <a:ext cx="1103815" cy="5027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0"/>
              </a:spcBef>
              <a:buNone/>
              <a:defRPr/>
            </a:pP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경영진 보고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  <a:p>
            <a:pPr algn="ctr">
              <a:spcBef>
                <a:spcPct val="0"/>
              </a:spcBef>
              <a:buNone/>
              <a:defRPr/>
            </a:pP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주요지표 확정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2" name="Text Box 25">
            <a:extLst>
              <a:ext uri="{FF2B5EF4-FFF2-40B4-BE49-F238E27FC236}">
                <a16:creationId xmlns:a16="http://schemas.microsoft.com/office/drawing/2014/main" id="{6332A859-3159-D4E5-2BAE-3B8A7EFE0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2524" y="1091219"/>
            <a:ext cx="407484" cy="2616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100" b="1" dirty="0">
                <a:latin typeface="+mn-ea"/>
                <a:ea typeface="+mn-ea"/>
              </a:rPr>
              <a:t>8</a:t>
            </a:r>
            <a:r>
              <a:rPr lang="ko-KR" altLang="en-US" sz="1100" b="1" dirty="0">
                <a:latin typeface="+mn-ea"/>
                <a:ea typeface="+mn-ea"/>
              </a:rPr>
              <a:t>월</a:t>
            </a:r>
            <a:endParaRPr lang="en-US" altLang="ko-KR" sz="1100" b="1" dirty="0">
              <a:latin typeface="+mn-ea"/>
              <a:ea typeface="+mn-ea"/>
            </a:endParaRPr>
          </a:p>
        </p:txBody>
      </p:sp>
      <p:sp>
        <p:nvSpPr>
          <p:cNvPr id="23" name="TextBox 52">
            <a:extLst>
              <a:ext uri="{FF2B5EF4-FFF2-40B4-BE49-F238E27FC236}">
                <a16:creationId xmlns:a16="http://schemas.microsoft.com/office/drawing/2014/main" id="{EE626924-226F-9B07-1C92-4ED2FF286B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7830" y="1276942"/>
            <a:ext cx="3257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ko-KR" altLang="en-US" sz="1050" b="1" dirty="0">
                <a:latin typeface="+mn-ea"/>
                <a:ea typeface="+mn-ea"/>
              </a:rPr>
              <a:t>●</a:t>
            </a:r>
          </a:p>
        </p:txBody>
      </p:sp>
      <p:sp>
        <p:nvSpPr>
          <p:cNvPr id="25" name="Text Box 25">
            <a:extLst>
              <a:ext uri="{FF2B5EF4-FFF2-40B4-BE49-F238E27FC236}">
                <a16:creationId xmlns:a16="http://schemas.microsoft.com/office/drawing/2014/main" id="{02D85BA9-76C3-8074-81D6-FCCD8D838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5896" y="1596029"/>
            <a:ext cx="692997" cy="5027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0"/>
              </a:spcBef>
              <a:buNone/>
              <a:defRPr/>
            </a:pP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지표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·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논리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  <a:p>
            <a:pPr algn="ctr">
              <a:spcBef>
                <a:spcPct val="0"/>
              </a:spcBef>
              <a:buNone/>
              <a:defRPr/>
            </a:pP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반영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F8F12692-3CB8-965D-1CCC-229A7C828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3339" y="1091219"/>
            <a:ext cx="574196" cy="2616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100" b="1" dirty="0">
                <a:latin typeface="+mn-ea"/>
                <a:ea typeface="+mn-ea"/>
              </a:rPr>
              <a:t>10/18</a:t>
            </a:r>
          </a:p>
        </p:txBody>
      </p:sp>
      <p:sp>
        <p:nvSpPr>
          <p:cNvPr id="27" name="TextBox 52">
            <a:extLst>
              <a:ext uri="{FF2B5EF4-FFF2-40B4-BE49-F238E27FC236}">
                <a16:creationId xmlns:a16="http://schemas.microsoft.com/office/drawing/2014/main" id="{7E3CE6E0-B289-FDF0-618B-338B37A28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433" y="1276942"/>
            <a:ext cx="3257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ko-KR" altLang="en-US" sz="1050" b="1" dirty="0">
                <a:latin typeface="+mn-ea"/>
                <a:ea typeface="+mn-ea"/>
              </a:rPr>
              <a:t>●</a:t>
            </a:r>
          </a:p>
        </p:txBody>
      </p:sp>
      <p:sp>
        <p:nvSpPr>
          <p:cNvPr id="28" name="Text Box 25">
            <a:extLst>
              <a:ext uri="{FF2B5EF4-FFF2-40B4-BE49-F238E27FC236}">
                <a16:creationId xmlns:a16="http://schemas.microsoft.com/office/drawing/2014/main" id="{2A4ACD5D-03EA-94A4-C0C4-0C1A97AA3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753" y="1091219"/>
            <a:ext cx="795411" cy="2616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0"/>
              </a:spcBef>
              <a:buNone/>
              <a:defRPr/>
            </a:pPr>
            <a:r>
              <a:rPr lang="en-US" altLang="ko-KR" sz="1100" b="1">
                <a:latin typeface="+mn-ea"/>
              </a:rPr>
              <a:t>‘26</a:t>
            </a:r>
            <a:r>
              <a:rPr lang="ko-KR" altLang="en-US" sz="1100" b="1">
                <a:latin typeface="+mn-ea"/>
              </a:rPr>
              <a:t>년 </a:t>
            </a:r>
            <a:r>
              <a:rPr lang="en-US" altLang="ko-KR" sz="1100" b="1">
                <a:latin typeface="+mn-ea"/>
              </a:rPr>
              <a:t>1</a:t>
            </a:r>
            <a:r>
              <a:rPr lang="ko-KR" altLang="en-US" sz="1100" b="1">
                <a:latin typeface="+mn-ea"/>
              </a:rPr>
              <a:t>월</a:t>
            </a:r>
            <a:endParaRPr lang="en-US" altLang="ko-KR" sz="1100" b="1">
              <a:latin typeface="+mn-ea"/>
            </a:endParaRPr>
          </a:p>
        </p:txBody>
      </p:sp>
      <p:sp>
        <p:nvSpPr>
          <p:cNvPr id="29" name="Text Box 25">
            <a:extLst>
              <a:ext uri="{FF2B5EF4-FFF2-40B4-BE49-F238E27FC236}">
                <a16:creationId xmlns:a16="http://schemas.microsoft.com/office/drawing/2014/main" id="{E470EFCD-1D06-AFCB-570D-D09275816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852" y="1596029"/>
            <a:ext cx="752024" cy="5027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0"/>
              </a:spcBef>
              <a:buNone/>
              <a:defRPr/>
            </a:pPr>
            <a:r>
              <a:rPr lang="ko-KR" altLang="en-US" sz="10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방미통위</a:t>
            </a:r>
            <a:endParaRPr lang="en-US" altLang="ko-KR" sz="1000" b="1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  <a:p>
            <a:pPr algn="ctr">
              <a:spcBef>
                <a:spcPct val="0"/>
              </a:spcBef>
              <a:buNone/>
              <a:defRPr/>
            </a:pPr>
            <a:r>
              <a:rPr lang="ko-KR" altLang="en-US" sz="10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현장점검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0" name="Text Box 25">
            <a:extLst>
              <a:ext uri="{FF2B5EF4-FFF2-40B4-BE49-F238E27FC236}">
                <a16:creationId xmlns:a16="http://schemas.microsoft.com/office/drawing/2014/main" id="{4F08C9A1-8B3F-FAA9-855D-2904B9A960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0530" y="1091219"/>
            <a:ext cx="407484" cy="2616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100" b="1" dirty="0">
                <a:latin typeface="+mn-ea"/>
                <a:ea typeface="+mn-ea"/>
              </a:rPr>
              <a:t>3</a:t>
            </a:r>
            <a:r>
              <a:rPr lang="ko-KR" altLang="en-US" sz="1100" b="1">
                <a:latin typeface="+mn-ea"/>
                <a:ea typeface="+mn-ea"/>
              </a:rPr>
              <a:t>월</a:t>
            </a:r>
            <a:endParaRPr lang="en-US" altLang="ko-KR" sz="1100" b="1" dirty="0">
              <a:latin typeface="+mn-ea"/>
              <a:ea typeface="+mn-ea"/>
            </a:endParaRPr>
          </a:p>
        </p:txBody>
      </p:sp>
      <p:sp>
        <p:nvSpPr>
          <p:cNvPr id="31" name="TextBox 52">
            <a:extLst>
              <a:ext uri="{FF2B5EF4-FFF2-40B4-BE49-F238E27FC236}">
                <a16:creationId xmlns:a16="http://schemas.microsoft.com/office/drawing/2014/main" id="{44C9D373-3013-6039-69D0-0C5C79DBC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9729" y="1276942"/>
            <a:ext cx="3257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ko-KR" altLang="en-US" sz="1050" b="1" dirty="0">
                <a:latin typeface="+mn-ea"/>
                <a:ea typeface="+mn-ea"/>
              </a:rPr>
              <a:t>●</a:t>
            </a:r>
          </a:p>
        </p:txBody>
      </p:sp>
      <p:sp>
        <p:nvSpPr>
          <p:cNvPr id="32" name="Text Box 25">
            <a:extLst>
              <a:ext uri="{FF2B5EF4-FFF2-40B4-BE49-F238E27FC236}">
                <a16:creationId xmlns:a16="http://schemas.microsoft.com/office/drawing/2014/main" id="{E6C69403-5F03-9211-16C7-EC0B9A8E9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1945" y="1596029"/>
            <a:ext cx="752024" cy="5027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0"/>
              </a:spcBef>
              <a:buNone/>
              <a:defRPr/>
            </a:pPr>
            <a:r>
              <a:rPr lang="en-US" altLang="ko-KR" sz="1000" b="1">
                <a:solidFill>
                  <a:srgbClr val="1919E5"/>
                </a:solidFill>
                <a:latin typeface="+mn-ea"/>
                <a:ea typeface="+mn-ea"/>
              </a:rPr>
              <a:t>3</a:t>
            </a:r>
            <a:r>
              <a:rPr lang="ko-KR" altLang="en-US" sz="1000" b="1">
                <a:solidFill>
                  <a:srgbClr val="1919E5"/>
                </a:solidFill>
                <a:latin typeface="+mn-ea"/>
                <a:ea typeface="+mn-ea"/>
              </a:rPr>
              <a:t>차 제출</a:t>
            </a:r>
            <a:endParaRPr lang="en-US" altLang="ko-KR" sz="1000" b="1">
              <a:solidFill>
                <a:srgbClr val="1919E5"/>
              </a:solidFill>
              <a:latin typeface="+mn-ea"/>
              <a:ea typeface="+mn-ea"/>
            </a:endParaRPr>
          </a:p>
          <a:p>
            <a:pPr algn="ctr">
              <a:spcBef>
                <a:spcPct val="0"/>
              </a:spcBef>
              <a:buNone/>
              <a:defRPr/>
            </a:pPr>
            <a:r>
              <a:rPr lang="ko-KR" altLang="en-US" sz="1000" b="1">
                <a:solidFill>
                  <a:srgbClr val="1919E5"/>
                </a:solidFill>
                <a:latin typeface="+mn-ea"/>
                <a:ea typeface="+mn-ea"/>
              </a:rPr>
              <a:t>준비 중</a:t>
            </a:r>
            <a:endParaRPr lang="en-US" altLang="ko-KR" sz="1000" b="1" dirty="0">
              <a:solidFill>
                <a:srgbClr val="1919E5"/>
              </a:solidFill>
              <a:latin typeface="+mn-ea"/>
              <a:ea typeface="+mn-ea"/>
            </a:endParaRPr>
          </a:p>
        </p:txBody>
      </p:sp>
      <p:sp>
        <p:nvSpPr>
          <p:cNvPr id="33" name="Text Box 25">
            <a:extLst>
              <a:ext uri="{FF2B5EF4-FFF2-40B4-BE49-F238E27FC236}">
                <a16:creationId xmlns:a16="http://schemas.microsoft.com/office/drawing/2014/main" id="{4CA4DED0-FAD7-0B73-C8E9-F7B1E983FA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8575" y="1596029"/>
            <a:ext cx="759544" cy="50271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0"/>
              </a:spcBef>
              <a:buNone/>
              <a:defRPr/>
            </a:pPr>
            <a:r>
              <a:rPr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청문</a:t>
            </a:r>
            <a:br>
              <a:rPr lang="en-US" altLang="ko-KR" sz="1000" b="1" dirty="0">
                <a:solidFill>
                  <a:schemeClr val="bg1"/>
                </a:solidFill>
                <a:latin typeface="+mn-ea"/>
                <a:ea typeface="+mn-ea"/>
              </a:rPr>
            </a:br>
            <a:r>
              <a:rPr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심사</a:t>
            </a:r>
            <a:endParaRPr lang="en-US" altLang="ko-KR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3EAC8CA8-0EC2-74D6-B00C-B5F49CBA6B85}"/>
              </a:ext>
            </a:extLst>
          </p:cNvPr>
          <p:cNvCxnSpPr>
            <a:cxnSpLocks/>
          </p:cNvCxnSpPr>
          <p:nvPr/>
        </p:nvCxnSpPr>
        <p:spPr>
          <a:xfrm>
            <a:off x="2972854" y="1596029"/>
            <a:ext cx="1105067" cy="0"/>
          </a:xfrm>
          <a:prstGeom prst="line">
            <a:avLst/>
          </a:prstGeom>
          <a:ln w="28575">
            <a:solidFill>
              <a:srgbClr val="3760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CE15EEFB-59C5-D7FF-FF5F-D21901BAD4B2}"/>
              </a:ext>
            </a:extLst>
          </p:cNvPr>
          <p:cNvCxnSpPr>
            <a:cxnSpLocks/>
          </p:cNvCxnSpPr>
          <p:nvPr/>
        </p:nvCxnSpPr>
        <p:spPr>
          <a:xfrm>
            <a:off x="4160063" y="1596029"/>
            <a:ext cx="687735" cy="0"/>
          </a:xfrm>
          <a:prstGeom prst="line">
            <a:avLst/>
          </a:prstGeom>
          <a:ln w="28575">
            <a:solidFill>
              <a:srgbClr val="3760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D1C1BB60-A687-FEDB-7CE4-2FE282EE6E74}"/>
              </a:ext>
            </a:extLst>
          </p:cNvPr>
          <p:cNvCxnSpPr>
            <a:cxnSpLocks/>
          </p:cNvCxnSpPr>
          <p:nvPr/>
        </p:nvCxnSpPr>
        <p:spPr>
          <a:xfrm>
            <a:off x="6854008" y="1596029"/>
            <a:ext cx="751868" cy="0"/>
          </a:xfrm>
          <a:prstGeom prst="line">
            <a:avLst/>
          </a:prstGeom>
          <a:ln w="28575">
            <a:solidFill>
              <a:srgbClr val="3760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0D90FC61-E5A0-8DCC-94AD-CAC670F4C65E}"/>
              </a:ext>
            </a:extLst>
          </p:cNvPr>
          <p:cNvCxnSpPr>
            <a:cxnSpLocks/>
          </p:cNvCxnSpPr>
          <p:nvPr/>
        </p:nvCxnSpPr>
        <p:spPr>
          <a:xfrm>
            <a:off x="7698549" y="1596029"/>
            <a:ext cx="739636" cy="0"/>
          </a:xfrm>
          <a:prstGeom prst="line">
            <a:avLst/>
          </a:prstGeom>
          <a:ln w="28575">
            <a:solidFill>
              <a:srgbClr val="3760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D462E63F-09D4-B076-C34E-134153EE3231}"/>
              </a:ext>
            </a:extLst>
          </p:cNvPr>
          <p:cNvCxnSpPr>
            <a:cxnSpLocks/>
          </p:cNvCxnSpPr>
          <p:nvPr/>
        </p:nvCxnSpPr>
        <p:spPr>
          <a:xfrm>
            <a:off x="8524395" y="1596029"/>
            <a:ext cx="759544" cy="0"/>
          </a:xfrm>
          <a:prstGeom prst="line">
            <a:avLst/>
          </a:prstGeom>
          <a:ln w="28575">
            <a:solidFill>
              <a:srgbClr val="3760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23D94C2-C548-DA04-18AD-F8A32FA68AEB}"/>
              </a:ext>
            </a:extLst>
          </p:cNvPr>
          <p:cNvGrpSpPr/>
          <p:nvPr/>
        </p:nvGrpSpPr>
        <p:grpSpPr>
          <a:xfrm>
            <a:off x="646190" y="1528816"/>
            <a:ext cx="1090673" cy="59702"/>
            <a:chOff x="1173791" y="1651237"/>
            <a:chExt cx="1090673" cy="59702"/>
          </a:xfrm>
        </p:grpSpPr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44524D93-DE13-1CD8-6A70-2ADA62E0524F}"/>
                </a:ext>
              </a:extLst>
            </p:cNvPr>
            <p:cNvCxnSpPr>
              <a:cxnSpLocks/>
            </p:cNvCxnSpPr>
            <p:nvPr/>
          </p:nvCxnSpPr>
          <p:spPr>
            <a:xfrm>
              <a:off x="1173791" y="1710939"/>
              <a:ext cx="1090673" cy="0"/>
            </a:xfrm>
            <a:prstGeom prst="line">
              <a:avLst/>
            </a:prstGeom>
            <a:ln w="28575">
              <a:solidFill>
                <a:srgbClr val="37609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직각 삼각형 40">
              <a:extLst>
                <a:ext uri="{FF2B5EF4-FFF2-40B4-BE49-F238E27FC236}">
                  <a16:creationId xmlns:a16="http://schemas.microsoft.com/office/drawing/2014/main" id="{4CB32F1F-CAC0-1C71-E26A-35DF3BAE1DF3}"/>
                </a:ext>
              </a:extLst>
            </p:cNvPr>
            <p:cNvSpPr/>
            <p:nvPr/>
          </p:nvSpPr>
          <p:spPr>
            <a:xfrm>
              <a:off x="2158802" y="1651237"/>
              <a:ext cx="94868" cy="45719"/>
            </a:xfrm>
            <a:prstGeom prst="rtTriangle">
              <a:avLst/>
            </a:prstGeom>
            <a:solidFill>
              <a:srgbClr val="376092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" dirty="0">
                <a:latin typeface="+mn-ea"/>
              </a:endParaRPr>
            </a:p>
          </p:txBody>
        </p:sp>
      </p:grpSp>
      <p:sp>
        <p:nvSpPr>
          <p:cNvPr id="42" name="직각 삼각형 41">
            <a:extLst>
              <a:ext uri="{FF2B5EF4-FFF2-40B4-BE49-F238E27FC236}">
                <a16:creationId xmlns:a16="http://schemas.microsoft.com/office/drawing/2014/main" id="{99EC6C66-0E0F-01E8-71E3-2756026EEB6D}"/>
              </a:ext>
            </a:extLst>
          </p:cNvPr>
          <p:cNvSpPr/>
          <p:nvPr/>
        </p:nvSpPr>
        <p:spPr>
          <a:xfrm>
            <a:off x="3980994" y="1550310"/>
            <a:ext cx="94868" cy="45719"/>
          </a:xfrm>
          <a:prstGeom prst="rtTriangle">
            <a:avLst/>
          </a:prstGeom>
          <a:solidFill>
            <a:srgbClr val="376092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" dirty="0">
              <a:latin typeface="+mn-ea"/>
            </a:endParaRPr>
          </a:p>
        </p:txBody>
      </p:sp>
      <p:sp>
        <p:nvSpPr>
          <p:cNvPr id="43" name="직각 삼각형 42">
            <a:extLst>
              <a:ext uri="{FF2B5EF4-FFF2-40B4-BE49-F238E27FC236}">
                <a16:creationId xmlns:a16="http://schemas.microsoft.com/office/drawing/2014/main" id="{EF2A22BA-5F31-F949-56AB-4BA59EB3A94E}"/>
              </a:ext>
            </a:extLst>
          </p:cNvPr>
          <p:cNvSpPr/>
          <p:nvPr/>
        </p:nvSpPr>
        <p:spPr>
          <a:xfrm>
            <a:off x="4760742" y="1550310"/>
            <a:ext cx="94868" cy="45719"/>
          </a:xfrm>
          <a:prstGeom prst="rtTriangle">
            <a:avLst/>
          </a:prstGeom>
          <a:solidFill>
            <a:srgbClr val="376092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" dirty="0">
              <a:latin typeface="+mn-ea"/>
            </a:endParaRPr>
          </a:p>
        </p:txBody>
      </p:sp>
      <p:sp>
        <p:nvSpPr>
          <p:cNvPr id="44" name="직각 삼각형 43">
            <a:extLst>
              <a:ext uri="{FF2B5EF4-FFF2-40B4-BE49-F238E27FC236}">
                <a16:creationId xmlns:a16="http://schemas.microsoft.com/office/drawing/2014/main" id="{F5C82595-F58F-8200-E569-0A3D75F40DC5}"/>
              </a:ext>
            </a:extLst>
          </p:cNvPr>
          <p:cNvSpPr/>
          <p:nvPr/>
        </p:nvSpPr>
        <p:spPr>
          <a:xfrm>
            <a:off x="7534083" y="1550310"/>
            <a:ext cx="104355" cy="45719"/>
          </a:xfrm>
          <a:prstGeom prst="rtTriangle">
            <a:avLst/>
          </a:prstGeom>
          <a:solidFill>
            <a:srgbClr val="376092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" dirty="0">
              <a:latin typeface="+mn-ea"/>
            </a:endParaRPr>
          </a:p>
        </p:txBody>
      </p:sp>
      <p:sp>
        <p:nvSpPr>
          <p:cNvPr id="45" name="Text Box 25">
            <a:extLst>
              <a:ext uri="{FF2B5EF4-FFF2-40B4-BE49-F238E27FC236}">
                <a16:creationId xmlns:a16="http://schemas.microsoft.com/office/drawing/2014/main" id="{2BEBE4E1-32B8-4E44-563B-8E678C403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6116" y="1596029"/>
            <a:ext cx="1078062" cy="5027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0"/>
              </a:spcBef>
              <a:buNone/>
              <a:defRPr/>
            </a:pP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‘26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년 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~ ’32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년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  <a:p>
            <a:pPr algn="ctr">
              <a:spcBef>
                <a:spcPct val="0"/>
              </a:spcBef>
              <a:buNone/>
              <a:defRPr/>
            </a:pP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계획 수립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225C8B1D-E265-B9F8-DD6D-723D3A542553}"/>
              </a:ext>
            </a:extLst>
          </p:cNvPr>
          <p:cNvCxnSpPr>
            <a:cxnSpLocks/>
          </p:cNvCxnSpPr>
          <p:nvPr/>
        </p:nvCxnSpPr>
        <p:spPr>
          <a:xfrm>
            <a:off x="1811660" y="1596029"/>
            <a:ext cx="1072518" cy="0"/>
          </a:xfrm>
          <a:prstGeom prst="line">
            <a:avLst/>
          </a:prstGeom>
          <a:ln w="28575">
            <a:solidFill>
              <a:srgbClr val="3760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각 삼각형 47">
            <a:extLst>
              <a:ext uri="{FF2B5EF4-FFF2-40B4-BE49-F238E27FC236}">
                <a16:creationId xmlns:a16="http://schemas.microsoft.com/office/drawing/2014/main" id="{BCA77A0A-1582-2CEC-58FF-882CB1F66970}"/>
              </a:ext>
            </a:extLst>
          </p:cNvPr>
          <p:cNvSpPr/>
          <p:nvPr/>
        </p:nvSpPr>
        <p:spPr>
          <a:xfrm>
            <a:off x="2789310" y="1550310"/>
            <a:ext cx="94868" cy="45719"/>
          </a:xfrm>
          <a:prstGeom prst="rtTriangle">
            <a:avLst/>
          </a:prstGeom>
          <a:solidFill>
            <a:srgbClr val="376092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" dirty="0">
              <a:latin typeface="+mn-ea"/>
            </a:endParaRPr>
          </a:p>
        </p:txBody>
      </p:sp>
      <p:sp>
        <p:nvSpPr>
          <p:cNvPr id="52" name="Text Box 25">
            <a:extLst>
              <a:ext uri="{FF2B5EF4-FFF2-40B4-BE49-F238E27FC236}">
                <a16:creationId xmlns:a16="http://schemas.microsoft.com/office/drawing/2014/main" id="{ECCCAD92-B64A-A5D7-4806-85021CBD8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50" y="1596029"/>
            <a:ext cx="912955" cy="5027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0"/>
              </a:spcBef>
              <a:buNone/>
              <a:defRPr/>
            </a:pPr>
            <a:r>
              <a:rPr lang="ko-KR" altLang="en-US" sz="1000" b="1">
                <a:latin typeface="+mn-ea"/>
                <a:ea typeface="+mn-ea"/>
              </a:rPr>
              <a:t>승인장 및</a:t>
            </a:r>
            <a:endParaRPr lang="en-US" altLang="ko-KR" sz="1000" b="1" dirty="0">
              <a:latin typeface="+mn-ea"/>
              <a:ea typeface="+mn-ea"/>
            </a:endParaRPr>
          </a:p>
          <a:p>
            <a:pPr algn="ctr">
              <a:spcBef>
                <a:spcPct val="0"/>
              </a:spcBef>
              <a:buNone/>
              <a:defRPr/>
            </a:pPr>
            <a:r>
              <a:rPr lang="ko-KR" altLang="en-US" sz="1000" b="1" dirty="0">
                <a:latin typeface="+mn-ea"/>
                <a:ea typeface="+mn-ea"/>
              </a:rPr>
              <a:t>조건 부여</a:t>
            </a:r>
            <a:endParaRPr lang="en-US" altLang="ko-KR" sz="1000" b="1" dirty="0">
              <a:latin typeface="+mn-ea"/>
              <a:ea typeface="+mn-ea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066D290E-05B1-7F5F-7DDE-81B28EB77236}"/>
              </a:ext>
            </a:extLst>
          </p:cNvPr>
          <p:cNvCxnSpPr>
            <a:cxnSpLocks/>
          </p:cNvCxnSpPr>
          <p:nvPr/>
        </p:nvCxnSpPr>
        <p:spPr>
          <a:xfrm>
            <a:off x="9348822" y="1596029"/>
            <a:ext cx="910393" cy="0"/>
          </a:xfrm>
          <a:prstGeom prst="line">
            <a:avLst/>
          </a:prstGeom>
          <a:ln w="28575">
            <a:solidFill>
              <a:srgbClr val="3760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각 삼각형 54">
            <a:extLst>
              <a:ext uri="{FF2B5EF4-FFF2-40B4-BE49-F238E27FC236}">
                <a16:creationId xmlns:a16="http://schemas.microsoft.com/office/drawing/2014/main" id="{683F4EF8-7E78-F6F5-537D-313582211FB9}"/>
              </a:ext>
            </a:extLst>
          </p:cNvPr>
          <p:cNvSpPr/>
          <p:nvPr/>
        </p:nvSpPr>
        <p:spPr>
          <a:xfrm>
            <a:off x="8333829" y="1550310"/>
            <a:ext cx="104355" cy="45719"/>
          </a:xfrm>
          <a:prstGeom prst="rtTriangle">
            <a:avLst/>
          </a:prstGeom>
          <a:solidFill>
            <a:srgbClr val="376092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" dirty="0">
              <a:latin typeface="+mn-ea"/>
            </a:endParaRPr>
          </a:p>
        </p:txBody>
      </p:sp>
      <p:sp>
        <p:nvSpPr>
          <p:cNvPr id="56" name="직각 삼각형 55">
            <a:extLst>
              <a:ext uri="{FF2B5EF4-FFF2-40B4-BE49-F238E27FC236}">
                <a16:creationId xmlns:a16="http://schemas.microsoft.com/office/drawing/2014/main" id="{2BB3E5A2-B165-5398-ECED-2D19610AF864}"/>
              </a:ext>
            </a:extLst>
          </p:cNvPr>
          <p:cNvSpPr/>
          <p:nvPr/>
        </p:nvSpPr>
        <p:spPr>
          <a:xfrm>
            <a:off x="10158950" y="1550310"/>
            <a:ext cx="104355" cy="45719"/>
          </a:xfrm>
          <a:prstGeom prst="rtTriangle">
            <a:avLst/>
          </a:prstGeom>
          <a:solidFill>
            <a:srgbClr val="376092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" name="TextBox 52">
            <a:extLst>
              <a:ext uri="{FF2B5EF4-FFF2-40B4-BE49-F238E27FC236}">
                <a16:creationId xmlns:a16="http://schemas.microsoft.com/office/drawing/2014/main" id="{A8F26C5A-F066-7C65-DFCB-BF638BDB3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3557" y="1276942"/>
            <a:ext cx="3257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ko-KR" altLang="en-US" sz="1050" b="1" dirty="0">
                <a:latin typeface="+mn-ea"/>
                <a:ea typeface="+mn-ea"/>
              </a:rPr>
              <a:t>●</a:t>
            </a:r>
          </a:p>
        </p:txBody>
      </p:sp>
      <p:sp>
        <p:nvSpPr>
          <p:cNvPr id="58" name="TextBox 52">
            <a:extLst>
              <a:ext uri="{FF2B5EF4-FFF2-40B4-BE49-F238E27FC236}">
                <a16:creationId xmlns:a16="http://schemas.microsoft.com/office/drawing/2014/main" id="{24FB285A-0DCF-F675-75DF-E5183BFB2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4986" y="1276942"/>
            <a:ext cx="3257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ko-KR" altLang="en-US" sz="1050" b="1" dirty="0">
                <a:latin typeface="+mn-ea"/>
                <a:ea typeface="+mn-ea"/>
              </a:rPr>
              <a:t>●</a:t>
            </a:r>
          </a:p>
        </p:txBody>
      </p:sp>
      <p:sp>
        <p:nvSpPr>
          <p:cNvPr id="62" name="TextBox 66">
            <a:extLst>
              <a:ext uri="{FF2B5EF4-FFF2-40B4-BE49-F238E27FC236}">
                <a16:creationId xmlns:a16="http://schemas.microsoft.com/office/drawing/2014/main" id="{A496901D-E3A0-2B61-917E-390B35A28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8147" y="1276942"/>
            <a:ext cx="3257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ko-KR" altLang="en-US" sz="1050" b="1" dirty="0">
                <a:latin typeface="+mn-ea"/>
                <a:ea typeface="+mn-ea"/>
              </a:rPr>
              <a:t>●</a:t>
            </a:r>
          </a:p>
        </p:txBody>
      </p:sp>
      <p:sp>
        <p:nvSpPr>
          <p:cNvPr id="63" name="Text Box 25">
            <a:extLst>
              <a:ext uri="{FF2B5EF4-FFF2-40B4-BE49-F238E27FC236}">
                <a16:creationId xmlns:a16="http://schemas.microsoft.com/office/drawing/2014/main" id="{BF7D645E-E121-2DDA-8788-BB31315C2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2600" y="1091219"/>
            <a:ext cx="492443" cy="2616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100" b="1" dirty="0">
                <a:latin typeface="+mn-ea"/>
                <a:ea typeface="+mn-ea"/>
              </a:rPr>
              <a:t>4/18</a:t>
            </a:r>
          </a:p>
        </p:txBody>
      </p:sp>
      <p:sp>
        <p:nvSpPr>
          <p:cNvPr id="64" name="직각 삼각형 63">
            <a:extLst>
              <a:ext uri="{FF2B5EF4-FFF2-40B4-BE49-F238E27FC236}">
                <a16:creationId xmlns:a16="http://schemas.microsoft.com/office/drawing/2014/main" id="{A50CB431-CFC6-BD72-3A26-6B42A2CA0FD1}"/>
              </a:ext>
            </a:extLst>
          </p:cNvPr>
          <p:cNvSpPr/>
          <p:nvPr/>
        </p:nvSpPr>
        <p:spPr>
          <a:xfrm>
            <a:off x="9173764" y="1550310"/>
            <a:ext cx="104355" cy="45719"/>
          </a:xfrm>
          <a:prstGeom prst="rtTriangle">
            <a:avLst/>
          </a:prstGeom>
          <a:solidFill>
            <a:srgbClr val="376092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" dirty="0">
              <a:latin typeface="+mn-ea"/>
            </a:endParaRPr>
          </a:p>
        </p:txBody>
      </p:sp>
      <p:sp>
        <p:nvSpPr>
          <p:cNvPr id="65" name="TextBox 66">
            <a:extLst>
              <a:ext uri="{FF2B5EF4-FFF2-40B4-BE49-F238E27FC236}">
                <a16:creationId xmlns:a16="http://schemas.microsoft.com/office/drawing/2014/main" id="{B1F16DA7-35F0-837B-98F4-B1D932052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6560" y="1276942"/>
            <a:ext cx="3257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ko-KR" altLang="en-US" sz="1050" b="1" dirty="0">
                <a:latin typeface="+mn-ea"/>
                <a:ea typeface="+mn-ea"/>
              </a:rPr>
              <a:t>●</a:t>
            </a:r>
          </a:p>
        </p:txBody>
      </p:sp>
      <p:sp>
        <p:nvSpPr>
          <p:cNvPr id="66" name="Text Box 25">
            <a:extLst>
              <a:ext uri="{FF2B5EF4-FFF2-40B4-BE49-F238E27FC236}">
                <a16:creationId xmlns:a16="http://schemas.microsoft.com/office/drawing/2014/main" id="{D6A242B5-3F4A-BDD9-CA50-8CE6AAEE9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8112" y="1091219"/>
            <a:ext cx="598242" cy="2616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100" b="1">
                <a:latin typeface="+mn-ea"/>
                <a:ea typeface="+mn-ea"/>
              </a:rPr>
              <a:t>3</a:t>
            </a:r>
            <a:r>
              <a:rPr lang="ko-KR" altLang="en-US" sz="1100" b="1">
                <a:latin typeface="+mn-ea"/>
                <a:ea typeface="+mn-ea"/>
              </a:rPr>
              <a:t>월 중</a:t>
            </a:r>
            <a:endParaRPr lang="en-US" altLang="ko-KR" sz="1100" b="1" dirty="0">
              <a:latin typeface="+mn-ea"/>
              <a:ea typeface="+mn-ea"/>
            </a:endParaRPr>
          </a:p>
        </p:txBody>
      </p:sp>
      <p:sp>
        <p:nvSpPr>
          <p:cNvPr id="67" name="Text Box 25">
            <a:extLst>
              <a:ext uri="{FF2B5EF4-FFF2-40B4-BE49-F238E27FC236}">
                <a16:creationId xmlns:a16="http://schemas.microsoft.com/office/drawing/2014/main" id="{A8D7C1D9-1F08-DAA6-F8B3-474A2F1A22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8277" y="1596029"/>
            <a:ext cx="934706" cy="5027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0"/>
              </a:spcBef>
              <a:buNone/>
              <a:defRPr/>
            </a:pPr>
            <a:r>
              <a:rPr lang="ko-KR" altLang="en-US" sz="10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방미통위</a:t>
            </a:r>
            <a:endParaRPr lang="en-US" altLang="ko-KR" sz="1000" b="1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  <a:p>
            <a:pPr algn="ctr">
              <a:spcBef>
                <a:spcPct val="0"/>
              </a:spcBef>
              <a:buNone/>
              <a:defRPr/>
            </a:pPr>
            <a:r>
              <a:rPr lang="ko-KR" altLang="en-US" sz="1000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수정요청 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반영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95E118F0-292A-B89C-A26E-612DA579D217}"/>
              </a:ext>
            </a:extLst>
          </p:cNvPr>
          <p:cNvCxnSpPr>
            <a:cxnSpLocks/>
          </p:cNvCxnSpPr>
          <p:nvPr/>
        </p:nvCxnSpPr>
        <p:spPr>
          <a:xfrm>
            <a:off x="4953190" y="1588518"/>
            <a:ext cx="943447" cy="7511"/>
          </a:xfrm>
          <a:prstGeom prst="line">
            <a:avLst/>
          </a:prstGeom>
          <a:ln w="28575">
            <a:solidFill>
              <a:srgbClr val="3760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각 삼각형 70">
            <a:extLst>
              <a:ext uri="{FF2B5EF4-FFF2-40B4-BE49-F238E27FC236}">
                <a16:creationId xmlns:a16="http://schemas.microsoft.com/office/drawing/2014/main" id="{097BC508-8A38-C4C1-A8F4-1F5EB114B190}"/>
              </a:ext>
            </a:extLst>
          </p:cNvPr>
          <p:cNvSpPr/>
          <p:nvPr/>
        </p:nvSpPr>
        <p:spPr>
          <a:xfrm>
            <a:off x="5788114" y="1550310"/>
            <a:ext cx="94868" cy="45719"/>
          </a:xfrm>
          <a:prstGeom prst="rtTriangle">
            <a:avLst/>
          </a:prstGeom>
          <a:solidFill>
            <a:srgbClr val="376092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" dirty="0">
              <a:latin typeface="+mn-ea"/>
            </a:endParaRPr>
          </a:p>
        </p:txBody>
      </p:sp>
      <p:sp>
        <p:nvSpPr>
          <p:cNvPr id="74" name="Text Box 25">
            <a:extLst>
              <a:ext uri="{FF2B5EF4-FFF2-40B4-BE49-F238E27FC236}">
                <a16:creationId xmlns:a16="http://schemas.microsoft.com/office/drawing/2014/main" id="{9376D5CA-3790-6B79-A8A8-998C92192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34056" y="1602802"/>
            <a:ext cx="1240152" cy="5027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0"/>
              </a:spcBef>
              <a:buNone/>
              <a:defRPr/>
            </a:pPr>
            <a:r>
              <a:rPr lang="ko-KR" altLang="en-US" sz="1000" b="1" dirty="0">
                <a:solidFill>
                  <a:srgbClr val="0000FF"/>
                </a:solidFill>
                <a:latin typeface="+mn-ea"/>
                <a:ea typeface="+mn-ea"/>
              </a:rPr>
              <a:t>조건 협의</a:t>
            </a:r>
            <a:endParaRPr lang="en-US" altLang="ko-KR" sz="1000" b="1" dirty="0">
              <a:solidFill>
                <a:srgbClr val="0000FF"/>
              </a:solidFill>
              <a:latin typeface="+mn-ea"/>
              <a:ea typeface="+mn-ea"/>
            </a:endParaRPr>
          </a:p>
          <a:p>
            <a:pPr algn="ctr">
              <a:spcBef>
                <a:spcPct val="0"/>
              </a:spcBef>
              <a:buNone/>
              <a:defRPr/>
            </a:pPr>
            <a:r>
              <a:rPr lang="en-US" altLang="ko-KR" sz="1000" b="1" dirty="0">
                <a:solidFill>
                  <a:srgbClr val="0000FF"/>
                </a:solidFill>
                <a:latin typeface="+mn-ea"/>
                <a:ea typeface="+mn-ea"/>
              </a:rPr>
              <a:t>(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  <a:ea typeface="+mn-ea"/>
              </a:rPr>
              <a:t>청문심사 후 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  <a:ea typeface="+mn-ea"/>
              </a:rPr>
              <a:t>2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  <a:ea typeface="+mn-ea"/>
              </a:rPr>
              <a:t>개월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  <a:ea typeface="+mn-ea"/>
              </a:rPr>
              <a:t>)</a:t>
            </a: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23CF47E6-0A5D-3BF9-A753-A9ADB6295CE2}"/>
              </a:ext>
            </a:extLst>
          </p:cNvPr>
          <p:cNvCxnSpPr>
            <a:cxnSpLocks/>
          </p:cNvCxnSpPr>
          <p:nvPr/>
        </p:nvCxnSpPr>
        <p:spPr>
          <a:xfrm>
            <a:off x="10332528" y="1602802"/>
            <a:ext cx="1241680" cy="0"/>
          </a:xfrm>
          <a:prstGeom prst="line">
            <a:avLst/>
          </a:prstGeom>
          <a:ln w="28575">
            <a:solidFill>
              <a:srgbClr val="3760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각 삼각형 75">
            <a:extLst>
              <a:ext uri="{FF2B5EF4-FFF2-40B4-BE49-F238E27FC236}">
                <a16:creationId xmlns:a16="http://schemas.microsoft.com/office/drawing/2014/main" id="{AECC5CAD-8B7B-436E-6139-2C27332156B1}"/>
              </a:ext>
            </a:extLst>
          </p:cNvPr>
          <p:cNvSpPr/>
          <p:nvPr/>
        </p:nvSpPr>
        <p:spPr>
          <a:xfrm>
            <a:off x="11467882" y="1557082"/>
            <a:ext cx="104355" cy="45719"/>
          </a:xfrm>
          <a:prstGeom prst="rtTriangle">
            <a:avLst/>
          </a:prstGeom>
          <a:solidFill>
            <a:srgbClr val="376092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5E62E-A4B7-E759-41D1-86439412D780}"/>
              </a:ext>
            </a:extLst>
          </p:cNvPr>
          <p:cNvSpPr txBox="1"/>
          <p:nvPr/>
        </p:nvSpPr>
        <p:spPr>
          <a:xfrm>
            <a:off x="7843993" y="2336159"/>
            <a:ext cx="2108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b="1" dirty="0">
                <a:latin typeface="+mn-ea"/>
              </a:rPr>
              <a:t>제출한 재승인 사업계획에 대한</a:t>
            </a:r>
            <a:endParaRPr lang="en-US" altLang="ko-KR" sz="900" b="1" dirty="0">
              <a:latin typeface="+mn-ea"/>
            </a:endParaRPr>
          </a:p>
          <a:p>
            <a:pPr algn="ctr"/>
            <a:r>
              <a:rPr lang="ko-KR" altLang="en-US" sz="900" b="1" dirty="0">
                <a:latin typeface="+mn-ea"/>
              </a:rPr>
              <a:t>경영진 질문 및 청취</a:t>
            </a:r>
            <a:endParaRPr lang="en-US" altLang="ko-KR" sz="900" b="1" dirty="0">
              <a:latin typeface="+mn-ea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4D68138-30D9-C169-B81C-5C47B8B8DD6A}"/>
              </a:ext>
            </a:extLst>
          </p:cNvPr>
          <p:cNvSpPr txBox="1"/>
          <p:nvPr/>
        </p:nvSpPr>
        <p:spPr>
          <a:xfrm>
            <a:off x="9899014" y="2336159"/>
            <a:ext cx="2108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b="1" dirty="0">
                <a:latin typeface="+mn-ea"/>
              </a:rPr>
              <a:t>심사결과에 따라 </a:t>
            </a:r>
            <a:endParaRPr lang="en-US" altLang="ko-KR" sz="900" b="1" dirty="0">
              <a:latin typeface="+mn-ea"/>
            </a:endParaRPr>
          </a:p>
          <a:p>
            <a:pPr algn="ctr"/>
            <a:r>
              <a:rPr lang="en-US" altLang="ko-KR" sz="900" b="1" dirty="0">
                <a:latin typeface="+mn-ea"/>
              </a:rPr>
              <a:t>2</a:t>
            </a:r>
            <a:r>
              <a:rPr lang="ko-KR" altLang="en-US" sz="900" b="1" dirty="0">
                <a:latin typeface="+mn-ea"/>
              </a:rPr>
              <a:t>개월 이내 계획 제출 및 승인</a:t>
            </a:r>
            <a:endParaRPr lang="ko-KR" altLang="en-US" sz="900" dirty="0"/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79A34B62-FFBE-DB18-4C16-14604D2BC8AA}"/>
              </a:ext>
            </a:extLst>
          </p:cNvPr>
          <p:cNvCxnSpPr>
            <a:stCxn id="33" idx="2"/>
            <a:endCxn id="80" idx="0"/>
          </p:cNvCxnSpPr>
          <p:nvPr/>
        </p:nvCxnSpPr>
        <p:spPr>
          <a:xfrm>
            <a:off x="8898347" y="2098745"/>
            <a:ext cx="0" cy="237414"/>
          </a:xfrm>
          <a:prstGeom prst="straightConnector1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82982398-D354-C101-D4CE-669F3A7583B9}"/>
              </a:ext>
            </a:extLst>
          </p:cNvPr>
          <p:cNvCxnSpPr>
            <a:cxnSpLocks/>
            <a:stCxn id="74" idx="2"/>
            <a:endCxn id="81" idx="0"/>
          </p:cNvCxnSpPr>
          <p:nvPr/>
        </p:nvCxnSpPr>
        <p:spPr>
          <a:xfrm flipH="1">
            <a:off x="10953368" y="2105518"/>
            <a:ext cx="764" cy="230641"/>
          </a:xfrm>
          <a:prstGeom prst="straightConnector1">
            <a:avLst/>
          </a:prstGeom>
          <a:ln w="12700">
            <a:solidFill>
              <a:schemeClr val="tx1"/>
            </a:solidFill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Box 25">
            <a:extLst>
              <a:ext uri="{FF2B5EF4-FFF2-40B4-BE49-F238E27FC236}">
                <a16:creationId xmlns:a16="http://schemas.microsoft.com/office/drawing/2014/main" id="{352D649B-4C79-2E9C-0ACD-97D621F2E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4421" y="1596029"/>
            <a:ext cx="752024" cy="5027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0"/>
              </a:spcBef>
              <a:buNone/>
              <a:defRPr/>
            </a:pP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’25</a:t>
            </a: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년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  <a:p>
            <a:pPr algn="ctr">
              <a:spcBef>
                <a:spcPct val="0"/>
              </a:spcBef>
              <a:buNone/>
              <a:defRPr/>
            </a:pPr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실적 반영</a:t>
            </a:r>
            <a:endParaRPr lang="en-US" altLang="ko-KR" sz="1000" b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A45211C-32D3-1BBC-2F51-725D01358173}"/>
              </a:ext>
            </a:extLst>
          </p:cNvPr>
          <p:cNvCxnSpPr>
            <a:cxnSpLocks/>
          </p:cNvCxnSpPr>
          <p:nvPr/>
        </p:nvCxnSpPr>
        <p:spPr>
          <a:xfrm>
            <a:off x="5973644" y="1596029"/>
            <a:ext cx="793998" cy="0"/>
          </a:xfrm>
          <a:prstGeom prst="line">
            <a:avLst/>
          </a:prstGeom>
          <a:ln w="28575">
            <a:solidFill>
              <a:srgbClr val="3760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각 삼각형 5">
            <a:extLst>
              <a:ext uri="{FF2B5EF4-FFF2-40B4-BE49-F238E27FC236}">
                <a16:creationId xmlns:a16="http://schemas.microsoft.com/office/drawing/2014/main" id="{40B272FA-DC8A-B8A4-D415-44537869FAC1}"/>
              </a:ext>
            </a:extLst>
          </p:cNvPr>
          <p:cNvSpPr/>
          <p:nvPr/>
        </p:nvSpPr>
        <p:spPr>
          <a:xfrm>
            <a:off x="6668738" y="1550310"/>
            <a:ext cx="94868" cy="45719"/>
          </a:xfrm>
          <a:prstGeom prst="rtTriangle">
            <a:avLst/>
          </a:prstGeom>
          <a:solidFill>
            <a:srgbClr val="376092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D2BAE2-4D3C-1ADC-C3FB-E377C0517943}"/>
              </a:ext>
            </a:extLst>
          </p:cNvPr>
          <p:cNvSpPr txBox="1"/>
          <p:nvPr/>
        </p:nvSpPr>
        <p:spPr>
          <a:xfrm>
            <a:off x="5383836" y="900595"/>
            <a:ext cx="10119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>
                <a:solidFill>
                  <a:schemeClr val="bg1">
                    <a:lumMod val="65000"/>
                  </a:schemeClr>
                </a:solidFill>
                <a:latin typeface="+mn-ea"/>
              </a:rPr>
              <a:t>2</a:t>
            </a:r>
            <a:r>
              <a:rPr lang="ko-KR" altLang="en-US" sz="900" b="1">
                <a:solidFill>
                  <a:schemeClr val="bg1">
                    <a:lumMod val="65000"/>
                  </a:schemeClr>
                </a:solidFill>
                <a:latin typeface="+mn-ea"/>
              </a:rPr>
              <a:t>차 제출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51" name="Text Box 25">
            <a:extLst>
              <a:ext uri="{FF2B5EF4-FFF2-40B4-BE49-F238E27FC236}">
                <a16:creationId xmlns:a16="http://schemas.microsoft.com/office/drawing/2014/main" id="{A18971A4-39A4-2397-6821-05DCA9B30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123" y="2768726"/>
            <a:ext cx="7738437" cy="35675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0"/>
              </a:spcBef>
              <a:buNone/>
              <a:defRPr/>
            </a:pPr>
            <a:r>
              <a:rPr lang="ko-KR" altLang="en-US" sz="1100" b="1" dirty="0" err="1">
                <a:latin typeface="+mn-ea"/>
                <a:ea typeface="+mn-ea"/>
              </a:rPr>
              <a:t>승인장</a:t>
            </a:r>
            <a:r>
              <a:rPr lang="ko-KR" altLang="en-US" sz="1100" b="1" dirty="0">
                <a:latin typeface="+mn-ea"/>
                <a:ea typeface="+mn-ea"/>
              </a:rPr>
              <a:t> 및 승인 조건 부여</a:t>
            </a:r>
            <a:endParaRPr lang="en-US" altLang="ko-KR" sz="1100" b="1" dirty="0">
              <a:latin typeface="+mn-ea"/>
              <a:ea typeface="+mn-ea"/>
            </a:endParaRPr>
          </a:p>
        </p:txBody>
      </p:sp>
      <p:pic>
        <p:nvPicPr>
          <p:cNvPr id="60" name="그림 5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290C3B-D9C6-CED7-B421-AA3551AAD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36" y="3125481"/>
            <a:ext cx="3745967" cy="3641931"/>
          </a:xfrm>
          <a:prstGeom prst="rect">
            <a:avLst/>
          </a:prstGeom>
        </p:spPr>
      </p:pic>
      <p:pic>
        <p:nvPicPr>
          <p:cNvPr id="72" name="그림 7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BE0779-8FAC-600A-1DF6-78D05F29C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909" y="3386476"/>
            <a:ext cx="3799687" cy="2309474"/>
          </a:xfrm>
          <a:prstGeom prst="rect">
            <a:avLst/>
          </a:prstGeom>
        </p:spPr>
      </p:pic>
      <p:sp>
        <p:nvSpPr>
          <p:cNvPr id="73" name="직사각형 72">
            <a:extLst>
              <a:ext uri="{FF2B5EF4-FFF2-40B4-BE49-F238E27FC236}">
                <a16:creationId xmlns:a16="http://schemas.microsoft.com/office/drawing/2014/main" id="{373563EB-2B47-74A1-3B7F-07EB2D0F46D5}"/>
              </a:ext>
            </a:extLst>
          </p:cNvPr>
          <p:cNvSpPr/>
          <p:nvPr/>
        </p:nvSpPr>
        <p:spPr>
          <a:xfrm>
            <a:off x="4592376" y="5298968"/>
            <a:ext cx="3714288" cy="346182"/>
          </a:xfrm>
          <a:prstGeom prst="rect">
            <a:avLst/>
          </a:prstGeom>
          <a:noFill/>
          <a:ln w="22225">
            <a:solidFill>
              <a:srgbClr val="3760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 Box 25">
            <a:extLst>
              <a:ext uri="{FF2B5EF4-FFF2-40B4-BE49-F238E27FC236}">
                <a16:creationId xmlns:a16="http://schemas.microsoft.com/office/drawing/2014/main" id="{2C1E5E7F-1DB7-F6EA-EA23-AD9CDBE57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8184" y="2768726"/>
            <a:ext cx="3319396" cy="35675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0"/>
              </a:spcBef>
              <a:buNone/>
              <a:defRPr/>
            </a:pPr>
            <a:r>
              <a:rPr lang="ko-KR" altLang="en-US" sz="1100" b="1" dirty="0">
                <a:latin typeface="+mn-ea"/>
                <a:ea typeface="+mn-ea"/>
              </a:rPr>
              <a:t>조건 협의</a:t>
            </a:r>
            <a:endParaRPr lang="en-US" altLang="ko-KR" sz="1100" b="1" dirty="0">
              <a:latin typeface="+mn-ea"/>
              <a:ea typeface="+mn-ea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BA92C40-D02A-0E63-21D9-967B113C676C}"/>
              </a:ext>
            </a:extLst>
          </p:cNvPr>
          <p:cNvSpPr txBox="1"/>
          <p:nvPr/>
        </p:nvSpPr>
        <p:spPr>
          <a:xfrm>
            <a:off x="3619500" y="6079038"/>
            <a:ext cx="4708287" cy="5674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37609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/>
              <a:t>중소기업 상품에 대한 </a:t>
            </a:r>
            <a:r>
              <a:rPr lang="ko-KR" altLang="en-US" sz="1100" b="1" dirty="0" err="1"/>
              <a:t>판매수수료율</a:t>
            </a:r>
            <a:r>
              <a:rPr lang="ko-KR" altLang="en-US" sz="1100" b="1" dirty="0"/>
              <a:t> 인하 계획을 </a:t>
            </a:r>
            <a:r>
              <a:rPr lang="ko-KR" altLang="en-US" sz="1100" b="1" dirty="0" err="1"/>
              <a:t>승인장</a:t>
            </a:r>
            <a:r>
              <a:rPr lang="ko-KR" altLang="en-US" sz="1100" b="1" dirty="0"/>
              <a:t> 교부일로부터 </a:t>
            </a:r>
            <a:endParaRPr lang="en-US" altLang="ko-KR" sz="1100" b="1" dirty="0"/>
          </a:p>
          <a:p>
            <a:pPr>
              <a:lnSpc>
                <a:spcPct val="150000"/>
              </a:lnSpc>
            </a:pPr>
            <a:r>
              <a:rPr lang="en-US" altLang="ko-KR" sz="1100" b="1" dirty="0"/>
              <a:t>2</a:t>
            </a:r>
            <a:r>
              <a:rPr lang="ko-KR" altLang="en-US" sz="1100" b="1" dirty="0"/>
              <a:t>개월 이내에 제출하여 승인을 받고</a:t>
            </a:r>
            <a:r>
              <a:rPr lang="en-US" altLang="ko-KR" sz="1100" dirty="0"/>
              <a:t>, </a:t>
            </a:r>
            <a:r>
              <a:rPr lang="ko-KR" altLang="en-US" sz="1100" dirty="0"/>
              <a:t>이를 성실히 이행하여야 한다</a:t>
            </a:r>
            <a:r>
              <a:rPr lang="en-US" altLang="ko-KR" sz="1100" b="1" dirty="0"/>
              <a:t>.</a:t>
            </a:r>
            <a:endParaRPr lang="ko-KR" altLang="en-US" sz="1100" b="1" dirty="0">
              <a:latin typeface="+mn-ea"/>
            </a:endParaRPr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21D3201F-0A53-8811-635E-A9237903BE17}"/>
              </a:ext>
            </a:extLst>
          </p:cNvPr>
          <p:cNvCxnSpPr>
            <a:cxnSpLocks/>
            <a:stCxn id="73" idx="2"/>
            <a:endCxn id="87" idx="0"/>
          </p:cNvCxnSpPr>
          <p:nvPr/>
        </p:nvCxnSpPr>
        <p:spPr>
          <a:xfrm flipH="1">
            <a:off x="5973644" y="5645150"/>
            <a:ext cx="475876" cy="433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18BBAD5F-E41F-796F-2A82-A7B9B8E6DE5B}"/>
              </a:ext>
            </a:extLst>
          </p:cNvPr>
          <p:cNvSpPr txBox="1"/>
          <p:nvPr/>
        </p:nvSpPr>
        <p:spPr>
          <a:xfrm>
            <a:off x="8346668" y="3194933"/>
            <a:ext cx="13641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［최종 조건］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A0E1FFE-9E6A-420E-76F5-EECF586BE061}"/>
              </a:ext>
            </a:extLst>
          </p:cNvPr>
          <p:cNvSpPr txBox="1"/>
          <p:nvPr/>
        </p:nvSpPr>
        <p:spPr>
          <a:xfrm>
            <a:off x="8537233" y="5298968"/>
            <a:ext cx="3668444" cy="143427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>
                <a:latin typeface="+mj-lt"/>
              </a:rPr>
              <a:t>청문심사 과정에서</a:t>
            </a:r>
            <a:r>
              <a:rPr lang="en-US" altLang="ko-KR" sz="1100">
                <a:latin typeface="+mj-lt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100">
                <a:latin typeface="+mj-lt"/>
              </a:rPr>
              <a:t>사업계획의 </a:t>
            </a:r>
            <a:r>
              <a:rPr lang="ko-KR" altLang="en-US" sz="1100" dirty="0" err="1">
                <a:latin typeface="+mj-lt"/>
              </a:rPr>
              <a:t>충실성</a:t>
            </a:r>
            <a:r>
              <a:rPr lang="ko-KR" altLang="en-US" sz="1100" dirty="0">
                <a:latin typeface="+mj-lt"/>
              </a:rPr>
              <a:t> </a:t>
            </a:r>
            <a:r>
              <a:rPr lang="ko-KR" altLang="en-US" sz="1100">
                <a:latin typeface="+mj-lt"/>
              </a:rPr>
              <a:t>및 경영진 의지 등이</a:t>
            </a:r>
            <a:endParaRPr lang="en-US" altLang="ko-KR" sz="110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ko-KR" altLang="en-US" sz="1100">
                <a:latin typeface="+mj-lt"/>
              </a:rPr>
              <a:t>긍정적으로 </a:t>
            </a:r>
            <a:r>
              <a:rPr lang="ko-KR" altLang="en-US" sz="1100" dirty="0">
                <a:latin typeface="+mj-lt"/>
              </a:rPr>
              <a:t>반영되어</a:t>
            </a:r>
            <a:r>
              <a:rPr lang="en-US" altLang="ko-KR" sz="1100" dirty="0">
                <a:latin typeface="+mj-lt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100">
                <a:latin typeface="+mj-lt"/>
              </a:rPr>
              <a:t>판매수수료율 추가 인하 </a:t>
            </a:r>
            <a:r>
              <a:rPr lang="en-US" altLang="ko-KR" sz="1100">
                <a:latin typeface="+mj-lt"/>
              </a:rPr>
              <a:t>0.2%p</a:t>
            </a:r>
            <a:r>
              <a:rPr lang="ko-KR" altLang="en-US" sz="1100">
                <a:latin typeface="+mj-lt"/>
              </a:rPr>
              <a:t>에서 방어</a:t>
            </a:r>
            <a:endParaRPr lang="ko-KR" altLang="en-US" sz="1100" dirty="0">
              <a:latin typeface="+mj-lt"/>
            </a:endParaRPr>
          </a:p>
        </p:txBody>
      </p:sp>
      <p:pic>
        <p:nvPicPr>
          <p:cNvPr id="11" name="그림 1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5F3C75-F6F7-976C-F888-8CD5FC6F4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3179" y="3503098"/>
            <a:ext cx="3240010" cy="1613923"/>
          </a:xfrm>
          <a:prstGeom prst="rect">
            <a:avLst/>
          </a:prstGeom>
        </p:spPr>
      </p:pic>
      <p:sp>
        <p:nvSpPr>
          <p:cNvPr id="3" name="Text Box 25">
            <a:extLst>
              <a:ext uri="{FF2B5EF4-FFF2-40B4-BE49-F238E27FC236}">
                <a16:creationId xmlns:a16="http://schemas.microsoft.com/office/drawing/2014/main" id="{33215A12-3D15-13BC-1DC6-D74C71600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7903" y="1095568"/>
            <a:ext cx="407484" cy="2616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100" b="1" dirty="0">
                <a:latin typeface="+mn-ea"/>
                <a:ea typeface="+mn-ea"/>
              </a:rPr>
              <a:t>2</a:t>
            </a:r>
            <a:r>
              <a:rPr lang="ko-KR" altLang="en-US" sz="1100" b="1">
                <a:latin typeface="+mn-ea"/>
                <a:ea typeface="+mn-ea"/>
              </a:rPr>
              <a:t>월</a:t>
            </a:r>
            <a:endParaRPr lang="en-US" altLang="ko-KR" sz="1100" b="1" dirty="0">
              <a:latin typeface="+mn-ea"/>
              <a:ea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15A80B-FD27-532F-7D16-E5F784869D4C}"/>
              </a:ext>
            </a:extLst>
          </p:cNvPr>
          <p:cNvSpPr txBox="1"/>
          <p:nvPr/>
        </p:nvSpPr>
        <p:spPr>
          <a:xfrm>
            <a:off x="11669486" y="6635877"/>
            <a:ext cx="5225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7/109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099050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8481" y="69304"/>
            <a:ext cx="9572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4.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심사 방향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191" y="683210"/>
            <a:ext cx="11585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■ </a:t>
            </a:r>
            <a:r>
              <a:rPr lang="ko-KR" altLang="en-US" sz="1400" b="1" dirty="0">
                <a:latin typeface="+mn-ea"/>
              </a:rPr>
              <a:t>중소기업 지원 </a:t>
            </a:r>
            <a:r>
              <a:rPr lang="en-US" altLang="ko-KR" sz="1400" b="1" dirty="0">
                <a:latin typeface="+mn-ea"/>
              </a:rPr>
              <a:t>/</a:t>
            </a:r>
            <a:r>
              <a:rPr lang="ko-KR" altLang="en-US" sz="1400" b="1" dirty="0">
                <a:latin typeface="+mn-ea"/>
              </a:rPr>
              <a:t> 관련 법령 준수 </a:t>
            </a:r>
            <a:r>
              <a:rPr lang="en-US" altLang="ko-KR" sz="1400" b="1" dirty="0">
                <a:latin typeface="+mn-ea"/>
              </a:rPr>
              <a:t>/ </a:t>
            </a:r>
            <a:r>
              <a:rPr lang="ko-KR" altLang="en-US" sz="1400" b="1" dirty="0">
                <a:latin typeface="+mn-ea"/>
              </a:rPr>
              <a:t>데이터방송 발전 기여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E9B243-6C56-ED9B-C1C9-CDB27275B1D4}"/>
              </a:ext>
            </a:extLst>
          </p:cNvPr>
          <p:cNvSpPr txBox="1"/>
          <p:nvPr/>
        </p:nvSpPr>
        <p:spPr>
          <a:xfrm>
            <a:off x="303191" y="1270691"/>
            <a:ext cx="6353489" cy="4904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latin typeface="+mn-ea"/>
              </a:rPr>
              <a:t>[</a:t>
            </a:r>
            <a:r>
              <a:rPr lang="ko-KR" altLang="en-US" sz="1200" b="1" dirty="0">
                <a:latin typeface="+mn-ea"/>
              </a:rPr>
              <a:t>중소기업 지원</a:t>
            </a:r>
            <a:r>
              <a:rPr lang="en-US" altLang="ko-KR" sz="1200" b="1" dirty="0">
                <a:latin typeface="+mn-ea"/>
              </a:rPr>
              <a:t>]</a:t>
            </a:r>
          </a:p>
          <a:p>
            <a:pPr>
              <a:lnSpc>
                <a:spcPct val="150000"/>
              </a:lnSpc>
            </a:pPr>
            <a:endParaRPr lang="en-US" altLang="ko-KR" sz="6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① 신규 진입기회 확대 및 판로지원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   : </a:t>
            </a:r>
            <a:r>
              <a:rPr lang="ko-KR" altLang="en-US" sz="1200" dirty="0">
                <a:latin typeface="+mn-ea"/>
              </a:rPr>
              <a:t>동반성장 활동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②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판매수수료 개선</a:t>
            </a:r>
            <a:endParaRPr lang="en-US" altLang="ko-KR" sz="1200" b="1" dirty="0">
              <a:solidFill>
                <a:srgbClr val="0000FF"/>
              </a:solidFill>
              <a:latin typeface="+mn-ea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  <a:sym typeface="Wingdings" panose="05000000000000000000" pitchFamily="2" charset="2"/>
              </a:rPr>
              <a:t>    : </a:t>
            </a:r>
            <a:r>
              <a:rPr lang="ko-KR" altLang="en-US" sz="1200" dirty="0">
                <a:latin typeface="+mn-ea"/>
                <a:sym typeface="Wingdings" panose="05000000000000000000" pitchFamily="2" charset="2"/>
              </a:rPr>
              <a:t>중소기업 </a:t>
            </a:r>
            <a:r>
              <a:rPr lang="ko-KR" altLang="en-US" sz="1200" dirty="0" err="1">
                <a:latin typeface="+mn-ea"/>
                <a:sym typeface="Wingdings" panose="05000000000000000000" pitchFamily="2" charset="2"/>
              </a:rPr>
              <a:t>판매수수료율</a:t>
            </a:r>
            <a:r>
              <a:rPr lang="ko-KR" altLang="en-US" sz="1200" dirty="0">
                <a:latin typeface="+mn-ea"/>
                <a:sym typeface="Wingdings" panose="05000000000000000000" pitchFamily="2" charset="2"/>
              </a:rPr>
              <a:t> 인하</a:t>
            </a:r>
            <a:endParaRPr lang="en-US" altLang="ko-KR" sz="1200" dirty="0">
              <a:latin typeface="+mn-ea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③ </a:t>
            </a:r>
            <a:r>
              <a:rPr lang="ko-KR" altLang="en-US" sz="1200" b="1" dirty="0" err="1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직매입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·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정액수수료 방송 등 거래조건 개선</a:t>
            </a:r>
            <a:endParaRPr lang="en-US" altLang="ko-KR" sz="1200" b="1" dirty="0">
              <a:solidFill>
                <a:srgbClr val="0000FF"/>
              </a:solidFill>
              <a:latin typeface="+mn-ea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  <a:sym typeface="Wingdings" panose="05000000000000000000" pitchFamily="2" charset="2"/>
              </a:rPr>
              <a:t>    </a:t>
            </a:r>
            <a:r>
              <a:rPr lang="en-US" altLang="ko-KR" sz="1200" dirty="0">
                <a:latin typeface="+mn-ea"/>
                <a:sym typeface="Wingdings" panose="05000000000000000000" pitchFamily="2" charset="2"/>
              </a:rPr>
              <a:t>:</a:t>
            </a:r>
            <a:r>
              <a:rPr lang="ko-KR" altLang="en-US" sz="1200" dirty="0"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200" dirty="0" err="1">
                <a:latin typeface="+mn-ea"/>
                <a:sym typeface="Wingdings" panose="05000000000000000000" pitchFamily="2" charset="2"/>
              </a:rPr>
              <a:t>직매입</a:t>
            </a:r>
            <a:r>
              <a:rPr lang="ko-KR" altLang="en-US" sz="1200" dirty="0">
                <a:latin typeface="+mn-ea"/>
                <a:sym typeface="Wingdings" panose="05000000000000000000" pitchFamily="2" charset="2"/>
              </a:rPr>
              <a:t> 확대</a:t>
            </a:r>
            <a:r>
              <a:rPr lang="en-US" altLang="ko-KR" sz="1200" dirty="0">
                <a:latin typeface="+mn-ea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latin typeface="+mn-ea"/>
                <a:sym typeface="Wingdings" panose="05000000000000000000" pitchFamily="2" charset="2"/>
              </a:rPr>
              <a:t>중소기업 정액방송 축소</a:t>
            </a:r>
            <a:r>
              <a:rPr lang="en-US" altLang="ko-KR" sz="1200" dirty="0"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200" dirty="0">
                <a:latin typeface="+mn-ea"/>
                <a:sym typeface="Wingdings" panose="05000000000000000000" pitchFamily="2" charset="2"/>
              </a:rPr>
              <a:t> </a:t>
            </a:r>
            <a:endParaRPr lang="en-US" altLang="ko-KR" sz="1200" dirty="0">
              <a:latin typeface="+mn-ea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④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방송편성 확대</a:t>
            </a:r>
            <a:endParaRPr lang="en-US" altLang="ko-KR" sz="1200" b="1" dirty="0">
              <a:solidFill>
                <a:srgbClr val="0000FF"/>
              </a:solidFill>
              <a:latin typeface="+mn-ea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  <a:sym typeface="Wingdings" panose="05000000000000000000" pitchFamily="2" charset="2"/>
              </a:rPr>
              <a:t>    : </a:t>
            </a:r>
            <a:r>
              <a:rPr lang="ko-KR" altLang="en-US" sz="1200" dirty="0">
                <a:latin typeface="+mn-ea"/>
                <a:sym typeface="Wingdings" panose="05000000000000000000" pitchFamily="2" charset="2"/>
              </a:rPr>
              <a:t>중소기업 편성 확대</a:t>
            </a:r>
            <a:endParaRPr lang="en-US" altLang="ko-KR" sz="1200" dirty="0">
              <a:latin typeface="+mn-ea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rgbClr val="0000FF"/>
              </a:solidFill>
              <a:latin typeface="+mn-ea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+mn-ea"/>
              </a:rPr>
              <a:t>[</a:t>
            </a:r>
            <a:r>
              <a:rPr lang="ko-KR" altLang="en-US" sz="1200" b="1" dirty="0">
                <a:latin typeface="+mn-ea"/>
              </a:rPr>
              <a:t>관련 법령 준수</a:t>
            </a:r>
            <a:r>
              <a:rPr lang="en-US" altLang="ko-KR" sz="1200" b="1" dirty="0">
                <a:latin typeface="+mn-ea"/>
              </a:rPr>
              <a:t>]</a:t>
            </a:r>
            <a:endParaRPr lang="en-US" altLang="ko-KR" sz="1200" b="1" dirty="0">
              <a:solidFill>
                <a:srgbClr val="0000FF"/>
              </a:solidFill>
              <a:latin typeface="+mn-ea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-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관련 법령 준수 여부 </a:t>
            </a:r>
            <a:endParaRPr lang="en-US" altLang="ko-KR" sz="1200" b="1" dirty="0">
              <a:solidFill>
                <a:srgbClr val="0000FF"/>
              </a:solidFill>
              <a:latin typeface="+mn-ea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   </a:t>
            </a:r>
            <a:r>
              <a:rPr lang="en-US" altLang="ko-KR" sz="1200" dirty="0">
                <a:latin typeface="+mn-ea"/>
                <a:sym typeface="Wingdings" panose="05000000000000000000" pitchFamily="2" charset="2"/>
              </a:rPr>
              <a:t>: </a:t>
            </a:r>
            <a:r>
              <a:rPr lang="ko-KR" altLang="en-US" sz="1200" dirty="0">
                <a:latin typeface="+mn-ea"/>
                <a:sym typeface="Wingdings" panose="05000000000000000000" pitchFamily="2" charset="2"/>
              </a:rPr>
              <a:t>법 위반 내역 감소</a:t>
            </a:r>
            <a:r>
              <a:rPr lang="en-US" altLang="ko-KR" sz="1200" dirty="0"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200" dirty="0">
                <a:latin typeface="+mn-ea"/>
                <a:sym typeface="Wingdings" panose="05000000000000000000" pitchFamily="2" charset="2"/>
              </a:rPr>
              <a:t>및 법령 규정사항 준수 강화 활동</a:t>
            </a:r>
            <a:endParaRPr lang="en-US" altLang="ko-KR" sz="1200" dirty="0">
              <a:latin typeface="+mn-ea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+mn-ea"/>
              </a:rPr>
              <a:t>[</a:t>
            </a:r>
            <a:r>
              <a:rPr lang="ko-KR" altLang="en-US" sz="1200" b="1" dirty="0">
                <a:latin typeface="+mn-ea"/>
              </a:rPr>
              <a:t>데이터방송 발전 기여</a:t>
            </a:r>
            <a:r>
              <a:rPr lang="en-US" altLang="ko-KR" sz="1200" b="1" dirty="0">
                <a:latin typeface="+mn-ea"/>
              </a:rPr>
              <a:t>]</a:t>
            </a:r>
            <a:endParaRPr lang="en-US" altLang="ko-KR" sz="1200" b="1" dirty="0">
              <a:solidFill>
                <a:srgbClr val="0000FF"/>
              </a:solidFill>
              <a:latin typeface="+mn-ea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-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데이터홈쇼핑 발전 기여 노력 </a:t>
            </a:r>
            <a:endParaRPr lang="en-US" altLang="ko-KR" sz="1200" b="1" dirty="0">
              <a:solidFill>
                <a:srgbClr val="0000FF"/>
              </a:solidFill>
              <a:latin typeface="+mn-ea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   </a:t>
            </a:r>
            <a:r>
              <a:rPr lang="en-US" altLang="ko-KR" sz="1200" dirty="0">
                <a:latin typeface="+mn-ea"/>
                <a:sym typeface="Wingdings" panose="05000000000000000000" pitchFamily="2" charset="2"/>
              </a:rPr>
              <a:t>: </a:t>
            </a:r>
            <a:r>
              <a:rPr lang="ko-KR" altLang="en-US" sz="1200" dirty="0">
                <a:latin typeface="+mn-ea"/>
                <a:sym typeface="Wingdings" panose="05000000000000000000" pitchFamily="2" charset="2"/>
              </a:rPr>
              <a:t>데이터영역 활용 기술 투자</a:t>
            </a:r>
            <a:endParaRPr lang="en-US" altLang="ko-KR" sz="1200" dirty="0">
              <a:latin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7522502-1FFF-84E2-B494-8707E52086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761"/>
          <a:stretch>
            <a:fillRect/>
          </a:stretch>
        </p:blipFill>
        <p:spPr>
          <a:xfrm>
            <a:off x="6471616" y="1391918"/>
            <a:ext cx="4765291" cy="538952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C60542D-ABAC-B395-15F3-141F2CDB16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175"/>
          <a:stretch>
            <a:fillRect/>
          </a:stretch>
        </p:blipFill>
        <p:spPr>
          <a:xfrm>
            <a:off x="6471616" y="650795"/>
            <a:ext cx="4648385" cy="74668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C49F0BAC-A4B9-7EE2-06F7-648B71698E6D}"/>
              </a:ext>
            </a:extLst>
          </p:cNvPr>
          <p:cNvSpPr/>
          <p:nvPr/>
        </p:nvSpPr>
        <p:spPr>
          <a:xfrm>
            <a:off x="6524625" y="6257925"/>
            <a:ext cx="3604796" cy="15716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9C0E423-6F4F-C9CF-1CE6-BE14A62DDBBF}"/>
              </a:ext>
            </a:extLst>
          </p:cNvPr>
          <p:cNvCxnSpPr>
            <a:cxnSpLocks/>
          </p:cNvCxnSpPr>
          <p:nvPr/>
        </p:nvCxnSpPr>
        <p:spPr>
          <a:xfrm>
            <a:off x="6728460" y="1181100"/>
            <a:ext cx="43915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4C450F31-E4DB-4621-D766-4FC2700701F3}"/>
              </a:ext>
            </a:extLst>
          </p:cNvPr>
          <p:cNvCxnSpPr>
            <a:cxnSpLocks/>
          </p:cNvCxnSpPr>
          <p:nvPr/>
        </p:nvCxnSpPr>
        <p:spPr>
          <a:xfrm>
            <a:off x="6737074" y="1369058"/>
            <a:ext cx="379376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52E863E-CB01-4992-5395-960FFD3EA601}"/>
              </a:ext>
            </a:extLst>
          </p:cNvPr>
          <p:cNvSpPr txBox="1"/>
          <p:nvPr/>
        </p:nvSpPr>
        <p:spPr>
          <a:xfrm>
            <a:off x="11669486" y="6635877"/>
            <a:ext cx="5225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8/109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15704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EC4BC-89A5-A320-324E-43886E40C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6AEF527-8986-2011-590C-2112718339A2}"/>
              </a:ext>
            </a:extLst>
          </p:cNvPr>
          <p:cNvCxnSpPr>
            <a:cxnSpLocks/>
          </p:cNvCxnSpPr>
          <p:nvPr/>
        </p:nvCxnSpPr>
        <p:spPr>
          <a:xfrm>
            <a:off x="3274749" y="1906653"/>
            <a:ext cx="0" cy="2774819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DCFB296-1510-8575-91EB-D34E04A5EF0F}"/>
              </a:ext>
            </a:extLst>
          </p:cNvPr>
          <p:cNvCxnSpPr>
            <a:cxnSpLocks/>
          </p:cNvCxnSpPr>
          <p:nvPr/>
        </p:nvCxnSpPr>
        <p:spPr>
          <a:xfrm>
            <a:off x="5157641" y="1998913"/>
            <a:ext cx="0" cy="1429082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0157FD2-A72F-D1C6-5DF0-A1261124CCB3}"/>
              </a:ext>
            </a:extLst>
          </p:cNvPr>
          <p:cNvCxnSpPr>
            <a:cxnSpLocks/>
          </p:cNvCxnSpPr>
          <p:nvPr/>
        </p:nvCxnSpPr>
        <p:spPr>
          <a:xfrm>
            <a:off x="7069392" y="2084936"/>
            <a:ext cx="0" cy="3579197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60E3786-D399-5C60-3563-EF51485081CE}"/>
              </a:ext>
            </a:extLst>
          </p:cNvPr>
          <p:cNvCxnSpPr>
            <a:cxnSpLocks/>
          </p:cNvCxnSpPr>
          <p:nvPr/>
        </p:nvCxnSpPr>
        <p:spPr>
          <a:xfrm>
            <a:off x="8987895" y="1938003"/>
            <a:ext cx="0" cy="1711555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21555F8-3014-3A58-CF2F-C2CC558EF18A}"/>
              </a:ext>
            </a:extLst>
          </p:cNvPr>
          <p:cNvCxnSpPr>
            <a:cxnSpLocks/>
          </p:cNvCxnSpPr>
          <p:nvPr/>
        </p:nvCxnSpPr>
        <p:spPr>
          <a:xfrm>
            <a:off x="10866027" y="1877093"/>
            <a:ext cx="0" cy="1550902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D7E9C87-E104-1690-1415-9F6897D2BB09}"/>
              </a:ext>
            </a:extLst>
          </p:cNvPr>
          <p:cNvCxnSpPr>
            <a:cxnSpLocks/>
          </p:cNvCxnSpPr>
          <p:nvPr/>
        </p:nvCxnSpPr>
        <p:spPr>
          <a:xfrm>
            <a:off x="1387924" y="1973738"/>
            <a:ext cx="0" cy="2649365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7254D23-7D30-E875-0B73-9CAECF083668}"/>
              </a:ext>
            </a:extLst>
          </p:cNvPr>
          <p:cNvSpPr/>
          <p:nvPr/>
        </p:nvSpPr>
        <p:spPr>
          <a:xfrm>
            <a:off x="2510100" y="3415403"/>
            <a:ext cx="1533600" cy="54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공정거래</a:t>
            </a:r>
            <a:endParaRPr lang="en-US" altLang="ko-KR" sz="1000" b="1" dirty="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10000"/>
              </a:lnSpc>
            </a:pP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불공정거래 예방 및 사후조치 등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166BAB5-3E28-7D73-D9CF-30F98C547E11}"/>
              </a:ext>
            </a:extLst>
          </p:cNvPr>
          <p:cNvSpPr/>
          <p:nvPr/>
        </p:nvSpPr>
        <p:spPr>
          <a:xfrm>
            <a:off x="10096878" y="3405472"/>
            <a:ext cx="1533600" cy="54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경영투명성</a:t>
            </a:r>
            <a:endParaRPr lang="en-US" altLang="ko-KR" sz="10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감시시구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·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회계투명</a:t>
            </a:r>
            <a:endParaRPr lang="en-US" altLang="ko-KR" sz="7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 algn="ctr"/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준법통제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·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윤리경영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EE00354-0F91-04DF-1745-C1DED01D6CB8}"/>
              </a:ext>
            </a:extLst>
          </p:cNvPr>
          <p:cNvSpPr/>
          <p:nvPr/>
        </p:nvSpPr>
        <p:spPr>
          <a:xfrm>
            <a:off x="613254" y="991806"/>
            <a:ext cx="1533600" cy="42097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방송법 위반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(HBU)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BFE1E6A-B74F-E125-20DC-E9B039F39F33}"/>
              </a:ext>
            </a:extLst>
          </p:cNvPr>
          <p:cNvSpPr/>
          <p:nvPr/>
        </p:nvSpPr>
        <p:spPr>
          <a:xfrm>
            <a:off x="4405040" y="3413797"/>
            <a:ext cx="1533600" cy="54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소비자보호</a:t>
            </a:r>
            <a:endParaRPr lang="en-US" altLang="ko-KR" sz="1000" b="1" dirty="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10000"/>
              </a:lnSpc>
            </a:pP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불만처리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 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배송 등 서비스 개선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C2B81D9-56B5-AA3B-668A-DFCD3A497C70}"/>
              </a:ext>
            </a:extLst>
          </p:cNvPr>
          <p:cNvSpPr/>
          <p:nvPr/>
        </p:nvSpPr>
        <p:spPr>
          <a:xfrm>
            <a:off x="10089726" y="4449581"/>
            <a:ext cx="1533600" cy="42097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재무</a:t>
            </a:r>
            <a:endParaRPr lang="en-US" altLang="ko-KR" sz="10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전사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, HBU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구분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A63F3E-13E0-3AB7-E0EE-750DAEB61E2A}"/>
              </a:ext>
            </a:extLst>
          </p:cNvPr>
          <p:cNvSpPr txBox="1"/>
          <p:nvPr/>
        </p:nvSpPr>
        <p:spPr>
          <a:xfrm>
            <a:off x="609684" y="3169293"/>
            <a:ext cx="889348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ko-KR" altLang="en-US" sz="1050" b="1" spc="-80" dirty="0">
                <a:latin typeface="+mn-ea"/>
              </a:rPr>
              <a:t>제</a:t>
            </a:r>
            <a:r>
              <a:rPr lang="en-US" altLang="ko-KR" sz="1050" b="1" spc="-80" dirty="0">
                <a:latin typeface="+mn-ea"/>
              </a:rPr>
              <a:t>2</a:t>
            </a:r>
            <a:r>
              <a:rPr lang="ko-KR" altLang="en-US" sz="1050" b="1" spc="-80" dirty="0">
                <a:latin typeface="+mn-ea"/>
              </a:rPr>
              <a:t>장 </a:t>
            </a:r>
            <a:r>
              <a:rPr lang="en-US" altLang="ko-KR" sz="1000" b="1" spc="-80" dirty="0">
                <a:latin typeface="+mn-ea"/>
              </a:rPr>
              <a:t>(120</a:t>
            </a:r>
            <a:r>
              <a:rPr lang="ko-KR" altLang="en-US" sz="1000" b="1" spc="-80" dirty="0">
                <a:latin typeface="+mn-ea"/>
              </a:rPr>
              <a:t>점</a:t>
            </a:r>
            <a:r>
              <a:rPr lang="en-US" altLang="ko-KR" sz="1000" b="1" spc="-80" dirty="0">
                <a:latin typeface="+mn-ea"/>
              </a:rPr>
              <a:t>)</a:t>
            </a:r>
            <a:endParaRPr lang="ko-KR" altLang="en-US" sz="1050" b="1" spc="-80" dirty="0"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92FEF2-6E43-0AE5-C071-C4211CDFA1A1}"/>
              </a:ext>
            </a:extLst>
          </p:cNvPr>
          <p:cNvSpPr txBox="1"/>
          <p:nvPr/>
        </p:nvSpPr>
        <p:spPr>
          <a:xfrm>
            <a:off x="609684" y="4351047"/>
            <a:ext cx="1039256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ko-KR" altLang="en-US" sz="1050" b="1" spc="-50" dirty="0">
                <a:latin typeface="+mn-ea"/>
              </a:rPr>
              <a:t>제</a:t>
            </a:r>
            <a:r>
              <a:rPr lang="en-US" altLang="ko-KR" sz="1050" b="1" spc="-50" dirty="0">
                <a:latin typeface="+mn-ea"/>
              </a:rPr>
              <a:t>8</a:t>
            </a:r>
            <a:r>
              <a:rPr lang="ko-KR" altLang="en-US" sz="1050" b="1" spc="-50" dirty="0">
                <a:latin typeface="+mn-ea"/>
              </a:rPr>
              <a:t>장</a:t>
            </a:r>
            <a:r>
              <a:rPr lang="ko-KR" altLang="en-US" sz="1000" b="1" spc="-50" dirty="0">
                <a:latin typeface="+mn-ea"/>
              </a:rPr>
              <a:t> </a:t>
            </a:r>
            <a:r>
              <a:rPr lang="en-US" altLang="ko-KR" sz="1000" b="1" spc="-50" dirty="0">
                <a:latin typeface="+mn-ea"/>
              </a:rPr>
              <a:t>(30</a:t>
            </a:r>
            <a:r>
              <a:rPr lang="ko-KR" altLang="en-US" sz="1000" b="1" spc="-50" dirty="0">
                <a:latin typeface="+mn-ea"/>
              </a:rPr>
              <a:t>점</a:t>
            </a:r>
            <a:r>
              <a:rPr lang="en-US" altLang="ko-KR" sz="1000" b="1" spc="-50" dirty="0">
                <a:latin typeface="+mn-ea"/>
              </a:rPr>
              <a:t>)</a:t>
            </a:r>
            <a:endParaRPr lang="ko-KR" altLang="en-US" sz="1050" b="1" spc="-50" dirty="0"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3E3E17-DA84-6579-59DD-CB46A30CC3A0}"/>
              </a:ext>
            </a:extLst>
          </p:cNvPr>
          <p:cNvSpPr txBox="1"/>
          <p:nvPr/>
        </p:nvSpPr>
        <p:spPr>
          <a:xfrm>
            <a:off x="2510099" y="3169293"/>
            <a:ext cx="1128845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ko-KR" altLang="en-US" sz="1050" b="1" spc="-70" dirty="0">
                <a:latin typeface="+mn-ea"/>
              </a:rPr>
              <a:t>제</a:t>
            </a:r>
            <a:r>
              <a:rPr lang="en-US" altLang="ko-KR" sz="1050" b="1" spc="-70" dirty="0">
                <a:latin typeface="+mn-ea"/>
              </a:rPr>
              <a:t>3</a:t>
            </a:r>
            <a:r>
              <a:rPr lang="ko-KR" altLang="en-US" sz="1050" b="1" spc="-70" dirty="0">
                <a:latin typeface="+mn-ea"/>
              </a:rPr>
              <a:t>장</a:t>
            </a:r>
            <a:r>
              <a:rPr lang="ko-KR" altLang="en-US" sz="1000" b="1" spc="-70" dirty="0">
                <a:latin typeface="+mn-ea"/>
              </a:rPr>
              <a:t> </a:t>
            </a:r>
            <a:r>
              <a:rPr lang="en-US" altLang="ko-KR" sz="1000" b="1" spc="-70" dirty="0">
                <a:latin typeface="+mn-ea"/>
              </a:rPr>
              <a:t>(105</a:t>
            </a:r>
            <a:r>
              <a:rPr lang="ko-KR" altLang="en-US" sz="1000" b="1" spc="-70" dirty="0">
                <a:latin typeface="+mn-ea"/>
              </a:rPr>
              <a:t>점</a:t>
            </a:r>
            <a:r>
              <a:rPr lang="en-US" altLang="ko-KR" sz="1000" b="1" spc="-70" dirty="0">
                <a:latin typeface="+mn-ea"/>
              </a:rPr>
              <a:t>)</a:t>
            </a:r>
            <a:endParaRPr lang="ko-KR" altLang="en-US" sz="1050" b="1" spc="-70" dirty="0"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A5BA89-F65D-8A34-D7EA-B40C1874A1F6}"/>
              </a:ext>
            </a:extLst>
          </p:cNvPr>
          <p:cNvSpPr txBox="1"/>
          <p:nvPr/>
        </p:nvSpPr>
        <p:spPr>
          <a:xfrm>
            <a:off x="2510099" y="4328779"/>
            <a:ext cx="964157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ko-KR" altLang="en-US" sz="1050" b="1" spc="-80" dirty="0">
                <a:latin typeface="+mn-ea"/>
              </a:rPr>
              <a:t>제</a:t>
            </a:r>
            <a:r>
              <a:rPr lang="en-US" altLang="ko-KR" sz="1050" b="1" spc="-80" dirty="0">
                <a:latin typeface="+mn-ea"/>
              </a:rPr>
              <a:t>3</a:t>
            </a:r>
            <a:r>
              <a:rPr lang="ko-KR" altLang="en-US" sz="1050" b="1" spc="-80" dirty="0">
                <a:latin typeface="+mn-ea"/>
              </a:rPr>
              <a:t>장</a:t>
            </a:r>
            <a:r>
              <a:rPr lang="ko-KR" altLang="en-US" sz="1000" b="1" spc="-80" dirty="0">
                <a:latin typeface="+mn-ea"/>
              </a:rPr>
              <a:t> </a:t>
            </a:r>
            <a:r>
              <a:rPr lang="en-US" altLang="ko-KR" sz="1000" b="1" spc="-80" dirty="0">
                <a:latin typeface="+mn-ea"/>
              </a:rPr>
              <a:t>(155</a:t>
            </a:r>
            <a:r>
              <a:rPr lang="ko-KR" altLang="en-US" sz="1000" b="1" spc="-80" dirty="0">
                <a:latin typeface="+mn-ea"/>
              </a:rPr>
              <a:t>점</a:t>
            </a:r>
            <a:r>
              <a:rPr lang="en-US" altLang="ko-KR" sz="1000" b="1" spc="-80" dirty="0">
                <a:latin typeface="+mn-ea"/>
              </a:rPr>
              <a:t>)</a:t>
            </a:r>
            <a:endParaRPr lang="ko-KR" altLang="en-US" sz="1050" b="1" spc="-80" dirty="0"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DD2A52-7596-7E8A-1356-BC32B0BA123A}"/>
              </a:ext>
            </a:extLst>
          </p:cNvPr>
          <p:cNvSpPr txBox="1"/>
          <p:nvPr/>
        </p:nvSpPr>
        <p:spPr>
          <a:xfrm>
            <a:off x="4405040" y="3169293"/>
            <a:ext cx="859392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ko-KR" altLang="en-US" sz="1050" b="1" spc="-80" dirty="0">
                <a:latin typeface="+mn-ea"/>
              </a:rPr>
              <a:t>제</a:t>
            </a:r>
            <a:r>
              <a:rPr lang="en-US" altLang="ko-KR" sz="1050" b="1" spc="-80" dirty="0">
                <a:latin typeface="+mn-ea"/>
              </a:rPr>
              <a:t>7</a:t>
            </a:r>
            <a:r>
              <a:rPr lang="ko-KR" altLang="en-US" sz="1050" b="1" spc="-80" dirty="0">
                <a:latin typeface="+mn-ea"/>
              </a:rPr>
              <a:t>장</a:t>
            </a:r>
            <a:r>
              <a:rPr lang="ko-KR" altLang="en-US" sz="1000" b="1" spc="-80" dirty="0">
                <a:latin typeface="+mn-ea"/>
              </a:rPr>
              <a:t> </a:t>
            </a:r>
            <a:r>
              <a:rPr lang="en-US" altLang="ko-KR" sz="1000" b="1" spc="-80" dirty="0">
                <a:latin typeface="+mn-ea"/>
              </a:rPr>
              <a:t>(100</a:t>
            </a:r>
            <a:r>
              <a:rPr lang="ko-KR" altLang="en-US" sz="1000" b="1" spc="-80" dirty="0">
                <a:latin typeface="+mn-ea"/>
              </a:rPr>
              <a:t>점</a:t>
            </a:r>
            <a:r>
              <a:rPr lang="en-US" altLang="ko-KR" sz="1000" b="1" spc="-80" dirty="0">
                <a:latin typeface="+mn-ea"/>
              </a:rPr>
              <a:t>)</a:t>
            </a:r>
            <a:endParaRPr lang="ko-KR" altLang="en-US" sz="1050" b="1" spc="-80" dirty="0"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CF7A8E-85BA-AB06-5E32-A453A7C3C563}"/>
              </a:ext>
            </a:extLst>
          </p:cNvPr>
          <p:cNvSpPr txBox="1"/>
          <p:nvPr/>
        </p:nvSpPr>
        <p:spPr>
          <a:xfrm>
            <a:off x="6301886" y="3158296"/>
            <a:ext cx="1133046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ko-KR" altLang="en-US" sz="1050" b="1" spc="-60" dirty="0">
                <a:latin typeface="+mn-ea"/>
              </a:rPr>
              <a:t>제</a:t>
            </a:r>
            <a:r>
              <a:rPr lang="en-US" altLang="ko-KR" sz="1050" b="1" spc="-60" dirty="0">
                <a:latin typeface="+mn-ea"/>
              </a:rPr>
              <a:t>4</a:t>
            </a:r>
            <a:r>
              <a:rPr lang="ko-KR" altLang="en-US" sz="1050" b="1" spc="-60" dirty="0">
                <a:latin typeface="+mn-ea"/>
              </a:rPr>
              <a:t>장</a:t>
            </a:r>
            <a:r>
              <a:rPr lang="ko-KR" altLang="en-US" sz="1000" b="1" spc="-60" dirty="0">
                <a:latin typeface="+mn-ea"/>
              </a:rPr>
              <a:t> </a:t>
            </a:r>
            <a:r>
              <a:rPr lang="en-US" altLang="ko-KR" sz="1000" b="1" spc="-60" dirty="0">
                <a:latin typeface="+mn-ea"/>
              </a:rPr>
              <a:t>(40</a:t>
            </a:r>
            <a:r>
              <a:rPr lang="ko-KR" altLang="en-US" sz="1000" b="1" spc="-60" dirty="0">
                <a:latin typeface="+mn-ea"/>
              </a:rPr>
              <a:t>점</a:t>
            </a:r>
            <a:r>
              <a:rPr lang="en-US" altLang="ko-KR" sz="1000" b="1" spc="-60" dirty="0">
                <a:latin typeface="+mn-ea"/>
              </a:rPr>
              <a:t>)</a:t>
            </a:r>
            <a:endParaRPr lang="ko-KR" altLang="en-US" sz="1050" b="1" spc="-60" dirty="0"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690AC2-AB6F-27BB-6EA5-F2939BAC78F1}"/>
              </a:ext>
            </a:extLst>
          </p:cNvPr>
          <p:cNvSpPr txBox="1"/>
          <p:nvPr/>
        </p:nvSpPr>
        <p:spPr>
          <a:xfrm>
            <a:off x="6301886" y="4167617"/>
            <a:ext cx="874296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ko-KR" altLang="en-US" sz="1050" b="1" spc="-60" dirty="0">
                <a:latin typeface="+mn-ea"/>
              </a:rPr>
              <a:t>제</a:t>
            </a:r>
            <a:r>
              <a:rPr lang="en-US" altLang="ko-KR" sz="1050" b="1" spc="-60" dirty="0">
                <a:latin typeface="+mn-ea"/>
              </a:rPr>
              <a:t>6</a:t>
            </a:r>
            <a:r>
              <a:rPr lang="ko-KR" altLang="en-US" sz="1050" b="1" spc="-60" dirty="0">
                <a:latin typeface="+mn-ea"/>
              </a:rPr>
              <a:t>장</a:t>
            </a:r>
            <a:r>
              <a:rPr lang="ko-KR" altLang="en-US" sz="1000" b="1" spc="-60" dirty="0">
                <a:latin typeface="+mn-ea"/>
              </a:rPr>
              <a:t> </a:t>
            </a:r>
            <a:r>
              <a:rPr lang="en-US" altLang="ko-KR" sz="1000" b="1" spc="-60" dirty="0">
                <a:latin typeface="+mn-ea"/>
              </a:rPr>
              <a:t>(35</a:t>
            </a:r>
            <a:r>
              <a:rPr lang="ko-KR" altLang="en-US" sz="1000" b="1" spc="-60" dirty="0">
                <a:latin typeface="+mn-ea"/>
              </a:rPr>
              <a:t>점</a:t>
            </a:r>
            <a:r>
              <a:rPr lang="en-US" altLang="ko-KR" sz="1000" b="1" spc="-60" dirty="0">
                <a:latin typeface="+mn-ea"/>
              </a:rPr>
              <a:t>)</a:t>
            </a:r>
            <a:endParaRPr lang="ko-KR" altLang="en-US" sz="1050" b="1" spc="-60" dirty="0"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0CBF75-2CB1-9915-66ED-E2C98DF668AF}"/>
              </a:ext>
            </a:extLst>
          </p:cNvPr>
          <p:cNvSpPr txBox="1"/>
          <p:nvPr/>
        </p:nvSpPr>
        <p:spPr>
          <a:xfrm>
            <a:off x="8199381" y="3155149"/>
            <a:ext cx="1038487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ko-KR" altLang="en-US" sz="1050" b="1" spc="-40" dirty="0">
                <a:latin typeface="+mn-ea"/>
              </a:rPr>
              <a:t>제</a:t>
            </a:r>
            <a:r>
              <a:rPr lang="en-US" altLang="ko-KR" sz="1050" b="1" spc="-40" dirty="0">
                <a:latin typeface="+mn-ea"/>
              </a:rPr>
              <a:t>5</a:t>
            </a:r>
            <a:r>
              <a:rPr lang="ko-KR" altLang="en-US" sz="1050" b="1" spc="-40" dirty="0">
                <a:latin typeface="+mn-ea"/>
              </a:rPr>
              <a:t>장</a:t>
            </a:r>
            <a:r>
              <a:rPr lang="ko-KR" altLang="en-US" sz="1000" b="1" spc="-40" dirty="0">
                <a:latin typeface="+mn-ea"/>
              </a:rPr>
              <a:t> </a:t>
            </a:r>
            <a:r>
              <a:rPr lang="en-US" altLang="ko-KR" sz="1000" b="1" spc="-40" dirty="0">
                <a:latin typeface="+mn-ea"/>
              </a:rPr>
              <a:t>(20</a:t>
            </a:r>
            <a:r>
              <a:rPr lang="ko-KR" altLang="en-US" sz="1000" b="1" spc="-40" dirty="0">
                <a:latin typeface="+mn-ea"/>
              </a:rPr>
              <a:t>점</a:t>
            </a:r>
            <a:r>
              <a:rPr lang="en-US" altLang="ko-KR" sz="1000" b="1" spc="-40" dirty="0">
                <a:latin typeface="+mn-ea"/>
              </a:rPr>
              <a:t>)</a:t>
            </a:r>
            <a:endParaRPr lang="ko-KR" altLang="en-US" sz="1050" b="1" spc="-40" dirty="0"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9322BE-A4B5-6BE0-173F-0071874AAD09}"/>
              </a:ext>
            </a:extLst>
          </p:cNvPr>
          <p:cNvSpPr txBox="1"/>
          <p:nvPr/>
        </p:nvSpPr>
        <p:spPr>
          <a:xfrm>
            <a:off x="10096878" y="3141263"/>
            <a:ext cx="759614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ko-KR" altLang="en-US" sz="1050" b="1" spc="-50" dirty="0">
                <a:latin typeface="+mn-ea"/>
              </a:rPr>
              <a:t>제</a:t>
            </a:r>
            <a:r>
              <a:rPr lang="en-US" altLang="ko-KR" sz="1050" b="1" spc="-50" dirty="0">
                <a:latin typeface="+mn-ea"/>
              </a:rPr>
              <a:t>5</a:t>
            </a:r>
            <a:r>
              <a:rPr lang="ko-KR" altLang="en-US" sz="1050" b="1" spc="-50" dirty="0">
                <a:latin typeface="+mn-ea"/>
              </a:rPr>
              <a:t>장</a:t>
            </a:r>
            <a:r>
              <a:rPr lang="ko-KR" altLang="en-US" sz="1000" b="1" spc="-50" dirty="0">
                <a:latin typeface="+mn-ea"/>
              </a:rPr>
              <a:t> </a:t>
            </a:r>
            <a:r>
              <a:rPr lang="en-US" altLang="ko-KR" sz="1000" b="1" spc="-50" dirty="0">
                <a:latin typeface="+mn-ea"/>
              </a:rPr>
              <a:t>(30</a:t>
            </a:r>
            <a:r>
              <a:rPr lang="ko-KR" altLang="en-US" sz="1000" b="1" spc="-50" dirty="0">
                <a:latin typeface="+mn-ea"/>
              </a:rPr>
              <a:t>점</a:t>
            </a:r>
            <a:r>
              <a:rPr lang="en-US" altLang="ko-KR" sz="1000" b="1" spc="-50" dirty="0">
                <a:latin typeface="+mn-ea"/>
              </a:rPr>
              <a:t>)</a:t>
            </a:r>
            <a:endParaRPr lang="ko-KR" altLang="en-US" sz="1050" b="1" spc="-50" dirty="0"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CE88F5-B2AA-45A9-E562-DCAED68B491D}"/>
              </a:ext>
            </a:extLst>
          </p:cNvPr>
          <p:cNvSpPr txBox="1"/>
          <p:nvPr/>
        </p:nvSpPr>
        <p:spPr>
          <a:xfrm>
            <a:off x="10089725" y="4188454"/>
            <a:ext cx="766767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ko-KR" altLang="en-US" sz="1050" b="1" spc="-60" dirty="0">
                <a:latin typeface="+mn-ea"/>
              </a:rPr>
              <a:t>제</a:t>
            </a:r>
            <a:r>
              <a:rPr lang="en-US" altLang="ko-KR" sz="1050" b="1" spc="-60" dirty="0">
                <a:latin typeface="+mn-ea"/>
              </a:rPr>
              <a:t>6</a:t>
            </a:r>
            <a:r>
              <a:rPr lang="ko-KR" altLang="en-US" sz="1050" b="1" spc="-60" dirty="0">
                <a:latin typeface="+mn-ea"/>
              </a:rPr>
              <a:t>장</a:t>
            </a:r>
            <a:r>
              <a:rPr lang="ko-KR" altLang="en-US" sz="1000" b="1" spc="-60" dirty="0">
                <a:latin typeface="+mn-ea"/>
              </a:rPr>
              <a:t> </a:t>
            </a:r>
            <a:r>
              <a:rPr lang="en-US" altLang="ko-KR" sz="1000" b="1" spc="-60" dirty="0">
                <a:latin typeface="+mn-ea"/>
              </a:rPr>
              <a:t>(30</a:t>
            </a:r>
            <a:r>
              <a:rPr lang="ko-KR" altLang="en-US" sz="1000" b="1" spc="-60" dirty="0">
                <a:latin typeface="+mn-ea"/>
              </a:rPr>
              <a:t>점</a:t>
            </a:r>
            <a:r>
              <a:rPr lang="en-US" altLang="ko-KR" sz="1000" b="1" spc="-60" dirty="0">
                <a:latin typeface="+mn-ea"/>
              </a:rPr>
              <a:t>)</a:t>
            </a:r>
            <a:endParaRPr lang="ko-KR" altLang="en-US" sz="1050" b="1" spc="-60" dirty="0">
              <a:latin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311083-4ABE-7379-0197-407BE85B6EE9}"/>
              </a:ext>
            </a:extLst>
          </p:cNvPr>
          <p:cNvSpPr txBox="1"/>
          <p:nvPr/>
        </p:nvSpPr>
        <p:spPr>
          <a:xfrm>
            <a:off x="613254" y="726281"/>
            <a:ext cx="1507392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제</a:t>
            </a:r>
            <a:r>
              <a:rPr lang="en-US" altLang="ko-KR" sz="1100" b="1" dirty="0">
                <a:latin typeface="+mn-ea"/>
              </a:rPr>
              <a:t>1</a:t>
            </a:r>
            <a:r>
              <a:rPr lang="ko-KR" altLang="en-US" sz="1100" b="1" dirty="0">
                <a:latin typeface="+mn-ea"/>
              </a:rPr>
              <a:t>장 </a:t>
            </a:r>
            <a:r>
              <a:rPr lang="en-US" altLang="ko-KR" sz="1050" b="1" dirty="0">
                <a:latin typeface="+mn-ea"/>
              </a:rPr>
              <a:t>(</a:t>
            </a:r>
            <a:r>
              <a:rPr lang="ko-KR" altLang="en-US" sz="1050" b="1" dirty="0" err="1">
                <a:latin typeface="+mn-ea"/>
              </a:rPr>
              <a:t>위반당</a:t>
            </a:r>
            <a:r>
              <a:rPr lang="ko-KR" altLang="en-US" sz="1050" b="1" dirty="0">
                <a:latin typeface="+mn-ea"/>
              </a:rPr>
              <a:t> 감점</a:t>
            </a:r>
            <a:r>
              <a:rPr lang="en-US" altLang="ko-KR" sz="1050" b="1" dirty="0">
                <a:latin typeface="+mn-ea"/>
              </a:rPr>
              <a:t>)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6B12C2-D631-8809-487B-2BA92C177858}"/>
              </a:ext>
            </a:extLst>
          </p:cNvPr>
          <p:cNvSpPr txBox="1"/>
          <p:nvPr/>
        </p:nvSpPr>
        <p:spPr>
          <a:xfrm>
            <a:off x="1365421" y="1475372"/>
            <a:ext cx="648506" cy="52354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50000"/>
              </a:lnSpc>
              <a:tabLst>
                <a:tab pos="558800" algn="l"/>
              </a:tabLst>
            </a:pPr>
            <a:r>
              <a:rPr lang="en-US" altLang="ko-KR" sz="1800" b="1">
                <a:latin typeface="+mn-ea"/>
              </a:rPr>
              <a:t>·</a:t>
            </a:r>
          </a:p>
          <a:p>
            <a:pPr>
              <a:lnSpc>
                <a:spcPct val="50000"/>
              </a:lnSpc>
              <a:tabLst>
                <a:tab pos="558800" algn="l"/>
              </a:tabLst>
            </a:pPr>
            <a:r>
              <a:rPr lang="en-US" altLang="ko-KR" sz="1800" b="1">
                <a:latin typeface="+mn-ea"/>
              </a:rPr>
              <a:t>·</a:t>
            </a:r>
          </a:p>
          <a:p>
            <a:pPr>
              <a:lnSpc>
                <a:spcPct val="50000"/>
              </a:lnSpc>
              <a:tabLst>
                <a:tab pos="558800" algn="l"/>
              </a:tabLst>
            </a:pPr>
            <a:r>
              <a:rPr lang="en-US" altLang="ko-KR" sz="1800" b="1">
                <a:latin typeface="+mn-ea"/>
              </a:rPr>
              <a:t>·</a:t>
            </a:r>
            <a:endParaRPr lang="ko-KR" altLang="en-US" sz="1800" b="1" dirty="0">
              <a:latin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042D90-8B45-7A6F-3137-291BB35B64C5}"/>
              </a:ext>
            </a:extLst>
          </p:cNvPr>
          <p:cNvSpPr txBox="1"/>
          <p:nvPr/>
        </p:nvSpPr>
        <p:spPr>
          <a:xfrm>
            <a:off x="10843602" y="3990068"/>
            <a:ext cx="648506" cy="52354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50000"/>
              </a:lnSpc>
              <a:tabLst>
                <a:tab pos="558800" algn="l"/>
              </a:tabLst>
            </a:pPr>
            <a:r>
              <a:rPr lang="en-US" altLang="ko-KR" sz="1800" b="1">
                <a:latin typeface="+mn-ea"/>
              </a:rPr>
              <a:t>·</a:t>
            </a:r>
          </a:p>
          <a:p>
            <a:pPr>
              <a:lnSpc>
                <a:spcPct val="50000"/>
              </a:lnSpc>
              <a:tabLst>
                <a:tab pos="558800" algn="l"/>
              </a:tabLst>
            </a:pPr>
            <a:r>
              <a:rPr lang="en-US" altLang="ko-KR" sz="1800" b="1">
                <a:latin typeface="+mn-ea"/>
              </a:rPr>
              <a:t>·</a:t>
            </a:r>
          </a:p>
          <a:p>
            <a:pPr>
              <a:lnSpc>
                <a:spcPct val="50000"/>
              </a:lnSpc>
              <a:tabLst>
                <a:tab pos="558800" algn="l"/>
              </a:tabLst>
            </a:pPr>
            <a:r>
              <a:rPr lang="en-US" altLang="ko-KR" sz="1800" b="1">
                <a:latin typeface="+mn-ea"/>
              </a:rPr>
              <a:t>·</a:t>
            </a:r>
            <a:endParaRPr lang="ko-KR" altLang="en-US" sz="1800" b="1" dirty="0">
              <a:latin typeface="+mn-ea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4398BFD-101D-B06F-813A-20E306959599}"/>
              </a:ext>
            </a:extLst>
          </p:cNvPr>
          <p:cNvSpPr/>
          <p:nvPr/>
        </p:nvSpPr>
        <p:spPr>
          <a:xfrm>
            <a:off x="613254" y="3418858"/>
            <a:ext cx="1533600" cy="54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000" b="1" spc="-60" dirty="0">
                <a:solidFill>
                  <a:schemeClr val="tx1"/>
                </a:solidFill>
                <a:latin typeface="+mn-ea"/>
              </a:rPr>
              <a:t>지역발전</a:t>
            </a:r>
            <a:r>
              <a:rPr lang="en-US" altLang="ko-KR" sz="1000" b="1" spc="-60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000" b="1" spc="-60" dirty="0">
                <a:solidFill>
                  <a:schemeClr val="tx1"/>
                </a:solidFill>
                <a:latin typeface="+mn-ea"/>
              </a:rPr>
              <a:t>공익사업</a:t>
            </a:r>
            <a:endParaRPr lang="en-US" altLang="ko-KR" sz="1000" b="1" spc="-6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700" spc="-6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지역제품</a:t>
            </a:r>
            <a:r>
              <a:rPr lang="en-US" altLang="ko-KR" sz="700" spc="-6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 </a:t>
            </a:r>
            <a:r>
              <a:rPr lang="ko-KR" altLang="en-US" sz="700" spc="-6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지역경제 활성화</a:t>
            </a:r>
            <a:endParaRPr lang="en-US" altLang="ko-KR" sz="700" b="1" spc="-6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 algn="ctr"/>
            <a:r>
              <a:rPr lang="ko-KR" altLang="en-US" sz="700" spc="-6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소외계층 지원 등 사회공헌</a:t>
            </a:r>
            <a:endParaRPr lang="ko-KR" altLang="en-US" sz="1000" b="1" spc="-6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501BBF-576B-A767-1D04-87185A76B9B9}"/>
              </a:ext>
            </a:extLst>
          </p:cNvPr>
          <p:cNvSpPr txBox="1"/>
          <p:nvPr/>
        </p:nvSpPr>
        <p:spPr>
          <a:xfrm>
            <a:off x="609684" y="5145609"/>
            <a:ext cx="1688054" cy="203133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>
              <a:lnSpc>
                <a:spcPct val="80000"/>
              </a:lnSpc>
              <a:tabLst>
                <a:tab pos="558800" algn="l"/>
              </a:tabLst>
            </a:pPr>
            <a:r>
              <a:rPr lang="ko-KR" altLang="en-US" sz="900" b="1">
                <a:solidFill>
                  <a:srgbClr val="0000FF"/>
                </a:solidFill>
                <a:latin typeface="+mn-ea"/>
              </a:rPr>
              <a:t>공익사업 중 방송발전 지원비용</a:t>
            </a:r>
            <a:endParaRPr lang="ko-KR" altLang="en-US" sz="9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93B6026-1702-171C-5DAE-179BD025D8EF}"/>
              </a:ext>
            </a:extLst>
          </p:cNvPr>
          <p:cNvSpPr/>
          <p:nvPr/>
        </p:nvSpPr>
        <p:spPr>
          <a:xfrm>
            <a:off x="613254" y="4582931"/>
            <a:ext cx="1533600" cy="54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36000" rIns="9144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방송분야 공익사업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0F325A1-B8B1-A1DD-F3A6-96B6117DA8F0}"/>
              </a:ext>
            </a:extLst>
          </p:cNvPr>
          <p:cNvSpPr/>
          <p:nvPr/>
        </p:nvSpPr>
        <p:spPr>
          <a:xfrm>
            <a:off x="2507949" y="4566714"/>
            <a:ext cx="1533600" cy="54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동반성장</a:t>
            </a:r>
            <a:endParaRPr lang="en-US" altLang="ko-KR" sz="10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중소기업 지원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25B0DD7-3BCD-CDEB-5F22-90E29D07A398}"/>
              </a:ext>
            </a:extLst>
          </p:cNvPr>
          <p:cNvSpPr txBox="1"/>
          <p:nvPr/>
        </p:nvSpPr>
        <p:spPr>
          <a:xfrm>
            <a:off x="6315372" y="3966070"/>
            <a:ext cx="646491" cy="230832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ko-KR" altLang="en-US" sz="900" b="1" dirty="0">
                <a:solidFill>
                  <a:srgbClr val="0000FF"/>
                </a:solidFill>
                <a:latin typeface="+mn-ea"/>
              </a:rPr>
              <a:t>제작비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548E750-CFFD-4656-971C-92DA7754999F}"/>
              </a:ext>
            </a:extLst>
          </p:cNvPr>
          <p:cNvSpPr/>
          <p:nvPr/>
        </p:nvSpPr>
        <p:spPr>
          <a:xfrm>
            <a:off x="6301886" y="3405471"/>
            <a:ext cx="1533600" cy="54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+mn-ea"/>
              </a:rPr>
              <a:t>(Contents)</a:t>
            </a:r>
          </a:p>
          <a:p>
            <a:pPr algn="ctr">
              <a:lnSpc>
                <a:spcPct val="12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방송 제작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7C31593-DE35-0B2B-287D-510555488DBC}"/>
              </a:ext>
            </a:extLst>
          </p:cNvPr>
          <p:cNvSpPr txBox="1"/>
          <p:nvPr/>
        </p:nvSpPr>
        <p:spPr>
          <a:xfrm>
            <a:off x="6301886" y="4958020"/>
            <a:ext cx="1025651" cy="230832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ko-KR" altLang="en-US" sz="900" b="1" dirty="0">
                <a:solidFill>
                  <a:srgbClr val="0000FF"/>
                </a:solidFill>
                <a:latin typeface="+mn-ea"/>
              </a:rPr>
              <a:t>시설</a:t>
            </a:r>
            <a:r>
              <a:rPr lang="en-US" altLang="ko-KR" sz="900" b="1" dirty="0">
                <a:solidFill>
                  <a:srgbClr val="0000FF"/>
                </a:solidFill>
                <a:latin typeface="+mn-ea"/>
              </a:rPr>
              <a:t>·</a:t>
            </a:r>
            <a:r>
              <a:rPr lang="ko-KR" altLang="en-US" sz="900" b="1" dirty="0">
                <a:solidFill>
                  <a:srgbClr val="0000FF"/>
                </a:solidFill>
                <a:latin typeface="+mn-ea"/>
              </a:rPr>
              <a:t>기술투자비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D16427B-A5BC-16C7-A7EF-48CD0FAFCC2A}"/>
              </a:ext>
            </a:extLst>
          </p:cNvPr>
          <p:cNvSpPr/>
          <p:nvPr/>
        </p:nvSpPr>
        <p:spPr>
          <a:xfrm>
            <a:off x="6301886" y="4420752"/>
            <a:ext cx="1533600" cy="54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+mn-ea"/>
              </a:rPr>
              <a:t>(Infra)</a:t>
            </a:r>
          </a:p>
          <a:p>
            <a:pPr algn="ctr">
              <a:lnSpc>
                <a:spcPct val="12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방송 시설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기술</a:t>
            </a: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639EB7BB-61DD-7686-EEC8-FCF461F055E8}"/>
              </a:ext>
            </a:extLst>
          </p:cNvPr>
          <p:cNvCxnSpPr>
            <a:cxnSpLocks/>
          </p:cNvCxnSpPr>
          <p:nvPr/>
        </p:nvCxnSpPr>
        <p:spPr>
          <a:xfrm>
            <a:off x="3273658" y="2084936"/>
            <a:ext cx="0" cy="492383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DBA3ABE-33C2-1697-154F-B70CD6597323}"/>
              </a:ext>
            </a:extLst>
          </p:cNvPr>
          <p:cNvSpPr/>
          <p:nvPr/>
        </p:nvSpPr>
        <p:spPr>
          <a:xfrm>
            <a:off x="8199382" y="3405472"/>
            <a:ext cx="1533600" cy="54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인력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교육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30EE43-2D91-0D1F-B0FA-19319BB4BABE}"/>
              </a:ext>
            </a:extLst>
          </p:cNvPr>
          <p:cNvSpPr txBox="1"/>
          <p:nvPr/>
        </p:nvSpPr>
        <p:spPr>
          <a:xfrm>
            <a:off x="613635" y="3985321"/>
            <a:ext cx="742611" cy="203133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>
              <a:lnSpc>
                <a:spcPct val="80000"/>
              </a:lnSpc>
              <a:tabLst>
                <a:tab pos="558800" algn="l"/>
              </a:tabLst>
            </a:pPr>
            <a:r>
              <a:rPr lang="ko-KR" altLang="en-US" sz="900" b="1" dirty="0">
                <a:solidFill>
                  <a:srgbClr val="0000FF"/>
                </a:solidFill>
                <a:latin typeface="+mn-ea"/>
              </a:rPr>
              <a:t>공익사업 비용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B7E5612-763F-9FF0-C71F-7294B36B6F90}"/>
              </a:ext>
            </a:extLst>
          </p:cNvPr>
          <p:cNvSpPr/>
          <p:nvPr/>
        </p:nvSpPr>
        <p:spPr>
          <a:xfrm>
            <a:off x="10096878" y="5873817"/>
            <a:ext cx="1533600" cy="42097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계획 준수 여부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A83F63D-A902-BA23-423A-EC0E5081AC6C}"/>
              </a:ext>
            </a:extLst>
          </p:cNvPr>
          <p:cNvSpPr txBox="1"/>
          <p:nvPr/>
        </p:nvSpPr>
        <p:spPr>
          <a:xfrm>
            <a:off x="10096878" y="5612690"/>
            <a:ext cx="648506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제</a:t>
            </a:r>
            <a:r>
              <a:rPr lang="en-US" altLang="ko-KR" sz="1100" b="1" dirty="0">
                <a:latin typeface="+mn-ea"/>
              </a:rPr>
              <a:t>9</a:t>
            </a:r>
            <a:r>
              <a:rPr lang="ko-KR" altLang="en-US" sz="1100" b="1" dirty="0">
                <a:latin typeface="+mn-ea"/>
              </a:rPr>
              <a:t>장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5FFD88B-6BF7-39EF-6EBF-B6AF78BA52DB}"/>
              </a:ext>
            </a:extLst>
          </p:cNvPr>
          <p:cNvSpPr txBox="1"/>
          <p:nvPr/>
        </p:nvSpPr>
        <p:spPr>
          <a:xfrm>
            <a:off x="51111" y="64460"/>
            <a:ext cx="9572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5.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심사 내용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F1CA35-B6D7-99A0-12B0-E4B0913D0449}"/>
              </a:ext>
            </a:extLst>
          </p:cNvPr>
          <p:cNvSpPr txBox="1"/>
          <p:nvPr/>
        </p:nvSpPr>
        <p:spPr>
          <a:xfrm>
            <a:off x="2516882" y="5131076"/>
            <a:ext cx="1688055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900" b="1" dirty="0">
                <a:solidFill>
                  <a:srgbClr val="0000FF"/>
                </a:solidFill>
                <a:latin typeface="+mn-ea"/>
              </a:rPr>
              <a:t>동반성장 지원 비용</a:t>
            </a:r>
            <a:endParaRPr lang="en-US" altLang="ko-KR" sz="900" b="1" dirty="0">
              <a:solidFill>
                <a:srgbClr val="0000FF"/>
              </a:solidFill>
              <a:latin typeface="+mn-ea"/>
            </a:endParaRPr>
          </a:p>
          <a:p>
            <a:pPr>
              <a:tabLst>
                <a:tab pos="558800" algn="l"/>
              </a:tabLst>
            </a:pPr>
            <a:r>
              <a:rPr lang="ko-KR" altLang="en-US" sz="900" b="1" u="sng" dirty="0">
                <a:solidFill>
                  <a:srgbClr val="0000FF"/>
                </a:solidFill>
                <a:latin typeface="+mn-ea"/>
              </a:rPr>
              <a:t>중소기업 </a:t>
            </a:r>
            <a:r>
              <a:rPr lang="en-US" altLang="ko-KR" sz="900" b="1" u="sng" dirty="0">
                <a:solidFill>
                  <a:srgbClr val="0000FF"/>
                </a:solidFill>
                <a:latin typeface="+mn-ea"/>
              </a:rPr>
              <a:t>6</a:t>
            </a:r>
            <a:r>
              <a:rPr lang="ko-KR" altLang="en-US" sz="900" b="1" u="sng" dirty="0">
                <a:solidFill>
                  <a:srgbClr val="0000FF"/>
                </a:solidFill>
                <a:latin typeface="+mn-ea"/>
              </a:rPr>
              <a:t>가지 지표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296795F-5375-3FF8-BDDD-24DF4CA5C667}"/>
              </a:ext>
            </a:extLst>
          </p:cNvPr>
          <p:cNvSpPr txBox="1"/>
          <p:nvPr/>
        </p:nvSpPr>
        <p:spPr>
          <a:xfrm>
            <a:off x="2507950" y="3985321"/>
            <a:ext cx="1622950" cy="230832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900" b="1" u="sng" spc="-60" dirty="0">
                <a:solidFill>
                  <a:srgbClr val="0000FF"/>
                </a:solidFill>
                <a:latin typeface="+mn-ea"/>
              </a:rPr>
              <a:t>관련법령 준수</a:t>
            </a:r>
            <a:r>
              <a:rPr lang="en-US" altLang="ko-KR" sz="900" b="1" spc="-6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900" b="1" spc="-60" dirty="0">
                <a:solidFill>
                  <a:srgbClr val="0000FF"/>
                </a:solidFill>
                <a:latin typeface="+mn-ea"/>
              </a:rPr>
              <a:t>임직원 범죄</a:t>
            </a:r>
            <a:endParaRPr lang="en-US" altLang="ko-KR" sz="900" spc="-60" dirty="0">
              <a:latin typeface="+mn-e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6C8C984-EE38-89FA-CB3B-FB108645E8DD}"/>
              </a:ext>
            </a:extLst>
          </p:cNvPr>
          <p:cNvSpPr txBox="1"/>
          <p:nvPr/>
        </p:nvSpPr>
        <p:spPr>
          <a:xfrm>
            <a:off x="8212218" y="3962694"/>
            <a:ext cx="1025651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900" b="1" dirty="0">
                <a:solidFill>
                  <a:srgbClr val="0000FF"/>
                </a:solidFill>
                <a:latin typeface="+mn-ea"/>
              </a:rPr>
              <a:t>교육훈련비</a:t>
            </a:r>
            <a:endParaRPr lang="en-US" altLang="ko-KR" sz="900" b="1" dirty="0">
              <a:solidFill>
                <a:srgbClr val="0000FF"/>
              </a:solidFill>
              <a:latin typeface="+mn-ea"/>
            </a:endParaRPr>
          </a:p>
          <a:p>
            <a:pPr>
              <a:tabLst>
                <a:tab pos="558800" algn="l"/>
              </a:tabLst>
            </a:pPr>
            <a:r>
              <a:rPr lang="ko-KR" altLang="en-US" sz="900" b="1" dirty="0">
                <a:solidFill>
                  <a:srgbClr val="0000FF"/>
                </a:solidFill>
                <a:latin typeface="+mn-ea"/>
              </a:rPr>
              <a:t>고용 지표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CF4C0B3-4911-A543-4F39-E86B0E46F445}"/>
              </a:ext>
            </a:extLst>
          </p:cNvPr>
          <p:cNvSpPr txBox="1"/>
          <p:nvPr/>
        </p:nvSpPr>
        <p:spPr>
          <a:xfrm>
            <a:off x="2709236" y="5694931"/>
            <a:ext cx="1128845" cy="60016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tabLst>
                <a:tab pos="558800" algn="l"/>
              </a:tabLst>
            </a:pPr>
            <a:r>
              <a:rPr lang="ko-KR" altLang="en-US" sz="1100" spc="-50" dirty="0">
                <a:latin typeface="+mn-ea"/>
              </a:rPr>
              <a:t>▿</a:t>
            </a:r>
            <a:endParaRPr lang="en-US" altLang="ko-KR" sz="1100" spc="-50" dirty="0">
              <a:latin typeface="+mn-ea"/>
            </a:endParaRPr>
          </a:p>
          <a:p>
            <a:pPr algn="ctr">
              <a:tabLst>
                <a:tab pos="558800" algn="l"/>
              </a:tabLst>
            </a:pPr>
            <a:r>
              <a:rPr lang="ko-KR" altLang="en-US" sz="1100" spc="-50" dirty="0">
                <a:latin typeface="+mn-ea"/>
              </a:rPr>
              <a:t>제</a:t>
            </a:r>
            <a:r>
              <a:rPr lang="en-US" altLang="ko-KR" sz="1100" spc="-50" dirty="0">
                <a:latin typeface="+mn-ea"/>
              </a:rPr>
              <a:t>3</a:t>
            </a:r>
            <a:r>
              <a:rPr lang="ko-KR" altLang="en-US" sz="1100" spc="-50" dirty="0">
                <a:latin typeface="+mn-ea"/>
              </a:rPr>
              <a:t>장 </a:t>
            </a:r>
            <a:r>
              <a:rPr lang="en-US" altLang="ko-KR" sz="1100" spc="-50" dirty="0">
                <a:latin typeface="+mn-ea"/>
              </a:rPr>
              <a:t>: </a:t>
            </a:r>
            <a:r>
              <a:rPr lang="ko-KR" altLang="en-US" sz="1100" spc="-50" dirty="0">
                <a:latin typeface="+mn-ea"/>
              </a:rPr>
              <a:t>총 </a:t>
            </a:r>
            <a:r>
              <a:rPr lang="en-US" altLang="ko-KR" sz="1100" spc="-50" dirty="0">
                <a:latin typeface="+mn-ea"/>
              </a:rPr>
              <a:t>260</a:t>
            </a:r>
            <a:r>
              <a:rPr lang="ko-KR" altLang="en-US" sz="1100" spc="-50" dirty="0">
                <a:latin typeface="+mn-ea"/>
              </a:rPr>
              <a:t>점 </a:t>
            </a:r>
            <a:endParaRPr lang="en-US" altLang="ko-KR" sz="1100" spc="-50" dirty="0">
              <a:latin typeface="+mn-ea"/>
            </a:endParaRPr>
          </a:p>
          <a:p>
            <a:pPr algn="ctr">
              <a:tabLst>
                <a:tab pos="558800" algn="l"/>
              </a:tabLst>
            </a:pPr>
            <a:r>
              <a:rPr lang="en-US" altLang="ko-KR" sz="1100" b="1" spc="-50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100" b="1" spc="-50" dirty="0">
                <a:solidFill>
                  <a:srgbClr val="C00000"/>
                </a:solidFill>
                <a:latin typeface="+mn-ea"/>
              </a:rPr>
              <a:t>과락항목</a:t>
            </a:r>
            <a:r>
              <a:rPr lang="en-US" altLang="ko-KR" sz="1100" b="1" spc="-50" dirty="0">
                <a:solidFill>
                  <a:srgbClr val="C00000"/>
                </a:solidFill>
                <a:latin typeface="+mn-ea"/>
              </a:rPr>
              <a:t>)</a:t>
            </a:r>
            <a:endParaRPr lang="ko-KR" altLang="en-US" sz="1100" b="1" spc="-5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4A1DBE6-A8D4-C77F-7A55-6B373D9ED3BE}"/>
              </a:ext>
            </a:extLst>
          </p:cNvPr>
          <p:cNvSpPr txBox="1"/>
          <p:nvPr/>
        </p:nvSpPr>
        <p:spPr>
          <a:xfrm>
            <a:off x="10593263" y="660030"/>
            <a:ext cx="1446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*</a:t>
            </a:r>
            <a:r>
              <a:rPr lang="ko-KR" altLang="en-US" sz="1200" b="1" dirty="0"/>
              <a:t>방송평가 </a:t>
            </a:r>
            <a:r>
              <a:rPr lang="en-US" altLang="ko-KR" sz="1050" b="1" dirty="0"/>
              <a:t>(275</a:t>
            </a:r>
            <a:r>
              <a:rPr lang="ko-KR" altLang="en-US" sz="1050" b="1" dirty="0"/>
              <a:t>점</a:t>
            </a:r>
            <a:r>
              <a:rPr lang="en-US" altLang="ko-KR" sz="1050" b="1" dirty="0"/>
              <a:t>)</a:t>
            </a: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37CC403-5EB7-AB1C-B164-0D2A6E2F76B5}"/>
              </a:ext>
            </a:extLst>
          </p:cNvPr>
          <p:cNvCxnSpPr>
            <a:cxnSpLocks/>
          </p:cNvCxnSpPr>
          <p:nvPr/>
        </p:nvCxnSpPr>
        <p:spPr>
          <a:xfrm>
            <a:off x="1380054" y="2084936"/>
            <a:ext cx="0" cy="492383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7F9B630-AE40-CF0F-DF0A-5123D973EB33}"/>
              </a:ext>
            </a:extLst>
          </p:cNvPr>
          <p:cNvSpPr/>
          <p:nvPr/>
        </p:nvSpPr>
        <p:spPr>
          <a:xfrm>
            <a:off x="613254" y="2465200"/>
            <a:ext cx="1534899" cy="420970"/>
          </a:xfrm>
          <a:prstGeom prst="rect">
            <a:avLst/>
          </a:prstGeom>
          <a:solidFill>
            <a:srgbClr val="023373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>
                <a:solidFill>
                  <a:schemeClr val="bg1"/>
                </a:solidFill>
                <a:latin typeface="+mn-ea"/>
              </a:rPr>
              <a:t>사회</a:t>
            </a:r>
            <a:endParaRPr lang="en-US" altLang="ko-KR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474A02C-D0E3-E103-D214-12833B438088}"/>
              </a:ext>
            </a:extLst>
          </p:cNvPr>
          <p:cNvSpPr/>
          <p:nvPr/>
        </p:nvSpPr>
        <p:spPr>
          <a:xfrm>
            <a:off x="2510100" y="2465200"/>
            <a:ext cx="1534899" cy="420970"/>
          </a:xfrm>
          <a:prstGeom prst="rect">
            <a:avLst/>
          </a:prstGeom>
          <a:solidFill>
            <a:srgbClr val="023373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>
                <a:solidFill>
                  <a:schemeClr val="bg1"/>
                </a:solidFill>
                <a:latin typeface="+mn-ea"/>
              </a:rPr>
              <a:t>협력사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F366D04C-187D-248A-7AFF-9DE223D03D02}"/>
              </a:ext>
            </a:extLst>
          </p:cNvPr>
          <p:cNvSpPr/>
          <p:nvPr/>
        </p:nvSpPr>
        <p:spPr>
          <a:xfrm>
            <a:off x="2441015" y="2382596"/>
            <a:ext cx="1676399" cy="3288750"/>
          </a:xfrm>
          <a:prstGeom prst="roundRect">
            <a:avLst>
              <a:gd name="adj" fmla="val 7153"/>
            </a:avLst>
          </a:prstGeom>
          <a:noFill/>
          <a:ln w="3175">
            <a:solidFill>
              <a:srgbClr val="FF0000"/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06B43F0F-2456-2FD2-72C4-5479BC5469D6}"/>
              </a:ext>
            </a:extLst>
          </p:cNvPr>
          <p:cNvCxnSpPr>
            <a:cxnSpLocks/>
          </p:cNvCxnSpPr>
          <p:nvPr/>
        </p:nvCxnSpPr>
        <p:spPr>
          <a:xfrm>
            <a:off x="5157641" y="2084936"/>
            <a:ext cx="0" cy="492383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50147A9-A18D-E18C-6D8A-81402462E7CA}"/>
              </a:ext>
            </a:extLst>
          </p:cNvPr>
          <p:cNvSpPr/>
          <p:nvPr/>
        </p:nvSpPr>
        <p:spPr>
          <a:xfrm>
            <a:off x="4406947" y="2465200"/>
            <a:ext cx="1534899" cy="420970"/>
          </a:xfrm>
          <a:prstGeom prst="rect">
            <a:avLst/>
          </a:prstGeom>
          <a:solidFill>
            <a:srgbClr val="023373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>
                <a:solidFill>
                  <a:schemeClr val="bg1"/>
                </a:solidFill>
                <a:latin typeface="+mn-ea"/>
              </a:rPr>
              <a:t>소비자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E5BA712-6BDA-3F94-364F-DE68C359CB62}"/>
              </a:ext>
            </a:extLst>
          </p:cNvPr>
          <p:cNvSpPr/>
          <p:nvPr/>
        </p:nvSpPr>
        <p:spPr>
          <a:xfrm>
            <a:off x="613254" y="1788428"/>
            <a:ext cx="5328592" cy="420970"/>
          </a:xfrm>
          <a:prstGeom prst="rect">
            <a:avLst/>
          </a:prstGeom>
          <a:solidFill>
            <a:srgbClr val="023373"/>
          </a:solidFill>
          <a:ln w="12700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외부 </a:t>
            </a:r>
            <a:r>
              <a:rPr lang="en-US" altLang="ko-KR" sz="1050" dirty="0">
                <a:solidFill>
                  <a:schemeClr val="bg1"/>
                </a:solidFill>
                <a:latin typeface="+mn-ea"/>
              </a:rPr>
              <a:t>(570</a:t>
            </a:r>
            <a:r>
              <a:rPr lang="ko-KR" altLang="en-US" sz="1050" dirty="0">
                <a:solidFill>
                  <a:schemeClr val="bg1"/>
                </a:solidFill>
                <a:latin typeface="+mn-ea"/>
              </a:rPr>
              <a:t>점 </a:t>
            </a:r>
            <a:r>
              <a:rPr lang="en-US" altLang="ko-KR" sz="1050" dirty="0">
                <a:solidFill>
                  <a:schemeClr val="bg1"/>
                </a:solidFill>
                <a:latin typeface="+mn-ea"/>
              </a:rPr>
              <a:t>: </a:t>
            </a:r>
            <a:r>
              <a:rPr lang="ko-KR" altLang="en-US" sz="1050" dirty="0">
                <a:solidFill>
                  <a:schemeClr val="bg1"/>
                </a:solidFill>
                <a:latin typeface="+mn-ea"/>
              </a:rPr>
              <a:t>이해관계자에 대한 사회적 책무 이행</a:t>
            </a:r>
            <a:r>
              <a:rPr lang="en-US" altLang="ko-KR" sz="1050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71D00EF1-BF1D-EF1A-97F4-007FD8E409EC}"/>
              </a:ext>
            </a:extLst>
          </p:cNvPr>
          <p:cNvCxnSpPr>
            <a:cxnSpLocks/>
          </p:cNvCxnSpPr>
          <p:nvPr/>
        </p:nvCxnSpPr>
        <p:spPr>
          <a:xfrm>
            <a:off x="7068652" y="2084936"/>
            <a:ext cx="0" cy="492383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9A881906-7765-B5D8-992F-4012B2A0FE1F}"/>
              </a:ext>
            </a:extLst>
          </p:cNvPr>
          <p:cNvCxnSpPr>
            <a:cxnSpLocks/>
          </p:cNvCxnSpPr>
          <p:nvPr/>
        </p:nvCxnSpPr>
        <p:spPr>
          <a:xfrm>
            <a:off x="8987895" y="2084936"/>
            <a:ext cx="0" cy="492383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B051BE05-4237-DCDD-45D8-7AF60BFAC8D2}"/>
              </a:ext>
            </a:extLst>
          </p:cNvPr>
          <p:cNvCxnSpPr>
            <a:cxnSpLocks/>
          </p:cNvCxnSpPr>
          <p:nvPr/>
        </p:nvCxnSpPr>
        <p:spPr>
          <a:xfrm>
            <a:off x="10866027" y="2084936"/>
            <a:ext cx="0" cy="492383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410F1095-7E25-03F8-D133-02383492C123}"/>
              </a:ext>
            </a:extLst>
          </p:cNvPr>
          <p:cNvSpPr/>
          <p:nvPr/>
        </p:nvSpPr>
        <p:spPr>
          <a:xfrm>
            <a:off x="6301886" y="1779180"/>
            <a:ext cx="5328592" cy="420970"/>
          </a:xfrm>
          <a:prstGeom prst="rect">
            <a:avLst/>
          </a:prstGeom>
          <a:solidFill>
            <a:srgbClr val="CEDEF2"/>
          </a:solidFill>
          <a:ln w="12700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내부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(155</a:t>
            </a: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점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지속가능경영 노력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ACB4646-BE91-ABEF-C44F-990D54EBF5E3}"/>
              </a:ext>
            </a:extLst>
          </p:cNvPr>
          <p:cNvSpPr/>
          <p:nvPr/>
        </p:nvSpPr>
        <p:spPr>
          <a:xfrm>
            <a:off x="6301886" y="2465200"/>
            <a:ext cx="1533600" cy="420970"/>
          </a:xfrm>
          <a:prstGeom prst="rect">
            <a:avLst/>
          </a:prstGeom>
          <a:solidFill>
            <a:srgbClr val="CEDEF2"/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>
                <a:solidFill>
                  <a:schemeClr val="tx1"/>
                </a:solidFill>
                <a:latin typeface="+mn-ea"/>
              </a:rPr>
              <a:t>방송 제작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EF15DB-C4F1-38E5-98BE-01E2AACAE1B5}"/>
              </a:ext>
            </a:extLst>
          </p:cNvPr>
          <p:cNvSpPr/>
          <p:nvPr/>
        </p:nvSpPr>
        <p:spPr>
          <a:xfrm>
            <a:off x="8199382" y="2450764"/>
            <a:ext cx="1533600" cy="420970"/>
          </a:xfrm>
          <a:prstGeom prst="rect">
            <a:avLst/>
          </a:prstGeom>
          <a:solidFill>
            <a:srgbClr val="CEDEF2"/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>
                <a:solidFill>
                  <a:schemeClr val="tx1"/>
                </a:solidFill>
                <a:latin typeface="+mn-ea"/>
              </a:rPr>
              <a:t>직원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86975E4-35A0-D979-CD0D-6C63344CD41B}"/>
              </a:ext>
            </a:extLst>
          </p:cNvPr>
          <p:cNvSpPr/>
          <p:nvPr/>
        </p:nvSpPr>
        <p:spPr>
          <a:xfrm>
            <a:off x="10096878" y="2436328"/>
            <a:ext cx="1533600" cy="420970"/>
          </a:xfrm>
          <a:prstGeom prst="rect">
            <a:avLst/>
          </a:prstGeom>
          <a:solidFill>
            <a:srgbClr val="CEDEF2"/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>
                <a:solidFill>
                  <a:schemeClr val="tx1"/>
                </a:solidFill>
                <a:latin typeface="+mn-ea"/>
              </a:rPr>
              <a:t>경영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FCDBAFA-BF70-8279-2AE5-8699445DC8B1}"/>
              </a:ext>
            </a:extLst>
          </p:cNvPr>
          <p:cNvSpPr/>
          <p:nvPr/>
        </p:nvSpPr>
        <p:spPr>
          <a:xfrm>
            <a:off x="10161473" y="2352085"/>
            <a:ext cx="252000" cy="252000"/>
          </a:xfrm>
          <a:prstGeom prst="rect">
            <a:avLst/>
          </a:prstGeom>
          <a:solidFill>
            <a:srgbClr val="036635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b="1" dirty="0">
                <a:solidFill>
                  <a:schemeClr val="bg1"/>
                </a:solidFill>
              </a:rPr>
              <a:t>전사 기준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37FDF73-762F-1659-74AB-AD0114462892}"/>
              </a:ext>
            </a:extLst>
          </p:cNvPr>
          <p:cNvSpPr/>
          <p:nvPr/>
        </p:nvSpPr>
        <p:spPr>
          <a:xfrm>
            <a:off x="2270904" y="4006302"/>
            <a:ext cx="216000" cy="216000"/>
          </a:xfrm>
          <a:prstGeom prst="rect">
            <a:avLst/>
          </a:prstGeom>
          <a:solidFill>
            <a:srgbClr val="036635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b="1" dirty="0">
                <a:solidFill>
                  <a:schemeClr val="bg1"/>
                </a:solidFill>
              </a:rPr>
              <a:t>전사 기준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1096F87-947D-D830-1EEA-C5F7E909BB5C}"/>
              </a:ext>
            </a:extLst>
          </p:cNvPr>
          <p:cNvSpPr/>
          <p:nvPr/>
        </p:nvSpPr>
        <p:spPr>
          <a:xfrm>
            <a:off x="361423" y="4006302"/>
            <a:ext cx="216000" cy="216000"/>
          </a:xfrm>
          <a:prstGeom prst="rect">
            <a:avLst/>
          </a:prstGeom>
          <a:solidFill>
            <a:srgbClr val="036635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b="1" dirty="0">
                <a:solidFill>
                  <a:schemeClr val="bg1"/>
                </a:solidFill>
              </a:rPr>
              <a:t>전사 기준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10D62C4-66FD-A57B-BE90-70045EB0D7A8}"/>
              </a:ext>
            </a:extLst>
          </p:cNvPr>
          <p:cNvSpPr/>
          <p:nvPr/>
        </p:nvSpPr>
        <p:spPr>
          <a:xfrm>
            <a:off x="9810392" y="4449581"/>
            <a:ext cx="216000" cy="216000"/>
          </a:xfrm>
          <a:prstGeom prst="rect">
            <a:avLst/>
          </a:prstGeom>
          <a:solidFill>
            <a:srgbClr val="036635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b="1" dirty="0">
                <a:solidFill>
                  <a:schemeClr val="bg1"/>
                </a:solidFill>
              </a:rPr>
              <a:t>전사 기준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06BB41F-1787-4895-E0E5-DC5CCDE837F6}"/>
              </a:ext>
            </a:extLst>
          </p:cNvPr>
          <p:cNvSpPr txBox="1"/>
          <p:nvPr/>
        </p:nvSpPr>
        <p:spPr>
          <a:xfrm>
            <a:off x="6301885" y="5582620"/>
            <a:ext cx="766767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ko-KR" altLang="en-US" sz="1050" b="1" spc="-60" dirty="0">
                <a:latin typeface="+mn-ea"/>
              </a:rPr>
              <a:t>제</a:t>
            </a:r>
            <a:r>
              <a:rPr lang="en-US" altLang="ko-KR" sz="1050" b="1" spc="-60" dirty="0">
                <a:latin typeface="+mn-ea"/>
              </a:rPr>
              <a:t>6</a:t>
            </a:r>
            <a:r>
              <a:rPr lang="ko-KR" altLang="en-US" sz="1050" b="1" spc="-60" dirty="0">
                <a:latin typeface="+mn-ea"/>
              </a:rPr>
              <a:t>장</a:t>
            </a:r>
            <a:r>
              <a:rPr lang="ko-KR" altLang="en-US" sz="1000" b="1" spc="-60" dirty="0">
                <a:latin typeface="+mn-ea"/>
              </a:rPr>
              <a:t> </a:t>
            </a:r>
            <a:r>
              <a:rPr lang="en-US" altLang="ko-KR" sz="1000" b="1" spc="-60" dirty="0">
                <a:latin typeface="+mn-ea"/>
              </a:rPr>
              <a:t>(30</a:t>
            </a:r>
            <a:r>
              <a:rPr lang="ko-KR" altLang="en-US" sz="1000" b="1" spc="-60" dirty="0">
                <a:latin typeface="+mn-ea"/>
              </a:rPr>
              <a:t>점</a:t>
            </a:r>
            <a:r>
              <a:rPr lang="en-US" altLang="ko-KR" sz="1000" b="1" spc="-60" dirty="0">
                <a:latin typeface="+mn-ea"/>
              </a:rPr>
              <a:t>)</a:t>
            </a:r>
            <a:endParaRPr lang="ko-KR" altLang="en-US" sz="1050" b="1" spc="-60" dirty="0">
              <a:latin typeface="+mn-ea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4FFD3A09-45B6-7B06-C4D7-69DC394B25E2}"/>
              </a:ext>
            </a:extLst>
          </p:cNvPr>
          <p:cNvSpPr/>
          <p:nvPr/>
        </p:nvSpPr>
        <p:spPr>
          <a:xfrm>
            <a:off x="6301852" y="5549835"/>
            <a:ext cx="1533600" cy="54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36000" rIns="9144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데이터 특화 기술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250054C-A903-BCCB-6788-138A93CD9E4C}"/>
              </a:ext>
            </a:extLst>
          </p:cNvPr>
          <p:cNvSpPr txBox="1"/>
          <p:nvPr/>
        </p:nvSpPr>
        <p:spPr>
          <a:xfrm>
            <a:off x="6305064" y="5285672"/>
            <a:ext cx="1039256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ko-KR" altLang="en-US" sz="1050" b="1" spc="-50" dirty="0">
                <a:latin typeface="+mn-ea"/>
              </a:rPr>
              <a:t>제</a:t>
            </a:r>
            <a:r>
              <a:rPr lang="en-US" altLang="ko-KR" sz="1050" b="1" spc="-50" dirty="0">
                <a:latin typeface="+mn-ea"/>
              </a:rPr>
              <a:t>8</a:t>
            </a:r>
            <a:r>
              <a:rPr lang="ko-KR" altLang="en-US" sz="1050" b="1" spc="-50" dirty="0">
                <a:latin typeface="+mn-ea"/>
              </a:rPr>
              <a:t>장</a:t>
            </a:r>
            <a:r>
              <a:rPr lang="ko-KR" altLang="en-US" sz="1000" b="1" spc="-50" dirty="0">
                <a:latin typeface="+mn-ea"/>
              </a:rPr>
              <a:t> </a:t>
            </a:r>
            <a:r>
              <a:rPr lang="en-US" altLang="ko-KR" sz="1000" b="1" spc="-50" dirty="0">
                <a:latin typeface="+mn-ea"/>
              </a:rPr>
              <a:t>(60</a:t>
            </a:r>
            <a:r>
              <a:rPr lang="ko-KR" altLang="en-US" sz="1000" b="1" spc="-50" dirty="0">
                <a:latin typeface="+mn-ea"/>
              </a:rPr>
              <a:t>점</a:t>
            </a:r>
            <a:r>
              <a:rPr lang="en-US" altLang="ko-KR" sz="1000" b="1" spc="-50" dirty="0">
                <a:latin typeface="+mn-ea"/>
              </a:rPr>
              <a:t>)</a:t>
            </a:r>
            <a:endParaRPr lang="ko-KR" altLang="en-US" sz="1050" b="1" spc="-50" dirty="0"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AE0AF08-B14D-DA8A-81BB-08E3E96C6402}"/>
              </a:ext>
            </a:extLst>
          </p:cNvPr>
          <p:cNvSpPr txBox="1"/>
          <p:nvPr/>
        </p:nvSpPr>
        <p:spPr>
          <a:xfrm>
            <a:off x="11669486" y="6635877"/>
            <a:ext cx="5225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9/109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88342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1F33AC-C6CA-C9F7-05A2-6E1E511F3D2F}"/>
              </a:ext>
            </a:extLst>
          </p:cNvPr>
          <p:cNvSpPr txBox="1"/>
          <p:nvPr/>
        </p:nvSpPr>
        <p:spPr>
          <a:xfrm>
            <a:off x="63295" y="70267"/>
            <a:ext cx="9572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재승인 사업계획서 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(122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개 항목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 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510A5D4-5223-AD32-5B96-7801A739DDC2}"/>
              </a:ext>
            </a:extLst>
          </p:cNvPr>
          <p:cNvSpPr/>
          <p:nvPr/>
        </p:nvSpPr>
        <p:spPr>
          <a:xfrm>
            <a:off x="299981" y="1341438"/>
            <a:ext cx="3771016" cy="524224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51084F-E642-3E5B-9D7F-393348770F8B}"/>
              </a:ext>
            </a:extLst>
          </p:cNvPr>
          <p:cNvSpPr txBox="1"/>
          <p:nvPr/>
        </p:nvSpPr>
        <p:spPr>
          <a:xfrm>
            <a:off x="299981" y="588326"/>
            <a:ext cx="5309595" cy="35375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■</a:t>
            </a:r>
            <a:r>
              <a:rPr lang="en-US" altLang="ko-KR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 (</a:t>
            </a: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재승인</a:t>
            </a:r>
            <a:r>
              <a:rPr lang="en-US" altLang="ko-KR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)</a:t>
            </a: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 사업계획서 작성 양식</a:t>
            </a:r>
            <a:endParaRPr lang="en-US" altLang="ko-KR" sz="13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1E7EB3-FE17-1BF4-7C73-B661C8FF4646}"/>
              </a:ext>
            </a:extLst>
          </p:cNvPr>
          <p:cNvSpPr txBox="1"/>
          <p:nvPr/>
        </p:nvSpPr>
        <p:spPr>
          <a:xfrm>
            <a:off x="528581" y="860115"/>
            <a:ext cx="5309595" cy="35375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en-US" altLang="ko-KR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- </a:t>
            </a: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매우 구체적인 항목과 양식을 제시</a:t>
            </a:r>
            <a:endParaRPr lang="en-US" altLang="ko-KR" sz="13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+mn-ea"/>
            </a:endParaRPr>
          </a:p>
        </p:txBody>
      </p:sp>
      <p:pic>
        <p:nvPicPr>
          <p:cNvPr id="5" name="그림 4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8F668F-BBDF-1F0E-D559-5A7E4280A9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32"/>
          <a:stretch>
            <a:fillRect/>
          </a:stretch>
        </p:blipFill>
        <p:spPr>
          <a:xfrm>
            <a:off x="443338" y="1499304"/>
            <a:ext cx="3543036" cy="485066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F8CDD85-8853-5B20-FE88-951EB98337BF}"/>
              </a:ext>
            </a:extLst>
          </p:cNvPr>
          <p:cNvSpPr txBox="1"/>
          <p:nvPr/>
        </p:nvSpPr>
        <p:spPr>
          <a:xfrm>
            <a:off x="373553" y="1661956"/>
            <a:ext cx="251475" cy="37388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4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rgbClr val="0000FF"/>
                </a:solidFill>
                <a:latin typeface="+mn-ea"/>
              </a:rPr>
              <a:t>√</a:t>
            </a:r>
            <a:endParaRPr lang="en-US" altLang="ko-KR" sz="14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rgbClr val="0000FF"/>
              </a:solidFill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E33F4A-28DB-2509-9DFD-E6411D4B1FEE}"/>
              </a:ext>
            </a:extLst>
          </p:cNvPr>
          <p:cNvSpPr txBox="1"/>
          <p:nvPr/>
        </p:nvSpPr>
        <p:spPr>
          <a:xfrm>
            <a:off x="373552" y="3305832"/>
            <a:ext cx="251475" cy="37388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4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rgbClr val="0000FF"/>
                </a:solidFill>
                <a:latin typeface="+mn-ea"/>
              </a:rPr>
              <a:t>√</a:t>
            </a:r>
            <a:endParaRPr lang="en-US" altLang="ko-KR" sz="14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rgbClr val="0000FF"/>
              </a:solidFill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274005-24B5-F8A3-1531-B8052ACB9DE2}"/>
              </a:ext>
            </a:extLst>
          </p:cNvPr>
          <p:cNvSpPr txBox="1"/>
          <p:nvPr/>
        </p:nvSpPr>
        <p:spPr>
          <a:xfrm>
            <a:off x="373551" y="5142675"/>
            <a:ext cx="251475" cy="37388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4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rgbClr val="0000FF"/>
                </a:solidFill>
                <a:latin typeface="+mn-ea"/>
              </a:rPr>
              <a:t>√</a:t>
            </a:r>
            <a:endParaRPr lang="en-US" altLang="ko-KR" sz="14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rgbClr val="0000FF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937C8E-C70D-4FC4-7878-268CCBDB624C}"/>
              </a:ext>
            </a:extLst>
          </p:cNvPr>
          <p:cNvSpPr txBox="1"/>
          <p:nvPr/>
        </p:nvSpPr>
        <p:spPr>
          <a:xfrm>
            <a:off x="373550" y="6024565"/>
            <a:ext cx="251475" cy="37388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4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rgbClr val="0000FF"/>
                </a:solidFill>
                <a:latin typeface="+mn-ea"/>
              </a:rPr>
              <a:t>√</a:t>
            </a:r>
            <a:endParaRPr lang="en-US" altLang="ko-KR" sz="14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rgbClr val="0000FF"/>
              </a:solidFill>
              <a:latin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E414618-BA3F-6CEA-23DA-3E319CFA4348}"/>
              </a:ext>
            </a:extLst>
          </p:cNvPr>
          <p:cNvSpPr/>
          <p:nvPr/>
        </p:nvSpPr>
        <p:spPr>
          <a:xfrm>
            <a:off x="4262489" y="1341438"/>
            <a:ext cx="3771016" cy="524224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 descr="텍스트, 폰트, 번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A2D8B7-7686-4D7A-C320-9B34B834B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8595" y="1499304"/>
            <a:ext cx="3532232" cy="467076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B625715-F9FB-3FA6-557C-1F947405F6BB}"/>
              </a:ext>
            </a:extLst>
          </p:cNvPr>
          <p:cNvSpPr txBox="1"/>
          <p:nvPr/>
        </p:nvSpPr>
        <p:spPr>
          <a:xfrm>
            <a:off x="4329048" y="3055115"/>
            <a:ext cx="251475" cy="37388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4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rgbClr val="0000FF"/>
                </a:solidFill>
                <a:latin typeface="+mn-ea"/>
              </a:rPr>
              <a:t>√</a:t>
            </a:r>
            <a:endParaRPr lang="en-US" altLang="ko-KR" sz="14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rgbClr val="0000FF"/>
              </a:solidFill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2C529D-5D10-4DCC-6BB3-C30720CCD78F}"/>
              </a:ext>
            </a:extLst>
          </p:cNvPr>
          <p:cNvSpPr txBox="1"/>
          <p:nvPr/>
        </p:nvSpPr>
        <p:spPr>
          <a:xfrm>
            <a:off x="4329048" y="4271665"/>
            <a:ext cx="251475" cy="37388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4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rgbClr val="0000FF"/>
                </a:solidFill>
                <a:latin typeface="+mn-ea"/>
              </a:rPr>
              <a:t>√</a:t>
            </a:r>
            <a:endParaRPr lang="en-US" altLang="ko-KR" sz="14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rgbClr val="0000FF"/>
              </a:solidFill>
              <a:latin typeface="+mn-ea"/>
            </a:endParaRPr>
          </a:p>
        </p:txBody>
      </p:sp>
      <p:pic>
        <p:nvPicPr>
          <p:cNvPr id="28" name="그림 2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59FCEC-5AEE-1616-5C49-430C6F3B6A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292" y="1531757"/>
            <a:ext cx="3622721" cy="456827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3F04F1D-F5AC-7ED5-D32C-1C58E7EAAB71}"/>
              </a:ext>
            </a:extLst>
          </p:cNvPr>
          <p:cNvSpPr txBox="1"/>
          <p:nvPr/>
        </p:nvSpPr>
        <p:spPr>
          <a:xfrm>
            <a:off x="8293567" y="1703052"/>
            <a:ext cx="251475" cy="37388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4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rgbClr val="0000FF"/>
                </a:solidFill>
                <a:latin typeface="+mn-ea"/>
              </a:rPr>
              <a:t>√</a:t>
            </a:r>
            <a:endParaRPr lang="en-US" altLang="ko-KR" sz="14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rgbClr val="0000FF"/>
              </a:solidFill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2F6449-A3C1-7691-98CB-8339E10B6BB7}"/>
              </a:ext>
            </a:extLst>
          </p:cNvPr>
          <p:cNvSpPr txBox="1"/>
          <p:nvPr/>
        </p:nvSpPr>
        <p:spPr>
          <a:xfrm>
            <a:off x="8293567" y="2535043"/>
            <a:ext cx="251475" cy="37388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4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rgbClr val="0000FF"/>
                </a:solidFill>
                <a:latin typeface="+mn-ea"/>
              </a:rPr>
              <a:t>√</a:t>
            </a:r>
            <a:endParaRPr lang="en-US" altLang="ko-KR" sz="14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rgbClr val="0000FF"/>
              </a:solidFill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F4CCA6-490B-238C-6B1D-FA1FAF1F0A60}"/>
              </a:ext>
            </a:extLst>
          </p:cNvPr>
          <p:cNvSpPr txBox="1"/>
          <p:nvPr/>
        </p:nvSpPr>
        <p:spPr>
          <a:xfrm>
            <a:off x="8293567" y="3834687"/>
            <a:ext cx="251475" cy="37388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4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rgbClr val="0000FF"/>
                </a:solidFill>
                <a:latin typeface="+mn-ea"/>
              </a:rPr>
              <a:t>√</a:t>
            </a:r>
            <a:endParaRPr lang="en-US" altLang="ko-KR" sz="14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rgbClr val="0000FF"/>
              </a:solidFill>
              <a:latin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5DEE0F-3DA0-616A-4B65-CACC8E8F88E5}"/>
              </a:ext>
            </a:extLst>
          </p:cNvPr>
          <p:cNvSpPr txBox="1"/>
          <p:nvPr/>
        </p:nvSpPr>
        <p:spPr>
          <a:xfrm>
            <a:off x="8293567" y="4398536"/>
            <a:ext cx="251475" cy="37388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4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rgbClr val="0000FF"/>
                </a:solidFill>
                <a:latin typeface="+mn-ea"/>
              </a:rPr>
              <a:t>√</a:t>
            </a:r>
            <a:endParaRPr lang="en-US" altLang="ko-KR" sz="14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rgbClr val="0000FF"/>
              </a:solidFill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3216AA-0C33-B6B2-9B71-83E034A6AE99}"/>
              </a:ext>
            </a:extLst>
          </p:cNvPr>
          <p:cNvSpPr txBox="1"/>
          <p:nvPr/>
        </p:nvSpPr>
        <p:spPr>
          <a:xfrm>
            <a:off x="8293567" y="5182960"/>
            <a:ext cx="251475" cy="37388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4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rgbClr val="0000FF"/>
                </a:solidFill>
                <a:latin typeface="+mn-ea"/>
              </a:rPr>
              <a:t>√</a:t>
            </a:r>
            <a:endParaRPr lang="en-US" altLang="ko-KR" sz="14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solidFill>
                <a:srgbClr val="0000FF"/>
              </a:solidFill>
              <a:latin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6817FAE-F1A8-2729-1ECB-18E4F97222B0}"/>
              </a:ext>
            </a:extLst>
          </p:cNvPr>
          <p:cNvSpPr/>
          <p:nvPr/>
        </p:nvSpPr>
        <p:spPr>
          <a:xfrm>
            <a:off x="8224997" y="1337912"/>
            <a:ext cx="3771016" cy="524224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772272-AF9B-0C4A-AE87-FA47456BDDFD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10/109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990578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691E154-B715-C204-A517-28F60B29300C}"/>
              </a:ext>
            </a:extLst>
          </p:cNvPr>
          <p:cNvSpPr txBox="1"/>
          <p:nvPr/>
        </p:nvSpPr>
        <p:spPr>
          <a:xfrm>
            <a:off x="68645" y="73169"/>
            <a:ext cx="9572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6.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전략 방향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81F342-2916-0B25-6A8B-9F87170B1B8F}"/>
              </a:ext>
            </a:extLst>
          </p:cNvPr>
          <p:cNvSpPr txBox="1"/>
          <p:nvPr/>
        </p:nvSpPr>
        <p:spPr>
          <a:xfrm>
            <a:off x="177118" y="648804"/>
            <a:ext cx="11170375" cy="1487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+mn-ea"/>
              </a:rPr>
              <a:t>▶ </a:t>
            </a:r>
            <a:r>
              <a:rPr lang="ko-KR" altLang="en-US" sz="1400" b="1" spc="-80" dirty="0">
                <a:solidFill>
                  <a:srgbClr val="000000"/>
                </a:solidFill>
                <a:latin typeface="+mn-ea"/>
              </a:rPr>
              <a:t>목표 </a:t>
            </a:r>
            <a:r>
              <a:rPr lang="en-US" altLang="ko-KR" sz="1400" b="1" spc="-80" dirty="0">
                <a:solidFill>
                  <a:srgbClr val="000000"/>
                </a:solidFill>
                <a:latin typeface="+mn-ea"/>
              </a:rPr>
              <a:t>: </a:t>
            </a:r>
            <a:r>
              <a:rPr lang="en-US" altLang="ko-KR" sz="1400" b="1" spc="-80" dirty="0">
                <a:solidFill>
                  <a:srgbClr val="1919E5"/>
                </a:solidFill>
                <a:latin typeface="+mn-ea"/>
              </a:rPr>
              <a:t>(1</a:t>
            </a:r>
            <a:r>
              <a:rPr lang="ko-KR" altLang="en-US" sz="1400" b="1" spc="-80" dirty="0">
                <a:solidFill>
                  <a:srgbClr val="1919E5"/>
                </a:solidFill>
                <a:latin typeface="+mn-ea"/>
              </a:rPr>
              <a:t>순위</a:t>
            </a:r>
            <a:r>
              <a:rPr lang="en-US" altLang="ko-KR" sz="1400" b="1" spc="-80" dirty="0">
                <a:solidFill>
                  <a:srgbClr val="1919E5"/>
                </a:solidFill>
                <a:latin typeface="+mn-ea"/>
              </a:rPr>
              <a:t>)</a:t>
            </a:r>
            <a:r>
              <a:rPr lang="ko-KR" altLang="en-US" sz="1400" b="1" spc="-80" dirty="0">
                <a:solidFill>
                  <a:srgbClr val="1919E5"/>
                </a:solidFill>
                <a:latin typeface="+mn-ea"/>
              </a:rPr>
              <a:t>정액편성 </a:t>
            </a:r>
            <a:r>
              <a:rPr lang="en-US" altLang="ko-KR" sz="1400" b="1" spc="-80" dirty="0">
                <a:solidFill>
                  <a:srgbClr val="1919E5"/>
                </a:solidFill>
                <a:latin typeface="+mn-ea"/>
              </a:rPr>
              <a:t>4%p </a:t>
            </a:r>
            <a:r>
              <a:rPr lang="ko-KR" altLang="en-US" sz="1400" b="1" spc="-80" dirty="0">
                <a:solidFill>
                  <a:srgbClr val="1919E5"/>
                </a:solidFill>
                <a:latin typeface="+mn-ea"/>
              </a:rPr>
              <a:t>이상 상향  </a:t>
            </a:r>
            <a:r>
              <a:rPr lang="en-US" altLang="ko-KR" sz="1400" b="1" spc="-80" dirty="0">
                <a:solidFill>
                  <a:srgbClr val="1919E5"/>
                </a:solidFill>
                <a:latin typeface="+mn-ea"/>
              </a:rPr>
              <a:t>(2</a:t>
            </a:r>
            <a:r>
              <a:rPr lang="ko-KR" altLang="en-US" sz="1400" b="1" spc="-80" dirty="0">
                <a:solidFill>
                  <a:srgbClr val="1919E5"/>
                </a:solidFill>
                <a:latin typeface="+mn-ea"/>
              </a:rPr>
              <a:t>순위</a:t>
            </a:r>
            <a:r>
              <a:rPr lang="en-US" altLang="ko-KR" sz="1400" b="1" spc="-80" dirty="0">
                <a:solidFill>
                  <a:srgbClr val="1919E5"/>
                </a:solidFill>
                <a:latin typeface="+mn-ea"/>
              </a:rPr>
              <a:t>)</a:t>
            </a:r>
            <a:r>
              <a:rPr lang="ko-KR" altLang="en-US" sz="1400" b="1" spc="-80" dirty="0" err="1">
                <a:solidFill>
                  <a:srgbClr val="1919E5"/>
                </a:solidFill>
                <a:latin typeface="+mn-ea"/>
              </a:rPr>
              <a:t>판매수수료율</a:t>
            </a:r>
            <a:r>
              <a:rPr lang="ko-KR" altLang="en-US" sz="1400" b="1" spc="-80" dirty="0">
                <a:solidFill>
                  <a:srgbClr val="1919E5"/>
                </a:solidFill>
                <a:latin typeface="+mn-ea"/>
              </a:rPr>
              <a:t> </a:t>
            </a:r>
            <a:r>
              <a:rPr lang="en-US" altLang="ko-KR" sz="1400" b="1" spc="-80" dirty="0">
                <a:solidFill>
                  <a:srgbClr val="1919E5"/>
                </a:solidFill>
                <a:latin typeface="+mn-ea"/>
              </a:rPr>
              <a:t>1.3%p </a:t>
            </a:r>
            <a:r>
              <a:rPr lang="ko-KR" altLang="en-US" sz="1400" b="1" spc="-80" dirty="0">
                <a:solidFill>
                  <a:srgbClr val="1919E5"/>
                </a:solidFill>
                <a:latin typeface="+mn-ea"/>
              </a:rPr>
              <a:t>이상 상향 </a:t>
            </a:r>
            <a:endParaRPr lang="en-US" altLang="ko-KR" sz="1400" b="1" spc="-80" dirty="0">
              <a:solidFill>
                <a:srgbClr val="1919E5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    </a:t>
            </a:r>
            <a:r>
              <a:rPr lang="ko-KR" altLang="en-US" sz="1200" spc="-8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① </a:t>
            </a:r>
            <a:r>
              <a:rPr lang="en-US" altLang="ko-KR" sz="1200" spc="-8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1200" spc="-80" dirty="0">
                <a:solidFill>
                  <a:srgbClr val="000000"/>
                </a:solidFill>
                <a:latin typeface="+mn-ea"/>
              </a:rPr>
              <a:t>외부 오피니언 리더</a:t>
            </a:r>
            <a:r>
              <a:rPr lang="en-US" altLang="ko-KR" sz="1200" spc="-80" dirty="0">
                <a:solidFill>
                  <a:srgbClr val="000000"/>
                </a:solidFill>
                <a:latin typeface="+mn-ea"/>
              </a:rPr>
              <a:t>) Consensus </a:t>
            </a:r>
            <a:r>
              <a:rPr lang="ko-KR" altLang="en-US" sz="1200" spc="-80" dirty="0">
                <a:solidFill>
                  <a:srgbClr val="000000"/>
                </a:solidFill>
                <a:latin typeface="+mn-ea"/>
              </a:rPr>
              <a:t>진행 </a:t>
            </a:r>
            <a:r>
              <a:rPr lang="en-US" altLang="ko-KR" sz="1200" spc="-8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200" spc="-80" dirty="0">
                <a:solidFill>
                  <a:srgbClr val="000000"/>
                </a:solidFill>
                <a:latin typeface="+mn-ea"/>
              </a:rPr>
              <a:t>사업자</a:t>
            </a:r>
            <a:r>
              <a:rPr lang="en-US" altLang="ko-KR" sz="1200" spc="-8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200" spc="-80" dirty="0" err="1">
                <a:solidFill>
                  <a:srgbClr val="000000"/>
                </a:solidFill>
                <a:latin typeface="+mn-ea"/>
              </a:rPr>
              <a:t>방송∙언론학회</a:t>
            </a:r>
            <a:r>
              <a:rPr lang="en-US" altLang="ko-KR" sz="1200" spc="-8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200" spc="-80" dirty="0">
                <a:solidFill>
                  <a:srgbClr val="000000"/>
                </a:solidFill>
                <a:latin typeface="+mn-ea"/>
              </a:rPr>
              <a:t>소비자단체 </a:t>
            </a:r>
            <a:br>
              <a:rPr lang="en-US" altLang="ko-KR" sz="1200" spc="-80" dirty="0">
                <a:solidFill>
                  <a:srgbClr val="000000"/>
                </a:solidFill>
                <a:latin typeface="+mn-ea"/>
              </a:rPr>
            </a:br>
            <a:r>
              <a:rPr lang="en-US" altLang="ko-KR" sz="1200" spc="-80" dirty="0">
                <a:solidFill>
                  <a:srgbClr val="000000"/>
                </a:solidFill>
                <a:latin typeface="+mn-ea"/>
              </a:rPr>
              <a:t>      </a:t>
            </a:r>
            <a:r>
              <a:rPr lang="ko-KR" altLang="en-US" sz="1200" spc="-80" dirty="0">
                <a:solidFill>
                  <a:srgbClr val="000000"/>
                </a:solidFill>
                <a:latin typeface="+mn-ea"/>
              </a:rPr>
              <a:t>② </a:t>
            </a:r>
            <a:r>
              <a:rPr lang="en-US" altLang="ko-KR" sz="1200" spc="-8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1200" spc="-80" dirty="0" err="1">
                <a:solidFill>
                  <a:srgbClr val="000000"/>
                </a:solidFill>
                <a:latin typeface="+mn-ea"/>
              </a:rPr>
              <a:t>방미통위</a:t>
            </a:r>
            <a:r>
              <a:rPr lang="en-US" altLang="ko-KR" sz="1200" spc="-80" dirty="0">
                <a:solidFill>
                  <a:srgbClr val="000000"/>
                </a:solidFill>
                <a:latin typeface="+mn-ea"/>
              </a:rPr>
              <a:t>) </a:t>
            </a:r>
            <a:r>
              <a:rPr lang="ko-KR" altLang="en-US" sz="1200" spc="-80" dirty="0">
                <a:solidFill>
                  <a:srgbClr val="000000"/>
                </a:solidFill>
                <a:latin typeface="+mn-ea"/>
              </a:rPr>
              <a:t>홈쇼핑협회에서 의견서 제출</a:t>
            </a:r>
            <a:r>
              <a:rPr lang="en-US" altLang="ko-KR" sz="1200" spc="-8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200" spc="-80" dirty="0">
                <a:solidFill>
                  <a:srgbClr val="000000"/>
                </a:solidFill>
                <a:latin typeface="+mn-ea"/>
              </a:rPr>
              <a:t>미팅 통해 의견 제시</a:t>
            </a:r>
            <a:endParaRPr lang="en-US" altLang="ko-KR" sz="1200" spc="-8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spc="-80" dirty="0">
                <a:solidFill>
                  <a:srgbClr val="000000"/>
                </a:solidFill>
                <a:latin typeface="+mn-ea"/>
              </a:rPr>
              <a:t>           </a:t>
            </a:r>
            <a:r>
              <a:rPr lang="ko-KR" altLang="en-US" sz="1200" b="1" spc="-80" dirty="0">
                <a:solidFill>
                  <a:srgbClr val="000000"/>
                </a:solidFill>
                <a:latin typeface="+mn-ea"/>
              </a:rPr>
              <a:t>→ </a:t>
            </a:r>
            <a:r>
              <a:rPr lang="en-US" altLang="ko-KR" sz="1200" b="1" spc="-8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1200" b="1" spc="-80" dirty="0" err="1">
                <a:solidFill>
                  <a:srgbClr val="000000"/>
                </a:solidFill>
                <a:latin typeface="+mn-ea"/>
              </a:rPr>
              <a:t>방미통위</a:t>
            </a:r>
            <a:r>
              <a:rPr lang="en-US" altLang="ko-KR" sz="1200" b="1" spc="-80" dirty="0">
                <a:solidFill>
                  <a:srgbClr val="000000"/>
                </a:solidFill>
                <a:latin typeface="+mn-ea"/>
              </a:rPr>
              <a:t>) </a:t>
            </a:r>
            <a:r>
              <a:rPr lang="en-US" altLang="ko-KR" sz="1200" b="1" spc="-80" dirty="0" err="1">
                <a:solidFill>
                  <a:srgbClr val="000000"/>
                </a:solidFill>
                <a:latin typeface="+mn-ea"/>
              </a:rPr>
              <a:t>홈쇼핑사</a:t>
            </a:r>
            <a:r>
              <a:rPr lang="en-US" altLang="ko-KR" sz="1200" b="1" spc="-8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200" b="1" spc="-80" dirty="0" err="1">
                <a:solidFill>
                  <a:srgbClr val="000000"/>
                </a:solidFill>
                <a:latin typeface="+mn-ea"/>
              </a:rPr>
              <a:t>의견대로</a:t>
            </a:r>
            <a:r>
              <a:rPr lang="en-US" altLang="ko-KR" sz="1200" b="1" spc="-8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200" b="1" spc="-80" dirty="0" err="1">
                <a:solidFill>
                  <a:srgbClr val="000000"/>
                </a:solidFill>
                <a:latin typeface="+mn-ea"/>
              </a:rPr>
              <a:t>정액방송에</a:t>
            </a:r>
            <a:r>
              <a:rPr lang="en-US" altLang="ko-KR" sz="1200" b="1" spc="-8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200" b="1" spc="-80" dirty="0" err="1">
                <a:solidFill>
                  <a:srgbClr val="000000"/>
                </a:solidFill>
                <a:latin typeface="+mn-ea"/>
              </a:rPr>
              <a:t>대해</a:t>
            </a:r>
            <a:r>
              <a:rPr lang="en-US" altLang="ko-KR" sz="1200" b="1" spc="-8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200" b="1" spc="-80" dirty="0" err="1">
                <a:solidFill>
                  <a:srgbClr val="000000"/>
                </a:solidFill>
                <a:latin typeface="+mn-ea"/>
              </a:rPr>
              <a:t>중소기업이</a:t>
            </a:r>
            <a:r>
              <a:rPr lang="en-US" altLang="ko-KR" sz="1200" b="1" spc="-8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200" b="1" spc="-80" dirty="0" err="1">
                <a:solidFill>
                  <a:srgbClr val="000000"/>
                </a:solidFill>
                <a:latin typeface="+mn-ea"/>
              </a:rPr>
              <a:t>실제</a:t>
            </a:r>
            <a:r>
              <a:rPr lang="en-US" altLang="ko-KR" sz="1200" b="1" spc="-8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200" b="1" spc="-80" dirty="0" err="1">
                <a:solidFill>
                  <a:srgbClr val="000000"/>
                </a:solidFill>
                <a:latin typeface="+mn-ea"/>
              </a:rPr>
              <a:t>어떻게</a:t>
            </a:r>
            <a:r>
              <a:rPr lang="en-US" altLang="ko-KR" sz="1200" b="1" spc="-8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200" b="1" spc="-80" dirty="0" err="1">
                <a:solidFill>
                  <a:srgbClr val="000000"/>
                </a:solidFill>
                <a:latin typeface="+mn-ea"/>
              </a:rPr>
              <a:t>체감하는지</a:t>
            </a:r>
            <a:r>
              <a:rPr lang="en-US" altLang="ko-KR" sz="1200" b="1" spc="-8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200" b="1" spc="-80" dirty="0" err="1">
                <a:solidFill>
                  <a:srgbClr val="000000"/>
                </a:solidFill>
                <a:latin typeface="+mn-ea"/>
              </a:rPr>
              <a:t>의견</a:t>
            </a:r>
            <a:r>
              <a:rPr lang="en-US" altLang="ko-KR" sz="1200" b="1" spc="-8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200" b="1" spc="-80" dirty="0" err="1">
                <a:solidFill>
                  <a:srgbClr val="000000"/>
                </a:solidFill>
                <a:latin typeface="+mn-ea"/>
              </a:rPr>
              <a:t>청취</a:t>
            </a:r>
            <a:r>
              <a:rPr lang="en-US" altLang="ko-KR" sz="1200" b="1" spc="-80" dirty="0">
                <a:solidFill>
                  <a:srgbClr val="000000"/>
                </a:solidFill>
                <a:latin typeface="+mn-ea"/>
              </a:rPr>
              <a:t> (</a:t>
            </a:r>
            <a:r>
              <a:rPr lang="ko-KR" altLang="en-US" sz="1200" b="1" spc="-80" dirty="0">
                <a:solidFill>
                  <a:srgbClr val="000000"/>
                </a:solidFill>
                <a:latin typeface="+mn-ea"/>
              </a:rPr>
              <a:t>설문조사</a:t>
            </a:r>
            <a:r>
              <a:rPr lang="en-US" altLang="ko-KR" sz="1200" b="1" spc="-8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200" b="1" spc="-80" dirty="0">
                <a:solidFill>
                  <a:srgbClr val="000000"/>
                </a:solidFill>
                <a:latin typeface="+mn-ea"/>
              </a:rPr>
              <a:t>개별 인터뷰</a:t>
            </a:r>
            <a:r>
              <a:rPr lang="en-US" altLang="ko-KR" sz="1200" b="1" spc="-80" dirty="0">
                <a:solidFill>
                  <a:srgbClr val="000000"/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b="1" spc="-80" dirty="0">
                <a:solidFill>
                  <a:srgbClr val="000000"/>
                </a:solidFill>
                <a:latin typeface="+mn-ea"/>
              </a:rPr>
              <a:t>                               </a:t>
            </a:r>
            <a:r>
              <a:rPr lang="ko-KR" altLang="en-US" sz="1200" b="1" spc="-80" dirty="0">
                <a:solidFill>
                  <a:srgbClr val="000000"/>
                </a:solidFill>
                <a:latin typeface="+mn-ea"/>
              </a:rPr>
              <a:t>제도개선 </a:t>
            </a:r>
            <a:r>
              <a:rPr lang="en-US" altLang="ko-KR" sz="1200" b="1" spc="-80" dirty="0">
                <a:solidFill>
                  <a:srgbClr val="000000"/>
                </a:solidFill>
                <a:latin typeface="+mn-ea"/>
              </a:rPr>
              <a:t>TF </a:t>
            </a:r>
            <a:r>
              <a:rPr lang="ko-KR" altLang="en-US" sz="1200" b="1" spc="-80" dirty="0">
                <a:solidFill>
                  <a:srgbClr val="000000"/>
                </a:solidFill>
                <a:latin typeface="+mn-ea"/>
              </a:rPr>
              <a:t>통해 일정부분 규제 완화 방안 마련 중</a:t>
            </a:r>
            <a:r>
              <a:rPr lang="en-US" altLang="ko-KR" sz="1200" b="1" dirty="0">
                <a:latin typeface="+mn-ea"/>
              </a:rPr>
              <a:t>     </a:t>
            </a:r>
            <a:r>
              <a:rPr lang="ko-KR" altLang="en-US" sz="1200" b="1" dirty="0">
                <a:latin typeface="+mn-ea"/>
              </a:rPr>
              <a:t> 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6A226A8-5511-2DE6-D191-61CEE9A240CF}"/>
              </a:ext>
            </a:extLst>
          </p:cNvPr>
          <p:cNvSpPr/>
          <p:nvPr/>
        </p:nvSpPr>
        <p:spPr>
          <a:xfrm>
            <a:off x="253904" y="3064086"/>
            <a:ext cx="886968" cy="16685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비용 </a:t>
            </a:r>
            <a:r>
              <a:rPr lang="en-US" altLang="ko-KR" sz="1200" b="1" spc="-1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· </a:t>
            </a:r>
            <a:r>
              <a:rPr lang="ko-KR" altLang="en-US" sz="1200" b="1" spc="-1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투자</a:t>
            </a:r>
            <a:endParaRPr lang="en-US" altLang="ko-KR" sz="1200" b="1" spc="-15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  <a:p>
            <a:pPr algn="ctr"/>
            <a:r>
              <a:rPr lang="ko-KR" altLang="en-US" sz="1200" b="1" spc="-1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</a:rPr>
              <a:t>지표</a:t>
            </a:r>
            <a:endParaRPr lang="en-US" altLang="ko-KR" sz="1200" b="1" spc="-1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46" name="사각형: 둥근 대각선 방향 모서리 45">
            <a:extLst>
              <a:ext uri="{FF2B5EF4-FFF2-40B4-BE49-F238E27FC236}">
                <a16:creationId xmlns:a16="http://schemas.microsoft.com/office/drawing/2014/main" id="{FA6A3D39-D5E3-6A93-EFC3-EECEA26CA68F}"/>
              </a:ext>
            </a:extLst>
          </p:cNvPr>
          <p:cNvSpPr/>
          <p:nvPr/>
        </p:nvSpPr>
        <p:spPr>
          <a:xfrm>
            <a:off x="8990176" y="3049212"/>
            <a:ext cx="2988000" cy="828000"/>
          </a:xfrm>
          <a:prstGeom prst="round2Diag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교육훈련비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최소 수준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 algn="ctr"/>
            <a:endParaRPr lang="en-US" altLang="ko-KR" sz="500" b="1" dirty="0">
              <a:solidFill>
                <a:srgbClr val="0000FF"/>
              </a:solidFill>
              <a:latin typeface="+mn-ea"/>
            </a:endParaRPr>
          </a:p>
          <a:p>
            <a:pPr algn="ctr">
              <a:spcBef>
                <a:spcPts val="400"/>
              </a:spcBef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직전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16.1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억원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향후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13.0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억원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8534A73-6E80-F278-4903-FE8F556AB2FA}"/>
              </a:ext>
            </a:extLst>
          </p:cNvPr>
          <p:cNvSpPr/>
          <p:nvPr/>
        </p:nvSpPr>
        <p:spPr>
          <a:xfrm>
            <a:off x="8990176" y="3904601"/>
            <a:ext cx="2988000" cy="828000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공정거래 </a:t>
            </a:r>
            <a:r>
              <a:rPr lang="ko-KR" altLang="en-US" sz="1200" b="1">
                <a:solidFill>
                  <a:schemeClr val="tx1"/>
                </a:solidFill>
                <a:latin typeface="+mn-ea"/>
              </a:rPr>
              <a:t>및 윤리교육 </a:t>
            </a:r>
            <a:r>
              <a:rPr lang="ko-KR" altLang="en-US" sz="1200" b="1">
                <a:solidFill>
                  <a:srgbClr val="FF0000"/>
                </a:solidFill>
                <a:latin typeface="+mn-ea"/>
              </a:rPr>
              <a:t>상향</a:t>
            </a:r>
            <a:endParaRPr lang="en-US" altLang="ko-KR" sz="1200" b="1">
              <a:solidFill>
                <a:srgbClr val="FF0000"/>
              </a:solidFill>
              <a:latin typeface="+mn-ea"/>
            </a:endParaRPr>
          </a:p>
          <a:p>
            <a:pPr algn="ctr"/>
            <a:endParaRPr lang="en-US" altLang="ko-KR" sz="500" b="1" dirty="0">
              <a:solidFill>
                <a:srgbClr val="FF0000"/>
              </a:solidFill>
              <a:latin typeface="+mn-ea"/>
            </a:endParaRPr>
          </a:p>
          <a:p>
            <a:pPr algn="ctr">
              <a:spcBef>
                <a:spcPts val="400"/>
              </a:spcBef>
            </a:pPr>
            <a:r>
              <a:rPr lang="ko-KR" altLang="en-US" sz="1200" b="1">
                <a:solidFill>
                  <a:schemeClr val="tx1"/>
                </a:solidFill>
                <a:latin typeface="+mn-ea"/>
              </a:rPr>
              <a:t>직전 </a:t>
            </a:r>
            <a:r>
              <a:rPr lang="en-US" altLang="ko-KR" sz="1200" b="1">
                <a:solidFill>
                  <a:schemeClr val="tx1"/>
                </a:solidFill>
                <a:latin typeface="+mn-ea"/>
              </a:rPr>
              <a:t>29</a:t>
            </a:r>
            <a:r>
              <a:rPr lang="ko-KR" altLang="en-US" sz="1200" b="1">
                <a:solidFill>
                  <a:schemeClr val="tx1"/>
                </a:solidFill>
                <a:latin typeface="+mn-ea"/>
              </a:rPr>
              <a:t>백만원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b="1">
                <a:solidFill>
                  <a:schemeClr val="tx1"/>
                </a:solidFill>
                <a:latin typeface="+mn-ea"/>
              </a:rPr>
              <a:t>향후 </a:t>
            </a:r>
            <a:r>
              <a:rPr lang="en-US" altLang="ko-KR" sz="1200" b="1">
                <a:solidFill>
                  <a:schemeClr val="tx1"/>
                </a:solidFill>
                <a:latin typeface="+mn-ea"/>
              </a:rPr>
              <a:t>50</a:t>
            </a:r>
            <a:r>
              <a:rPr lang="ko-KR" altLang="en-US" sz="1200" b="1">
                <a:solidFill>
                  <a:schemeClr val="tx1"/>
                </a:solidFill>
                <a:latin typeface="+mn-ea"/>
              </a:rPr>
              <a:t>백만원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5A65816-9E5B-F04C-4FBA-CB52782BE40A}"/>
              </a:ext>
            </a:extLst>
          </p:cNvPr>
          <p:cNvSpPr/>
          <p:nvPr/>
        </p:nvSpPr>
        <p:spPr>
          <a:xfrm>
            <a:off x="8421408" y="3058126"/>
            <a:ext cx="522000" cy="167582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spc="-1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교육훈련</a:t>
            </a:r>
          </a:p>
        </p:txBody>
      </p:sp>
      <p:sp>
        <p:nvSpPr>
          <p:cNvPr id="49" name="사각형: 둥근 대각선 방향 모서리 48">
            <a:extLst>
              <a:ext uri="{FF2B5EF4-FFF2-40B4-BE49-F238E27FC236}">
                <a16:creationId xmlns:a16="http://schemas.microsoft.com/office/drawing/2014/main" id="{735CBB20-10FF-1E22-590A-9CCD6AB3163D}"/>
              </a:ext>
            </a:extLst>
          </p:cNvPr>
          <p:cNvSpPr/>
          <p:nvPr/>
        </p:nvSpPr>
        <p:spPr>
          <a:xfrm>
            <a:off x="1743480" y="3058126"/>
            <a:ext cx="2988000" cy="828000"/>
          </a:xfrm>
          <a:prstGeom prst="round2Diag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전사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)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공익사업 </a:t>
            </a:r>
            <a:r>
              <a:rPr lang="ko-KR" altLang="en-US" sz="1200" b="1" dirty="0">
                <a:solidFill>
                  <a:srgbClr val="1919E5"/>
                </a:solidFill>
                <a:latin typeface="+mn-ea"/>
              </a:rPr>
              <a:t>소폭 하락</a:t>
            </a:r>
            <a:endParaRPr lang="en-US" altLang="ko-KR" sz="1200" b="1" dirty="0">
              <a:solidFill>
                <a:srgbClr val="1919E5"/>
              </a:solidFill>
              <a:latin typeface="+mn-ea"/>
            </a:endParaRPr>
          </a:p>
          <a:p>
            <a:pPr algn="ctr"/>
            <a:endParaRPr lang="en-US" altLang="ko-KR" sz="5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직전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32.9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억원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향후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32.0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억원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0" name="사각형: 둥근 대각선 방향 모서리 49">
            <a:extLst>
              <a:ext uri="{FF2B5EF4-FFF2-40B4-BE49-F238E27FC236}">
                <a16:creationId xmlns:a16="http://schemas.microsoft.com/office/drawing/2014/main" id="{EF468D08-875C-7A67-AC7A-99BC22ACEB71}"/>
              </a:ext>
            </a:extLst>
          </p:cNvPr>
          <p:cNvSpPr/>
          <p:nvPr/>
        </p:nvSpPr>
        <p:spPr>
          <a:xfrm>
            <a:off x="1743479" y="3904601"/>
            <a:ext cx="2988000" cy="828000"/>
          </a:xfrm>
          <a:prstGeom prst="round2Diag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동반성장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합리적 조정</a:t>
            </a:r>
            <a:endParaRPr lang="en-US" altLang="ko-KR" sz="1200" b="1" dirty="0">
              <a:solidFill>
                <a:srgbClr val="FF0000"/>
              </a:solidFill>
              <a:latin typeface="+mn-ea"/>
            </a:endParaRPr>
          </a:p>
          <a:p>
            <a:pPr algn="ctr"/>
            <a:endParaRPr lang="en-US" altLang="ko-KR" sz="5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직전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12.2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억원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향후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9.9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억원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15000E9-E989-F59F-A6D2-864934BA2C35}"/>
              </a:ext>
            </a:extLst>
          </p:cNvPr>
          <p:cNvSpPr/>
          <p:nvPr/>
        </p:nvSpPr>
        <p:spPr>
          <a:xfrm>
            <a:off x="1184374" y="3052187"/>
            <a:ext cx="522000" cy="16863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>
                <a:shade val="15000"/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spc="-1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공익</a:t>
            </a:r>
            <a:endParaRPr lang="en-US" altLang="ko-KR" sz="1200" b="1" spc="-15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</a:endParaRPr>
          </a:p>
          <a:p>
            <a:pPr algn="ctr"/>
            <a:r>
              <a:rPr lang="ko-KR" altLang="en-US" sz="1200" b="1" spc="-1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사업</a:t>
            </a:r>
            <a:endParaRPr lang="en-US" altLang="ko-KR" sz="1200" b="1" spc="-15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</a:endParaRPr>
          </a:p>
          <a:p>
            <a:pPr algn="ctr"/>
            <a:r>
              <a:rPr lang="en-US" altLang="ko-KR" sz="1200" b="1" spc="-1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·</a:t>
            </a:r>
          </a:p>
          <a:p>
            <a:pPr algn="ctr"/>
            <a:r>
              <a:rPr lang="ko-KR" altLang="en-US" sz="1200" b="1" spc="-1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동반성장</a:t>
            </a:r>
          </a:p>
        </p:txBody>
      </p:sp>
      <p:sp>
        <p:nvSpPr>
          <p:cNvPr id="52" name="사각형: 둥근 대각선 방향 모서리 51">
            <a:extLst>
              <a:ext uri="{FF2B5EF4-FFF2-40B4-BE49-F238E27FC236}">
                <a16:creationId xmlns:a16="http://schemas.microsoft.com/office/drawing/2014/main" id="{BD1B6FA1-2472-9EFB-5E15-9235B54B598E}"/>
              </a:ext>
            </a:extLst>
          </p:cNvPr>
          <p:cNvSpPr/>
          <p:nvPr/>
        </p:nvSpPr>
        <p:spPr>
          <a:xfrm>
            <a:off x="5350540" y="3058126"/>
            <a:ext cx="3024000" cy="828000"/>
          </a:xfrm>
          <a:prstGeom prst="round2Diag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제작비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최소 수준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 algn="ctr"/>
            <a:r>
              <a:rPr lang="en-US" altLang="ko-KR" sz="500" b="1" dirty="0">
                <a:solidFill>
                  <a:schemeClr val="tx1"/>
                </a:solidFill>
                <a:latin typeface="+mn-ea"/>
              </a:rPr>
              <a:t> </a:t>
            </a:r>
          </a:p>
          <a:p>
            <a:pPr algn="ctr">
              <a:spcBef>
                <a:spcPts val="400"/>
              </a:spcBef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직전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12.2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억원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향후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12.0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억원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3" name="사각형: 둥근 대각선 방향 모서리 52">
            <a:extLst>
              <a:ext uri="{FF2B5EF4-FFF2-40B4-BE49-F238E27FC236}">
                <a16:creationId xmlns:a16="http://schemas.microsoft.com/office/drawing/2014/main" id="{468F810A-9B5E-0E33-93FC-7A261FB4D288}"/>
              </a:ext>
            </a:extLst>
          </p:cNvPr>
          <p:cNvSpPr/>
          <p:nvPr/>
        </p:nvSpPr>
        <p:spPr>
          <a:xfrm>
            <a:off x="5350540" y="3908937"/>
            <a:ext cx="3024000" cy="828000"/>
          </a:xfrm>
          <a:prstGeom prst="round2Diag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시설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·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기술 투자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최소 수준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500" b="1" dirty="0">
              <a:solidFill>
                <a:schemeClr val="tx1"/>
              </a:solidFill>
              <a:latin typeface="+mn-ea"/>
            </a:endParaRPr>
          </a:p>
          <a:p>
            <a:pPr algn="ctr">
              <a:spcBef>
                <a:spcPts val="400"/>
              </a:spcBef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직전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80.3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억원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향후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78.0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억원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F4FD75B-94EC-E730-D2B8-685AA8AA0FCA}"/>
              </a:ext>
            </a:extLst>
          </p:cNvPr>
          <p:cNvSpPr/>
          <p:nvPr/>
        </p:nvSpPr>
        <p:spPr>
          <a:xfrm>
            <a:off x="4783032" y="3047801"/>
            <a:ext cx="522000" cy="16848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>
                <a:shade val="15000"/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spc="-1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방송</a:t>
            </a:r>
            <a:endParaRPr lang="en-US" altLang="ko-KR" sz="1200" b="1" spc="-15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</a:endParaRPr>
          </a:p>
          <a:p>
            <a:pPr algn="ctr"/>
            <a:r>
              <a:rPr lang="ko-KR" altLang="en-US" sz="1200" b="1" spc="-1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제작</a:t>
            </a:r>
            <a:endParaRPr lang="en-US" altLang="ko-KR" sz="1200" b="1" spc="-15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</a:endParaRPr>
          </a:p>
          <a:p>
            <a:pPr algn="ctr"/>
            <a:r>
              <a:rPr lang="ko-KR" altLang="en-US" sz="1200" b="1" spc="-1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관련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B7D7A4C-F388-9C64-E6D4-6847DB6373A5}"/>
              </a:ext>
            </a:extLst>
          </p:cNvPr>
          <p:cNvSpPr txBox="1"/>
          <p:nvPr/>
        </p:nvSpPr>
        <p:spPr>
          <a:xfrm>
            <a:off x="199662" y="2664823"/>
            <a:ext cx="11170375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+mn-ea"/>
              </a:rPr>
              <a:t>▶ </a:t>
            </a:r>
            <a:r>
              <a:rPr lang="en-US" altLang="ko-KR" sz="1400" b="1" spc="-80" dirty="0">
                <a:solidFill>
                  <a:srgbClr val="000000"/>
                </a:solidFill>
                <a:latin typeface="+mn-ea"/>
              </a:rPr>
              <a:t>ESG</a:t>
            </a:r>
            <a:r>
              <a:rPr lang="ko-KR" altLang="en-US" sz="1400" b="1" spc="-80" dirty="0">
                <a:solidFill>
                  <a:srgbClr val="000000"/>
                </a:solidFill>
                <a:latin typeface="+mn-ea"/>
              </a:rPr>
              <a:t>경영에 따라</a:t>
            </a:r>
            <a:r>
              <a:rPr lang="en-US" altLang="ko-KR" sz="1400" b="1" spc="-8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400" b="1" spc="-80" dirty="0">
                <a:solidFill>
                  <a:srgbClr val="000000"/>
                </a:solidFill>
                <a:latin typeface="+mn-ea"/>
              </a:rPr>
              <a:t>공익사업 유지</a:t>
            </a:r>
            <a:r>
              <a:rPr lang="en-US" altLang="ko-KR" sz="1400" b="1" spc="-8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400" b="1" spc="-80" dirty="0">
                <a:solidFill>
                  <a:srgbClr val="000000"/>
                </a:solidFill>
                <a:latin typeface="+mn-ea"/>
              </a:rPr>
              <a:t>동반성장 합리적 조정 </a:t>
            </a:r>
            <a:r>
              <a:rPr lang="en-US" altLang="ko-KR" sz="1400" b="1" spc="-80" dirty="0">
                <a:solidFill>
                  <a:srgbClr val="000000"/>
                </a:solidFill>
                <a:latin typeface="+mn-ea"/>
              </a:rPr>
              <a:t>/ </a:t>
            </a:r>
            <a:r>
              <a:rPr lang="ko-KR" altLang="en-US" sz="1400" b="1" spc="-80" dirty="0">
                <a:solidFill>
                  <a:srgbClr val="000000"/>
                </a:solidFill>
                <a:latin typeface="+mn-ea"/>
              </a:rPr>
              <a:t>제작비 등 이행 가능한 최소 수준 제출 </a:t>
            </a: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37DACCC2-B9F1-AB35-CB6F-727E29F42322}"/>
              </a:ext>
            </a:extLst>
          </p:cNvPr>
          <p:cNvCxnSpPr/>
          <p:nvPr/>
        </p:nvCxnSpPr>
        <p:spPr>
          <a:xfrm>
            <a:off x="226554" y="2313238"/>
            <a:ext cx="1177851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1AFBC73C-EEF4-403D-C0B5-E837C2AB26F0}"/>
              </a:ext>
            </a:extLst>
          </p:cNvPr>
          <p:cNvCxnSpPr/>
          <p:nvPr/>
        </p:nvCxnSpPr>
        <p:spPr>
          <a:xfrm>
            <a:off x="204782" y="5722643"/>
            <a:ext cx="1177851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2CF7DD0-6CDE-AA74-0ADD-E3A66A107ED2}"/>
              </a:ext>
            </a:extLst>
          </p:cNvPr>
          <p:cNvSpPr txBox="1"/>
          <p:nvPr/>
        </p:nvSpPr>
        <p:spPr>
          <a:xfrm>
            <a:off x="199663" y="5789734"/>
            <a:ext cx="11170375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+mn-ea"/>
              </a:rPr>
              <a:t>▶ </a:t>
            </a:r>
            <a:r>
              <a:rPr lang="ko-KR" altLang="en-US" sz="1400" b="1" spc="-80" dirty="0">
                <a:solidFill>
                  <a:srgbClr val="000000"/>
                </a:solidFill>
                <a:latin typeface="+mn-ea"/>
              </a:rPr>
              <a:t>재무계획 </a:t>
            </a:r>
            <a:r>
              <a:rPr lang="en-US" altLang="ko-KR" sz="1400" b="1" spc="-80" dirty="0">
                <a:solidFill>
                  <a:srgbClr val="000000"/>
                </a:solidFill>
                <a:latin typeface="+mn-ea"/>
              </a:rPr>
              <a:t>:</a:t>
            </a:r>
            <a:r>
              <a:rPr lang="ko-KR" altLang="en-US" sz="1400" b="1" spc="-80" dirty="0">
                <a:solidFill>
                  <a:srgbClr val="000000"/>
                </a:solidFill>
                <a:latin typeface="+mn-ea"/>
              </a:rPr>
              <a:t> 영업이익 </a:t>
            </a:r>
            <a:r>
              <a:rPr lang="en-US" altLang="ko-KR" sz="1400" b="1" spc="-80" dirty="0">
                <a:solidFill>
                  <a:srgbClr val="000000"/>
                </a:solidFill>
                <a:latin typeface="+mn-ea"/>
              </a:rPr>
              <a:t>26~29</a:t>
            </a:r>
            <a:r>
              <a:rPr lang="ko-KR" altLang="en-US" sz="1400" b="1" spc="-80" dirty="0">
                <a:solidFill>
                  <a:srgbClr val="000000"/>
                </a:solidFill>
                <a:latin typeface="+mn-ea"/>
              </a:rPr>
              <a:t>년 하락</a:t>
            </a:r>
            <a:r>
              <a:rPr lang="en-US" altLang="ko-KR" sz="1400" b="1" spc="-80" dirty="0">
                <a:solidFill>
                  <a:srgbClr val="000000"/>
                </a:solidFill>
                <a:latin typeface="+mn-ea"/>
              </a:rPr>
              <a:t>, 30~32</a:t>
            </a:r>
            <a:r>
              <a:rPr lang="ko-KR" altLang="en-US" sz="1400" b="1" spc="-80" dirty="0">
                <a:solidFill>
                  <a:srgbClr val="000000"/>
                </a:solidFill>
                <a:latin typeface="+mn-ea"/>
              </a:rPr>
              <a:t>년 완만한 하락 ← </a:t>
            </a:r>
            <a:r>
              <a:rPr lang="en-US" altLang="ko-KR" sz="1400" b="1" spc="-8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1400" b="1" spc="-80" dirty="0">
                <a:solidFill>
                  <a:srgbClr val="000000"/>
                </a:solidFill>
                <a:latin typeface="+mn-ea"/>
              </a:rPr>
              <a:t>재무추세에 맞게</a:t>
            </a:r>
            <a:r>
              <a:rPr lang="en-US" altLang="ko-KR" sz="1400" b="1" spc="-80" dirty="0">
                <a:solidFill>
                  <a:srgbClr val="000000"/>
                </a:solidFill>
                <a:latin typeface="+mn-ea"/>
              </a:rPr>
              <a:t>) </a:t>
            </a:r>
            <a:r>
              <a:rPr lang="ko-KR" altLang="en-US" sz="1400" b="1" spc="-80" dirty="0">
                <a:solidFill>
                  <a:srgbClr val="000000"/>
                </a:solidFill>
                <a:latin typeface="+mn-ea"/>
              </a:rPr>
              <a:t>전체 인력</a:t>
            </a:r>
            <a:r>
              <a:rPr lang="en-US" altLang="ko-KR" sz="1400" b="1" spc="-8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400" b="1" spc="-80" dirty="0">
                <a:solidFill>
                  <a:srgbClr val="000000"/>
                </a:solidFill>
                <a:latin typeface="+mn-ea"/>
              </a:rPr>
              <a:t>신규 채용 반영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3BF8DE-5C4F-7607-17F2-25B3CB130620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11/109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399414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D171C-D9E1-3190-32C1-4178D1CD0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D83B17-26E4-8D94-75BE-C5BCA11A7FC3}"/>
              </a:ext>
            </a:extLst>
          </p:cNvPr>
          <p:cNvSpPr txBox="1"/>
          <p:nvPr/>
        </p:nvSpPr>
        <p:spPr>
          <a:xfrm>
            <a:off x="497785" y="1810410"/>
            <a:ext cx="6353175" cy="448328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spc="-100" dirty="0"/>
              <a:t>Part III. Q&amp;A</a:t>
            </a:r>
            <a:endParaRPr lang="ko-KR" altLang="en-US" sz="2000" b="1" spc="-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68C32C-23F2-134A-74B2-3C2718E1037A}"/>
              </a:ext>
            </a:extLst>
          </p:cNvPr>
          <p:cNvSpPr txBox="1"/>
          <p:nvPr/>
        </p:nvSpPr>
        <p:spPr>
          <a:xfrm>
            <a:off x="791912" y="2544501"/>
            <a:ext cx="4810125" cy="607667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1300" b="1" dirty="0">
                <a:latin typeface="+mn-ea"/>
              </a:rPr>
              <a:t>과거 청문심사 질문 유형</a:t>
            </a:r>
            <a:endParaRPr lang="en-US" altLang="ko-KR" sz="1300" b="1" dirty="0">
              <a:latin typeface="+mn-ea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1300" b="1">
                <a:latin typeface="+mn-ea"/>
              </a:rPr>
              <a:t>스터디 자료 및 </a:t>
            </a:r>
            <a:r>
              <a:rPr lang="en-US" altLang="ko-KR" sz="1300" b="1">
                <a:latin typeface="+mn-ea"/>
              </a:rPr>
              <a:t>Q</a:t>
            </a:r>
            <a:r>
              <a:rPr lang="en-US" altLang="ko-KR" sz="1300" b="1" dirty="0">
                <a:latin typeface="+mn-ea"/>
              </a:rPr>
              <a:t>&amp;A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1E2F740-DF86-7EB2-A9F9-00AD5FF5C884}"/>
              </a:ext>
            </a:extLst>
          </p:cNvPr>
          <p:cNvCxnSpPr>
            <a:cxnSpLocks/>
          </p:cNvCxnSpPr>
          <p:nvPr/>
        </p:nvCxnSpPr>
        <p:spPr>
          <a:xfrm>
            <a:off x="507404" y="2341788"/>
            <a:ext cx="5803944" cy="0"/>
          </a:xfrm>
          <a:prstGeom prst="line">
            <a:avLst/>
          </a:prstGeom>
          <a:ln w="38100">
            <a:solidFill>
              <a:srgbClr val="1D4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866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B6351-6B3F-8E45-814E-7B90131C4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94D060-8653-E247-FA91-EDDA90C01091}"/>
              </a:ext>
            </a:extLst>
          </p:cNvPr>
          <p:cNvSpPr txBox="1"/>
          <p:nvPr/>
        </p:nvSpPr>
        <p:spPr>
          <a:xfrm>
            <a:off x="58939" y="73169"/>
            <a:ext cx="9572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과거 질문 유형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E9AA40-505E-2243-AF93-5969DFD35935}"/>
              </a:ext>
            </a:extLst>
          </p:cNvPr>
          <p:cNvSpPr txBox="1"/>
          <p:nvPr/>
        </p:nvSpPr>
        <p:spPr>
          <a:xfrm>
            <a:off x="313270" y="685657"/>
            <a:ext cx="11719741" cy="618592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■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질문 유형 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총 </a:t>
            </a:r>
            <a:r>
              <a:rPr lang="en-US" altLang="ko-KR" sz="1200" b="1" dirty="0">
                <a:latin typeface="+mn-ea"/>
              </a:rPr>
              <a:t>97</a:t>
            </a:r>
            <a:r>
              <a:rPr lang="ko-KR" altLang="en-US" sz="1200" b="1" dirty="0">
                <a:latin typeface="+mn-ea"/>
              </a:rPr>
              <a:t>개 질문</a:t>
            </a:r>
            <a:r>
              <a:rPr lang="en-US" altLang="ko-KR" sz="1200" b="1" dirty="0">
                <a:latin typeface="+mn-ea"/>
              </a:rPr>
              <a:t>) : 2017</a:t>
            </a:r>
            <a:r>
              <a:rPr lang="ko-KR" altLang="en-US" sz="1200" b="1" dirty="0">
                <a:latin typeface="+mn-ea"/>
              </a:rPr>
              <a:t>년 </a:t>
            </a:r>
            <a:r>
              <a:rPr lang="en-US" altLang="ko-KR" sz="1200" b="1" dirty="0">
                <a:latin typeface="+mn-ea"/>
              </a:rPr>
              <a:t>TV</a:t>
            </a:r>
            <a:r>
              <a:rPr lang="ko-KR" altLang="en-US" sz="1200" b="1" dirty="0">
                <a:latin typeface="+mn-ea"/>
              </a:rPr>
              <a:t>재승인</a:t>
            </a:r>
            <a:r>
              <a:rPr lang="en-US" altLang="ko-KR" sz="1200" b="1" dirty="0">
                <a:latin typeface="+mn-ea"/>
              </a:rPr>
              <a:t>(38</a:t>
            </a:r>
            <a:r>
              <a:rPr lang="ko-KR" altLang="en-US" sz="1200" b="1" dirty="0">
                <a:latin typeface="+mn-ea"/>
              </a:rPr>
              <a:t>개</a:t>
            </a:r>
            <a:r>
              <a:rPr lang="en-US" altLang="ko-KR" sz="1200" b="1" dirty="0">
                <a:latin typeface="+mn-ea"/>
              </a:rPr>
              <a:t>), </a:t>
            </a:r>
            <a:r>
              <a:rPr lang="en-US" altLang="ko-KR" sz="1200" b="1" u="sng" dirty="0">
                <a:latin typeface="+mn-ea"/>
              </a:rPr>
              <a:t>2021</a:t>
            </a:r>
            <a:r>
              <a:rPr lang="ko-KR" altLang="en-US" sz="1200" b="1" u="sng" dirty="0">
                <a:latin typeface="+mn-ea"/>
              </a:rPr>
              <a:t>년 </a:t>
            </a:r>
            <a:r>
              <a:rPr lang="en-US" altLang="ko-KR" sz="1200" b="1" u="sng" dirty="0">
                <a:latin typeface="+mn-ea"/>
              </a:rPr>
              <a:t>DATA</a:t>
            </a:r>
            <a:r>
              <a:rPr lang="ko-KR" altLang="en-US" sz="1200" b="1" u="sng" dirty="0">
                <a:latin typeface="+mn-ea"/>
              </a:rPr>
              <a:t>재승인</a:t>
            </a:r>
            <a:r>
              <a:rPr lang="en-US" altLang="ko-KR" sz="1200" b="1" u="sng" dirty="0">
                <a:latin typeface="+mn-ea"/>
              </a:rPr>
              <a:t>(15</a:t>
            </a:r>
            <a:r>
              <a:rPr lang="ko-KR" altLang="en-US" sz="1200" b="1" u="sng" dirty="0">
                <a:latin typeface="+mn-ea"/>
              </a:rPr>
              <a:t>개</a:t>
            </a:r>
            <a:r>
              <a:rPr lang="en-US" altLang="ko-KR" sz="1200" b="1" u="sng" dirty="0">
                <a:latin typeface="+mn-ea"/>
              </a:rPr>
              <a:t>)</a:t>
            </a:r>
            <a:r>
              <a:rPr lang="en-US" altLang="ko-KR" sz="1200" b="1" dirty="0">
                <a:latin typeface="+mn-ea"/>
              </a:rPr>
              <a:t>, 2022</a:t>
            </a:r>
            <a:r>
              <a:rPr lang="ko-KR" altLang="en-US" sz="1200" b="1" dirty="0">
                <a:latin typeface="+mn-ea"/>
              </a:rPr>
              <a:t>년 </a:t>
            </a:r>
            <a:r>
              <a:rPr lang="en-US" altLang="ko-KR" sz="1200" b="1" dirty="0">
                <a:latin typeface="+mn-ea"/>
              </a:rPr>
              <a:t>TV</a:t>
            </a:r>
            <a:r>
              <a:rPr lang="ko-KR" altLang="en-US" sz="1200" b="1" dirty="0">
                <a:latin typeface="+mn-ea"/>
              </a:rPr>
              <a:t>재승인</a:t>
            </a:r>
            <a:r>
              <a:rPr lang="en-US" altLang="ko-KR" sz="1200" b="1" dirty="0">
                <a:latin typeface="+mn-ea"/>
              </a:rPr>
              <a:t>(25</a:t>
            </a:r>
            <a:r>
              <a:rPr lang="ko-KR" altLang="en-US" sz="1200" b="1" dirty="0">
                <a:latin typeface="+mn-ea"/>
              </a:rPr>
              <a:t>개</a:t>
            </a:r>
            <a:r>
              <a:rPr lang="en-US" altLang="ko-KR" sz="1200" b="1" dirty="0">
                <a:latin typeface="+mn-ea"/>
              </a:rPr>
              <a:t>), 2024</a:t>
            </a:r>
            <a:r>
              <a:rPr lang="ko-KR" altLang="en-US" sz="1200" b="1" dirty="0">
                <a:latin typeface="+mn-ea"/>
              </a:rPr>
              <a:t>년 분할승인</a:t>
            </a:r>
            <a:r>
              <a:rPr lang="en-US" altLang="ko-KR" sz="1200" b="1" dirty="0">
                <a:latin typeface="+mn-ea"/>
              </a:rPr>
              <a:t>(19</a:t>
            </a:r>
            <a:r>
              <a:rPr lang="ko-KR" altLang="en-US" sz="1200" b="1" dirty="0">
                <a:latin typeface="+mn-ea"/>
              </a:rPr>
              <a:t>개</a:t>
            </a:r>
            <a:r>
              <a:rPr lang="en-US" altLang="ko-KR" sz="1200" b="1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  <a:tabLst>
                <a:tab pos="558800" algn="l"/>
              </a:tabLst>
            </a:pPr>
            <a:endParaRPr lang="en-US" altLang="ko-KR" sz="1100" dirty="0">
              <a:latin typeface="+mn-ea"/>
            </a:endParaRPr>
          </a:p>
          <a:p>
            <a:pPr>
              <a:lnSpc>
                <a:spcPct val="150000"/>
              </a:lnSpc>
              <a:tabLst>
                <a:tab pos="558800" algn="l"/>
              </a:tabLst>
            </a:pPr>
            <a:endParaRPr lang="en-US" altLang="ko-KR" sz="5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50000"/>
              </a:lnSpc>
              <a:tabLst>
                <a:tab pos="558800" algn="l"/>
              </a:tabLst>
            </a:pPr>
            <a:endParaRPr lang="en-US" altLang="ko-KR" sz="5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50000"/>
              </a:lnSpc>
              <a:tabLst>
                <a:tab pos="558800" algn="l"/>
              </a:tabLst>
            </a:pP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50000"/>
              </a:lnSpc>
              <a:tabLst>
                <a:tab pos="558800" algn="l"/>
              </a:tabLst>
            </a:pP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50000"/>
              </a:lnSpc>
              <a:tabLst>
                <a:tab pos="558800" algn="l"/>
              </a:tabLst>
            </a:pPr>
            <a:endParaRPr lang="ko-KR" altLang="en-US" sz="12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80000"/>
              </a:lnSpc>
              <a:tabLst>
                <a:tab pos="558800" algn="l"/>
              </a:tabLst>
            </a:pP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5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5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5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5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5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5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5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5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5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5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5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  <a:p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200" kern="0"/>
              <a:t> </a:t>
            </a:r>
            <a:r>
              <a:rPr lang="en-US" altLang="ko-KR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- </a:t>
            </a:r>
            <a:r>
              <a:rPr lang="ko-KR" altLang="en-US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정량지표</a:t>
            </a:r>
            <a:r>
              <a:rPr lang="en-US" altLang="ko-KR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비중</a:t>
            </a:r>
            <a:r>
              <a:rPr lang="en-US" altLang="ko-KR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율</a:t>
            </a:r>
            <a:r>
              <a:rPr lang="en-US" altLang="ko-KR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규모</a:t>
            </a:r>
            <a:r>
              <a:rPr lang="en-US" altLang="ko-KR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계획</a:t>
            </a:r>
            <a:r>
              <a:rPr lang="en-US" altLang="ko-KR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수치에 관한 질문</a:t>
            </a:r>
            <a:r>
              <a:rPr lang="en-US" altLang="ko-KR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)</a:t>
            </a:r>
            <a:r>
              <a:rPr lang="ko-KR" altLang="en-US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수치의 타당성</a:t>
            </a:r>
            <a:r>
              <a:rPr lang="en-US" altLang="ko-KR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지표 변동의 합리적 근거 등  </a:t>
            </a:r>
            <a:endParaRPr lang="en-US" altLang="ko-KR" sz="11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1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11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- </a:t>
            </a:r>
            <a:r>
              <a:rPr lang="ko-KR" altLang="en-US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개선방향 및 실효성 </a:t>
            </a:r>
            <a:r>
              <a:rPr lang="en-US" altLang="ko-KR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제도 효과</a:t>
            </a:r>
            <a:r>
              <a:rPr lang="en-US" altLang="ko-KR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운영 실효성</a:t>
            </a:r>
            <a:r>
              <a:rPr lang="en-US" altLang="ko-KR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보완 필요성 중심</a:t>
            </a:r>
            <a:endParaRPr lang="en-US" altLang="ko-KR" sz="110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1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110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- </a:t>
            </a:r>
            <a:r>
              <a:rPr lang="ko-KR" altLang="en-US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단순문의 </a:t>
            </a:r>
            <a:r>
              <a:rPr lang="en-US" altLang="ko-KR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: </a:t>
            </a:r>
            <a:r>
              <a:rPr lang="ko-KR" altLang="en-US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배경 설명</a:t>
            </a:r>
            <a:r>
              <a:rPr lang="en-US" altLang="ko-KR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이유 확인</a:t>
            </a:r>
            <a:r>
              <a:rPr lang="en-US" altLang="ko-KR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1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운영 방식 문의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CCE03FA-A3DF-E1A2-C32E-CCE720FB9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62363"/>
              </p:ext>
            </p:extLst>
          </p:nvPr>
        </p:nvGraphicFramePr>
        <p:xfrm>
          <a:off x="399279" y="1129697"/>
          <a:ext cx="11266881" cy="45986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8092">
                  <a:extLst>
                    <a:ext uri="{9D8B030D-6E8A-4147-A177-3AD203B41FA5}">
                      <a16:colId xmlns:a16="http://schemas.microsoft.com/office/drawing/2014/main" val="2258017529"/>
                    </a:ext>
                  </a:extLst>
                </a:gridCol>
                <a:gridCol w="1865026">
                  <a:extLst>
                    <a:ext uri="{9D8B030D-6E8A-4147-A177-3AD203B41FA5}">
                      <a16:colId xmlns:a16="http://schemas.microsoft.com/office/drawing/2014/main" val="1347241636"/>
                    </a:ext>
                  </a:extLst>
                </a:gridCol>
                <a:gridCol w="1105989">
                  <a:extLst>
                    <a:ext uri="{9D8B030D-6E8A-4147-A177-3AD203B41FA5}">
                      <a16:colId xmlns:a16="http://schemas.microsoft.com/office/drawing/2014/main" val="3270443880"/>
                    </a:ext>
                  </a:extLst>
                </a:gridCol>
                <a:gridCol w="1593669">
                  <a:extLst>
                    <a:ext uri="{9D8B030D-6E8A-4147-A177-3AD203B41FA5}">
                      <a16:colId xmlns:a16="http://schemas.microsoft.com/office/drawing/2014/main" val="538767129"/>
                    </a:ext>
                  </a:extLst>
                </a:gridCol>
                <a:gridCol w="1084217">
                  <a:extLst>
                    <a:ext uri="{9D8B030D-6E8A-4147-A177-3AD203B41FA5}">
                      <a16:colId xmlns:a16="http://schemas.microsoft.com/office/drawing/2014/main" val="2938715098"/>
                    </a:ext>
                  </a:extLst>
                </a:gridCol>
                <a:gridCol w="1084217">
                  <a:extLst>
                    <a:ext uri="{9D8B030D-6E8A-4147-A177-3AD203B41FA5}">
                      <a16:colId xmlns:a16="http://schemas.microsoft.com/office/drawing/2014/main" val="3639498115"/>
                    </a:ext>
                  </a:extLst>
                </a:gridCol>
                <a:gridCol w="3815671">
                  <a:extLst>
                    <a:ext uri="{9D8B030D-6E8A-4147-A177-3AD203B41FA5}">
                      <a16:colId xmlns:a16="http://schemas.microsoft.com/office/drawing/2014/main" val="417109014"/>
                    </a:ext>
                  </a:extLst>
                </a:gridCol>
              </a:tblGrid>
              <a:tr h="29078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정량지표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개선방향 및 실효성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단순문의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372981"/>
                  </a:ext>
                </a:extLst>
              </a:tr>
              <a:tr h="14539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종합질문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데이터홈쇼핑 차별화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및 </a:t>
                      </a:r>
                      <a:r>
                        <a:rPr lang="en-US" altLang="ko-KR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Biz</a:t>
                      </a: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운영 방안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8002949"/>
                  </a:ext>
                </a:extLst>
              </a:tr>
              <a:tr h="14539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장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공적책임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사회환원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사회환원</a:t>
                      </a:r>
                      <a:r>
                        <a:rPr lang="en-US" altLang="ko-KR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공익사업</a:t>
                      </a:r>
                      <a:r>
                        <a:rPr lang="en-US" altLang="ko-KR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지역경제</a:t>
                      </a:r>
                      <a:r>
                        <a:rPr lang="en-US" altLang="ko-KR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463106"/>
                  </a:ext>
                </a:extLst>
              </a:tr>
              <a:tr h="1453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공적책임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시청자위원회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시청자위원회 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356963"/>
                  </a:ext>
                </a:extLst>
              </a:tr>
              <a:tr h="290786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장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+mn-ea"/>
                          <a:ea typeface="+mn-ea"/>
                        </a:rPr>
                        <a:t>공정거래</a:t>
                      </a:r>
                      <a:r>
                        <a:rPr lang="en-US" altLang="ko-KR" sz="11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+mn-ea"/>
                          <a:ea typeface="+mn-ea"/>
                        </a:rPr>
                        <a:t>전사</a:t>
                      </a:r>
                      <a:r>
                        <a:rPr lang="en-US" altLang="ko-KR" sz="11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+mn-ea"/>
                          <a:ea typeface="+mn-ea"/>
                        </a:rPr>
                        <a:t>홈쇼핑</a:t>
                      </a:r>
                      <a:r>
                        <a:rPr lang="en-US" altLang="ko-KR" sz="11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11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11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1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11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전사 점검 통제 활동</a:t>
                      </a:r>
                      <a:r>
                        <a:rPr lang="en-US" altLang="ko-KR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홈쇼핑 공정한 입점 및</a:t>
                      </a:r>
                      <a:r>
                        <a:rPr lang="en-US" altLang="ko-KR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선정</a:t>
                      </a:r>
                      <a:r>
                        <a:rPr lang="en-US" altLang="ko-KR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 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678097"/>
                  </a:ext>
                </a:extLst>
              </a:tr>
              <a:tr h="2907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동반성장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신사업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스타트업 육성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986494"/>
                  </a:ext>
                </a:extLst>
              </a:tr>
              <a:tr h="290786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동반성장</a:t>
                      </a:r>
                      <a:r>
                        <a:rPr lang="en-US" altLang="ko-KR" sz="1100" b="1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중소기업 지원</a:t>
                      </a:r>
                      <a:r>
                        <a:rPr lang="en-US" altLang="ko-KR" sz="1100" b="1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dirty="0">
                        <a:solidFill>
                          <a:srgbClr val="1919E5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13</a:t>
                      </a:r>
                      <a:endParaRPr lang="ko-KR" altLang="en-US" sz="1100" b="1" dirty="0">
                        <a:solidFill>
                          <a:srgbClr val="1919E5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1100" b="1" dirty="0">
                        <a:solidFill>
                          <a:srgbClr val="1919E5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1100" b="1" dirty="0">
                        <a:solidFill>
                          <a:srgbClr val="1919E5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25</a:t>
                      </a:r>
                      <a:endParaRPr lang="ko-KR" altLang="en-US" sz="1100" b="1" dirty="0">
                        <a:solidFill>
                          <a:srgbClr val="1919E5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 지표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판매수수료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정액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편성</a:t>
                      </a:r>
                      <a:r>
                        <a:rPr lang="en-US" altLang="ko-KR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등 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중소기업 지원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365224"/>
                  </a:ext>
                </a:extLst>
              </a:tr>
              <a:tr h="29078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장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rgbClr val="FFC000"/>
                          </a:solidFill>
                          <a:latin typeface="+mn-ea"/>
                          <a:ea typeface="+mn-ea"/>
                        </a:rPr>
                        <a:t>방송제작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rgbClr val="FFC000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1100" b="1" dirty="0">
                        <a:solidFill>
                          <a:srgbClr val="FFC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rgbClr val="FFC000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100" b="1" dirty="0">
                        <a:solidFill>
                          <a:srgbClr val="FFC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rgbClr val="FFC000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100" b="1" dirty="0">
                        <a:solidFill>
                          <a:srgbClr val="FFC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rgbClr val="FFC000"/>
                          </a:solidFill>
                          <a:latin typeface="+mn-ea"/>
                          <a:ea typeface="+mn-ea"/>
                        </a:rPr>
                        <a:t>10</a:t>
                      </a:r>
                      <a:endParaRPr lang="ko-KR" altLang="en-US" sz="1100" b="1" dirty="0">
                        <a:solidFill>
                          <a:srgbClr val="FFC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콘텐츠</a:t>
                      </a:r>
                      <a:r>
                        <a:rPr lang="en-US" altLang="ko-KR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시청자 평가</a:t>
                      </a:r>
                      <a:r>
                        <a:rPr lang="en-US" altLang="ko-KR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정보</a:t>
                      </a:r>
                      <a:r>
                        <a:rPr lang="en-US" altLang="ko-KR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장애인 지원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493236"/>
                  </a:ext>
                </a:extLst>
              </a:tr>
              <a:tr h="29078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방송제작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상품구성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상품구성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43199"/>
                  </a:ext>
                </a:extLst>
              </a:tr>
              <a:tr h="29078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장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+mn-ea"/>
                          <a:ea typeface="+mn-ea"/>
                        </a:rPr>
                        <a:t>경영투명성</a:t>
                      </a:r>
                      <a:r>
                        <a:rPr lang="en-US" altLang="ko-KR" sz="11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+mn-ea"/>
                          <a:ea typeface="+mn-ea"/>
                        </a:rPr>
                        <a:t>전사</a:t>
                      </a:r>
                      <a:r>
                        <a:rPr lang="en-US" altLang="ko-KR" sz="11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11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1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1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11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전사 경영감시</a:t>
                      </a:r>
                      <a:r>
                        <a:rPr lang="en-US" altLang="ko-KR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내부회계</a:t>
                      </a:r>
                      <a:r>
                        <a:rPr lang="en-US" altLang="ko-KR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윤리경영</a:t>
                      </a:r>
                      <a:r>
                        <a:rPr lang="en-US" altLang="ko-KR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준법활동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5762682"/>
                  </a:ext>
                </a:extLst>
              </a:tr>
              <a:tr h="290786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인력 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 교육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인력 충원</a:t>
                      </a:r>
                      <a:r>
                        <a:rPr lang="en-US" altLang="ko-KR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교육훈련 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383544"/>
                  </a:ext>
                </a:extLst>
              </a:tr>
              <a:tr h="29078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장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방송시설 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 기술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방송 시설 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 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기술 </a:t>
                      </a: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투자 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627248"/>
                  </a:ext>
                </a:extLst>
              </a:tr>
              <a:tr h="290786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rgbClr val="FFC000"/>
                          </a:solidFill>
                          <a:latin typeface="+mn-ea"/>
                          <a:ea typeface="+mn-ea"/>
                        </a:rPr>
                        <a:t>재무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rgbClr val="FFC000"/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ko-KR" altLang="en-US" sz="1100" b="1" dirty="0">
                        <a:solidFill>
                          <a:srgbClr val="FFC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rgbClr val="FFC000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1100" b="1" dirty="0">
                        <a:solidFill>
                          <a:srgbClr val="FFC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rgbClr val="FFC000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1100" b="1" dirty="0">
                        <a:solidFill>
                          <a:srgbClr val="FFC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rgbClr val="FFC000"/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ko-KR" altLang="en-US" sz="1100" b="1" dirty="0">
                        <a:solidFill>
                          <a:srgbClr val="FFC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재무제표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256502"/>
                  </a:ext>
                </a:extLst>
              </a:tr>
              <a:tr h="2907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장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소비자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1100" b="1" dirty="0">
                        <a:solidFill>
                          <a:srgbClr val="1919E5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1100" b="1" dirty="0">
                        <a:solidFill>
                          <a:srgbClr val="1919E5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1100" b="1" dirty="0">
                        <a:solidFill>
                          <a:srgbClr val="1919E5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14</a:t>
                      </a:r>
                      <a:endParaRPr lang="ko-KR" altLang="en-US" sz="1100" b="1" dirty="0">
                        <a:solidFill>
                          <a:srgbClr val="1919E5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소비자불만 </a:t>
                      </a:r>
                      <a:r>
                        <a:rPr lang="en-US" altLang="ko-KR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 </a:t>
                      </a: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품질 </a:t>
                      </a:r>
                      <a:r>
                        <a:rPr lang="en-US" altLang="ko-KR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 </a:t>
                      </a: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배송 </a:t>
                      </a:r>
                      <a:r>
                        <a:rPr lang="en-US" altLang="ko-KR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 </a:t>
                      </a: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심의 </a:t>
                      </a:r>
                      <a:r>
                        <a:rPr lang="en-US" altLang="ko-KR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 </a:t>
                      </a: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개인정보 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296451"/>
                  </a:ext>
                </a:extLst>
              </a:tr>
              <a:tr h="2907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장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latin typeface="+mn-ea"/>
                          <a:ea typeface="+mn-ea"/>
                        </a:rPr>
                        <a:t>방송발전</a:t>
                      </a:r>
                      <a:r>
                        <a:rPr lang="en-US" altLang="ko-KR" sz="1100" b="1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>
                          <a:latin typeface="+mn-ea"/>
                          <a:ea typeface="+mn-ea"/>
                        </a:rPr>
                        <a:t>데이터특화기술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latin typeface="+mn-ea"/>
                          <a:ea typeface="+mn-ea"/>
                        </a:rPr>
                        <a:t>-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사회환원</a:t>
                      </a:r>
                      <a:r>
                        <a:rPr lang="en-US" altLang="ko-KR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방송발전</a:t>
                      </a:r>
                      <a:r>
                        <a:rPr lang="en-US" altLang="ko-KR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데이터특화기술 질문 없었음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367445"/>
                  </a:ext>
                </a:extLst>
              </a:tr>
              <a:tr h="29078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34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34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29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97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01956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447B715-E6E1-8A9D-55D5-A8A3889B805E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12/109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814121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C592EB-1D29-895B-C173-A019D41D98ED}"/>
              </a:ext>
            </a:extLst>
          </p:cNvPr>
          <p:cNvSpPr txBox="1"/>
          <p:nvPr/>
        </p:nvSpPr>
        <p:spPr>
          <a:xfrm>
            <a:off x="64746" y="61558"/>
            <a:ext cx="9572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과거 청문심사 질문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83D9A24-54CF-EBA7-0AF2-C5187FEE09A3}"/>
              </a:ext>
            </a:extLst>
          </p:cNvPr>
          <p:cNvGraphicFramePr>
            <a:graphicFrameLocks noGrp="1"/>
          </p:cNvGraphicFramePr>
          <p:nvPr/>
        </p:nvGraphicFramePr>
        <p:xfrm>
          <a:off x="402966" y="903994"/>
          <a:ext cx="11415209" cy="2309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813">
                  <a:extLst>
                    <a:ext uri="{9D8B030D-6E8A-4147-A177-3AD203B41FA5}">
                      <a16:colId xmlns:a16="http://schemas.microsoft.com/office/drawing/2014/main" val="2790025584"/>
                    </a:ext>
                  </a:extLst>
                </a:gridCol>
                <a:gridCol w="3960896">
                  <a:extLst>
                    <a:ext uri="{9D8B030D-6E8A-4147-A177-3AD203B41FA5}">
                      <a16:colId xmlns:a16="http://schemas.microsoft.com/office/drawing/2014/main" val="2078834508"/>
                    </a:ext>
                  </a:extLst>
                </a:gridCol>
                <a:gridCol w="6798500">
                  <a:extLst>
                    <a:ext uri="{9D8B030D-6E8A-4147-A177-3AD203B41FA5}">
                      <a16:colId xmlns:a16="http://schemas.microsoft.com/office/drawing/2014/main" val="3912432859"/>
                    </a:ext>
                  </a:extLst>
                </a:gridCol>
              </a:tblGrid>
              <a:tr h="2730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질문 사항</a:t>
                      </a:r>
                    </a:p>
                  </a:txBody>
                  <a:tcPr marL="72000" marR="360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답변</a:t>
                      </a:r>
                    </a:p>
                  </a:txBody>
                  <a:tcPr marL="72000" marR="360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581450"/>
                  </a:ext>
                </a:extLst>
              </a:tr>
              <a:tr h="43362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2021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데이터홈쇼핑 차별화 방안은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데이터홈쇼핑만의 특징인 녹화방송을 통해 중소기업이 추가적인 제작 부담 없이 여러 회 방송하고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생산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Capa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에 맞추어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10, 20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분 짧게 방송 가능 또한 양방향성을 활용 개인화 서비스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VOD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서비스 등을 제공하여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고객 맞춤형 상품 제안 예정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821608"/>
                  </a:ext>
                </a:extLst>
              </a:tr>
              <a:tr h="258293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2024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분할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분할 배경은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방송과 유통사업 등 핵심사업에 집중하고 주주가치 제고를 위해 분할하고자 함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128225"/>
                  </a:ext>
                </a:extLst>
              </a:tr>
              <a:tr h="258293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1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파르나스호텔만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분할하는 이유는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호텔업의 경우 주기적으로 대규모 투자가 들어가야 되고 내년도에 대규모 투자가 들어가기에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시기적으로 이번 기회에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분할하는게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맞다고 보았다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174348"/>
                  </a:ext>
                </a:extLst>
              </a:tr>
              <a:tr h="258293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1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송출료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증가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시청률 하락 상황에서 분할 이후 비즈니스 운영 방안은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endParaRPr lang="ko-KR" altLang="en-US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고객접점 확대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) TV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에서 판매하는 상품을 모바일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라이브커머스와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SNS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채널까지 확장한 상시 마케팅을 통해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   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고객 접점을 지속 확대하고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fontAlgn="base" latinLnBrk="1"/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생성형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AI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강화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모바일 개인화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큐레이션을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통해 다양한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TV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상품과 컨텐츠들을 제안하는 활동을 강화</a:t>
                      </a:r>
                    </a:p>
                    <a:p>
                      <a:pPr fontAlgn="base" latinLnBrk="1"/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상품 강화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홈쇼핑 본연의 장점인 제품에 대해 상세히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설명드리는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고기능성 건강식품과 화장품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제품을 강화 중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07238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814A2F6-074E-260E-C82B-AF74DF01B54D}"/>
              </a:ext>
            </a:extLst>
          </p:cNvPr>
          <p:cNvSpPr txBox="1"/>
          <p:nvPr/>
        </p:nvSpPr>
        <p:spPr>
          <a:xfrm>
            <a:off x="402966" y="533736"/>
            <a:ext cx="5540634" cy="35375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▶ 종합질문</a:t>
            </a:r>
            <a:endParaRPr lang="en-US" altLang="ko-KR" sz="1300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3705BCE-83E4-60DB-7F40-75577A6FB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12851"/>
              </p:ext>
            </p:extLst>
          </p:nvPr>
        </p:nvGraphicFramePr>
        <p:xfrm>
          <a:off x="387220" y="3555545"/>
          <a:ext cx="11433305" cy="3117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6717">
                  <a:extLst>
                    <a:ext uri="{9D8B030D-6E8A-4147-A177-3AD203B41FA5}">
                      <a16:colId xmlns:a16="http://schemas.microsoft.com/office/drawing/2014/main" val="2790025584"/>
                    </a:ext>
                  </a:extLst>
                </a:gridCol>
                <a:gridCol w="3975897">
                  <a:extLst>
                    <a:ext uri="{9D8B030D-6E8A-4147-A177-3AD203B41FA5}">
                      <a16:colId xmlns:a16="http://schemas.microsoft.com/office/drawing/2014/main" val="2078834508"/>
                    </a:ext>
                  </a:extLst>
                </a:gridCol>
                <a:gridCol w="6800691">
                  <a:extLst>
                    <a:ext uri="{9D8B030D-6E8A-4147-A177-3AD203B41FA5}">
                      <a16:colId xmlns:a16="http://schemas.microsoft.com/office/drawing/2014/main" val="3912432859"/>
                    </a:ext>
                  </a:extLst>
                </a:gridCol>
              </a:tblGrid>
              <a:tr h="20533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질문 사항</a:t>
                      </a:r>
                    </a:p>
                  </a:txBody>
                  <a:tcPr marL="72000" marR="360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답변</a:t>
                      </a:r>
                    </a:p>
                  </a:txBody>
                  <a:tcPr marL="72000" marR="360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581450"/>
                  </a:ext>
                </a:extLst>
              </a:tr>
              <a:tr h="194254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2017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TV</a:t>
                      </a:r>
                      <a:endParaRPr lang="ko-KR" altLang="en-US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방송의 공적책임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기업으로서 사회적 책임에 대한 생각은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방송이라는 공공재를 사용하기에 의무라 생각하고 중소기업 육성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청년고용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사회공헌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공정방송 등의 책임을 이행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821608"/>
                  </a:ext>
                </a:extLst>
              </a:tr>
              <a:tr h="34644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1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사회 환원 관련 방송 영업이익의 사회환원율이 과거 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3.8%~6.4%</a:t>
                      </a: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이었는데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향후 계획은 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4%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로 더 낮은데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연도별 방송수익에 따라 사회환원율이 움직일 뿐이며 사회 환원 금액은 꾸준히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40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억원 이상으로 확대해 왔으며 향후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45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억원 내외로 계획한다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128225"/>
                  </a:ext>
                </a:extLst>
              </a:tr>
              <a:tr h="34644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미르와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K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스포츠재단을 지원하게 된 배경은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전경련 추천으로 그룹으로부터 공문을 받아 진행하게 되었고 국내외 문화 교류라는 좋은 취지였기에 진행했지만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향후 신중 하겠다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174348"/>
                  </a:ext>
                </a:extLst>
              </a:tr>
              <a:tr h="296927"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2022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TV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공적책임 중 동반성장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사회공헌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지역경제발전에 기여하기 </a:t>
                      </a:r>
                      <a:endParaRPr lang="en-US" altLang="ko-KR" sz="105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위한 방안은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중소기업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판매수수료율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낮추고 사회공헌을 향후 확대하여 지원할 예정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지역 특산물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전통시장 소개 등 지원 노력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072388"/>
                  </a:ext>
                </a:extLst>
              </a:tr>
              <a:tr h="19425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시청자위원회 지역 안배가 부족한데 개선 방안은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여성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분이고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시민단체뿐만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아니라 각계 각층에서 고르게 선정 중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지역 안배도 고려하겠다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161966"/>
                  </a:ext>
                </a:extLst>
              </a:tr>
              <a:tr h="194254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시청자위원회위원에 방송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유통 교수 등 분야가 한정 </a:t>
                      </a:r>
                      <a:r>
                        <a:rPr lang="ko-KR" altLang="en-US" sz="105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된것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아닌가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endParaRPr lang="ko-KR" altLang="en-US" sz="105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소비자단체 분야 위원이 있다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460817"/>
                  </a:ext>
                </a:extLst>
              </a:tr>
              <a:tr h="194254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시청자위원회 안건 중 </a:t>
                      </a:r>
                      <a:r>
                        <a:rPr lang="ko-KR" altLang="en-US" sz="105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남혐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안건이 있는데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왜 안건이 올라왔나요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endParaRPr lang="ko-KR" altLang="en-US" sz="105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편의점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남혐이슈가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있어서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방송쪽도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사전에 체크하고 예방활동 하였다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dirty="0"/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662093"/>
                  </a:ext>
                </a:extLst>
              </a:tr>
              <a:tr h="43878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2024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분할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시청자위원회에서 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GS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측 참석자는 누구이며 의견 미수용 사례는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사업지원부문장이 고정적으로 참석하고 방송사업지원팀이 간사로 있으며 심의팀도 참석하여 안건 상정을 하고 있음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수용하지 못한 경우는 없었으며 어린이의 방송 출연 관련 고지 필요성이 없다고 생각했으나 안내고지를 강화해달라는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요청에 대해 수용해서 안내강화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2602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BF37885-F89B-815C-913E-552E9185D250}"/>
              </a:ext>
            </a:extLst>
          </p:cNvPr>
          <p:cNvSpPr txBox="1"/>
          <p:nvPr/>
        </p:nvSpPr>
        <p:spPr>
          <a:xfrm>
            <a:off x="387220" y="3195337"/>
            <a:ext cx="5540634" cy="35375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▶ </a:t>
            </a:r>
            <a:r>
              <a:rPr lang="en-US" altLang="ko-KR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2</a:t>
            </a: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 공적책임</a:t>
            </a:r>
            <a:r>
              <a:rPr lang="en-US" altLang="ko-KR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사회환원</a:t>
            </a:r>
            <a:r>
              <a:rPr lang="en-US" altLang="ko-KR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시청자위원회</a:t>
            </a:r>
            <a:r>
              <a:rPr lang="en-US" altLang="ko-KR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)</a:t>
            </a:r>
            <a:endParaRPr lang="en-US" altLang="ko-KR" sz="1300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6697FD-C0B1-2BAC-AEB5-292271351922}"/>
              </a:ext>
            </a:extLst>
          </p:cNvPr>
          <p:cNvSpPr txBox="1"/>
          <p:nvPr/>
        </p:nvSpPr>
        <p:spPr>
          <a:xfrm>
            <a:off x="11625944" y="6653295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13/109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55142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81901-633A-4CB0-82ED-D713B9C1A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559FE5-DA68-96BC-099E-2E53A05E52CB}"/>
              </a:ext>
            </a:extLst>
          </p:cNvPr>
          <p:cNvSpPr txBox="1"/>
          <p:nvPr/>
        </p:nvSpPr>
        <p:spPr>
          <a:xfrm>
            <a:off x="64746" y="70267"/>
            <a:ext cx="9572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과거 청문심사 질문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F7EB2A7-3E8D-8797-F22A-0CD9B022A045}"/>
              </a:ext>
            </a:extLst>
          </p:cNvPr>
          <p:cNvGraphicFramePr>
            <a:graphicFrameLocks noGrp="1"/>
          </p:cNvGraphicFramePr>
          <p:nvPr/>
        </p:nvGraphicFramePr>
        <p:xfrm>
          <a:off x="411031" y="1022032"/>
          <a:ext cx="11406500" cy="53367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06">
                  <a:extLst>
                    <a:ext uri="{9D8B030D-6E8A-4147-A177-3AD203B41FA5}">
                      <a16:colId xmlns:a16="http://schemas.microsoft.com/office/drawing/2014/main" val="2790025584"/>
                    </a:ext>
                  </a:extLst>
                </a:gridCol>
                <a:gridCol w="4005943">
                  <a:extLst>
                    <a:ext uri="{9D8B030D-6E8A-4147-A177-3AD203B41FA5}">
                      <a16:colId xmlns:a16="http://schemas.microsoft.com/office/drawing/2014/main" val="2078834508"/>
                    </a:ext>
                  </a:extLst>
                </a:gridCol>
                <a:gridCol w="6757851">
                  <a:extLst>
                    <a:ext uri="{9D8B030D-6E8A-4147-A177-3AD203B41FA5}">
                      <a16:colId xmlns:a16="http://schemas.microsoft.com/office/drawing/2014/main" val="3912432859"/>
                    </a:ext>
                  </a:extLst>
                </a:gridCol>
              </a:tblGrid>
              <a:tr h="27336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질문 사항</a:t>
                      </a:r>
                    </a:p>
                  </a:txBody>
                  <a:tcPr marL="72000" marR="360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답변</a:t>
                      </a:r>
                    </a:p>
                  </a:txBody>
                  <a:tcPr marL="72000" marR="360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581450"/>
                  </a:ext>
                </a:extLst>
              </a:tr>
              <a:tr h="520700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2017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TV</a:t>
                      </a:r>
                      <a:endParaRPr lang="ko-KR" altLang="en-US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윤리위원회가 모두 내부자로 구성되었는데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다수의 외부인 참여 의사는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인사상 민감한 문제를 다루어서 외부인 참여가 어렵고 노조원일 경우 노조위원장이 참석한다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821608"/>
                  </a:ext>
                </a:extLst>
              </a:tr>
              <a:tr h="520700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1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레드휘슬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누구나 제보 가능한가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  <a:r>
                        <a:rPr lang="ko-KR" altLang="en-US" sz="105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윤리경영핫라인과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차이는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제도 문제점이나 개선 사항은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레드휘슬은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누구나 제보 가능하고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윤리경영핫라인을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오랫동안 운영해 보니 내부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직접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운영을 하는 것보다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개선이 필요하다고 느껴져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레드휘슬을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도입하게 되었고 현재로서는 문제점이나 개선 사항은 없다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 </a:t>
                      </a:r>
                      <a:endParaRPr lang="ko-KR" altLang="en-US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128225"/>
                  </a:ext>
                </a:extLst>
              </a:tr>
              <a:tr h="5207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상품선정 및 방송편성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기준과절차가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협력사 투명거래시스템에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반영되어 있다고 하는데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 협력사에 다 반영되어 있나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전체 협력사에 다 반영되어 있다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174348"/>
                  </a:ext>
                </a:extLst>
              </a:tr>
              <a:tr h="60960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2021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공정거래 점검을 자가 점검 중심으로 하는데 실효성 확보 방안은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점검과 개선 전에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시스템으로 강제적인 통제 절차를 두고 있다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예를 들어 협력사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판촉비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부담은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50%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이상 초과 시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강제적으로 시스템에서 차단되는 등 또한 점검도 내부 진단팀이 별도 의견 청취 등 자가 점검 외에 추가 점검 진행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072388"/>
                  </a:ext>
                </a:extLst>
              </a:tr>
              <a:tr h="61912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신상품평가위원회를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년에 도입한 이유는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년 재승인 계획으로 원래 있었던 항목은 아님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타이틀에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신설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이라고 별도 표시했음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16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년 재승인 당시 계획으로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제출한 항목은 아니지만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균형있는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의견과 객관적인 시각을 상품 선정 절차에 반영하기 위해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월 시행함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705196"/>
                  </a:ext>
                </a:extLst>
              </a:tr>
              <a:tr h="65888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2022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공정위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제재 많다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피해보상규정이 있고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레드휘슬도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있는데 실적이</a:t>
                      </a:r>
                      <a:endParaRPr lang="en-US" altLang="ko-KR" sz="105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미미함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구성도 전원 내부 인원인데 실효성이 있을지 모르겠다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불공정 피해보상협의회에 외부전문가 참여가 계획은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공정위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제재 중 지연이자 미지급 건은 지급함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향후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외부전문가 참여시키겠다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161966"/>
                  </a:ext>
                </a:extLst>
              </a:tr>
              <a:tr h="954794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2024</a:t>
                      </a:r>
                      <a:endParaRPr lang="ko-KR" altLang="en-US" sz="10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건은 행정소송 중이라고 해도 홈쇼핑 </a:t>
                      </a:r>
                      <a:r>
                        <a:rPr lang="ko-KR" altLang="en-US" sz="105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앱할인은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과징금이 확정</a:t>
                      </a:r>
                      <a:endParaRPr lang="en-US" altLang="ko-KR" sz="105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되는 등 공정거래 제재 많다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공정거래 활동을 강화해야 하지 않나요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공정거래 제재가 많아서 죄송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공정거래 중요하게 생각한다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제재시점은 최근이지만 과거 발생한 건으로 이후에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변호사 등 전문가를 채용하고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컴플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법무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경영진단실 등 업무를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세부화하여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조직을 세팅했다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준법경영시스템을 작년에 도입했으며 올해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월에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CEO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주관의 컴플라이언스 운영협의체를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신설하는 등  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예방 활동을 대폭 강화했다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앞으로 발생하지 않도록 노력하겠다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460817"/>
                  </a:ext>
                </a:extLst>
              </a:tr>
              <a:tr h="658883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개인정보 제재가 많다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보안센터 인력구성을 보면 전체 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21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명 중</a:t>
                      </a:r>
                      <a:endParaRPr lang="en-US" altLang="ko-KR" sz="105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개인정보보호활동에 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명 정도만 배치되어 있다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좀 더 인력이나 활동을 강화해야 되는 것 아닌가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endParaRPr lang="ko-KR" altLang="en-US" sz="105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제재 발생하지 않도록 신경 많이 쓰겠으며 내부통제활동과 외부통제활동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교육활동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점검활동 등을 통해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개인정보보호 활동에 주력하겠다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66209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006445A-2DF5-5297-BC79-1C99D39D3F9C}"/>
              </a:ext>
            </a:extLst>
          </p:cNvPr>
          <p:cNvSpPr txBox="1"/>
          <p:nvPr/>
        </p:nvSpPr>
        <p:spPr>
          <a:xfrm>
            <a:off x="411031" y="642912"/>
            <a:ext cx="5540634" cy="35375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▶</a:t>
            </a:r>
            <a:r>
              <a:rPr lang="en-US" altLang="ko-KR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 3</a:t>
            </a: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 공정거래</a:t>
            </a:r>
            <a:endParaRPr lang="en-US" altLang="ko-KR" sz="1300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777DF8-F78E-D78B-5851-F38EF9E51663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14/109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7364725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1F3116B-A0F2-B6E7-D18D-2F1EA62B7639}"/>
              </a:ext>
            </a:extLst>
          </p:cNvPr>
          <p:cNvGraphicFramePr>
            <a:graphicFrameLocks noGrp="1"/>
          </p:cNvGraphicFramePr>
          <p:nvPr/>
        </p:nvGraphicFramePr>
        <p:xfrm>
          <a:off x="411031" y="1022031"/>
          <a:ext cx="11406500" cy="5426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06">
                  <a:extLst>
                    <a:ext uri="{9D8B030D-6E8A-4147-A177-3AD203B41FA5}">
                      <a16:colId xmlns:a16="http://schemas.microsoft.com/office/drawing/2014/main" val="2790025584"/>
                    </a:ext>
                  </a:extLst>
                </a:gridCol>
                <a:gridCol w="4005943">
                  <a:extLst>
                    <a:ext uri="{9D8B030D-6E8A-4147-A177-3AD203B41FA5}">
                      <a16:colId xmlns:a16="http://schemas.microsoft.com/office/drawing/2014/main" val="2078834508"/>
                    </a:ext>
                  </a:extLst>
                </a:gridCol>
                <a:gridCol w="6757851">
                  <a:extLst>
                    <a:ext uri="{9D8B030D-6E8A-4147-A177-3AD203B41FA5}">
                      <a16:colId xmlns:a16="http://schemas.microsoft.com/office/drawing/2014/main" val="3912432859"/>
                    </a:ext>
                  </a:extLst>
                </a:gridCol>
              </a:tblGrid>
              <a:tr h="31994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질문 사항</a:t>
                      </a:r>
                    </a:p>
                  </a:txBody>
                  <a:tcPr marL="72000" marR="360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답변</a:t>
                      </a:r>
                    </a:p>
                  </a:txBody>
                  <a:tcPr marL="72000" marR="360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581450"/>
                  </a:ext>
                </a:extLst>
              </a:tr>
              <a:tr h="492184">
                <a:tc rowSpan="10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2017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TV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동반성장운영위원회 조직도를 보니 내부 위원으로만 구성되어</a:t>
                      </a:r>
                      <a:endParaRPr lang="en-US" altLang="ko-KR" sz="105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있던데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외부인을 참여시킬 의향은 없는지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리스닝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투어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간담회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만족도 등 협력사 의견 청취 제도가 별도 있다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821608"/>
                  </a:ext>
                </a:extLst>
              </a:tr>
              <a:tr h="321994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1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동반성장협약 실사례를 제출 가능한지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제출 가능하다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128225"/>
                  </a:ext>
                </a:extLst>
              </a:tr>
              <a:tr h="74444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중소기업 편성비중 실적이 연도별로 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54%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이상이었는데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향후 계획은 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0.1%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씩 조금씩 올리기는 하지만 과거 실적 대비 낮은데 상향할 계획은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꼭 지킬 수 있는 최저 기준으로 계획을 수립하였다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174348"/>
                  </a:ext>
                </a:extLst>
              </a:tr>
              <a:tr h="51265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정액방송 편성비중 실적을 보면 계획 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10%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미만인 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8~9%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로 이행해</a:t>
                      </a:r>
                      <a:endParaRPr lang="en-US" altLang="ko-KR" sz="105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왔으니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향후 계획을 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10%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미만에서 더 낮출 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(8~9%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미만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의향은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재고소진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홍보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목적 등 협력사가 원하는 경우에 진행함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신상품 등 검증되지 않은 상품들은 진입하기 어려워 정액을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내고 진입하는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경우가 많고 향후에도 그렇게 원하는 협력사를 고려하여 일정 여유를 가지고 운영할 필요가 있다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072388"/>
                  </a:ext>
                </a:extLst>
              </a:tr>
              <a:tr h="49218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동반성장협약 체결이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382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개사라고 되어 있는데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 협력사 대비 작은데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점진적으로 전체 협력사로 확대할 계획은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자율 의사에 따라 협력사가 체결하고 있으며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협력사에게 제안할 수 있으나 체결을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강제화할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수는 없다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705196"/>
                  </a:ext>
                </a:extLst>
              </a:tr>
              <a:tr h="492184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해외 홈쇼핑에서 한국 상품 매출액 중 중소기업 상품이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차지하는 비율은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90%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이상을 중소기업 상품이 차지하고 있다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899845"/>
                  </a:ext>
                </a:extLst>
              </a:tr>
              <a:tr h="574258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중소기업 </a:t>
                      </a:r>
                      <a:r>
                        <a:rPr lang="ko-KR" altLang="en-US" sz="105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판매수수료율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인하계획이 구체적이지 않은데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구체적인 인하계획은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송출료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증가하고 판촉비가 증가됨에도 판매수수료는 계속 인하해 왔다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방송수익이 계속 감소하지만 올라가지 않도록 노력하겠다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182875"/>
                  </a:ext>
                </a:extLst>
              </a:tr>
              <a:tr h="492184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대기업과 중소기업간 판매수수료가 배송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설치 등을 대기업이 한다고</a:t>
                      </a:r>
                      <a:endParaRPr lang="en-US" altLang="ko-KR" sz="105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해도 격차가 심하다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격차 해소 방안은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동종상품군 내 대기업과 중소기업간 판매수수료 차별을 두고 있지 않는 내부 규정을 운영하고 있다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796461"/>
                  </a:ext>
                </a:extLst>
              </a:tr>
              <a:tr h="492184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창조경제혁신펀드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17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이후 지속 여부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무상 지원인지 대출인지 운영 방식은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지속 운영할 예정이며 지분 투자 방식으로 알고 있다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630379"/>
                  </a:ext>
                </a:extLst>
              </a:tr>
              <a:tr h="492184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혁신기업 투자 등에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4,596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억원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하겠다라고만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되었고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구체적인 계획은 적혀 있지 않은데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구체적인 계획은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디지털 방송 기술 분야의 혁신기업에 투자할 계획이다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26746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920E7BE-6AD5-A544-8E85-DE404DFABD8B}"/>
              </a:ext>
            </a:extLst>
          </p:cNvPr>
          <p:cNvSpPr txBox="1"/>
          <p:nvPr/>
        </p:nvSpPr>
        <p:spPr>
          <a:xfrm>
            <a:off x="411031" y="642912"/>
            <a:ext cx="5540634" cy="35375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▶</a:t>
            </a:r>
            <a:r>
              <a:rPr lang="en-US" altLang="ko-KR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 3</a:t>
            </a: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 동반성장</a:t>
            </a:r>
            <a:r>
              <a:rPr lang="en-US" altLang="ko-KR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중소기업 지원</a:t>
            </a:r>
            <a:r>
              <a:rPr lang="en-US" altLang="ko-KR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)</a:t>
            </a:r>
            <a:endParaRPr lang="en-US" altLang="ko-KR" sz="1300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33E301-6EE3-5A26-555C-508236E78E9C}"/>
              </a:ext>
            </a:extLst>
          </p:cNvPr>
          <p:cNvSpPr txBox="1"/>
          <p:nvPr/>
        </p:nvSpPr>
        <p:spPr>
          <a:xfrm>
            <a:off x="64746" y="70267"/>
            <a:ext cx="9572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과거 청문심사 질문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AD8A89-C7CF-361B-17DC-15B99DB0B57E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15/109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159465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079F8D9-3939-62CF-3FDB-47A72F99A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886967"/>
              </p:ext>
            </p:extLst>
          </p:nvPr>
        </p:nvGraphicFramePr>
        <p:xfrm>
          <a:off x="411030" y="955037"/>
          <a:ext cx="11409495" cy="5696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875">
                  <a:extLst>
                    <a:ext uri="{9D8B030D-6E8A-4147-A177-3AD203B41FA5}">
                      <a16:colId xmlns:a16="http://schemas.microsoft.com/office/drawing/2014/main" val="2068102353"/>
                    </a:ext>
                  </a:extLst>
                </a:gridCol>
                <a:gridCol w="4006995">
                  <a:extLst>
                    <a:ext uri="{9D8B030D-6E8A-4147-A177-3AD203B41FA5}">
                      <a16:colId xmlns:a16="http://schemas.microsoft.com/office/drawing/2014/main" val="3220277132"/>
                    </a:ext>
                  </a:extLst>
                </a:gridCol>
                <a:gridCol w="6759625">
                  <a:extLst>
                    <a:ext uri="{9D8B030D-6E8A-4147-A177-3AD203B41FA5}">
                      <a16:colId xmlns:a16="http://schemas.microsoft.com/office/drawing/2014/main" val="28264687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질문 사항</a:t>
                      </a:r>
                    </a:p>
                  </a:txBody>
                  <a:tcPr marL="72000" marR="360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답변</a:t>
                      </a:r>
                    </a:p>
                  </a:txBody>
                  <a:tcPr marL="72000" marR="360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448493"/>
                  </a:ext>
                </a:extLst>
              </a:tr>
              <a:tr h="0">
                <a:tc rowSpan="6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2021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</a:t>
                      </a: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인서트 영상 지원을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18·19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년만 하고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년에 하지 않은 이유는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구체적으로 확인이 필요한 사항이다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※ 19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년 일부 이월된 금액이 있었고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대중소기업농어업협력재단에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19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억원 출연했으나 잔액 발생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   20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년 코로나로 정부에서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억원 예산 책정하여 중소기유통센터 등에서 지원하게 되었음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많은 영세 중소기업이 지원 받고 와서 당사에서 추가 출연하지 않았으나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21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년에는 다시 출연 예정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024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지역 중기 편성 실적에 모바일 육성 실적을 포함한 이유는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물리적으로 시간이 없어서 관련 정보를 추출하지 못했지만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모바일 제품들은 영세한 규모로 수도권 대량 제조공장을 보유하고 있지 못하여 지역 중소기업 제품으로 명시함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1107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중기 </a:t>
                      </a:r>
                      <a:r>
                        <a:rPr lang="ko-KR" altLang="en-US" sz="105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판매수수료율이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년에 상승한 이유는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코로나로 인해 급격한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상품군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믹스 변화가 있었다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중소기업 위주로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배송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AS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등 홈쇼핑이 비용 발생이 많은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항목으로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일반적으로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판매수수료율이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높은 의류 수요가 증가하였고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중소기업 위주이면서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판매수수료율이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낮은 여행상품은 판매가 안되어 불가피하게 인상됨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0073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중기 </a:t>
                      </a:r>
                      <a:r>
                        <a:rPr lang="ko-KR" altLang="en-US" sz="105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판매수수료율을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(20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년 예외 제외 시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19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년 대비 향후 더 낮출 계획은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코로나가 종식되는 시점이 불투명하고 급격한 소비패턴 변화로 인해 향후 예측이 어렵다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그래서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년 실적 기반으로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향후 계획을 수립하였으며 물류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콜센터 등 원가 인하 활동을 통해 계획 대비 더 인하하도록 하겠음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2831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중기 편성을 더 높일 계획은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현재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70%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를 하고 있으며 고객의 다양한 수요를 감안하여 일부 대기업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수입 제품을 믹스해야 한다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또한 채널이 일정 고급스러운 이미지를 가지고 있어야 고객이 많이 찾아오고 중소기업 매출도 늘어나는 효과가 있다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23929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무료 판매방송을 통해 진입하는 신규 중소기업 수는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신규 중소기업 수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150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개가 모두 무료 판매 방송을 하는 것은 아니며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무료 판매 방송은 영세 중소기업 대상으로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지원하는 프로그램이다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구체적으로 몇 개라고 할 수 없지만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생산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Capa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에 맞추어 지원 예정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357127"/>
                  </a:ext>
                </a:extLst>
              </a:tr>
              <a:tr h="0">
                <a:tc rowSpan="6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2022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TV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중소기업 </a:t>
                      </a:r>
                      <a:r>
                        <a:rPr lang="ko-KR" altLang="en-US" sz="105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간 판매수수료율 격차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해소 방안은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가전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서비스군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수수료료율이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낮은데 주로 대기업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상품군이어서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낮은 것처럼 보임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상품군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내에서는 차이가 없음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11626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해외시장개척단 중단 이후 대체 지원 실적은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어려운 상황에서도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억원 내외 수출하고 해외기획전으로 대체 지원했으며 코로나 이후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재시작하겠다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82178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방송 협력사 수는 몇 개인가요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모바일에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1,500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개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방송에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500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개 정도 협력사가 있다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1477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중소기업 </a:t>
                      </a:r>
                      <a:r>
                        <a:rPr lang="ko-KR" altLang="en-US" sz="105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판매수수료율이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19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년에 높아진 이유는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정통부 기준 변경이 있었다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5796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타사는 </a:t>
                      </a:r>
                      <a:r>
                        <a:rPr lang="ko-KR" altLang="en-US" sz="105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판매수수료율이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30%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수준인데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GS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는 왜 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35.4%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이고 </a:t>
                      </a:r>
                      <a:endParaRPr lang="en-US" altLang="ko-KR" sz="105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향후 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35.9%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로 올리는가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시장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경쟁 환경 변화로 고객 구매가 일부 온라인 채널로 이동하면서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당사는 패션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이미용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헬스케어 등 설명이 필요한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상품군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중심으로 판매 구조가 변화함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이는 고수익 추구 목적이 아니라 고객 선호에 따른 결과이며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해당 상품군은 방송 설명 효과가 커 홈쇼핑에 적합해 단위 프로그램당 매출이 증가함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다만 패션 상품은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반품률이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약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40%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로 높아 배송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수거비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및 재고 부담이 크고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중소기업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직매입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비중도 높아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비용 구조상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2021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년 기준 적자 카테고리에 해당함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59078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정액방송 계획을 높여서 제출한 이유는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코로나 이전 대비 여행상품 중기 수요와 고객 트렌드가 서비스 상품 수요 높아질 것으로 예상되어 이러한 수요를 감안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99998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98D9240-A9A7-A336-ED3A-52E896DD17F7}"/>
              </a:ext>
            </a:extLst>
          </p:cNvPr>
          <p:cNvSpPr txBox="1"/>
          <p:nvPr/>
        </p:nvSpPr>
        <p:spPr>
          <a:xfrm>
            <a:off x="411031" y="581949"/>
            <a:ext cx="5540634" cy="35375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▶ </a:t>
            </a:r>
            <a:r>
              <a:rPr lang="en-US" altLang="ko-KR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3</a:t>
            </a: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 동반성장</a:t>
            </a:r>
            <a:r>
              <a:rPr lang="en-US" altLang="ko-KR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중소기업 지원</a:t>
            </a:r>
            <a:r>
              <a:rPr lang="en-US" altLang="ko-KR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)</a:t>
            </a:r>
            <a:endParaRPr lang="en-US" altLang="ko-KR" sz="1300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55BDBC-9EA0-A0A0-68C5-2BC096F34728}"/>
              </a:ext>
            </a:extLst>
          </p:cNvPr>
          <p:cNvSpPr txBox="1"/>
          <p:nvPr/>
        </p:nvSpPr>
        <p:spPr>
          <a:xfrm>
            <a:off x="64746" y="70267"/>
            <a:ext cx="9572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과거 청문심사 질문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9686C9-FD3C-F4C3-362D-8BA90EF182E9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16/109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288403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A23E0-4F5C-79DD-8CC0-75F6A284F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C013999-9D84-AB46-6C3A-814AF872A7B8}"/>
              </a:ext>
            </a:extLst>
          </p:cNvPr>
          <p:cNvGraphicFramePr>
            <a:graphicFrameLocks noGrp="1"/>
          </p:cNvGraphicFramePr>
          <p:nvPr/>
        </p:nvGraphicFramePr>
        <p:xfrm>
          <a:off x="411030" y="1015999"/>
          <a:ext cx="11409495" cy="36036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875">
                  <a:extLst>
                    <a:ext uri="{9D8B030D-6E8A-4147-A177-3AD203B41FA5}">
                      <a16:colId xmlns:a16="http://schemas.microsoft.com/office/drawing/2014/main" val="2068102353"/>
                    </a:ext>
                  </a:extLst>
                </a:gridCol>
                <a:gridCol w="4006995">
                  <a:extLst>
                    <a:ext uri="{9D8B030D-6E8A-4147-A177-3AD203B41FA5}">
                      <a16:colId xmlns:a16="http://schemas.microsoft.com/office/drawing/2014/main" val="3220277132"/>
                    </a:ext>
                  </a:extLst>
                </a:gridCol>
                <a:gridCol w="6759625">
                  <a:extLst>
                    <a:ext uri="{9D8B030D-6E8A-4147-A177-3AD203B41FA5}">
                      <a16:colId xmlns:a16="http://schemas.microsoft.com/office/drawing/2014/main" val="2826468799"/>
                    </a:ext>
                  </a:extLst>
                </a:gridCol>
              </a:tblGrid>
              <a:tr h="28892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질문 사항</a:t>
                      </a:r>
                    </a:p>
                  </a:txBody>
                  <a:tcPr marL="72000" marR="360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답변</a:t>
                      </a:r>
                    </a:p>
                  </a:txBody>
                  <a:tcPr marL="72000" marR="360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448493"/>
                  </a:ext>
                </a:extLst>
              </a:tr>
              <a:tr h="1221271">
                <a:tc rowSpan="5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2024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</a:t>
                      </a:r>
                      <a:endParaRPr lang="ko-KR" altLang="en-US" sz="10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동반성장 운영 방향은</a:t>
                      </a:r>
                      <a:r>
                        <a:rPr lang="en-US" altLang="ko-KR" sz="105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신규 영세 중소기업은 자금력이 약하고 홈쇼핑방송에 맞는지 경험도 없기에 매일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시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분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~6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시까지 판매수수료 없는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무료 판매 방송을 통해 판매수수료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부담없이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홈쇼핑방송에 맞는지를 테스트할 수 있도록 지원 중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기존 중소기업을 위해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전체시간대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주시청시간대 중소기업 제품 우대 편성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육성 패키지 운영하여 제품은 우수하나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브랜드 인지도가 낮은 경우가 많아서 당사가 가지고 있는 마케팅 경험과 다양한 채널을 활용하여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숏폼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광고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라이브커머스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채널 등을 통해 브랜드 인지도를 높이는데 주력할 계획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1768335"/>
                  </a:ext>
                </a:extLst>
              </a:tr>
              <a:tr h="526894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위메프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사태 등 이슈가 많은데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대금지급기일 계속 당길 수 있을지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무이자 자금지원 실적이 있는지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금번 추석에도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일 정도 당겨서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1900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억원 정도 대금을 조기 정산할 예정이며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산지애사과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억원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오트리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억원 수매자금 무이자 자금지원을 했으며 앞으로도 계속 지원할 예정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719312"/>
                  </a:ext>
                </a:extLst>
              </a:tr>
              <a:tr h="69228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무료 판매방송이 새벽 시간대인데 지원 효과는 충분한가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매일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시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분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~6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시에 제공하고 있으며 영세 중소기업이기에 생산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Capa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를 고려할 때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소규모로 생산하여 판매하는 것이 오히려 맞춤형으로 제공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697324"/>
                  </a:ext>
                </a:extLst>
              </a:tr>
              <a:tr h="53007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송출수수료 증가 상황에서 판매수수료 인하를 위한 비용 </a:t>
                      </a:r>
                      <a:endParaRPr lang="en-US" altLang="ko-KR" sz="105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효율화 방안은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방송시설 투자를 통해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방송세트제작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등 일회성으로 지출되는 경비는 최소화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819868"/>
                  </a:ext>
                </a:extLst>
              </a:tr>
              <a:tr h="344173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정액방송 위험성 고지 누락 가능성은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계약시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시스템적으로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강제화하여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그러한 경우는 없으며 실제 방송계약시 정액방송신청서를 수취하고 진행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43852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272E04F-6E28-6B1D-08EB-043F5E6E42FF}"/>
              </a:ext>
            </a:extLst>
          </p:cNvPr>
          <p:cNvSpPr txBox="1"/>
          <p:nvPr/>
        </p:nvSpPr>
        <p:spPr>
          <a:xfrm>
            <a:off x="411031" y="642912"/>
            <a:ext cx="5540634" cy="35375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▶ </a:t>
            </a:r>
            <a:r>
              <a:rPr lang="en-US" altLang="ko-KR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3</a:t>
            </a: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 동반성장</a:t>
            </a:r>
            <a:r>
              <a:rPr lang="en-US" altLang="ko-KR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중소기업 지원</a:t>
            </a:r>
            <a:r>
              <a:rPr lang="en-US" altLang="ko-KR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)</a:t>
            </a:r>
            <a:endParaRPr lang="en-US" altLang="ko-KR" sz="1300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3D7900-4B0C-E373-B9C8-ADEA79FF9C48}"/>
              </a:ext>
            </a:extLst>
          </p:cNvPr>
          <p:cNvSpPr txBox="1"/>
          <p:nvPr/>
        </p:nvSpPr>
        <p:spPr>
          <a:xfrm>
            <a:off x="64746" y="70267"/>
            <a:ext cx="9572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과거 청문심사 질문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C69439-04FC-C4B6-A4FA-897FB38A748D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17/109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42033671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036157-833E-D80B-C951-CBD016AC0499}"/>
              </a:ext>
            </a:extLst>
          </p:cNvPr>
          <p:cNvSpPr txBox="1"/>
          <p:nvPr/>
        </p:nvSpPr>
        <p:spPr>
          <a:xfrm>
            <a:off x="411031" y="662249"/>
            <a:ext cx="5540634" cy="35375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▶ </a:t>
            </a:r>
            <a:r>
              <a:rPr lang="en-US" altLang="ko-KR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4</a:t>
            </a: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 방송제작</a:t>
            </a:r>
            <a:r>
              <a:rPr lang="en-US" altLang="ko-KR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편성</a:t>
            </a:r>
            <a:endParaRPr lang="en-US" altLang="ko-KR" sz="1300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+mn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DBA1F70-E05C-C4F2-337E-4C1C4E3AB5E4}"/>
              </a:ext>
            </a:extLst>
          </p:cNvPr>
          <p:cNvGraphicFramePr>
            <a:graphicFrameLocks noGrp="1"/>
          </p:cNvGraphicFramePr>
          <p:nvPr/>
        </p:nvGraphicFramePr>
        <p:xfrm>
          <a:off x="411030" y="1025712"/>
          <a:ext cx="11409495" cy="5336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875">
                  <a:extLst>
                    <a:ext uri="{9D8B030D-6E8A-4147-A177-3AD203B41FA5}">
                      <a16:colId xmlns:a16="http://schemas.microsoft.com/office/drawing/2014/main" val="2068102353"/>
                    </a:ext>
                  </a:extLst>
                </a:gridCol>
                <a:gridCol w="4006995">
                  <a:extLst>
                    <a:ext uri="{9D8B030D-6E8A-4147-A177-3AD203B41FA5}">
                      <a16:colId xmlns:a16="http://schemas.microsoft.com/office/drawing/2014/main" val="3220277132"/>
                    </a:ext>
                  </a:extLst>
                </a:gridCol>
                <a:gridCol w="6759625">
                  <a:extLst>
                    <a:ext uri="{9D8B030D-6E8A-4147-A177-3AD203B41FA5}">
                      <a16:colId xmlns:a16="http://schemas.microsoft.com/office/drawing/2014/main" val="2826468799"/>
                    </a:ext>
                  </a:extLst>
                </a:gridCol>
              </a:tblGrid>
              <a:tr h="31436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질문 사항</a:t>
                      </a:r>
                    </a:p>
                  </a:txBody>
                  <a:tcPr marL="72000" marR="360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답변</a:t>
                      </a:r>
                    </a:p>
                  </a:txBody>
                  <a:tcPr marL="72000" marR="360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448493"/>
                  </a:ext>
                </a:extLst>
              </a:tr>
              <a:tr h="454591">
                <a:tc rowSpan="6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2017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TV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시청자 평가 프로그램에 외부 전문가가 참여하고 있는데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전문가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pool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을 가지고 있나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임기가 있어 주기적으로 교체 하는지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전문가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pool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은 없으며 임기도 없습니다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체계적으로 운영하도록 하겠다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02403"/>
                  </a:ext>
                </a:extLst>
              </a:tr>
              <a:tr h="45459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시청자 평가 프로그램을 저녁 시간대 등 </a:t>
                      </a:r>
                      <a:r>
                        <a:rPr lang="ko-KR" altLang="en-US" sz="105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프라임시간대로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05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편성할 계획은 없는지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금요일 오후 시간대에서 시청률이 높은 일요일 오후 시간대로 편성하여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프라임시간대에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편성 중이다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110752"/>
                  </a:ext>
                </a:extLst>
              </a:tr>
              <a:tr h="297399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2012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년 장애인 방송 실적이 없던데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그 이유는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2012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년에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안했었던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같은데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…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실무적으로 확인이 필요하다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007317"/>
                  </a:ext>
                </a:extLst>
              </a:tr>
              <a:tr h="45459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시청자 정보 프로그램이 주로 새벽 시간대인데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시청자에게 정보를 </a:t>
                      </a:r>
                      <a:endParaRPr lang="en-US" altLang="ko-KR" sz="105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주는 프로그램인데 시청률이 높은 </a:t>
                      </a:r>
                      <a:r>
                        <a:rPr lang="ko-KR" altLang="en-US" sz="105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프라임시간대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편성 의향은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좋은 의견이라 생각하고 검토해 보겠다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283146"/>
                  </a:ext>
                </a:extLst>
              </a:tr>
              <a:tr h="45459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비상업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공익광고가 실적 대비 계획이 보수적으로 구간으로 되어</a:t>
                      </a:r>
                      <a:endParaRPr lang="en-US" altLang="ko-KR" sz="105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있는데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더 상향할 계획은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프로그램 사이 사이에 수시로 공익광고를 편성하기에 구간으로 향후 계획을 수립했다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239290"/>
                  </a:ext>
                </a:extLst>
              </a:tr>
              <a:tr h="45459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프로그램 제작비 투자가 경쟁사 대비 저조한데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좀 더 투자해야 하지 않나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방송준비팀을 운영하여 외부 프로덕션에 외주 제작을 주는 것이 줄어서 제작비가 줄었다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357127"/>
                  </a:ext>
                </a:extLst>
              </a:tr>
              <a:tr h="49927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2021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</a:t>
                      </a: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장애인을 위한 화면해설을 </a:t>
                      </a:r>
                      <a:r>
                        <a:rPr lang="ko-KR" altLang="en-US" sz="105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옴부즈만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프로그램에도 확대할 의향은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적극적으로 관련 내용을 검토해 보겠다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116268"/>
                  </a:ext>
                </a:extLst>
              </a:tr>
              <a:tr h="297399"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2022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TV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19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본방송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비율이 낮아진 이유는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시부터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시까지만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녹화방송인데 그 해 특별한 이벤트가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있었던것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같다 확인해 보겠다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821788"/>
                  </a:ext>
                </a:extLst>
              </a:tr>
              <a:tr h="530397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제작비 계획이 적은 것 아닌가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인력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시설 투자 많이 해왔고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방송세트 등을 디지털로 전환하는 등 디지털 영상 제작 방식으로 전환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셀럽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보다 전문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쇼핑호스트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육성하겠다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147780"/>
                  </a:ext>
                </a:extLst>
              </a:tr>
              <a:tr h="297399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명품 등 고가 상품 편성 증가에 대한 차별화 방안은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차별화된 서비스와 새로운 상품들로 구성하겠다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명품 편성은 당사는 거의 안하고 있다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579603"/>
                  </a:ext>
                </a:extLst>
              </a:tr>
              <a:tr h="297399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고령화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·AI·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출산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문화예술 상품 편성 확대 계획은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주고객층이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대 여성이라 많이 늘리기 어려운 상황이다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590783"/>
                  </a:ext>
                </a:extLst>
              </a:tr>
              <a:tr h="53039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2024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</a:t>
                      </a: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시청자평가프로그램은 언제 편성되는가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시청자평가프로그램은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00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시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40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분에 편성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중소기업 제품 편성이 당사의 주요 공익적 책무라고 생각하고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중소기업 제품을 주요 시간대에 편성하고 있으며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그 외에 생활정보 등 정보 프로그램을 운영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99998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60138E4-0A2E-F65B-36AE-6014D9ECB790}"/>
              </a:ext>
            </a:extLst>
          </p:cNvPr>
          <p:cNvSpPr txBox="1"/>
          <p:nvPr/>
        </p:nvSpPr>
        <p:spPr>
          <a:xfrm>
            <a:off x="64746" y="70267"/>
            <a:ext cx="9572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과거 청문심사 질문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0B6A46-1F49-0B96-27FF-76741FD56884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18/109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9904636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0AA87-D4D6-F291-D411-896253DAA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377103-B161-F350-2070-95CAB507105D}"/>
              </a:ext>
            </a:extLst>
          </p:cNvPr>
          <p:cNvSpPr txBox="1"/>
          <p:nvPr/>
        </p:nvSpPr>
        <p:spPr>
          <a:xfrm>
            <a:off x="411031" y="642912"/>
            <a:ext cx="5540634" cy="35375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▶ </a:t>
            </a:r>
            <a:r>
              <a:rPr lang="en-US" altLang="ko-KR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5</a:t>
            </a: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 경영투명성</a:t>
            </a:r>
            <a:endParaRPr lang="en-US" altLang="ko-KR" sz="1300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+mn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13571A6-954B-643C-12DF-B2C363986E8F}"/>
              </a:ext>
            </a:extLst>
          </p:cNvPr>
          <p:cNvGraphicFramePr>
            <a:graphicFrameLocks noGrp="1"/>
          </p:cNvGraphicFramePr>
          <p:nvPr/>
        </p:nvGraphicFramePr>
        <p:xfrm>
          <a:off x="411030" y="1006375"/>
          <a:ext cx="11409495" cy="30226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875">
                  <a:extLst>
                    <a:ext uri="{9D8B030D-6E8A-4147-A177-3AD203B41FA5}">
                      <a16:colId xmlns:a16="http://schemas.microsoft.com/office/drawing/2014/main" val="2068102353"/>
                    </a:ext>
                  </a:extLst>
                </a:gridCol>
                <a:gridCol w="4006995">
                  <a:extLst>
                    <a:ext uri="{9D8B030D-6E8A-4147-A177-3AD203B41FA5}">
                      <a16:colId xmlns:a16="http://schemas.microsoft.com/office/drawing/2014/main" val="3220277132"/>
                    </a:ext>
                  </a:extLst>
                </a:gridCol>
                <a:gridCol w="6759625">
                  <a:extLst>
                    <a:ext uri="{9D8B030D-6E8A-4147-A177-3AD203B41FA5}">
                      <a16:colId xmlns:a16="http://schemas.microsoft.com/office/drawing/2014/main" val="2826468799"/>
                    </a:ext>
                  </a:extLst>
                </a:gridCol>
              </a:tblGrid>
              <a:tr h="29361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질문 사항</a:t>
                      </a:r>
                    </a:p>
                  </a:txBody>
                  <a:tcPr marL="72000" marR="360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답변</a:t>
                      </a:r>
                    </a:p>
                  </a:txBody>
                  <a:tcPr marL="72000" marR="360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448493"/>
                  </a:ext>
                </a:extLst>
              </a:tr>
              <a:tr h="601225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2017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TV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내부회계점검제도가 중요한데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현재 연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회에서 더 늘릴 계획은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타사들은 형식적으로 생각하나 우리 이사회에서는 중요하게 생각하고 작년에 점검 제도를 전반적으로 점검하여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내실 있게 운영 중이다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02403"/>
                  </a:ext>
                </a:extLst>
              </a:tr>
              <a:tr h="51529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사외이사추천위원회 구성이 대표이사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사외이사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인으로 되어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있는데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전원 외부 인사로 구성해야 객관성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공정성이 담보되지 않나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사외이사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인이 있어서 충분히 견제가 가능하다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110752"/>
                  </a:ext>
                </a:extLst>
              </a:tr>
              <a:tr h="601225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해외 자회사 투자가 늘어나면서 경영 투명성 부분이 중요한데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투명성 확보 계획은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감사계획은 없는지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합작회사 이사회에서 감사 등을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콘트롤하게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되어 있고 합작 시 경영 투명성은 중요하게 생각하며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합작회사와의 계약서 안에 내용이 있다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178245"/>
                  </a:ext>
                </a:extLst>
              </a:tr>
              <a:tr h="337114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2022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TV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ESG A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등급 평가 기관은 어디인가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한국기업지배구조원이다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283146"/>
                  </a:ext>
                </a:extLst>
              </a:tr>
              <a:tr h="33711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ESG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방향은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친환경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사회공헌 등 관심이 많고 전사적으로 노력할 예정이다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239290"/>
                  </a:ext>
                </a:extLst>
              </a:tr>
              <a:tr h="337114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협력사 관점의 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ESG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방안은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친환경 등 설비 지원을 늘려왔고 지속 지원하고 협력사도 관심 갖도록 컨설팅 지원하고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입점시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평가하겠다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35712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F93B132-6BFB-8ECA-97DA-FD6206B0BABB}"/>
              </a:ext>
            </a:extLst>
          </p:cNvPr>
          <p:cNvSpPr txBox="1"/>
          <p:nvPr/>
        </p:nvSpPr>
        <p:spPr>
          <a:xfrm>
            <a:off x="411031" y="4186664"/>
            <a:ext cx="5540634" cy="35375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▶ </a:t>
            </a:r>
            <a:r>
              <a:rPr lang="en-US" altLang="ko-KR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5</a:t>
            </a: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 인력</a:t>
            </a:r>
            <a:r>
              <a:rPr lang="en-US" altLang="ko-KR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교육</a:t>
            </a:r>
            <a:endParaRPr lang="en-US" altLang="ko-KR" sz="1300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+mn-ea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7EA949C-D5C8-9060-A4E3-61EEF7C31BF1}"/>
              </a:ext>
            </a:extLst>
          </p:cNvPr>
          <p:cNvGraphicFramePr>
            <a:graphicFrameLocks noGrp="1"/>
          </p:cNvGraphicFramePr>
          <p:nvPr/>
        </p:nvGraphicFramePr>
        <p:xfrm>
          <a:off x="411030" y="4550128"/>
          <a:ext cx="11409495" cy="1957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875">
                  <a:extLst>
                    <a:ext uri="{9D8B030D-6E8A-4147-A177-3AD203B41FA5}">
                      <a16:colId xmlns:a16="http://schemas.microsoft.com/office/drawing/2014/main" val="2068102353"/>
                    </a:ext>
                  </a:extLst>
                </a:gridCol>
                <a:gridCol w="4006995">
                  <a:extLst>
                    <a:ext uri="{9D8B030D-6E8A-4147-A177-3AD203B41FA5}">
                      <a16:colId xmlns:a16="http://schemas.microsoft.com/office/drawing/2014/main" val="3220277132"/>
                    </a:ext>
                  </a:extLst>
                </a:gridCol>
                <a:gridCol w="6759625">
                  <a:extLst>
                    <a:ext uri="{9D8B030D-6E8A-4147-A177-3AD203B41FA5}">
                      <a16:colId xmlns:a16="http://schemas.microsoft.com/office/drawing/2014/main" val="2826468799"/>
                    </a:ext>
                  </a:extLst>
                </a:gridCol>
              </a:tblGrid>
              <a:tr h="29809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질문 사항</a:t>
                      </a:r>
                    </a:p>
                  </a:txBody>
                  <a:tcPr marL="72000" marR="360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답변</a:t>
                      </a:r>
                    </a:p>
                  </a:txBody>
                  <a:tcPr marL="72000" marR="360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448493"/>
                  </a:ext>
                </a:extLst>
              </a:tr>
              <a:tr h="442159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2017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TV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공정거래 교육 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인당 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1.1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시간에서 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3.2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시간으로 실적이 늘어나긴</a:t>
                      </a:r>
                      <a:endParaRPr lang="en-US" altLang="ko-KR" sz="105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했지만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1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인당 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5~10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시간은 되어야 하지 않나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외부인이 교육하지 않고 대외협력팀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경영진단팀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컴플라이언스팀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등 내부 담당자가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내실있게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교육 중이다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239290"/>
                  </a:ext>
                </a:extLst>
              </a:tr>
              <a:tr h="442159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교육투자 예산이 매출액 대비 실적도 작고 향후 계획도 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0.25%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로 작다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외국 사례를 </a:t>
                      </a:r>
                      <a:r>
                        <a:rPr lang="ko-KR" altLang="en-US" sz="105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볼때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최소 매출액의 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0.5~1%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까지 필요하지 않나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샌프란시스코에 법인을 설립하여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300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여명 실리콘밸리 등을 답사하고 배우는 등 내실 있게 운영 중이다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357127"/>
                  </a:ext>
                </a:extLst>
              </a:tr>
              <a:tr h="28926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방송 제작 인력이 계획보다 실적이 많이 떨어졌는데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그 이유는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쇼핑호스트가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프리랜서로 전환되면서 방송 제작 인력이 줄었다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564128"/>
                  </a:ext>
                </a:extLst>
              </a:tr>
              <a:tr h="4856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2022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TV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17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년부터 인력 계획 대비 실적은 미달했는데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많이 충원했는데 사업구조변화와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이커머스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성장에 따른 이탈이 있었다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필요인력은 더 충원할 생각이다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65194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C1C065D-BE58-2A05-C5EF-378D800B629F}"/>
              </a:ext>
            </a:extLst>
          </p:cNvPr>
          <p:cNvSpPr txBox="1"/>
          <p:nvPr/>
        </p:nvSpPr>
        <p:spPr>
          <a:xfrm>
            <a:off x="64746" y="70267"/>
            <a:ext cx="9572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과거 청문심사 질문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C3DCEB-858D-2FF1-B187-B23DD5FA03F4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19/109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8596882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A218E-FACE-A4DF-D104-37162DF5D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EC62D-3F0C-90C2-FEBD-00A011DA8304}"/>
              </a:ext>
            </a:extLst>
          </p:cNvPr>
          <p:cNvSpPr txBox="1"/>
          <p:nvPr/>
        </p:nvSpPr>
        <p:spPr>
          <a:xfrm>
            <a:off x="411031" y="642912"/>
            <a:ext cx="5540634" cy="35375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▶ </a:t>
            </a:r>
            <a:r>
              <a:rPr lang="en-US" altLang="ko-KR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6</a:t>
            </a: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 재무</a:t>
            </a:r>
            <a:endParaRPr lang="en-US" altLang="ko-KR" sz="1300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+mn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22A315E-57E2-87E3-9C5E-48C35681E300}"/>
              </a:ext>
            </a:extLst>
          </p:cNvPr>
          <p:cNvGraphicFramePr>
            <a:graphicFrameLocks noGrp="1"/>
          </p:cNvGraphicFramePr>
          <p:nvPr/>
        </p:nvGraphicFramePr>
        <p:xfrm>
          <a:off x="411030" y="1006375"/>
          <a:ext cx="11409495" cy="39180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875">
                  <a:extLst>
                    <a:ext uri="{9D8B030D-6E8A-4147-A177-3AD203B41FA5}">
                      <a16:colId xmlns:a16="http://schemas.microsoft.com/office/drawing/2014/main" val="2068102353"/>
                    </a:ext>
                  </a:extLst>
                </a:gridCol>
                <a:gridCol w="4006995">
                  <a:extLst>
                    <a:ext uri="{9D8B030D-6E8A-4147-A177-3AD203B41FA5}">
                      <a16:colId xmlns:a16="http://schemas.microsoft.com/office/drawing/2014/main" val="3220277132"/>
                    </a:ext>
                  </a:extLst>
                </a:gridCol>
                <a:gridCol w="6759625">
                  <a:extLst>
                    <a:ext uri="{9D8B030D-6E8A-4147-A177-3AD203B41FA5}">
                      <a16:colId xmlns:a16="http://schemas.microsoft.com/office/drawing/2014/main" val="2826468799"/>
                    </a:ext>
                  </a:extLst>
                </a:gridCol>
              </a:tblGrid>
              <a:tr h="29031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질문 사항</a:t>
                      </a:r>
                    </a:p>
                  </a:txBody>
                  <a:tcPr marL="72000" marR="360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답변</a:t>
                      </a:r>
                    </a:p>
                  </a:txBody>
                  <a:tcPr marL="72000" marR="360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448493"/>
                  </a:ext>
                </a:extLst>
              </a:tr>
              <a:tr h="489827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2017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TV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재무실적 중 </a:t>
                      </a:r>
                      <a:r>
                        <a:rPr lang="ko-KR" altLang="en-US" sz="1050" b="0" u="sng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방송매출액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감소되었는데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17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년은 증가한 것으로 추정하였습니다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갑자기 증가할 수 있는지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가능한 계획인지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년 패션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의류 매출 감소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직매입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감소 등에 의해 방송매출액이 감소하였지만 데이터홈쇼핑 활성화를 예상하고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직매입을 늘릴 계획이기에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매출액 증가가 가능할 것으로 예상한다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02403"/>
                  </a:ext>
                </a:extLst>
              </a:tr>
              <a:tr h="274652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재무실적 중 금융기관예치금</a:t>
                      </a:r>
                      <a:r>
                        <a:rPr lang="en-US" altLang="ko-KR" sz="1050" b="0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u="sng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현금과 현금성 자산</a:t>
                      </a:r>
                      <a:r>
                        <a:rPr lang="ko-KR" altLang="en-US" sz="1050" b="0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설명 요청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현금과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현금성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자산은 현금 보유 자산이며 금융기관예치금은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1~3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개월 단기 금융기관 예금이다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110752"/>
                  </a:ext>
                </a:extLst>
              </a:tr>
              <a:tr h="489827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2021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</a:t>
                      </a: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과거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년간 </a:t>
                      </a:r>
                      <a:r>
                        <a:rPr lang="ko-KR" altLang="en-US" sz="1050" b="0" u="sng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매출액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증가율이 타사 대비 낮은 이유는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모바일 매출이 좋지 못했다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현재 모바일과 데이터홈쇼핑에 적극적으로 투자와 서비스 개선 노력을 하고 있으며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향후 점차 개선될 것이다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178245"/>
                  </a:ext>
                </a:extLst>
              </a:tr>
              <a:tr h="259994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50" b="0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21</a:t>
                      </a:r>
                      <a:r>
                        <a:rPr lang="ko-KR" altLang="en-US" sz="1050" b="0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매출원가가 높은 이유는</a:t>
                      </a:r>
                      <a:r>
                        <a:rPr lang="en-US" altLang="ko-KR" sz="1050" b="0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1" hangingPunct="1"/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향후 중소기업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직매입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등을 늘릴 예정이기에 직매입에 대한 상품 매출원가가 증가하여 높아졌다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283146"/>
                  </a:ext>
                </a:extLst>
              </a:tr>
              <a:tr h="489827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2022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TV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홈쇼핑 </a:t>
                      </a:r>
                      <a:r>
                        <a:rPr lang="ko-KR" altLang="en-US" sz="1050" b="0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추정 </a:t>
                      </a:r>
                      <a:r>
                        <a:rPr lang="ko-KR" altLang="en-US" sz="1050" b="0" u="sng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영업이익</a:t>
                      </a:r>
                      <a:r>
                        <a:rPr lang="ko-KR" altLang="en-US" sz="1050" b="0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감소하는 이유는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경쟁 심화되고 비용이 증가되고 있어서 경영환경이 어렵다 현실적으로 추정했다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모바일 커머스 확대 예상되지만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경쟁 심해 이익 높지 않을 것으로 예상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239290"/>
                  </a:ext>
                </a:extLst>
              </a:tr>
              <a:tr h="274652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u="sng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현금성 자산</a:t>
                      </a:r>
                      <a:r>
                        <a:rPr lang="en-US" altLang="ko-KR" sz="1050" b="0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0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비유동자산 관련 질문 및 기말 현금을 고정한 이유는</a:t>
                      </a:r>
                      <a:r>
                        <a:rPr lang="en-US" altLang="ko-KR" sz="1050" b="0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CFO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답변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357127"/>
                  </a:ext>
                </a:extLst>
              </a:tr>
              <a:tr h="439307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2024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</a:t>
                      </a: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분할로 </a:t>
                      </a:r>
                      <a:r>
                        <a:rPr lang="ko-KR" altLang="en-US" sz="1050" b="0" u="sng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부채비율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 높아지는데 향후 관리 방안은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리스부채 등을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제외시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실제 부채비율은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58%,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분할이후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66%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수준으로 동종 업계 대비 매우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낮은편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최근 편의점 직영점 점포를 많이 늘렸으나 향후에는 편의점 직영점 확대가 둔화되면서 보증금 부채 등이 줄어들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것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116268"/>
                  </a:ext>
                </a:extLst>
              </a:tr>
              <a:tr h="48982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u="sng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영업이익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 크지 않은 상황에서 투자 재원은 충분한가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현금흐름은 매출이 조금씩 증가하여 현금유입이 늘어날 것으로 예상하고 비용 효율화를 통해 현금유출은 감소하여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투자 재원 마련 예정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821788"/>
                  </a:ext>
                </a:extLst>
              </a:tr>
              <a:tr h="419820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추정 재무제표에 모바일 </a:t>
                      </a:r>
                      <a:r>
                        <a:rPr lang="ko-KR" altLang="en-US" sz="1050" b="0" u="sng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매출액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 방송 매출액보다 큰데 모바일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사업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위주인것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아닌지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모바일 매출액은 방송상품의 모바일 주문이 포함된 것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1477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7A1554E-F8CA-6FC2-6688-2D9AFCE52D21}"/>
              </a:ext>
            </a:extLst>
          </p:cNvPr>
          <p:cNvSpPr txBox="1"/>
          <p:nvPr/>
        </p:nvSpPr>
        <p:spPr>
          <a:xfrm>
            <a:off x="411031" y="5102343"/>
            <a:ext cx="5540634" cy="35375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▶ </a:t>
            </a:r>
            <a:r>
              <a:rPr lang="en-US" altLang="ko-KR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6</a:t>
            </a: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 방송 시설</a:t>
            </a:r>
            <a:r>
              <a:rPr lang="en-US" altLang="ko-KR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기술</a:t>
            </a:r>
            <a:endParaRPr lang="en-US" altLang="ko-KR" sz="1300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+mn-ea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A661246-6631-7D76-1859-7248780EC584}"/>
              </a:ext>
            </a:extLst>
          </p:cNvPr>
          <p:cNvGraphicFramePr>
            <a:graphicFrameLocks noGrp="1"/>
          </p:cNvGraphicFramePr>
          <p:nvPr/>
        </p:nvGraphicFramePr>
        <p:xfrm>
          <a:off x="411030" y="5465805"/>
          <a:ext cx="11409495" cy="861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875">
                  <a:extLst>
                    <a:ext uri="{9D8B030D-6E8A-4147-A177-3AD203B41FA5}">
                      <a16:colId xmlns:a16="http://schemas.microsoft.com/office/drawing/2014/main" val="2068102353"/>
                    </a:ext>
                  </a:extLst>
                </a:gridCol>
                <a:gridCol w="4006995">
                  <a:extLst>
                    <a:ext uri="{9D8B030D-6E8A-4147-A177-3AD203B41FA5}">
                      <a16:colId xmlns:a16="http://schemas.microsoft.com/office/drawing/2014/main" val="3220277132"/>
                    </a:ext>
                  </a:extLst>
                </a:gridCol>
                <a:gridCol w="6759625">
                  <a:extLst>
                    <a:ext uri="{9D8B030D-6E8A-4147-A177-3AD203B41FA5}">
                      <a16:colId xmlns:a16="http://schemas.microsoft.com/office/drawing/2014/main" val="2826468799"/>
                    </a:ext>
                  </a:extLst>
                </a:gridCol>
              </a:tblGrid>
              <a:tr h="26824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질문 사항</a:t>
                      </a:r>
                    </a:p>
                  </a:txBody>
                  <a:tcPr marL="72000" marR="360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답변</a:t>
                      </a:r>
                    </a:p>
                  </a:txBody>
                  <a:tcPr marL="72000" marR="360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448493"/>
                  </a:ext>
                </a:extLst>
              </a:tr>
              <a:tr h="296503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2022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TV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송출 안정화에서 통신 장애 대응 방안은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주조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부조 정상 작동하지 않을 경우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비상송출운영시스템을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운영 중에 있다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239290"/>
                  </a:ext>
                </a:extLst>
              </a:tr>
              <a:tr h="296503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방송투자계획이 실적 대비 적은데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과거에도 계획 대비 많이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투자했었고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향후에도 계획 대비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초과집행할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것이다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UHD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전환 시 많이 투자할 것이다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35712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3656F76-9DBA-3DE1-40DE-2C486E757A0F}"/>
              </a:ext>
            </a:extLst>
          </p:cNvPr>
          <p:cNvSpPr txBox="1"/>
          <p:nvPr/>
        </p:nvSpPr>
        <p:spPr>
          <a:xfrm>
            <a:off x="64746" y="70267"/>
            <a:ext cx="9572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과거 청문심사 질문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1E3B44-1121-D5F6-EC53-1A9877DDB0FD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20/109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0224709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6C404-DEB2-B5DD-CCCD-2678E9036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03541E-12A8-F952-A217-82E39E905B95}"/>
              </a:ext>
            </a:extLst>
          </p:cNvPr>
          <p:cNvSpPr txBox="1"/>
          <p:nvPr/>
        </p:nvSpPr>
        <p:spPr>
          <a:xfrm>
            <a:off x="411031" y="642912"/>
            <a:ext cx="5540634" cy="35375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▶ </a:t>
            </a:r>
            <a:r>
              <a:rPr lang="en-US" altLang="ko-KR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7</a:t>
            </a: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 소비자</a:t>
            </a:r>
            <a:endParaRPr lang="en-US" altLang="ko-KR" sz="1300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+mn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581F43F-08BF-4372-BE67-852641BD6F27}"/>
              </a:ext>
            </a:extLst>
          </p:cNvPr>
          <p:cNvGraphicFramePr>
            <a:graphicFrameLocks noGrp="1"/>
          </p:cNvGraphicFramePr>
          <p:nvPr/>
        </p:nvGraphicFramePr>
        <p:xfrm>
          <a:off x="411030" y="1006374"/>
          <a:ext cx="11409495" cy="5584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875">
                  <a:extLst>
                    <a:ext uri="{9D8B030D-6E8A-4147-A177-3AD203B41FA5}">
                      <a16:colId xmlns:a16="http://schemas.microsoft.com/office/drawing/2014/main" val="2068102353"/>
                    </a:ext>
                  </a:extLst>
                </a:gridCol>
                <a:gridCol w="4006995">
                  <a:extLst>
                    <a:ext uri="{9D8B030D-6E8A-4147-A177-3AD203B41FA5}">
                      <a16:colId xmlns:a16="http://schemas.microsoft.com/office/drawing/2014/main" val="3220277132"/>
                    </a:ext>
                  </a:extLst>
                </a:gridCol>
                <a:gridCol w="6759625">
                  <a:extLst>
                    <a:ext uri="{9D8B030D-6E8A-4147-A177-3AD203B41FA5}">
                      <a16:colId xmlns:a16="http://schemas.microsoft.com/office/drawing/2014/main" val="2826468799"/>
                    </a:ext>
                  </a:extLst>
                </a:gridCol>
              </a:tblGrid>
              <a:tr h="28361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질문 사항</a:t>
                      </a:r>
                    </a:p>
                  </a:txBody>
                  <a:tcPr marL="72000" marR="360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답변</a:t>
                      </a:r>
                    </a:p>
                  </a:txBody>
                  <a:tcPr marL="72000" marR="360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448493"/>
                  </a:ext>
                </a:extLst>
              </a:tr>
              <a:tr h="478526">
                <a:tc rowSpan="5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2017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TV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품질불만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배송불만 비율이 계속 높은 비중을 차지하고 있는데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소비자 보호보다는 판매에만 주력하고 있는 것 아닌지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전체 건수는 감소했으며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패션 상품 비중 증가로 사이즈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소재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색상 관련 품질 불만이 주를 이루고 있으나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사이즈 표준화 및 상세 정보 제공으로 개선 중입니다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배송 불만은 주로 배송 시간 단축 문의가 대부분이다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02403"/>
                  </a:ext>
                </a:extLst>
              </a:tr>
              <a:tr h="4785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콜센터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고객서비스팀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물류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SCM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팀은 일반 업무 조직으로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 인원을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소비자보호 전담조직으로 표현하는 것 과도한 표현 아닌가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endParaRPr lang="ko-KR" altLang="en-US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고객 불만이 콜센터에 접수되면 고객서비스팀에서 총괄해서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달에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번 유관 부서들이 함께 모여서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불만 해소 방안을 마련하는 등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소비자 보호 업무를 하고 있다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492950"/>
                  </a:ext>
                </a:extLst>
              </a:tr>
              <a:tr h="4785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소비자보호실무위원회 역할은 정책 마련 기능인데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…staff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조직인데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왜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Line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조직에 표시한 이유는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VOC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회의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소비자보호위원회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를 통해 주간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월간으로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VOC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를 관리하고 있으며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고객과의 소통 강화를 위해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실무위원회를 만들었다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797077"/>
                  </a:ext>
                </a:extLst>
              </a:tr>
              <a:tr h="2683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건강기능식품 안전성 강화에서 원료 점검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제조사 점검의 실효성은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백수오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이후 원료까지 품질 검사를 하게 되었고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브라질까지 가서 직접 원료 품질에 대해 확인하고 있다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5250466"/>
                  </a:ext>
                </a:extLst>
              </a:tr>
              <a:tr h="4785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개인정보보호 관련 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H/W,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시스템 보호 장치 등이 있는데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실제 개인정보 관련 문제가 된 사례가 있는지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고객 정보 유출 같은 것은 없지만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가끔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어뷰징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남의 아이디로 접속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하는 경우가 있어서 중국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IP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접속 시 차단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다량 로그인 시 보안 문자입력 등 다양한 조치와 전문 기관 협력으로 개선하였다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640060"/>
                  </a:ext>
                </a:extLst>
              </a:tr>
              <a:tr h="478526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2021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</a:t>
                      </a: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소비자 불만 중 배송 불만이 높은데 개선 방향은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배송불만 중 배송지연이 주요 불만 내용이며 물류센터를 최근 오픈하여 인프라를 확대하였으며 물류 체계를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개편하여 빠른 배송 서비스 제공 예정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176899"/>
                  </a:ext>
                </a:extLst>
              </a:tr>
              <a:tr h="268315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CCM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협력사 확대가 협력사에 부담이 되지 않는지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원하는 협력사에 한하여 지원할 예정이며 공모를 통해 신청 받고 지원 예정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110752"/>
                  </a:ext>
                </a:extLst>
              </a:tr>
              <a:tr h="26831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소비자 불만은 어떻게 청취하고 있는지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고객이 접수하는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불만뿐만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아니라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카페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블로그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상품평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등 잠재 불만까지 확인하여 전사적으로 개선 노력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178245"/>
                  </a:ext>
                </a:extLst>
              </a:tr>
              <a:tr h="410133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2022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TV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고객 서비스 개선 노력은 있었으나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u="none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블랙컨슈머</a:t>
                      </a:r>
                      <a:r>
                        <a:rPr lang="ko-KR" altLang="en-US" sz="1050" b="0" u="none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대응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및 이용약관 외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 예방 절차는 다소 미흡해 보인다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지적하신대로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추가적인 대응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`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마련해 보겠다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283146"/>
                  </a:ext>
                </a:extLst>
              </a:tr>
              <a:tr h="41013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많은 방송사들이 정제되지 않은 </a:t>
                      </a:r>
                      <a:r>
                        <a:rPr lang="ko-KR" altLang="en-US" sz="1050" b="1" u="sng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게스트 발언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등이 문제되는데</a:t>
                      </a:r>
                      <a:endParaRPr lang="en-US" altLang="ko-KR" sz="105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5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GS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는 어떻게 대응하실 계획인지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일일리뷰하고 심의 등급을 부여하고 교육을 통해 관리하고 있으며 출연정지 조치가 가능하도록 되어 있다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239290"/>
                  </a:ext>
                </a:extLst>
              </a:tr>
              <a:tr h="47852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사업계획서에 신규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CX</a:t>
                      </a:r>
                      <a:r>
                        <a:rPr lang="ko-KR" altLang="en-US" sz="105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커미티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신설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AI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상담센터 등이 적시되어</a:t>
                      </a:r>
                      <a:endParaRPr lang="en-US" altLang="ko-KR" sz="105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있는데요 소비자를 위해 어떠한 노력을 하실 예정인가요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CI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사업부문을 통해 고객 서비스 혁신을 추진하고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기반 상담 고도화로 차별화된 고객 경험을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제공할 예정입니다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357127"/>
                  </a:ext>
                </a:extLst>
              </a:tr>
              <a:tr h="268315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2024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</a:t>
                      </a: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u="none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시니어 고객의 모바일</a:t>
                      </a:r>
                      <a:r>
                        <a:rPr lang="en-US" altLang="ko-KR" sz="1050" b="1" u="none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·AI </a:t>
                      </a:r>
                      <a:r>
                        <a:rPr lang="ko-KR" altLang="en-US" sz="1050" b="1" u="none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상담 전환 적합성은</a:t>
                      </a:r>
                      <a:r>
                        <a:rPr lang="en-US" altLang="ko-KR" sz="1050" b="1" u="none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단순 문의는 자동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모바일 채팅으로 대응 중이며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이용 추이를 고려해 상담 인력을 탄력적으로 조정할 예정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116268"/>
                  </a:ext>
                </a:extLst>
              </a:tr>
              <a:tr h="26831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u="none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모바일</a:t>
                      </a:r>
                      <a:r>
                        <a:rPr lang="en-US" altLang="ko-KR" sz="1050" b="1" u="none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·AI </a:t>
                      </a:r>
                      <a:r>
                        <a:rPr lang="ko-KR" altLang="en-US" sz="1050" b="1" u="none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상담센터 전환 시 장애인 상담사 유지 여부는</a:t>
                      </a:r>
                      <a:r>
                        <a:rPr lang="en-US" altLang="ko-KR" sz="1050" b="1" u="none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장애인 상담사 전용 서비스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등록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525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명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는 전환 이후에도 유지하여 불편 없이 이용 가능하도록 할 계획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821788"/>
                  </a:ext>
                </a:extLst>
              </a:tr>
              <a:tr h="268315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5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u="sng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심의 제재 없이 </a:t>
                      </a:r>
                      <a:r>
                        <a:rPr lang="ko-KR" altLang="en-US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차별화된 프로그램 운영 방안은</a:t>
                      </a:r>
                      <a:r>
                        <a:rPr lang="en-US" altLang="ko-KR" sz="105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전문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쇼핑호스트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육성 및 소통 강화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LED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스튜디오 등 시설 투자로 고품질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차별화 콘텐츠 제작 추진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14778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D42022D-E866-E04D-DE09-093FE9C824B1}"/>
              </a:ext>
            </a:extLst>
          </p:cNvPr>
          <p:cNvSpPr txBox="1"/>
          <p:nvPr/>
        </p:nvSpPr>
        <p:spPr>
          <a:xfrm>
            <a:off x="64746" y="70267"/>
            <a:ext cx="9572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과거 청문심사 질문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4555B7-2F1F-0755-582F-CB72CE24E97A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21/109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2712268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65A5B-96CF-1774-39B0-1DBFCC5B2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D1C2A4-62C3-ADF8-BD8B-0B4DA59DD78E}"/>
              </a:ext>
            </a:extLst>
          </p:cNvPr>
          <p:cNvSpPr txBox="1"/>
          <p:nvPr/>
        </p:nvSpPr>
        <p:spPr>
          <a:xfrm>
            <a:off x="411031" y="642912"/>
            <a:ext cx="5540634" cy="35375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▶ </a:t>
            </a:r>
            <a:r>
              <a:rPr lang="en-US" altLang="ko-KR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8</a:t>
            </a:r>
            <a:r>
              <a:rPr lang="ko-KR" altLang="en-US" sz="130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 방송발전</a:t>
            </a:r>
            <a:endParaRPr lang="en-US" altLang="ko-KR" sz="1300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+mn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ABEE39E-8252-B818-AE2B-E22F82C8DCA9}"/>
              </a:ext>
            </a:extLst>
          </p:cNvPr>
          <p:cNvGraphicFramePr>
            <a:graphicFrameLocks noGrp="1"/>
          </p:cNvGraphicFramePr>
          <p:nvPr/>
        </p:nvGraphicFramePr>
        <p:xfrm>
          <a:off x="411030" y="1006375"/>
          <a:ext cx="11409495" cy="2177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875">
                  <a:extLst>
                    <a:ext uri="{9D8B030D-6E8A-4147-A177-3AD203B41FA5}">
                      <a16:colId xmlns:a16="http://schemas.microsoft.com/office/drawing/2014/main" val="2068102353"/>
                    </a:ext>
                  </a:extLst>
                </a:gridCol>
                <a:gridCol w="3965770">
                  <a:extLst>
                    <a:ext uri="{9D8B030D-6E8A-4147-A177-3AD203B41FA5}">
                      <a16:colId xmlns:a16="http://schemas.microsoft.com/office/drawing/2014/main" val="3220277132"/>
                    </a:ext>
                  </a:extLst>
                </a:gridCol>
                <a:gridCol w="6800850">
                  <a:extLst>
                    <a:ext uri="{9D8B030D-6E8A-4147-A177-3AD203B41FA5}">
                      <a16:colId xmlns:a16="http://schemas.microsoft.com/office/drawing/2014/main" val="2826468799"/>
                    </a:ext>
                  </a:extLst>
                </a:gridCol>
              </a:tblGrid>
              <a:tr h="3461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질문 사항</a:t>
                      </a:r>
                    </a:p>
                  </a:txBody>
                  <a:tcPr marL="72000" marR="360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답변</a:t>
                      </a:r>
                    </a:p>
                  </a:txBody>
                  <a:tcPr marL="72000" marR="360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448493"/>
                  </a:ext>
                </a:extLst>
              </a:tr>
              <a:tr h="325544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2017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TV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방송산업발전지원 중 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2013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집행 실적이 낮은 이유는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2012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년에 </a:t>
                      </a:r>
                      <a:r>
                        <a:rPr lang="ko-KR" altLang="en-US" sz="1050" b="0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선집행하였다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02403"/>
                  </a:ext>
                </a:extLst>
              </a:tr>
              <a:tr h="10077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방송산업발전지원 향후 계획을 보면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인재육성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연구개발은 축소하고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콘텐츠 지원 금액을 늘렸는데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콘텐츠 지원 계획 내용을 보면 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중고 방송 장비 기증으로 되어 있어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전체적으로 지원 금액을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줄이면서 중고 방송 장비 기증으로 대체하려는 것 아닌지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중고 방송 장비 기증으로 대체하려는 것이 아니고 공공기관과 콘텐츠 지원 프로그램을 개발할 계획이다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492950"/>
                  </a:ext>
                </a:extLst>
              </a:tr>
              <a:tr h="4976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교수 해외 연구 지원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대학생 박람회 참관 등이 청탁금지법 위반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소지가 있다고 했는데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로펌 자문을 받았나</a:t>
                      </a:r>
                      <a:r>
                        <a:rPr lang="en-US" altLang="ko-KR" sz="105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kern="1200" spc="-50" baseline="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로펌 자문을 받은 결과 위반 소지가 있다고 한다</a:t>
                      </a:r>
                      <a:endParaRPr lang="en-US" altLang="ko-KR" sz="105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79707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4172870-F75A-F29B-6E05-876FD94B07F8}"/>
              </a:ext>
            </a:extLst>
          </p:cNvPr>
          <p:cNvSpPr txBox="1"/>
          <p:nvPr/>
        </p:nvSpPr>
        <p:spPr>
          <a:xfrm>
            <a:off x="64746" y="70267"/>
            <a:ext cx="9572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과거 청문심사 질문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34BAD-334D-CF00-C8B4-F95F39D8019D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22/109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5252720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9D5D1-51AB-3CA7-ADD4-CC333A309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335E79C-CF22-85E2-6C50-FCA2658CAE2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2EB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4000" b="1">
                <a:solidFill>
                  <a:schemeClr val="tx1"/>
                </a:solidFill>
                <a:latin typeface="+mn-ea"/>
              </a:rPr>
              <a:t>참고사항</a:t>
            </a:r>
            <a:endParaRPr lang="en-US" altLang="ko-KR" sz="35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862718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6E97CF-F9A0-E879-8E51-19CC0CACF0E4}"/>
              </a:ext>
            </a:extLst>
          </p:cNvPr>
          <p:cNvSpPr txBox="1"/>
          <p:nvPr/>
        </p:nvSpPr>
        <p:spPr>
          <a:xfrm>
            <a:off x="58942" y="71718"/>
            <a:ext cx="9572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데이터홈쇼핑 규제 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CAEA34-C87B-3152-FC98-E3189ECFC6DC}"/>
              </a:ext>
            </a:extLst>
          </p:cNvPr>
          <p:cNvSpPr txBox="1"/>
          <p:nvPr/>
        </p:nvSpPr>
        <p:spPr>
          <a:xfrm>
            <a:off x="180784" y="647746"/>
            <a:ext cx="10008245" cy="304754"/>
          </a:xfrm>
          <a:prstGeom prst="rect">
            <a:avLst/>
          </a:prstGeom>
          <a:noFill/>
        </p:spPr>
        <p:txBody>
          <a:bodyPr wrap="square" tIns="72000" rtlCol="0"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en-US" altLang="ko-KR" sz="1200" b="1" spc="-50">
                <a:latin typeface="+mn-ea"/>
              </a:rPr>
              <a:t>1. TV</a:t>
            </a:r>
            <a:r>
              <a:rPr lang="ko-KR" altLang="en-US" sz="1200" b="1" spc="-50">
                <a:latin typeface="+mn-ea"/>
              </a:rPr>
              <a:t>홈쇼핑과 화면 구분 </a:t>
            </a:r>
            <a:r>
              <a:rPr lang="en-US" altLang="ko-KR" sz="1200" b="1" spc="-50">
                <a:latin typeface="+mn-ea"/>
              </a:rPr>
              <a:t>: </a:t>
            </a:r>
            <a:r>
              <a:rPr lang="ko-KR" altLang="en-US" sz="1200" b="1" spc="-50">
                <a:latin typeface="+mn-ea"/>
              </a:rPr>
              <a:t>재승인조건</a:t>
            </a:r>
            <a:r>
              <a:rPr lang="en-US" altLang="ko-KR" sz="1200" b="1" spc="-50">
                <a:latin typeface="+mn-ea"/>
              </a:rPr>
              <a:t>  </a:t>
            </a:r>
            <a:r>
              <a:rPr lang="ko-KR" altLang="en-US" sz="1200" b="1" spc="-50" dirty="0">
                <a:latin typeface="+mn-ea"/>
              </a:rPr>
              <a:t>「데이터홈쇼핑 개념 및 범위에 관한 법적 적용 기준</a:t>
            </a:r>
            <a:r>
              <a:rPr lang="en-US" altLang="ko-KR" sz="1200" b="1" spc="-50" dirty="0">
                <a:latin typeface="+mn-ea"/>
              </a:rPr>
              <a:t>(guideline</a:t>
            </a:r>
            <a:r>
              <a:rPr lang="en-US" altLang="ko-KR" sz="1200" b="1" spc="-50">
                <a:latin typeface="+mn-ea"/>
              </a:rPr>
              <a:t>)</a:t>
            </a:r>
            <a:r>
              <a:rPr lang="ko-KR" altLang="en-US" sz="1200" b="1" spc="-50">
                <a:latin typeface="+mn-ea"/>
              </a:rPr>
              <a:t>」 준수 부과 </a:t>
            </a:r>
            <a:endParaRPr lang="en-US" altLang="ko-KR" sz="1200" b="1" spc="-50" dirty="0">
              <a:latin typeface="+mn-ea"/>
            </a:endParaRPr>
          </a:p>
        </p:txBody>
      </p:sp>
      <p:pic>
        <p:nvPicPr>
          <p:cNvPr id="5" name="그림 4" descr="의류, 텍스트, 스크린샷, 코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BAA2A3-7630-4DAB-0872-3FB9315FC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714" y="1035469"/>
            <a:ext cx="4988478" cy="2796704"/>
          </a:xfrm>
          <a:prstGeom prst="rect">
            <a:avLst/>
          </a:prstGeom>
        </p:spPr>
      </p:pic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185AE162-16C4-5C2A-AFF3-C6F231331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719167"/>
              </p:ext>
            </p:extLst>
          </p:nvPr>
        </p:nvGraphicFramePr>
        <p:xfrm>
          <a:off x="449002" y="1035467"/>
          <a:ext cx="4988478" cy="2762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787">
                  <a:extLst>
                    <a:ext uri="{9D8B030D-6E8A-4147-A177-3AD203B41FA5}">
                      <a16:colId xmlns:a16="http://schemas.microsoft.com/office/drawing/2014/main" val="645506538"/>
                    </a:ext>
                  </a:extLst>
                </a:gridCol>
                <a:gridCol w="1290691">
                  <a:extLst>
                    <a:ext uri="{9D8B030D-6E8A-4147-A177-3AD203B41FA5}">
                      <a16:colId xmlns:a16="http://schemas.microsoft.com/office/drawing/2014/main" val="2693775867"/>
                    </a:ext>
                  </a:extLst>
                </a:gridCol>
              </a:tblGrid>
              <a:tr h="385351">
                <a:tc>
                  <a:txBody>
                    <a:bodyPr/>
                    <a:lstStyle/>
                    <a:p>
                      <a:pPr latinLnBrk="1"/>
                      <a:endParaRPr lang="en-US" altLang="ko-KR" sz="1500" dirty="0"/>
                    </a:p>
                  </a:txBody>
                  <a:tcPr>
                    <a:lnL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278553"/>
                  </a:ext>
                </a:extLst>
              </a:tr>
              <a:tr h="1911939"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ko-KR" altLang="en-US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505543"/>
                  </a:ext>
                </a:extLst>
              </a:tr>
              <a:tr h="357622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65618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678EDBF-267D-A812-AEA6-5956FB7DC309}"/>
              </a:ext>
            </a:extLst>
          </p:cNvPr>
          <p:cNvSpPr txBox="1"/>
          <p:nvPr/>
        </p:nvSpPr>
        <p:spPr>
          <a:xfrm>
            <a:off x="6271238" y="2552723"/>
            <a:ext cx="4988478" cy="807529"/>
          </a:xfrm>
          <a:prstGeom prst="rect">
            <a:avLst/>
          </a:prstGeom>
          <a:solidFill>
            <a:srgbClr val="B8D4F0"/>
          </a:solidFill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&lt;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데이터영역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rgbClr val="0000FF"/>
                </a:solidFill>
                <a:latin typeface="+mj-lt"/>
              </a:rPr>
              <a:t>①</a:t>
            </a:r>
            <a:r>
              <a:rPr lang="en-US" altLang="ko-KR" sz="1100" b="1" dirty="0">
                <a:solidFill>
                  <a:srgbClr val="0000FF"/>
                </a:solidFill>
                <a:latin typeface="+mj-lt"/>
              </a:rPr>
              <a:t> </a:t>
            </a:r>
            <a:r>
              <a:rPr lang="ko-KR" altLang="en-US" sz="1100" b="1" dirty="0">
                <a:solidFill>
                  <a:srgbClr val="0000FF"/>
                </a:solidFill>
                <a:latin typeface="+mj-lt"/>
              </a:rPr>
              <a:t>최초화면에 다양한 상품 구성</a:t>
            </a:r>
            <a:endParaRPr lang="en-US" altLang="ko-KR" sz="1100" b="1" dirty="0">
              <a:solidFill>
                <a:srgbClr val="0000FF"/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rgbClr val="0000FF"/>
                </a:solidFill>
                <a:latin typeface="+mj-lt"/>
              </a:rPr>
              <a:t>② </a:t>
            </a:r>
            <a:r>
              <a:rPr lang="ko-KR" altLang="en-US" sz="1100" b="1" u="sng" dirty="0">
                <a:solidFill>
                  <a:srgbClr val="0000FF"/>
                </a:solidFill>
                <a:latin typeface="+mj-lt"/>
              </a:rPr>
              <a:t>양방향 서비스 제공</a:t>
            </a:r>
            <a:endParaRPr lang="ko-KR" altLang="en-US" sz="1100" b="1" u="sng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827E6C-0774-F3FF-4BB9-61817D89AD78}"/>
              </a:ext>
            </a:extLst>
          </p:cNvPr>
          <p:cNvSpPr txBox="1"/>
          <p:nvPr/>
        </p:nvSpPr>
        <p:spPr>
          <a:xfrm>
            <a:off x="6271238" y="1027067"/>
            <a:ext cx="4988478" cy="13153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&lt;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영상영역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rgbClr val="FF0000"/>
                </a:solidFill>
                <a:latin typeface="+mn-ea"/>
              </a:rPr>
              <a:t>① </a:t>
            </a:r>
            <a:r>
              <a:rPr lang="ko-KR" altLang="en-US" sz="1100" b="1" u="sng" dirty="0">
                <a:solidFill>
                  <a:srgbClr val="FF0000"/>
                </a:solidFill>
                <a:latin typeface="+mn-ea"/>
              </a:rPr>
              <a:t>전체화면 </a:t>
            </a:r>
            <a:r>
              <a:rPr lang="en-US" altLang="ko-KR" sz="1100" b="1" u="sng" dirty="0">
                <a:solidFill>
                  <a:srgbClr val="FF0000"/>
                </a:solidFill>
                <a:latin typeface="+mn-ea"/>
              </a:rPr>
              <a:t>2</a:t>
            </a:r>
            <a:r>
              <a:rPr lang="ko-KR" altLang="en-US" sz="1100" b="1" u="sng" dirty="0">
                <a:solidFill>
                  <a:srgbClr val="FF0000"/>
                </a:solidFill>
                <a:latin typeface="+mn-ea"/>
              </a:rPr>
              <a:t>분의 </a:t>
            </a:r>
            <a:r>
              <a:rPr lang="en-US" altLang="ko-KR" sz="1100" b="1" u="sng" dirty="0">
                <a:solidFill>
                  <a:srgbClr val="FF0000"/>
                </a:solidFill>
                <a:latin typeface="+mn-ea"/>
              </a:rPr>
              <a:t>1 </a:t>
            </a:r>
            <a:r>
              <a:rPr lang="ko-KR" altLang="en-US" sz="1100" b="1" u="sng" dirty="0">
                <a:solidFill>
                  <a:srgbClr val="FF0000"/>
                </a:solidFill>
                <a:latin typeface="+mn-ea"/>
              </a:rPr>
              <a:t>미만 영상</a:t>
            </a:r>
            <a:r>
              <a:rPr lang="ko-KR" altLang="en-US" sz="1100" b="1" dirty="0">
                <a:solidFill>
                  <a:srgbClr val="FF0000"/>
                </a:solidFill>
                <a:latin typeface="+mn-ea"/>
              </a:rPr>
              <a:t> 제공 가능</a:t>
            </a:r>
            <a:endParaRPr lang="en-US" altLang="ko-KR" sz="11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ko-KR" altLang="en-US" sz="1100" b="1" dirty="0">
                <a:solidFill>
                  <a:srgbClr val="FF0000"/>
                </a:solidFill>
                <a:latin typeface="+mn-ea"/>
              </a:rPr>
              <a:t>단</a:t>
            </a:r>
            <a:r>
              <a:rPr lang="en-US" altLang="ko-KR" sz="1100" b="1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100" b="1" dirty="0">
                <a:solidFill>
                  <a:srgbClr val="FF0000"/>
                </a:solidFill>
                <a:latin typeface="+mn-ea"/>
              </a:rPr>
              <a:t>데이터 로딩을 곧바로 하는 것이 기술적으로 불가능한 경우에 한하여</a:t>
            </a:r>
            <a:endParaRPr lang="en-US" altLang="ko-KR" sz="11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rgbClr val="FF0000"/>
                </a:solidFill>
                <a:latin typeface="+mn-ea"/>
              </a:rPr>
              <a:t>  </a:t>
            </a:r>
            <a:r>
              <a:rPr lang="ko-KR" altLang="en-US" sz="1100" b="1" dirty="0">
                <a:solidFill>
                  <a:srgbClr val="FF0000"/>
                </a:solidFill>
                <a:latin typeface="+mn-ea"/>
              </a:rPr>
              <a:t> 최초 </a:t>
            </a:r>
            <a:r>
              <a:rPr lang="en-US" altLang="ko-KR" sz="1100" b="1" dirty="0">
                <a:solidFill>
                  <a:srgbClr val="FF0000"/>
                </a:solidFill>
                <a:latin typeface="+mn-ea"/>
              </a:rPr>
              <a:t>10</a:t>
            </a:r>
            <a:r>
              <a:rPr lang="ko-KR" altLang="en-US" sz="1100" b="1" dirty="0">
                <a:solidFill>
                  <a:srgbClr val="FF0000"/>
                </a:solidFill>
                <a:latin typeface="+mn-ea"/>
              </a:rPr>
              <a:t>초 내외의 범위에서 전체화면으로 영상 제공 가능</a:t>
            </a:r>
            <a:endParaRPr lang="en-US" altLang="ko-KR" sz="11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rgbClr val="FF0000"/>
                </a:solidFill>
                <a:latin typeface="+mn-ea"/>
              </a:rPr>
              <a:t>②</a:t>
            </a:r>
            <a:r>
              <a:rPr lang="en-US" altLang="ko-KR" sz="11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100" b="1" u="sng" dirty="0">
                <a:solidFill>
                  <a:srgbClr val="FF0000"/>
                </a:solidFill>
                <a:latin typeface="+mn-ea"/>
              </a:rPr>
              <a:t>생방송 금지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AB38B8D-8331-03CB-3F9E-2382725E085B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3979817" y="1684747"/>
            <a:ext cx="2291421" cy="8075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B1D26A-7F46-9353-5087-7D0F314B5B8F}"/>
              </a:ext>
            </a:extLst>
          </p:cNvPr>
          <p:cNvSpPr/>
          <p:nvPr/>
        </p:nvSpPr>
        <p:spPr>
          <a:xfrm>
            <a:off x="456146" y="1463041"/>
            <a:ext cx="3663008" cy="1916022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528A1C-D08F-E895-76ED-3919ADB2E2C8}"/>
              </a:ext>
            </a:extLst>
          </p:cNvPr>
          <p:cNvSpPr txBox="1"/>
          <p:nvPr/>
        </p:nvSpPr>
        <p:spPr>
          <a:xfrm>
            <a:off x="180784" y="4000008"/>
            <a:ext cx="6522730" cy="304754"/>
          </a:xfrm>
          <a:prstGeom prst="rect">
            <a:avLst/>
          </a:prstGeom>
          <a:noFill/>
        </p:spPr>
        <p:txBody>
          <a:bodyPr wrap="square" tIns="72000" rtlCol="0"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en-US" altLang="ko-KR" sz="1200" b="1" spc="-50" dirty="0">
                <a:latin typeface="+mn-ea"/>
              </a:rPr>
              <a:t>2. TV</a:t>
            </a:r>
            <a:r>
              <a:rPr lang="ko-KR" altLang="en-US" sz="1200" b="1" spc="-50" dirty="0">
                <a:latin typeface="+mn-ea"/>
              </a:rPr>
              <a:t>홈쇼핑과 상품 구분 </a:t>
            </a:r>
            <a:r>
              <a:rPr lang="en-US" altLang="ko-KR" sz="1200" b="1" spc="-50" dirty="0">
                <a:latin typeface="+mn-ea"/>
              </a:rPr>
              <a:t>: </a:t>
            </a:r>
            <a:r>
              <a:rPr lang="ko-KR" altLang="en-US" sz="1200" b="1" spc="-50" dirty="0">
                <a:latin typeface="+mn-ea"/>
              </a:rPr>
              <a:t>재승인조건 </a:t>
            </a:r>
            <a:r>
              <a:rPr lang="en-US" altLang="ko-KR" sz="1200" b="1" spc="-50" dirty="0">
                <a:latin typeface="+mn-ea"/>
              </a:rPr>
              <a:t>‘</a:t>
            </a:r>
            <a:r>
              <a:rPr lang="ko-KR" altLang="en-US" sz="1200" b="1" spc="-50" dirty="0">
                <a:latin typeface="+mn-ea"/>
              </a:rPr>
              <a:t>중복상품 편성 금지</a:t>
            </a:r>
            <a:r>
              <a:rPr lang="en-US" altLang="ko-KR" sz="1200" b="1" spc="-50" dirty="0">
                <a:latin typeface="+mn-ea"/>
              </a:rPr>
              <a:t>'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8EA80E-A556-5A3D-974C-A61120B3656F}"/>
              </a:ext>
            </a:extLst>
          </p:cNvPr>
          <p:cNvSpPr txBox="1"/>
          <p:nvPr/>
        </p:nvSpPr>
        <p:spPr>
          <a:xfrm>
            <a:off x="434715" y="4264504"/>
            <a:ext cx="10477125" cy="567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u="sng" dirty="0">
                <a:latin typeface="+mn-ea"/>
              </a:rPr>
              <a:t>TV</a:t>
            </a:r>
            <a:r>
              <a:rPr lang="ko-KR" altLang="en-US" sz="1100" b="1" u="sng" dirty="0">
                <a:latin typeface="+mn-ea"/>
              </a:rPr>
              <a:t>홈쇼핑에 편성되는 상품은 동일 법인의 데이터홈쇼핑 채널에 편성 불가</a:t>
            </a:r>
            <a:r>
              <a:rPr lang="ko-KR" altLang="en-US" sz="1100" b="1" dirty="0">
                <a:latin typeface="+mn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latin typeface="+mn-ea"/>
              </a:rPr>
              <a:t>단</a:t>
            </a:r>
            <a:r>
              <a:rPr lang="en-US" altLang="ko-KR" sz="1100" b="1" dirty="0">
                <a:latin typeface="+mn-ea"/>
              </a:rPr>
              <a:t>, </a:t>
            </a:r>
            <a:r>
              <a:rPr lang="ko-KR" altLang="en-US" sz="1100" b="1" dirty="0">
                <a:latin typeface="+mn-ea"/>
              </a:rPr>
              <a:t>데이터홈쇼핑 신규 진입 후 </a:t>
            </a:r>
            <a:r>
              <a:rPr lang="en-US" altLang="ko-KR" sz="1100" b="1" dirty="0">
                <a:latin typeface="+mn-ea"/>
              </a:rPr>
              <a:t>5</a:t>
            </a:r>
            <a:r>
              <a:rPr lang="ko-KR" altLang="en-US" sz="1100" b="1" dirty="0">
                <a:latin typeface="+mn-ea"/>
              </a:rPr>
              <a:t>회 이상 판매목표 초과 달성하여 </a:t>
            </a:r>
            <a:r>
              <a:rPr lang="en-US" altLang="ko-KR" sz="1100" b="1" dirty="0">
                <a:latin typeface="+mn-ea"/>
              </a:rPr>
              <a:t>TV</a:t>
            </a:r>
            <a:r>
              <a:rPr lang="ko-KR" altLang="en-US" sz="1100" b="1" dirty="0">
                <a:latin typeface="+mn-ea"/>
              </a:rPr>
              <a:t>홈쇼핑에 </a:t>
            </a:r>
            <a:r>
              <a:rPr lang="ko-KR" altLang="en-US" sz="1100" b="1">
                <a:latin typeface="+mn-ea"/>
              </a:rPr>
              <a:t>편성되는 경우 </a:t>
            </a:r>
            <a:r>
              <a:rPr lang="en-US" altLang="ko-KR" sz="1100" b="1">
                <a:latin typeface="+mn-ea"/>
              </a:rPr>
              <a:t>/ </a:t>
            </a:r>
            <a:r>
              <a:rPr lang="ko-KR" altLang="en-US" sz="1100" b="1">
                <a:latin typeface="+mn-ea"/>
              </a:rPr>
              <a:t>중소기업 정액방송 재고소진 목적 </a:t>
            </a:r>
            <a:r>
              <a:rPr lang="ko-KR" altLang="en-US" sz="1100" b="1" dirty="0">
                <a:latin typeface="+mn-ea"/>
              </a:rPr>
              <a:t>예외 인정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E995E9-FF36-3C7B-6B64-280F6BE8451B}"/>
              </a:ext>
            </a:extLst>
          </p:cNvPr>
          <p:cNvSpPr txBox="1"/>
          <p:nvPr/>
        </p:nvSpPr>
        <p:spPr>
          <a:xfrm>
            <a:off x="186500" y="4925708"/>
            <a:ext cx="11735534" cy="304754"/>
          </a:xfrm>
          <a:prstGeom prst="rect">
            <a:avLst/>
          </a:prstGeom>
          <a:noFill/>
        </p:spPr>
        <p:txBody>
          <a:bodyPr wrap="square" tIns="7200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200" b="1" spc="-50" dirty="0">
                <a:latin typeface="+mn-ea"/>
              </a:rPr>
              <a:t>3. </a:t>
            </a:r>
            <a:r>
              <a:rPr lang="ko-KR" altLang="en-US" sz="1200" b="1" spc="-50" dirty="0">
                <a:latin typeface="+mn-ea"/>
              </a:rPr>
              <a:t>시청자 보호 </a:t>
            </a:r>
            <a:r>
              <a:rPr lang="en-US" altLang="ko-KR" sz="1200" b="1" spc="-50" dirty="0">
                <a:latin typeface="+mn-ea"/>
              </a:rPr>
              <a:t>: </a:t>
            </a:r>
            <a:r>
              <a:rPr lang="ko-KR" altLang="en-US" sz="1200" b="1" spc="-50" dirty="0">
                <a:latin typeface="+mn-ea"/>
              </a:rPr>
              <a:t>재승인 사업계획서 </a:t>
            </a:r>
            <a:r>
              <a:rPr lang="en-US" altLang="ko-KR" sz="1200" b="1" spc="-50" dirty="0">
                <a:latin typeface="+mn-ea"/>
              </a:rPr>
              <a:t>'</a:t>
            </a:r>
            <a:r>
              <a:rPr lang="ko-KR" altLang="en-US" sz="1200" b="1" spc="-50" dirty="0">
                <a:latin typeface="+mn-ea"/>
              </a:rPr>
              <a:t>부당한 강요에 의한 연계편성 금지</a:t>
            </a:r>
            <a:r>
              <a:rPr lang="en-US" altLang="ko-KR" sz="1200" b="1" spc="-50" dirty="0">
                <a:latin typeface="+mn-ea"/>
              </a:rPr>
              <a:t>'</a:t>
            </a:r>
            <a:r>
              <a:rPr lang="ko-KR" altLang="en-US" sz="1200" b="1" spc="-50" dirty="0">
                <a:latin typeface="+mn-ea"/>
              </a:rPr>
              <a:t>      </a:t>
            </a:r>
            <a:r>
              <a:rPr lang="en-US" altLang="ko-KR" sz="1000" b="1" spc="-50" dirty="0">
                <a:latin typeface="+mn-ea"/>
              </a:rPr>
              <a:t>*</a:t>
            </a:r>
            <a:r>
              <a:rPr lang="ko-KR" altLang="en-US" sz="1000" spc="-50" dirty="0">
                <a:latin typeface="+mn-ea"/>
              </a:rPr>
              <a:t>연계편성 </a:t>
            </a:r>
            <a:r>
              <a:rPr lang="en-US" altLang="ko-KR" sz="1000" spc="-50" dirty="0">
                <a:latin typeface="+mn-ea"/>
              </a:rPr>
              <a:t>: </a:t>
            </a:r>
            <a:r>
              <a:rPr lang="ko-KR" altLang="en-US" sz="1000" spc="-50" dirty="0">
                <a:latin typeface="+mn-ea"/>
              </a:rPr>
              <a:t>지</a:t>
            </a:r>
            <a:r>
              <a:rPr lang="ko-KR" altLang="en-US" sz="1000" dirty="0"/>
              <a:t>상파</a:t>
            </a:r>
            <a:r>
              <a:rPr lang="en-US" altLang="ko-KR" sz="1000" dirty="0"/>
              <a:t>·</a:t>
            </a:r>
            <a:r>
              <a:rPr lang="ko-KR" altLang="en-US" sz="1000" dirty="0"/>
              <a:t>종편 프로그램에서 소개한 상품을 인접 시간대 홈쇼핑에서 동일</a:t>
            </a:r>
            <a:r>
              <a:rPr lang="en-US" altLang="ko-KR" sz="1000" dirty="0"/>
              <a:t>·</a:t>
            </a:r>
            <a:r>
              <a:rPr lang="ko-KR" altLang="en-US" sz="1000" dirty="0"/>
              <a:t>유사 상품을 판매하는 편성</a:t>
            </a:r>
            <a:endParaRPr lang="en-US" altLang="ko-KR" sz="1000" spc="-50" dirty="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49F8D6-825A-43E1-D6EE-65F2CE81B41E}"/>
              </a:ext>
            </a:extLst>
          </p:cNvPr>
          <p:cNvSpPr txBox="1"/>
          <p:nvPr/>
        </p:nvSpPr>
        <p:spPr>
          <a:xfrm>
            <a:off x="190851" y="5295822"/>
            <a:ext cx="11735534" cy="304754"/>
          </a:xfrm>
          <a:prstGeom prst="rect">
            <a:avLst/>
          </a:prstGeom>
          <a:noFill/>
        </p:spPr>
        <p:txBody>
          <a:bodyPr wrap="square" tIns="7200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200" b="1" spc="-50" dirty="0">
                <a:latin typeface="+mn-ea"/>
              </a:rPr>
              <a:t>4. </a:t>
            </a:r>
            <a:r>
              <a:rPr lang="ko-KR" altLang="en-US" sz="1200" b="1" spc="-50" dirty="0">
                <a:latin typeface="+mn-ea"/>
              </a:rPr>
              <a:t>협력사 보호 </a:t>
            </a:r>
            <a:r>
              <a:rPr lang="en-US" altLang="ko-KR" sz="1200" b="1" spc="-50" dirty="0">
                <a:latin typeface="+mn-ea"/>
              </a:rPr>
              <a:t>: </a:t>
            </a:r>
            <a:r>
              <a:rPr lang="ko-KR" altLang="en-US" sz="1200" b="1" spc="-50" dirty="0">
                <a:latin typeface="+mn-ea"/>
              </a:rPr>
              <a:t>방송법 제</a:t>
            </a:r>
            <a:r>
              <a:rPr lang="en-US" altLang="ko-KR" sz="1200" b="1" spc="-50" dirty="0">
                <a:latin typeface="+mn-ea"/>
              </a:rPr>
              <a:t>85</a:t>
            </a:r>
            <a:r>
              <a:rPr lang="ko-KR" altLang="en-US" sz="1200" b="1" spc="-50" dirty="0">
                <a:latin typeface="+mn-ea"/>
              </a:rPr>
              <a:t>조</a:t>
            </a:r>
            <a:r>
              <a:rPr lang="en-US" altLang="ko-KR" sz="1200" b="1" spc="-50" dirty="0">
                <a:latin typeface="+mn-ea"/>
              </a:rPr>
              <a:t>2(</a:t>
            </a:r>
            <a:r>
              <a:rPr lang="ko-KR" altLang="en-US" sz="1200" b="1" spc="-50" dirty="0">
                <a:latin typeface="+mn-ea"/>
              </a:rPr>
              <a:t>금지 행위</a:t>
            </a:r>
            <a:r>
              <a:rPr lang="en-US" altLang="ko-KR" sz="1200" b="1" spc="-50" dirty="0">
                <a:latin typeface="+mn-ea"/>
              </a:rPr>
              <a:t>)</a:t>
            </a:r>
            <a:endParaRPr lang="en-US" altLang="ko-KR" sz="1000" spc="-50" dirty="0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85217B-0F8C-479B-A26C-654D258E4959}"/>
              </a:ext>
            </a:extLst>
          </p:cNvPr>
          <p:cNvSpPr txBox="1"/>
          <p:nvPr/>
        </p:nvSpPr>
        <p:spPr>
          <a:xfrm>
            <a:off x="456146" y="5540749"/>
            <a:ext cx="8001601" cy="107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1" dirty="0">
                <a:latin typeface="+mn-ea"/>
              </a:rPr>
              <a:t>① 방송일정의 일방적 취소</a:t>
            </a:r>
            <a:r>
              <a:rPr lang="en-US" altLang="ko-KR" sz="1100" b="1" dirty="0">
                <a:latin typeface="+mn-ea"/>
              </a:rPr>
              <a:t>·</a:t>
            </a:r>
            <a:r>
              <a:rPr lang="ko-KR" altLang="en-US" sz="1100" b="1" dirty="0">
                <a:latin typeface="+mn-ea"/>
              </a:rPr>
              <a:t>변경 금지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latin typeface="+mn-ea"/>
              </a:rPr>
              <a:t>② 불공정 수익배분 강요 금지 </a:t>
            </a:r>
            <a:r>
              <a:rPr lang="en-US" altLang="ko-KR" sz="1100" b="1" dirty="0">
                <a:latin typeface="+mn-ea"/>
              </a:rPr>
              <a:t>: </a:t>
            </a:r>
            <a:r>
              <a:rPr lang="ko-KR" altLang="en-US" sz="1100" b="1" dirty="0">
                <a:latin typeface="+mn-ea"/>
              </a:rPr>
              <a:t>상품판매액과 무관한 수익배분방식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ko-KR" altLang="en-US" sz="1100" b="1" u="sng" dirty="0">
                <a:latin typeface="+mn-ea"/>
              </a:rPr>
              <a:t>정액 수수료</a:t>
            </a:r>
            <a:r>
              <a:rPr lang="en-US" altLang="ko-KR" sz="1100" b="1" dirty="0">
                <a:latin typeface="+mn-ea"/>
              </a:rPr>
              <a:t>)</a:t>
            </a:r>
            <a:r>
              <a:rPr lang="ko-KR" altLang="en-US" sz="1100" b="1" dirty="0">
                <a:latin typeface="+mn-ea"/>
              </a:rPr>
              <a:t> 강요 금지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latin typeface="+mn-ea"/>
              </a:rPr>
              <a:t>                                         미수용을 이유로 방송일정</a:t>
            </a:r>
            <a:r>
              <a:rPr lang="en-US" altLang="ko-KR" sz="1100" b="1" dirty="0">
                <a:latin typeface="+mn-ea"/>
              </a:rPr>
              <a:t>·</a:t>
            </a:r>
            <a:r>
              <a:rPr lang="ko-KR" altLang="en-US" sz="1100" b="1" dirty="0">
                <a:latin typeface="+mn-ea"/>
              </a:rPr>
              <a:t>분량을 불리하게 조정</a:t>
            </a:r>
            <a:r>
              <a:rPr lang="en-US" altLang="ko-KR" sz="1100" b="1" dirty="0">
                <a:latin typeface="+mn-ea"/>
              </a:rPr>
              <a:t>·</a:t>
            </a:r>
            <a:r>
              <a:rPr lang="ko-KR" altLang="en-US" sz="1100" b="1" dirty="0">
                <a:latin typeface="+mn-ea"/>
              </a:rPr>
              <a:t>취소</a:t>
            </a:r>
            <a:r>
              <a:rPr lang="en-US" altLang="ko-KR" sz="1100" b="1" dirty="0">
                <a:latin typeface="+mn-ea"/>
              </a:rPr>
              <a:t>·</a:t>
            </a:r>
            <a:r>
              <a:rPr lang="ko-KR" altLang="en-US" sz="1100" b="1" dirty="0">
                <a:latin typeface="+mn-ea"/>
              </a:rPr>
              <a:t>변경 금지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latin typeface="+mn-ea"/>
              </a:rPr>
              <a:t>③ 제작비용 부당 전가 금지 </a:t>
            </a:r>
            <a:r>
              <a:rPr lang="en-US" altLang="ko-KR" sz="1100" b="1" dirty="0">
                <a:latin typeface="+mn-ea"/>
              </a:rPr>
              <a:t>: </a:t>
            </a:r>
            <a:r>
              <a:rPr lang="ko-KR" altLang="en-US" sz="1100" b="1" dirty="0">
                <a:latin typeface="+mn-ea"/>
              </a:rPr>
              <a:t>사전제작비</a:t>
            </a:r>
            <a:r>
              <a:rPr lang="en-US" altLang="ko-KR" sz="1100" b="1" dirty="0">
                <a:latin typeface="+mn-ea"/>
              </a:rPr>
              <a:t>, </a:t>
            </a:r>
            <a:r>
              <a:rPr lang="ko-KR" altLang="en-US" sz="1100" b="1" dirty="0">
                <a:latin typeface="+mn-ea"/>
              </a:rPr>
              <a:t>출연료 등 제작비용을 협력사에 부당하게 부담시키는 행위 금지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4CA4F71-C913-8C6D-18E6-862DFC50B3AA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5338354" y="2956488"/>
            <a:ext cx="932884" cy="403764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D4D2031-1360-5624-D7CB-2A4EB6DD7936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23/109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0611236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A1B09-9749-3146-C960-15270CBA4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E36163-F861-E6DE-43E0-ABC0259B1C35}"/>
              </a:ext>
            </a:extLst>
          </p:cNvPr>
          <p:cNvSpPr txBox="1"/>
          <p:nvPr/>
        </p:nvSpPr>
        <p:spPr>
          <a:xfrm>
            <a:off x="60961" y="72465"/>
            <a:ext cx="9572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주요 위원회 및 외부전문가 참여 현황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151C880-F3CF-27CF-AB52-70387663DE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046304"/>
              </p:ext>
            </p:extLst>
          </p:nvPr>
        </p:nvGraphicFramePr>
        <p:xfrm>
          <a:off x="202355" y="633413"/>
          <a:ext cx="11787290" cy="5987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1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8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09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528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역할 및 기능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외부전문가 상세내용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9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경영감시</a:t>
                      </a:r>
                    </a:p>
                  </a:txBody>
                  <a:tcPr marL="0" marR="0"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100" b="1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감사위원회</a:t>
                      </a:r>
                      <a:endParaRPr lang="en-US" altLang="ko-KR" sz="1100" b="1" spc="-5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경영 활동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재무 감시</a:t>
                      </a:r>
                      <a:endParaRPr lang="en-US" altLang="ko-KR" sz="1100" b="0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spc="-5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외부전문가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spc="-5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100" b="1" spc="-5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인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사외이사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100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31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윤리경영</a:t>
                      </a:r>
                    </a:p>
                  </a:txBody>
                  <a:tcPr marL="0" marR="0"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100" b="1" spc="-5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윤리위원회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윤리경영 관련 의사결정 기구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대표이사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관련 임원</a:t>
                      </a:r>
                      <a:r>
                        <a:rPr lang="en-US" altLang="ko-KR" sz="1100" b="1" u="sng" spc="-5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u="sng" spc="-5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인사전략팀 여수진</a:t>
                      </a:r>
                      <a:r>
                        <a:rPr lang="en-US" altLang="ko-KR" sz="1100" b="1" u="sng" spc="-5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M)</a:t>
                      </a:r>
                      <a:endParaRPr lang="en-US" altLang="ko-KR" sz="1100" b="0" u="sng" spc="-50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u="sng" spc="-5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외부 법무</a:t>
                      </a:r>
                      <a:r>
                        <a:rPr lang="en-US" altLang="ko-KR" sz="1100" b="1" u="sng" spc="-5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〮</a:t>
                      </a:r>
                      <a:r>
                        <a:rPr lang="ko-KR" altLang="en-US" sz="1100" b="1" u="sng" spc="-5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노무법인 자문</a:t>
                      </a:r>
                      <a:endParaRPr lang="ko-KR" altLang="en-US" sz="1100" b="1" u="sng" spc="-50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100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9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지속가능경영</a:t>
                      </a:r>
                    </a:p>
                  </a:txBody>
                  <a:tcPr marL="0" marR="0"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en-US" altLang="ko-KR" sz="1100" b="1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ESG</a:t>
                      </a:r>
                      <a:r>
                        <a:rPr lang="ko-KR" altLang="en-US" sz="1100" b="1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위원회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전사 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ESG 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전략 수립 및 의사결정</a:t>
                      </a:r>
                      <a:endParaRPr lang="en-US" altLang="ko-KR" sz="1100" b="0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동반성장프로그램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marR="0" lvl="0" indent="-9000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spc="-5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외부전문가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spc="-5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100" b="1" spc="-5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인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사외이사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), </a:t>
                      </a:r>
                      <a:r>
                        <a:rPr lang="ko-KR" altLang="en-US" sz="1100" b="0" spc="-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기타비상무이사</a:t>
                      </a:r>
                      <a:endParaRPr lang="en-US" altLang="ko-KR" sz="1100" b="0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100" kern="1200" spc="-5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545618"/>
                  </a:ext>
                </a:extLst>
              </a:tr>
              <a:tr h="4009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사회공헌</a:t>
                      </a:r>
                    </a:p>
                  </a:txBody>
                  <a:tcPr marL="0" marR="0"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100" b="1" spc="-5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사회공헌심의위원회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공익사업 심의</a:t>
                      </a:r>
                      <a:endParaRPr lang="en-US" altLang="ko-KR" sz="1100" b="0" spc="-5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u="sng" spc="-5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동반성장프로그램 심의</a:t>
                      </a:r>
                      <a:endParaRPr lang="ko-KR" altLang="en-US" sz="1100" b="1" u="sng" spc="-50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경영지원부문장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spc="-5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외부전문가 </a:t>
                      </a:r>
                      <a:r>
                        <a:rPr lang="en-US" altLang="ko-KR" sz="1100" b="1" spc="-5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1" spc="-5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서정호 변호사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157544"/>
                  </a:ext>
                </a:extLst>
              </a:tr>
              <a:tr h="4009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상품선정</a:t>
                      </a:r>
                    </a:p>
                  </a:txBody>
                  <a:tcPr marL="0" marR="0"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100" b="1" spc="-5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신상품평가위원회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정량적 지표로 공정한 신상품 선정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내부전문가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외부전문가 </a:t>
                      </a:r>
                      <a:r>
                        <a:rPr lang="en-US" altLang="ko-KR" sz="1100" b="1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16</a:t>
                      </a:r>
                      <a:r>
                        <a:rPr lang="ko-KR" altLang="en-US" sz="1100" b="1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고객평가단 </a:t>
                      </a:r>
                      <a:r>
                        <a:rPr lang="en-US" altLang="ko-KR" sz="1100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  <a:r>
                        <a:rPr lang="ko-KR" altLang="en-US" sz="1100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</a:t>
                      </a:r>
                      <a:r>
                        <a:rPr lang="en-US" altLang="ko-KR" sz="1100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상품군별 </a:t>
                      </a:r>
                      <a:r>
                        <a:rPr lang="en-US" altLang="ko-KR" sz="1100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100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</a:t>
                      </a:r>
                      <a:r>
                        <a:rPr lang="en-US" altLang="ko-KR" sz="1100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spc="-5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9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공정거래</a:t>
                      </a:r>
                    </a:p>
                  </a:txBody>
                  <a:tcPr marL="0" marR="0"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100" b="1" spc="-5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컴플라이언스운영협의회</a:t>
                      </a:r>
                      <a:endParaRPr lang="ko-KR" altLang="en-US" sz="1100" b="1" spc="-5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공정거래 주요사항 심의 및 의결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대표이사</a:t>
                      </a:r>
                      <a:r>
                        <a:rPr lang="en-US" altLang="ko-KR" sz="1100" b="0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관련임원</a:t>
                      </a:r>
                      <a:r>
                        <a:rPr lang="en-US" altLang="ko-KR" sz="1100" b="1" u="sng" spc="-5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u="sng" spc="-5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사내변호사</a:t>
                      </a:r>
                      <a:r>
                        <a:rPr lang="en-US" altLang="ko-KR" sz="1100" b="1" u="sng" spc="-5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90000" marR="0" lvl="0" indent="-9000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u="sng" spc="-5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외부 법무</a:t>
                      </a:r>
                      <a:r>
                        <a:rPr lang="en-US" altLang="ko-KR" sz="1100" b="1" u="sng" spc="-5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〮</a:t>
                      </a:r>
                      <a:r>
                        <a:rPr lang="ko-KR" altLang="en-US" sz="1100" b="1" u="sng" spc="-5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노무법인 자문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ko-KR" altLang="en-US" sz="1100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674933"/>
                  </a:ext>
                </a:extLst>
              </a:tr>
              <a:tr h="485319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고객보호</a:t>
                      </a:r>
                    </a:p>
                  </a:txBody>
                  <a:tcPr marL="0" marR="0"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100" b="1" spc="-5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고객보호위원회</a:t>
                      </a:r>
                      <a:r>
                        <a:rPr lang="en-US" altLang="ko-KR" sz="1100" b="1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(SLT, VOC</a:t>
                      </a:r>
                      <a:r>
                        <a:rPr lang="ko-KR" altLang="en-US" sz="1100" b="1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회의</a:t>
                      </a:r>
                      <a:r>
                        <a:rPr lang="en-US" altLang="ko-KR" sz="1100" b="1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1100" b="1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en-US" altLang="ko-KR" sz="1100" b="1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산하 </a:t>
                      </a:r>
                      <a:r>
                        <a:rPr lang="ko-KR" altLang="en-US" sz="1100" b="1" spc="-5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시청자자문단</a:t>
                      </a:r>
                      <a:r>
                        <a:rPr lang="en-US" altLang="ko-KR" sz="1100" b="1" spc="-5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, CX</a:t>
                      </a:r>
                      <a:r>
                        <a:rPr lang="ko-KR" altLang="en-US" sz="1100" b="1" spc="-50" dirty="0" err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자문단</a:t>
                      </a:r>
                      <a:r>
                        <a:rPr lang="en-US" altLang="ko-KR" sz="1100" b="1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 보호 관련 의사결정 기구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대표이사</a:t>
                      </a:r>
                      <a:r>
                        <a:rPr lang="en-US" altLang="ko-KR" sz="1100" b="0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관련 임원</a:t>
                      </a:r>
                      <a:r>
                        <a:rPr lang="en-US" altLang="ko-KR" sz="1100" b="0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팀장</a:t>
                      </a:r>
                      <a:endParaRPr lang="en-US" altLang="ko-KR" sz="1100" b="0" spc="-5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u="sng" spc="-5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시청자와 고객 참여</a:t>
                      </a:r>
                      <a:endParaRPr lang="en-US" altLang="ko-KR" sz="1100" b="1" u="sng" spc="-5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ko-KR" altLang="en-US" sz="1100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53693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100" b="1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공정방송위원회</a:t>
                      </a:r>
                      <a:endParaRPr lang="en-US" altLang="ko-KR" sz="1100" b="1" spc="-5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en-US" altLang="ko-KR" sz="1100" b="1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산하 </a:t>
                      </a:r>
                      <a:r>
                        <a:rPr lang="ko-KR" altLang="en-US" sz="1100" b="1" spc="-5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허위과장방지위원회</a:t>
                      </a:r>
                      <a:r>
                        <a:rPr lang="en-US" altLang="ko-KR" sz="1100" b="1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spc="-5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심의 정책</a:t>
                      </a:r>
                      <a:r>
                        <a:rPr lang="en-US" altLang="ko-KR" sz="1100" b="0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 구제 방안 결정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편성책임자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관련 임원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팀장</a:t>
                      </a:r>
                      <a:endParaRPr lang="en-US" altLang="ko-KR" sz="1100" b="0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허위과장방지위원회 </a:t>
                      </a:r>
                      <a:r>
                        <a:rPr lang="ko-KR" altLang="en-US" sz="1100" b="1" spc="-5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외부전문가 </a:t>
                      </a:r>
                      <a:r>
                        <a:rPr lang="en-US" altLang="ko-KR" sz="1100" b="1" spc="-5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100" b="1" spc="-5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법률 </a:t>
                      </a: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100" kern="1200" spc="-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양승동</a:t>
                      </a: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변호사 </a:t>
                      </a: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법무법인 </a:t>
                      </a:r>
                      <a:r>
                        <a:rPr lang="ko-KR" altLang="en-US" sz="1100" kern="1200" spc="-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지암</a:t>
                      </a: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indent="-108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의학 </a:t>
                      </a: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100" kern="1200" spc="-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노은하</a:t>
                      </a: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사무총장 </a:t>
                      </a: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국제한인간호재단</a:t>
                      </a: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indent="-108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식품 </a:t>
                      </a: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100" kern="1200" spc="-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김양하</a:t>
                      </a: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교수 </a:t>
                      </a: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이화여대 식품영양학과</a:t>
                      </a: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indent="-108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화장품 </a:t>
                      </a: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100" dirty="0" err="1"/>
                        <a:t>박초희</a:t>
                      </a:r>
                      <a:r>
                        <a:rPr lang="ko-KR" altLang="en-US" sz="1100" dirty="0"/>
                        <a:t> 교수</a:t>
                      </a: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성신여대 </a:t>
                      </a:r>
                      <a:r>
                        <a:rPr lang="ko-KR" altLang="en-US" sz="1100" kern="1200" spc="-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뷰티산업학과</a:t>
                      </a: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9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시청자보호</a:t>
                      </a:r>
                    </a:p>
                  </a:txBody>
                  <a:tcPr marL="0" marR="0"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100" b="1" spc="-5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시청자위원회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방송편성 의견제시</a:t>
                      </a:r>
                      <a:r>
                        <a:rPr lang="en-US" altLang="ko-KR" sz="1100" b="0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시정요구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spc="-5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spc="-5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법적 강제</a:t>
                      </a:r>
                      <a:r>
                        <a:rPr lang="en-US" altLang="ko-KR" sz="1100" b="1" spc="-5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 b="1" spc="-5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외부전문가 </a:t>
                      </a:r>
                      <a:r>
                        <a:rPr lang="en-US" altLang="ko-KR" sz="1100" b="1" spc="-5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100" b="1" spc="-5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소비자</a:t>
                      </a:r>
                      <a:r>
                        <a:rPr lang="en-US" altLang="ko-KR" sz="11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언론</a:t>
                      </a:r>
                      <a:r>
                        <a:rPr lang="en-US" altLang="ko-KR" sz="11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유통</a:t>
                      </a:r>
                      <a:r>
                        <a:rPr lang="en-US" altLang="ko-KR" sz="11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변호사 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85319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정보보호</a:t>
                      </a:r>
                    </a:p>
                  </a:txBody>
                  <a:tcPr marL="0" marR="0"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100" b="1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보안위원회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정보 보호 관련 의사결정 기구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정보보안부문장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개인정보보호책임자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관련임원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팀장</a:t>
                      </a:r>
                      <a:endParaRPr lang="en-US" altLang="ko-KR" sz="1100" b="0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ko-KR" altLang="en-US" sz="1100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166677"/>
                  </a:ext>
                </a:extLst>
              </a:tr>
              <a:tr h="48531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100" b="1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정보보안자문위원회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개인정보 보호 체계 자문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감독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통제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외부전문가 </a:t>
                      </a:r>
                      <a:r>
                        <a:rPr lang="en-US" altLang="ko-KR" sz="1100" b="1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100" b="1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위원장 최영진 교수</a:t>
                      </a:r>
                      <a:r>
                        <a:rPr lang="en-US" altLang="ko-KR" sz="11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성균관대 </a:t>
                      </a:r>
                      <a:r>
                        <a:rPr lang="en-US" altLang="ko-KR" sz="11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100" spc="-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융합원</a:t>
                      </a:r>
                      <a:r>
                        <a:rPr lang="en-US" altLang="ko-KR" sz="11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spc="-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이문한</a:t>
                      </a:r>
                      <a:r>
                        <a:rPr lang="ko-KR" altLang="en-US" sz="11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변호사</a:t>
                      </a:r>
                      <a:r>
                        <a:rPr lang="en-US" altLang="ko-KR" sz="11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김앤장</a:t>
                      </a:r>
                      <a:r>
                        <a:rPr lang="en-US" altLang="ko-KR" sz="11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1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최재식 교수</a:t>
                      </a:r>
                      <a:r>
                        <a:rPr lang="en-US" altLang="ko-KR" sz="11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카이스트</a:t>
                      </a:r>
                      <a:r>
                        <a:rPr lang="en-US" altLang="ko-KR" sz="11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02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미래성장</a:t>
                      </a:r>
                    </a:p>
                  </a:txBody>
                  <a:tcPr marL="0" marR="0"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100" b="1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미래사업추진위원회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신사업 논의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투자 심의 및 의결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대표이사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관련임원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ko-KR" altLang="en-US" sz="1100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94899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3B51D41-2755-F446-A834-2573EFE38989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24/109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9720784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93AC4-8A8C-B581-7034-8C9844D5D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F00082-70BE-1363-701C-9080E4AB2C92}"/>
              </a:ext>
            </a:extLst>
          </p:cNvPr>
          <p:cNvSpPr txBox="1"/>
          <p:nvPr/>
        </p:nvSpPr>
        <p:spPr>
          <a:xfrm>
            <a:off x="63865" y="62993"/>
            <a:ext cx="9572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각종 담당관 정리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D69080D-F55B-B762-C4F7-EB0616352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002234"/>
              </p:ext>
            </p:extLst>
          </p:nvPr>
        </p:nvGraphicFramePr>
        <p:xfrm>
          <a:off x="471000" y="908050"/>
          <a:ext cx="10714000" cy="4069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9899">
                  <a:extLst>
                    <a:ext uri="{9D8B030D-6E8A-4147-A177-3AD203B41FA5}">
                      <a16:colId xmlns:a16="http://schemas.microsoft.com/office/drawing/2014/main" val="1234055468"/>
                    </a:ext>
                  </a:extLst>
                </a:gridCol>
                <a:gridCol w="2766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7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14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직책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역할 및 기능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46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100" b="1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CCM</a:t>
                      </a:r>
                      <a:r>
                        <a:rPr lang="ko-KR" altLang="en-US" sz="1100" b="1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책임자</a:t>
                      </a:r>
                      <a:endParaRPr lang="en-US" altLang="ko-KR" sz="1100" b="1" spc="-5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100" b="1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소비자중심경영</a:t>
                      </a:r>
                      <a:r>
                        <a:rPr lang="en-US" altLang="ko-KR" sz="1100" b="1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100" b="1" spc="-5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허윤철 </a:t>
                      </a:r>
                      <a:r>
                        <a:rPr lang="ko-KR" altLang="en-US" sz="1100" b="1" spc="-50" err="1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부문장</a:t>
                      </a:r>
                      <a:r>
                        <a:rPr lang="ko-KR" altLang="en-US" sz="1100" b="1" spc="-5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spc="-5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(CI</a:t>
                      </a:r>
                      <a:r>
                        <a:rPr lang="ko-KR" altLang="en-US" sz="1100" b="1" spc="-5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부문</a:t>
                      </a:r>
                      <a:r>
                        <a:rPr lang="en-US" altLang="ko-KR" sz="1100" b="1" spc="-5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spc="-50" dirty="0">
                        <a:solidFill>
                          <a:srgbClr val="1919E5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소비자중심경영 체계</a:t>
                      </a:r>
                      <a:r>
                        <a:rPr lang="en-US" altLang="ko-KR" sz="1100" b="0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 수립</a:t>
                      </a:r>
                      <a:endParaRPr lang="en-US" altLang="ko-KR" sz="1100" b="0" spc="-5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0000" indent="-9000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소비자중심경영 운영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46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청소년보호책임자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100" b="1" spc="-50" dirty="0" err="1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윤인규</a:t>
                      </a:r>
                      <a:r>
                        <a:rPr lang="ko-KR" altLang="en-US" sz="1100" b="1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 팀장 </a:t>
                      </a:r>
                      <a:r>
                        <a:rPr lang="en-US" altLang="ko-KR" sz="1100" b="1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(CX</a:t>
                      </a:r>
                      <a:r>
                        <a:rPr lang="ko-KR" altLang="en-US" sz="1100" b="1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팀장</a:t>
                      </a:r>
                      <a:r>
                        <a:rPr lang="en-US" altLang="ko-KR" sz="1100" b="1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청소년 유해 정보 차단 관리</a:t>
                      </a:r>
                      <a:endParaRPr lang="en-US" altLang="ko-KR" sz="1100" b="0" spc="-5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0000" indent="-9000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유해 정보로부터의 청소년 보호 정책 수립</a:t>
                      </a:r>
                      <a:endParaRPr lang="en-US" altLang="ko-KR" sz="1100" b="0" spc="-5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278546"/>
                  </a:ext>
                </a:extLst>
              </a:tr>
              <a:tr h="41046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개인정보보호책임자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100" b="1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김정희 </a:t>
                      </a:r>
                      <a:r>
                        <a:rPr lang="ko-KR" altLang="en-US" sz="1100" b="1" spc="-50" dirty="0" err="1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부문장</a:t>
                      </a:r>
                      <a:r>
                        <a:rPr lang="ko-KR" altLang="en-US" sz="1100" b="1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정보보안부문장</a:t>
                      </a:r>
                      <a:r>
                        <a:rPr lang="en-US" altLang="ko-KR" sz="1100" b="1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개인정보보호 체계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 수립</a:t>
                      </a:r>
                      <a:endParaRPr lang="en-US" altLang="ko-KR" sz="1100" b="0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0000" indent="-9000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개인정보 처리실태 조사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감독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개인정보 침해 예방 및 민원처리</a:t>
                      </a:r>
                      <a:endParaRPr lang="en-US" altLang="ko-KR" sz="1100" b="0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4006091"/>
                  </a:ext>
                </a:extLst>
              </a:tr>
              <a:tr h="4322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 spc="-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공정거래자율준수관리자</a:t>
                      </a:r>
                      <a:endParaRPr lang="ko-KR" altLang="en-US" sz="1100" b="1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100" b="1" spc="-50" dirty="0" err="1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곽창헌</a:t>
                      </a:r>
                      <a:r>
                        <a:rPr lang="ko-KR" altLang="en-US" sz="1100" b="1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spc="-50" dirty="0" err="1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부문장</a:t>
                      </a:r>
                      <a:r>
                        <a:rPr lang="ko-KR" altLang="en-US" sz="1100" b="1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spc="-50" dirty="0" err="1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지속가능경영부문장</a:t>
                      </a:r>
                      <a:r>
                        <a:rPr lang="en-US" altLang="ko-KR" sz="1100" b="1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spc="-50" dirty="0">
                        <a:solidFill>
                          <a:srgbClr val="1919E5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공정거래 자율준수 체계 정책 수립</a:t>
                      </a:r>
                      <a:endParaRPr lang="en-US" altLang="ko-KR" sz="1100" b="0" spc="-5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0000" indent="-9000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공정거래 준법 점검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606662"/>
                  </a:ext>
                </a:extLst>
              </a:tr>
              <a:tr h="4322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준법지원인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100" b="1" kern="1200" spc="-50" dirty="0" err="1"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권정섭</a:t>
                      </a:r>
                      <a:r>
                        <a:rPr lang="ko-KR" altLang="en-US" sz="1100" b="1" kern="1200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팀장 </a:t>
                      </a:r>
                      <a:r>
                        <a:rPr lang="en-US" altLang="ko-KR" sz="1100" b="1" kern="1200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1" kern="1200" spc="-50" dirty="0" err="1"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컴플라이언스팀장</a:t>
                      </a:r>
                      <a:r>
                        <a:rPr lang="en-US" altLang="ko-KR" sz="1100" b="1" kern="1200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kern="1200" spc="-50" dirty="0"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전사 준법 통제 체계 수립 및 개선</a:t>
                      </a:r>
                      <a:endParaRPr lang="en-US" altLang="ko-KR" sz="1100" b="0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0000" indent="-9000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준법 통제 기준 마련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점검 및 교육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0955537"/>
                  </a:ext>
                </a:extLst>
              </a:tr>
              <a:tr h="4322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부정청탁방지담당관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100" b="1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김성수 팀장 </a:t>
                      </a:r>
                      <a:r>
                        <a:rPr lang="en-US" altLang="ko-KR" sz="1100" b="1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경영진단팀장</a:t>
                      </a:r>
                      <a:r>
                        <a:rPr lang="en-US" altLang="ko-KR" sz="1100" b="1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spc="-50" dirty="0">
                        <a:solidFill>
                          <a:srgbClr val="1919E5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청탁금지법 준수 절차 마련 및 운영</a:t>
                      </a:r>
                      <a:endParaRPr lang="en-US" altLang="ko-KR" sz="1100" b="0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0000" indent="-9000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청탁금지법 위반 감시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임직원 교육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440800"/>
                  </a:ext>
                </a:extLst>
              </a:tr>
              <a:tr h="41046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내부회계관리자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100" b="1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강윤석 본부장 </a:t>
                      </a:r>
                      <a:r>
                        <a:rPr lang="en-US" altLang="ko-KR" sz="1100" b="1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경영지원본부장</a:t>
                      </a:r>
                      <a:r>
                        <a:rPr lang="en-US" altLang="ko-KR" sz="1100" b="1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spc="-50" dirty="0">
                        <a:solidFill>
                          <a:srgbClr val="1919E5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내부회계관리시스템 통해 회사 전 영역 내부 통제 활동 점검</a:t>
                      </a:r>
                      <a:endParaRPr lang="en-US" altLang="ko-KR" sz="1100" b="0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0000" indent="-90000" algn="just" latinLnBrk="1">
                        <a:lnSpc>
                          <a:spcPct val="14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정기적 내부회계관리 적정성 검토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감사위원회 및 이사회 보고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9B4F92F-385F-CC95-7A00-274051FB0D7C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25/109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7476841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34D553-49FF-4870-50DB-CD54DAC1CF94}"/>
              </a:ext>
            </a:extLst>
          </p:cNvPr>
          <p:cNvSpPr txBox="1"/>
          <p:nvPr/>
        </p:nvSpPr>
        <p:spPr>
          <a:xfrm>
            <a:off x="59421" y="77301"/>
            <a:ext cx="88191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] 2021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년 데이터홈쇼핑 재승인 조건</a:t>
            </a:r>
            <a:endParaRPr lang="en-US" altLang="ko-KR" sz="20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DEA5934-3DBC-65A9-7BC0-308C3B88D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955" y="607011"/>
            <a:ext cx="4161004" cy="593150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196D9C0-5F4D-9D79-08D3-0D79DB416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560" y="962638"/>
            <a:ext cx="4161003" cy="560331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EBAC3167-BD5F-D345-3477-82B9D36059DF}"/>
                  </a:ext>
                </a:extLst>
              </p14:cNvPr>
              <p14:cNvContentPartPr/>
              <p14:nvPr/>
            </p14:nvContentPartPr>
            <p14:xfrm>
              <a:off x="2329519" y="1884888"/>
              <a:ext cx="1591560" cy="36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EBAC3167-BD5F-D345-3477-82B9D36059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93519" y="1812888"/>
                <a:ext cx="16632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3F9C3886-AED0-4020-A4A0-150F7B32145B}"/>
                  </a:ext>
                </a:extLst>
              </p14:cNvPr>
              <p14:cNvContentPartPr/>
              <p14:nvPr/>
            </p14:nvContentPartPr>
            <p14:xfrm>
              <a:off x="2585839" y="1583208"/>
              <a:ext cx="3144960" cy="36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3F9C3886-AED0-4020-A4A0-150F7B32145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49839" y="1511208"/>
                <a:ext cx="32166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7A2D8BFF-AEB3-997F-DB1F-A6E513CD9A0A}"/>
                  </a:ext>
                </a:extLst>
              </p14:cNvPr>
              <p14:cNvContentPartPr/>
              <p14:nvPr/>
            </p14:nvContentPartPr>
            <p14:xfrm>
              <a:off x="2284159" y="2580048"/>
              <a:ext cx="1489680" cy="36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7A2D8BFF-AEB3-997F-DB1F-A6E513CD9A0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48159" y="2508048"/>
                <a:ext cx="15613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2454DFB7-EE45-2DAE-6871-4643C418715B}"/>
                  </a:ext>
                </a:extLst>
              </p14:cNvPr>
              <p14:cNvContentPartPr/>
              <p14:nvPr/>
            </p14:nvContentPartPr>
            <p14:xfrm>
              <a:off x="4167679" y="3000528"/>
              <a:ext cx="968760" cy="36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2454DFB7-EE45-2DAE-6871-4643C418715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131666" y="2928528"/>
                <a:ext cx="1040427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9A435F79-1D13-3E0D-8F4D-8101853755D2}"/>
                  </a:ext>
                </a:extLst>
              </p14:cNvPr>
              <p14:cNvContentPartPr/>
              <p14:nvPr/>
            </p14:nvContentPartPr>
            <p14:xfrm>
              <a:off x="4862551" y="3146688"/>
              <a:ext cx="1084320" cy="36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9A435F79-1D13-3E0D-8F4D-8101853755D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826539" y="3074688"/>
                <a:ext cx="1155984" cy="1440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13B7C94-C8D4-6089-CCE7-C3C8E004726B}"/>
              </a:ext>
            </a:extLst>
          </p:cNvPr>
          <p:cNvSpPr txBox="1"/>
          <p:nvPr/>
        </p:nvSpPr>
        <p:spPr>
          <a:xfrm>
            <a:off x="346666" y="1446316"/>
            <a:ext cx="1775013" cy="273784"/>
          </a:xfrm>
          <a:prstGeom prst="rect">
            <a:avLst/>
          </a:prstGeom>
          <a:noFill/>
          <a:ln>
            <a:noFill/>
          </a:ln>
        </p:spPr>
        <p:txBody>
          <a:bodyPr wrap="square" tIns="7200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ko-KR" altLang="en-US" sz="1000" b="1" spc="-50" dirty="0">
                <a:solidFill>
                  <a:srgbClr val="1919E5"/>
                </a:solidFill>
                <a:latin typeface="+mn-ea"/>
              </a:rPr>
              <a:t>중기 편성비중 강제 </a:t>
            </a:r>
            <a:r>
              <a:rPr lang="ko-KR" altLang="en-US" sz="1000" b="1" spc="-50" dirty="0">
                <a:latin typeface="+mn-ea"/>
              </a:rPr>
              <a:t>◀</a:t>
            </a:r>
            <a:endParaRPr lang="en-US" altLang="ko-KR" sz="1000" b="1" spc="-50" dirty="0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69A661-6D1B-1931-5728-A0D888276F6D}"/>
              </a:ext>
            </a:extLst>
          </p:cNvPr>
          <p:cNvSpPr txBox="1"/>
          <p:nvPr/>
        </p:nvSpPr>
        <p:spPr>
          <a:xfrm>
            <a:off x="346666" y="2443156"/>
            <a:ext cx="1775013" cy="273784"/>
          </a:xfrm>
          <a:prstGeom prst="rect">
            <a:avLst/>
          </a:prstGeom>
          <a:noFill/>
          <a:ln>
            <a:noFill/>
          </a:ln>
        </p:spPr>
        <p:txBody>
          <a:bodyPr wrap="square" tIns="7200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ko-KR" altLang="en-US" sz="1000" b="1" spc="-50" dirty="0">
                <a:solidFill>
                  <a:srgbClr val="1919E5"/>
                </a:solidFill>
                <a:latin typeface="+mn-ea"/>
              </a:rPr>
              <a:t>중기 정액 구제방안 마련 </a:t>
            </a:r>
            <a:r>
              <a:rPr lang="ko-KR" altLang="en-US" sz="1000" b="1" spc="-50" dirty="0">
                <a:latin typeface="+mn-ea"/>
              </a:rPr>
              <a:t>◀</a:t>
            </a:r>
            <a:endParaRPr lang="en-US" altLang="ko-KR" sz="1000" b="1" spc="-50" dirty="0">
              <a:latin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FC57D67B-10DC-0C09-A003-BF7107C0A726}"/>
                  </a:ext>
                </a:extLst>
              </p14:cNvPr>
              <p14:cNvContentPartPr/>
              <p14:nvPr/>
            </p14:nvContentPartPr>
            <p14:xfrm>
              <a:off x="2320519" y="3421008"/>
              <a:ext cx="1959840" cy="36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FC57D67B-10DC-0C09-A003-BF7107C0A72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284519" y="3349008"/>
                <a:ext cx="203148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D0F6C9DE-4B57-1234-8E94-00499E559DBF}"/>
                  </a:ext>
                </a:extLst>
              </p14:cNvPr>
              <p14:cNvContentPartPr/>
              <p14:nvPr/>
            </p14:nvContentPartPr>
            <p14:xfrm>
              <a:off x="2265799" y="4116168"/>
              <a:ext cx="1829160" cy="36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D0F6C9DE-4B57-1234-8E94-00499E559DB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229799" y="4044168"/>
                <a:ext cx="19008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C8D2E14B-96EE-A74A-EBAE-2D21FD2EECB2}"/>
                  </a:ext>
                </a:extLst>
              </p14:cNvPr>
              <p14:cNvContentPartPr/>
              <p14:nvPr/>
            </p14:nvContentPartPr>
            <p14:xfrm>
              <a:off x="4332199" y="4116168"/>
              <a:ext cx="1682640" cy="36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C8D2E14B-96EE-A74A-EBAE-2D21FD2EECB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296199" y="4044168"/>
                <a:ext cx="1754280" cy="1440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57CDA480-FEB2-B5F8-E36F-B1F2725A2149}"/>
              </a:ext>
            </a:extLst>
          </p:cNvPr>
          <p:cNvSpPr txBox="1"/>
          <p:nvPr/>
        </p:nvSpPr>
        <p:spPr>
          <a:xfrm>
            <a:off x="346666" y="3274676"/>
            <a:ext cx="1775013" cy="273784"/>
          </a:xfrm>
          <a:prstGeom prst="rect">
            <a:avLst/>
          </a:prstGeom>
          <a:noFill/>
          <a:ln>
            <a:noFill/>
          </a:ln>
        </p:spPr>
        <p:txBody>
          <a:bodyPr wrap="square" tIns="7200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ko-KR" altLang="en-US" sz="1000" b="1" spc="-50" dirty="0">
                <a:solidFill>
                  <a:srgbClr val="1919E5"/>
                </a:solidFill>
                <a:latin typeface="+mn-ea"/>
              </a:rPr>
              <a:t>신규 중기 판로지원 </a:t>
            </a:r>
            <a:r>
              <a:rPr lang="ko-KR" altLang="en-US" sz="1000" b="1" spc="-50" dirty="0">
                <a:latin typeface="+mn-ea"/>
              </a:rPr>
              <a:t>◀ </a:t>
            </a:r>
            <a:endParaRPr lang="en-US" altLang="ko-KR" sz="1000" b="1" spc="-50" dirty="0"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67EC7F-7955-3E2C-DA3B-BDDCCCD6EF8F}"/>
              </a:ext>
            </a:extLst>
          </p:cNvPr>
          <p:cNvSpPr txBox="1"/>
          <p:nvPr/>
        </p:nvSpPr>
        <p:spPr>
          <a:xfrm>
            <a:off x="346666" y="3972432"/>
            <a:ext cx="1775013" cy="273784"/>
          </a:xfrm>
          <a:prstGeom prst="rect">
            <a:avLst/>
          </a:prstGeom>
          <a:noFill/>
          <a:ln>
            <a:noFill/>
          </a:ln>
        </p:spPr>
        <p:txBody>
          <a:bodyPr wrap="square" tIns="7200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ko-KR" altLang="en-US" sz="1000" b="1" spc="-50" dirty="0">
                <a:latin typeface="+mn-ea"/>
              </a:rPr>
              <a:t>비리 예방</a:t>
            </a:r>
            <a:r>
              <a:rPr lang="en-US" altLang="ko-KR" sz="1000" b="1" spc="-50" dirty="0">
                <a:latin typeface="+mn-ea"/>
              </a:rPr>
              <a:t>, </a:t>
            </a:r>
            <a:r>
              <a:rPr lang="ko-KR" altLang="en-US" sz="1000" b="1" spc="-50" dirty="0">
                <a:latin typeface="+mn-ea"/>
              </a:rPr>
              <a:t>심의 강화 ◀</a:t>
            </a:r>
            <a:endParaRPr lang="en-US" altLang="ko-KR" sz="1000" b="1" spc="-50" dirty="0"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6BF010-0650-BDDF-D6D7-71496A2C3AD9}"/>
              </a:ext>
            </a:extLst>
          </p:cNvPr>
          <p:cNvSpPr txBox="1"/>
          <p:nvPr/>
        </p:nvSpPr>
        <p:spPr>
          <a:xfrm>
            <a:off x="81687" y="4404233"/>
            <a:ext cx="2039993" cy="273784"/>
          </a:xfrm>
          <a:prstGeom prst="rect">
            <a:avLst/>
          </a:prstGeom>
          <a:noFill/>
          <a:ln>
            <a:noFill/>
          </a:ln>
        </p:spPr>
        <p:txBody>
          <a:bodyPr wrap="square" tIns="7200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ko-KR" altLang="en-US" sz="1000" b="1" spc="-50" dirty="0">
                <a:latin typeface="+mn-ea"/>
              </a:rPr>
              <a:t>불공정거래</a:t>
            </a:r>
            <a:r>
              <a:rPr lang="en-US" altLang="ko-KR" sz="1000" b="1" spc="-50" dirty="0">
                <a:latin typeface="+mn-ea"/>
              </a:rPr>
              <a:t>·</a:t>
            </a:r>
            <a:r>
              <a:rPr lang="ko-KR" altLang="en-US" sz="1000" b="1" spc="-50" dirty="0">
                <a:latin typeface="+mn-ea"/>
              </a:rPr>
              <a:t>소비자보호 규정 등 ◀</a:t>
            </a:r>
            <a:endParaRPr lang="en-US" altLang="ko-KR" sz="1000" b="1" spc="-50" dirty="0"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0306BE-B57C-63F7-17C9-81E26A90174B}"/>
              </a:ext>
            </a:extLst>
          </p:cNvPr>
          <p:cNvSpPr txBox="1"/>
          <p:nvPr/>
        </p:nvSpPr>
        <p:spPr>
          <a:xfrm>
            <a:off x="346666" y="5098254"/>
            <a:ext cx="1775013" cy="273784"/>
          </a:xfrm>
          <a:prstGeom prst="rect">
            <a:avLst/>
          </a:prstGeom>
          <a:noFill/>
          <a:ln>
            <a:noFill/>
          </a:ln>
        </p:spPr>
        <p:txBody>
          <a:bodyPr wrap="square" tIns="7200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ko-KR" altLang="en-US" sz="1000" b="1" spc="-50" dirty="0">
                <a:latin typeface="+mn-ea"/>
              </a:rPr>
              <a:t>자막</a:t>
            </a:r>
            <a:r>
              <a:rPr lang="en-US" altLang="ko-KR" sz="1000" b="1" spc="-50" dirty="0">
                <a:latin typeface="+mn-ea"/>
              </a:rPr>
              <a:t>, </a:t>
            </a:r>
            <a:r>
              <a:rPr lang="ko-KR" altLang="en-US" sz="1000" b="1" spc="-50" dirty="0">
                <a:latin typeface="+mn-ea"/>
              </a:rPr>
              <a:t>수화 등 장애인 지원 ◀</a:t>
            </a:r>
            <a:endParaRPr lang="en-US" altLang="ko-KR" sz="1000" b="1" spc="-50" dirty="0"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A2A77C-0A19-95AE-450F-4FE4204EB363}"/>
              </a:ext>
            </a:extLst>
          </p:cNvPr>
          <p:cNvSpPr txBox="1"/>
          <p:nvPr/>
        </p:nvSpPr>
        <p:spPr>
          <a:xfrm>
            <a:off x="346666" y="5510632"/>
            <a:ext cx="1775013" cy="273784"/>
          </a:xfrm>
          <a:prstGeom prst="rect">
            <a:avLst/>
          </a:prstGeom>
          <a:noFill/>
          <a:ln>
            <a:noFill/>
          </a:ln>
        </p:spPr>
        <p:txBody>
          <a:bodyPr wrap="square" tIns="7200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ko-KR" altLang="en-US" sz="1000" b="1" spc="-50" dirty="0">
                <a:latin typeface="+mn-ea"/>
              </a:rPr>
              <a:t>채널경쟁 지양 ◀</a:t>
            </a:r>
            <a:endParaRPr lang="en-US" altLang="ko-KR" sz="1000" b="1" spc="-50" dirty="0"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301400-9761-C9BF-B073-AB763714FFFD}"/>
              </a:ext>
            </a:extLst>
          </p:cNvPr>
          <p:cNvSpPr txBox="1"/>
          <p:nvPr/>
        </p:nvSpPr>
        <p:spPr>
          <a:xfrm>
            <a:off x="346666" y="5952145"/>
            <a:ext cx="1775013" cy="273784"/>
          </a:xfrm>
          <a:prstGeom prst="rect">
            <a:avLst/>
          </a:prstGeom>
          <a:noFill/>
          <a:ln>
            <a:noFill/>
          </a:ln>
        </p:spPr>
        <p:txBody>
          <a:bodyPr wrap="square" tIns="7200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ko-KR" altLang="en-US" sz="1000" b="1" spc="-50" dirty="0">
                <a:latin typeface="+mn-ea"/>
              </a:rPr>
              <a:t>계열사간 불공정거래 예방 ◀</a:t>
            </a:r>
            <a:endParaRPr lang="en-US" altLang="ko-KR" sz="1000" b="1" spc="-50" dirty="0">
              <a:latin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762D823F-467C-ED28-816A-BF2D7B9F4473}"/>
                  </a:ext>
                </a:extLst>
              </p14:cNvPr>
              <p14:cNvContentPartPr/>
              <p14:nvPr/>
            </p14:nvContentPartPr>
            <p14:xfrm>
              <a:off x="2287672" y="4551060"/>
              <a:ext cx="3630960" cy="360"/>
            </p14:xfrm>
          </p:contentPart>
        </mc:Choice>
        <mc:Fallback xmlns=""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762D823F-467C-ED28-816A-BF2D7B9F447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251676" y="4479060"/>
                <a:ext cx="3702593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DBABADD6-B873-96AE-1B83-7F1AC6E7AAD8}"/>
                  </a:ext>
                </a:extLst>
              </p14:cNvPr>
              <p14:cNvContentPartPr/>
              <p14:nvPr/>
            </p14:nvContentPartPr>
            <p14:xfrm>
              <a:off x="2262472" y="4703340"/>
              <a:ext cx="956160" cy="36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DBABADD6-B873-96AE-1B83-7F1AC6E7AAD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26472" y="4631340"/>
                <a:ext cx="10278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A60F33C8-DE13-6E99-CA2F-0F8C4784764A}"/>
                  </a:ext>
                </a:extLst>
              </p14:cNvPr>
              <p14:cNvContentPartPr/>
              <p14:nvPr/>
            </p14:nvContentPartPr>
            <p14:xfrm>
              <a:off x="4573672" y="4703340"/>
              <a:ext cx="1003680" cy="360"/>
            </p14:xfrm>
          </p:contentPart>
        </mc:Choice>
        <mc:Fallback xmlns=""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A60F33C8-DE13-6E99-CA2F-0F8C4784764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537685" y="4631340"/>
                <a:ext cx="1075294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A1ECF5EC-52CE-B805-1129-6A1B694F01A2}"/>
                  </a:ext>
                </a:extLst>
              </p14:cNvPr>
              <p14:cNvContentPartPr/>
              <p14:nvPr/>
            </p14:nvContentPartPr>
            <p14:xfrm>
              <a:off x="4408792" y="4830420"/>
              <a:ext cx="1569240" cy="360"/>
            </p14:xfrm>
          </p:contentPart>
        </mc:Choice>
        <mc:Fallback xmlns=""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A1ECF5EC-52CE-B805-1129-6A1B694F01A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372792" y="4758420"/>
                <a:ext cx="164088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B26051EC-B887-0E3F-DF85-B8DF94AE92C8}"/>
                  </a:ext>
                </a:extLst>
              </p14:cNvPr>
              <p14:cNvContentPartPr/>
              <p14:nvPr/>
            </p14:nvContentPartPr>
            <p14:xfrm>
              <a:off x="2275072" y="5249460"/>
              <a:ext cx="912960" cy="360"/>
            </p14:xfrm>
          </p:contentPart>
        </mc:Choice>
        <mc:Fallback xmlns=""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B26051EC-B887-0E3F-DF85-B8DF94AE92C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239086" y="5177460"/>
                <a:ext cx="984572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547FF7BA-AD5B-7961-8F69-7F675B01F39A}"/>
                  </a:ext>
                </a:extLst>
              </p14:cNvPr>
              <p14:cNvContentPartPr/>
              <p14:nvPr/>
            </p14:nvContentPartPr>
            <p14:xfrm>
              <a:off x="2287672" y="5668500"/>
              <a:ext cx="2286000" cy="360"/>
            </p14:xfrm>
          </p:contentPart>
        </mc:Choice>
        <mc:Fallback xmlns=""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547FF7BA-AD5B-7961-8F69-7F675B01F39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251678" y="5596500"/>
                <a:ext cx="2357629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46B9DA8C-6523-BCA2-4A8A-7955DF311871}"/>
                  </a:ext>
                </a:extLst>
              </p14:cNvPr>
              <p14:cNvContentPartPr/>
              <p14:nvPr/>
            </p14:nvContentPartPr>
            <p14:xfrm>
              <a:off x="2287672" y="6100500"/>
              <a:ext cx="3799440" cy="360"/>
            </p14:xfrm>
          </p:contentPart>
        </mc:Choice>
        <mc:Fallback xmlns=""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46B9DA8C-6523-BCA2-4A8A-7955DF31187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251675" y="6028500"/>
                <a:ext cx="3871073" cy="14400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C0EFDF5B-517C-0002-BD87-A1669479A32A}"/>
              </a:ext>
            </a:extLst>
          </p:cNvPr>
          <p:cNvSpPr txBox="1"/>
          <p:nvPr/>
        </p:nvSpPr>
        <p:spPr>
          <a:xfrm>
            <a:off x="10238678" y="1104480"/>
            <a:ext cx="1934996" cy="273784"/>
          </a:xfrm>
          <a:prstGeom prst="rect">
            <a:avLst/>
          </a:prstGeom>
          <a:noFill/>
          <a:ln>
            <a:noFill/>
          </a:ln>
        </p:spPr>
        <p:txBody>
          <a:bodyPr wrap="square" tIns="7200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000" b="1" spc="-50" dirty="0">
                <a:latin typeface="+mn-ea"/>
              </a:rPr>
              <a:t>▶ </a:t>
            </a:r>
            <a:r>
              <a:rPr lang="ko-KR" altLang="en-US" sz="1000" b="1" spc="-50">
                <a:solidFill>
                  <a:srgbClr val="1919E5"/>
                </a:solidFill>
                <a:latin typeface="+mn-ea"/>
              </a:rPr>
              <a:t>영상영역 </a:t>
            </a:r>
            <a:r>
              <a:rPr lang="en-US" altLang="ko-KR" sz="1000" b="1" spc="-50">
                <a:solidFill>
                  <a:srgbClr val="1919E5"/>
                </a:solidFill>
                <a:latin typeface="+mn-ea"/>
              </a:rPr>
              <a:t>½ </a:t>
            </a:r>
            <a:r>
              <a:rPr lang="ko-KR" altLang="en-US" sz="1000" b="1" spc="-50">
                <a:solidFill>
                  <a:srgbClr val="1919E5"/>
                </a:solidFill>
                <a:latin typeface="+mn-ea"/>
              </a:rPr>
              <a:t>미만</a:t>
            </a:r>
            <a:r>
              <a:rPr lang="en-US" altLang="ko-KR" sz="1000" b="1" spc="-50">
                <a:solidFill>
                  <a:srgbClr val="1919E5"/>
                </a:solidFill>
                <a:latin typeface="+mn-ea"/>
              </a:rPr>
              <a:t>, </a:t>
            </a:r>
            <a:r>
              <a:rPr lang="ko-KR" altLang="en-US" sz="1000" b="1" spc="-50">
                <a:solidFill>
                  <a:srgbClr val="1919E5"/>
                </a:solidFill>
                <a:latin typeface="+mn-ea"/>
              </a:rPr>
              <a:t>생방송금지</a:t>
            </a:r>
            <a:endParaRPr lang="en-US" altLang="ko-KR" sz="1000" b="1" spc="-50" dirty="0">
              <a:solidFill>
                <a:srgbClr val="1919E5"/>
              </a:solidFill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C9F2A5-D423-3437-EF17-3884844366AF}"/>
              </a:ext>
            </a:extLst>
          </p:cNvPr>
          <p:cNvSpPr txBox="1"/>
          <p:nvPr/>
        </p:nvSpPr>
        <p:spPr>
          <a:xfrm>
            <a:off x="10238678" y="1398809"/>
            <a:ext cx="1934996" cy="273784"/>
          </a:xfrm>
          <a:prstGeom prst="rect">
            <a:avLst/>
          </a:prstGeom>
          <a:noFill/>
          <a:ln>
            <a:noFill/>
          </a:ln>
        </p:spPr>
        <p:txBody>
          <a:bodyPr wrap="square" tIns="7200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000" b="1" spc="-50" dirty="0">
                <a:latin typeface="+mn-ea"/>
              </a:rPr>
              <a:t>▶ </a:t>
            </a:r>
            <a:r>
              <a:rPr lang="ko-KR" altLang="en-US" sz="1000" b="1" spc="-50" dirty="0" err="1">
                <a:solidFill>
                  <a:srgbClr val="FF0000"/>
                </a:solidFill>
                <a:latin typeface="+mn-ea"/>
              </a:rPr>
              <a:t>송출료</a:t>
            </a:r>
            <a:r>
              <a:rPr lang="ko-KR" altLang="en-US" sz="1000" b="1" spc="-50" dirty="0">
                <a:solidFill>
                  <a:srgbClr val="FF0000"/>
                </a:solidFill>
                <a:latin typeface="+mn-ea"/>
              </a:rPr>
              <a:t> 인상분 전가 금지</a:t>
            </a:r>
            <a:endParaRPr lang="en-US" altLang="ko-KR" sz="1000" b="1" spc="-5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1C8F02-8224-27C3-96F5-9E3524AF0DB4}"/>
              </a:ext>
            </a:extLst>
          </p:cNvPr>
          <p:cNvSpPr txBox="1"/>
          <p:nvPr/>
        </p:nvSpPr>
        <p:spPr>
          <a:xfrm>
            <a:off x="10234940" y="1948658"/>
            <a:ext cx="1934996" cy="273784"/>
          </a:xfrm>
          <a:prstGeom prst="rect">
            <a:avLst/>
          </a:prstGeom>
          <a:noFill/>
          <a:ln>
            <a:noFill/>
          </a:ln>
        </p:spPr>
        <p:txBody>
          <a:bodyPr wrap="square" tIns="7200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000" b="1" spc="-50" dirty="0">
                <a:latin typeface="+mn-ea"/>
              </a:rPr>
              <a:t>▶ </a:t>
            </a:r>
            <a:r>
              <a:rPr lang="ko-KR" altLang="en-US" sz="1000" b="1" spc="-50" dirty="0">
                <a:latin typeface="+mn-ea"/>
              </a:rPr>
              <a:t>데이터영역 양방향서비스</a:t>
            </a:r>
            <a:endParaRPr lang="en-US" altLang="ko-KR" sz="1000" b="1" spc="-50" dirty="0"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854ABB-A917-7004-E606-A9E1D2D4EB3D}"/>
              </a:ext>
            </a:extLst>
          </p:cNvPr>
          <p:cNvSpPr txBox="1"/>
          <p:nvPr/>
        </p:nvSpPr>
        <p:spPr>
          <a:xfrm>
            <a:off x="10240169" y="2371494"/>
            <a:ext cx="1934996" cy="273784"/>
          </a:xfrm>
          <a:prstGeom prst="rect">
            <a:avLst/>
          </a:prstGeom>
          <a:noFill/>
          <a:ln>
            <a:noFill/>
          </a:ln>
        </p:spPr>
        <p:txBody>
          <a:bodyPr wrap="square" tIns="7200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000" b="1" spc="-50" dirty="0">
                <a:latin typeface="+mn-ea"/>
              </a:rPr>
              <a:t>▶ </a:t>
            </a:r>
            <a:r>
              <a:rPr lang="ko-KR" altLang="en-US" sz="1000" b="1" spc="-50" dirty="0">
                <a:latin typeface="+mn-ea"/>
              </a:rPr>
              <a:t>매년 </a:t>
            </a:r>
            <a:r>
              <a:rPr lang="en-US" altLang="ko-KR" sz="1000" b="1" spc="-50" dirty="0">
                <a:latin typeface="+mn-ea"/>
              </a:rPr>
              <a:t>3</a:t>
            </a:r>
            <a:r>
              <a:rPr lang="ko-KR" altLang="en-US" sz="1000" b="1" spc="-50" dirty="0">
                <a:latin typeface="+mn-ea"/>
              </a:rPr>
              <a:t>월 실적 제출</a:t>
            </a:r>
            <a:endParaRPr lang="en-US" altLang="ko-KR" sz="1000" b="1" spc="-50" dirty="0">
              <a:latin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C7D0E5-7836-F7CB-7463-C27D92B0D0B9}"/>
              </a:ext>
            </a:extLst>
          </p:cNvPr>
          <p:cNvSpPr txBox="1"/>
          <p:nvPr/>
        </p:nvSpPr>
        <p:spPr>
          <a:xfrm>
            <a:off x="10236432" y="3062527"/>
            <a:ext cx="1934996" cy="443061"/>
          </a:xfrm>
          <a:prstGeom prst="rect">
            <a:avLst/>
          </a:prstGeom>
          <a:noFill/>
          <a:ln>
            <a:noFill/>
          </a:ln>
        </p:spPr>
        <p:txBody>
          <a:bodyPr wrap="square" tIns="7200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000" b="1" spc="-50" dirty="0">
                <a:latin typeface="+mn-ea"/>
              </a:rPr>
              <a:t>▶ </a:t>
            </a:r>
            <a:r>
              <a:rPr lang="en-US" altLang="ko-KR" sz="1000" b="1" spc="-50">
                <a:solidFill>
                  <a:srgbClr val="FF0000"/>
                </a:solidFill>
                <a:latin typeface="+mn-ea"/>
              </a:rPr>
              <a:t>TV</a:t>
            </a:r>
            <a:r>
              <a:rPr lang="ko-KR" altLang="en-US" sz="1000" b="1" spc="-50">
                <a:solidFill>
                  <a:srgbClr val="FF0000"/>
                </a:solidFill>
                <a:latin typeface="+mn-ea"/>
              </a:rPr>
              <a:t>상품을 데이터홈쇼핑에</a:t>
            </a:r>
            <a:endParaRPr lang="en-US" altLang="ko-KR" sz="1000" b="1" spc="-5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10000"/>
              </a:lnSpc>
            </a:pPr>
            <a:r>
              <a:rPr lang="en-US" altLang="ko-KR" sz="1000" b="1" spc="-50">
                <a:solidFill>
                  <a:srgbClr val="FF0000"/>
                </a:solidFill>
                <a:latin typeface="+mn-ea"/>
              </a:rPr>
              <a:t>    </a:t>
            </a:r>
            <a:r>
              <a:rPr lang="ko-KR" altLang="en-US" sz="1000" b="1" spc="-50">
                <a:solidFill>
                  <a:srgbClr val="FF0000"/>
                </a:solidFill>
                <a:latin typeface="+mn-ea"/>
              </a:rPr>
              <a:t>편성 불가</a:t>
            </a:r>
            <a:endParaRPr lang="en-US" altLang="ko-KR" sz="1000" b="1" spc="-5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B1BBCC-2277-7F08-B8AE-06EE899520A4}"/>
              </a:ext>
            </a:extLst>
          </p:cNvPr>
          <p:cNvSpPr txBox="1"/>
          <p:nvPr/>
        </p:nvSpPr>
        <p:spPr>
          <a:xfrm>
            <a:off x="10241663" y="3759533"/>
            <a:ext cx="1934996" cy="273784"/>
          </a:xfrm>
          <a:prstGeom prst="rect">
            <a:avLst/>
          </a:prstGeom>
          <a:noFill/>
          <a:ln>
            <a:noFill/>
          </a:ln>
        </p:spPr>
        <p:txBody>
          <a:bodyPr wrap="square" tIns="7200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000" b="1" spc="-50" dirty="0">
                <a:latin typeface="+mn-ea"/>
              </a:rPr>
              <a:t>▶ </a:t>
            </a:r>
            <a:r>
              <a:rPr lang="ko-KR" altLang="en-US" sz="1000" b="1" spc="-50" dirty="0">
                <a:solidFill>
                  <a:srgbClr val="1919E5"/>
                </a:solidFill>
                <a:latin typeface="+mn-ea"/>
              </a:rPr>
              <a:t>중기 </a:t>
            </a:r>
            <a:r>
              <a:rPr lang="ko-KR" altLang="en-US" sz="1000" b="1" spc="-50" dirty="0" err="1">
                <a:solidFill>
                  <a:srgbClr val="1919E5"/>
                </a:solidFill>
                <a:latin typeface="+mn-ea"/>
              </a:rPr>
              <a:t>판수율</a:t>
            </a:r>
            <a:r>
              <a:rPr lang="ko-KR" altLang="en-US" sz="1000" b="1" spc="-50" dirty="0">
                <a:solidFill>
                  <a:srgbClr val="1919E5"/>
                </a:solidFill>
                <a:latin typeface="+mn-ea"/>
              </a:rPr>
              <a:t> 인하 계획</a:t>
            </a:r>
            <a:endParaRPr lang="en-US" altLang="ko-KR" sz="1000" b="1" spc="-50" dirty="0">
              <a:solidFill>
                <a:srgbClr val="1919E5"/>
              </a:solidFill>
              <a:latin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5" name="잉크 34">
                <a:extLst>
                  <a:ext uri="{FF2B5EF4-FFF2-40B4-BE49-F238E27FC236}">
                    <a16:creationId xmlns:a16="http://schemas.microsoft.com/office/drawing/2014/main" id="{50841F07-2000-C60B-7AC1-C5847EE76B0D}"/>
                  </a:ext>
                </a:extLst>
              </p14:cNvPr>
              <p14:cNvContentPartPr/>
              <p14:nvPr/>
            </p14:nvContentPartPr>
            <p14:xfrm>
              <a:off x="6437232" y="1272168"/>
              <a:ext cx="2819520" cy="360"/>
            </p14:xfrm>
          </p:contentPart>
        </mc:Choice>
        <mc:Fallback xmlns="">
          <p:pic>
            <p:nvPicPr>
              <p:cNvPr id="35" name="잉크 34">
                <a:extLst>
                  <a:ext uri="{FF2B5EF4-FFF2-40B4-BE49-F238E27FC236}">
                    <a16:creationId xmlns:a16="http://schemas.microsoft.com/office/drawing/2014/main" id="{50841F07-2000-C60B-7AC1-C5847EE76B0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401237" y="1200168"/>
                <a:ext cx="2891151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6" name="잉크 35">
                <a:extLst>
                  <a:ext uri="{FF2B5EF4-FFF2-40B4-BE49-F238E27FC236}">
                    <a16:creationId xmlns:a16="http://schemas.microsoft.com/office/drawing/2014/main" id="{2828DBAB-2412-B936-595A-658B17924E36}"/>
                  </a:ext>
                </a:extLst>
              </p14:cNvPr>
              <p14:cNvContentPartPr/>
              <p14:nvPr/>
            </p14:nvContentPartPr>
            <p14:xfrm>
              <a:off x="8320752" y="1665648"/>
              <a:ext cx="1842840" cy="360"/>
            </p14:xfrm>
          </p:contentPart>
        </mc:Choice>
        <mc:Fallback xmlns="">
          <p:pic>
            <p:nvPicPr>
              <p:cNvPr id="36" name="잉크 35">
                <a:extLst>
                  <a:ext uri="{FF2B5EF4-FFF2-40B4-BE49-F238E27FC236}">
                    <a16:creationId xmlns:a16="http://schemas.microsoft.com/office/drawing/2014/main" id="{2828DBAB-2412-B936-595A-658B17924E3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284759" y="1593648"/>
                <a:ext cx="1914466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7" name="잉크 36">
                <a:extLst>
                  <a:ext uri="{FF2B5EF4-FFF2-40B4-BE49-F238E27FC236}">
                    <a16:creationId xmlns:a16="http://schemas.microsoft.com/office/drawing/2014/main" id="{BF64311F-A461-1048-5CD9-3A6B25B10D23}"/>
                  </a:ext>
                </a:extLst>
              </p14:cNvPr>
              <p14:cNvContentPartPr/>
              <p14:nvPr/>
            </p14:nvContentPartPr>
            <p14:xfrm>
              <a:off x="6409512" y="1811808"/>
              <a:ext cx="2067840" cy="360"/>
            </p14:xfrm>
          </p:contentPart>
        </mc:Choice>
        <mc:Fallback xmlns="">
          <p:pic>
            <p:nvPicPr>
              <p:cNvPr id="37" name="잉크 36">
                <a:extLst>
                  <a:ext uri="{FF2B5EF4-FFF2-40B4-BE49-F238E27FC236}">
                    <a16:creationId xmlns:a16="http://schemas.microsoft.com/office/drawing/2014/main" id="{BF64311F-A461-1048-5CD9-3A6B25B10D2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373512" y="1739808"/>
                <a:ext cx="213948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8" name="잉크 37">
                <a:extLst>
                  <a:ext uri="{FF2B5EF4-FFF2-40B4-BE49-F238E27FC236}">
                    <a16:creationId xmlns:a16="http://schemas.microsoft.com/office/drawing/2014/main" id="{AB0A421A-8846-677A-D4C8-7BC17E7B0DFB}"/>
                  </a:ext>
                </a:extLst>
              </p14:cNvPr>
              <p14:cNvContentPartPr/>
              <p14:nvPr/>
            </p14:nvContentPartPr>
            <p14:xfrm>
              <a:off x="6455232" y="2095128"/>
              <a:ext cx="1746000" cy="360"/>
            </p14:xfrm>
          </p:contentPart>
        </mc:Choice>
        <mc:Fallback xmlns="">
          <p:pic>
            <p:nvPicPr>
              <p:cNvPr id="38" name="잉크 37">
                <a:extLst>
                  <a:ext uri="{FF2B5EF4-FFF2-40B4-BE49-F238E27FC236}">
                    <a16:creationId xmlns:a16="http://schemas.microsoft.com/office/drawing/2014/main" id="{AB0A421A-8846-677A-D4C8-7BC17E7B0DF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419232" y="2023128"/>
                <a:ext cx="18176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9" name="잉크 38">
                <a:extLst>
                  <a:ext uri="{FF2B5EF4-FFF2-40B4-BE49-F238E27FC236}">
                    <a16:creationId xmlns:a16="http://schemas.microsoft.com/office/drawing/2014/main" id="{52EAE61E-3BE6-D2D7-34E4-974CDF6B7479}"/>
                  </a:ext>
                </a:extLst>
              </p14:cNvPr>
              <p14:cNvContentPartPr/>
              <p14:nvPr/>
            </p14:nvContentPartPr>
            <p14:xfrm>
              <a:off x="8631792" y="2095128"/>
              <a:ext cx="1508400" cy="360"/>
            </p14:xfrm>
          </p:contentPart>
        </mc:Choice>
        <mc:Fallback xmlns="">
          <p:pic>
            <p:nvPicPr>
              <p:cNvPr id="39" name="잉크 38">
                <a:extLst>
                  <a:ext uri="{FF2B5EF4-FFF2-40B4-BE49-F238E27FC236}">
                    <a16:creationId xmlns:a16="http://schemas.microsoft.com/office/drawing/2014/main" id="{52EAE61E-3BE6-D2D7-34E4-974CDF6B747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595801" y="2023128"/>
                <a:ext cx="1580023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0" name="잉크 39">
                <a:extLst>
                  <a:ext uri="{FF2B5EF4-FFF2-40B4-BE49-F238E27FC236}">
                    <a16:creationId xmlns:a16="http://schemas.microsoft.com/office/drawing/2014/main" id="{D123F497-4D09-500D-FA45-E1E79D7E6221}"/>
                  </a:ext>
                </a:extLst>
              </p14:cNvPr>
              <p14:cNvContentPartPr/>
              <p14:nvPr/>
            </p14:nvContentPartPr>
            <p14:xfrm>
              <a:off x="9280512" y="2671488"/>
              <a:ext cx="887040" cy="360"/>
            </p14:xfrm>
          </p:contentPart>
        </mc:Choice>
        <mc:Fallback xmlns="">
          <p:pic>
            <p:nvPicPr>
              <p:cNvPr id="40" name="잉크 39">
                <a:extLst>
                  <a:ext uri="{FF2B5EF4-FFF2-40B4-BE49-F238E27FC236}">
                    <a16:creationId xmlns:a16="http://schemas.microsoft.com/office/drawing/2014/main" id="{D123F497-4D09-500D-FA45-E1E79D7E622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244497" y="2599488"/>
                <a:ext cx="958709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1" name="잉크 40">
                <a:extLst>
                  <a:ext uri="{FF2B5EF4-FFF2-40B4-BE49-F238E27FC236}">
                    <a16:creationId xmlns:a16="http://schemas.microsoft.com/office/drawing/2014/main" id="{1466E347-BD4A-7518-6BB5-848A214CD0E9}"/>
                  </a:ext>
                </a:extLst>
              </p14:cNvPr>
              <p14:cNvContentPartPr/>
              <p14:nvPr/>
            </p14:nvContentPartPr>
            <p14:xfrm>
              <a:off x="6446232" y="2799288"/>
              <a:ext cx="2103120" cy="360"/>
            </p14:xfrm>
          </p:contentPart>
        </mc:Choice>
        <mc:Fallback xmlns="">
          <p:pic>
            <p:nvPicPr>
              <p:cNvPr id="41" name="잉크 40">
                <a:extLst>
                  <a:ext uri="{FF2B5EF4-FFF2-40B4-BE49-F238E27FC236}">
                    <a16:creationId xmlns:a16="http://schemas.microsoft.com/office/drawing/2014/main" id="{1466E347-BD4A-7518-6BB5-848A214CD0E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410232" y="2727288"/>
                <a:ext cx="21747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2" name="잉크 41">
                <a:extLst>
                  <a:ext uri="{FF2B5EF4-FFF2-40B4-BE49-F238E27FC236}">
                    <a16:creationId xmlns:a16="http://schemas.microsoft.com/office/drawing/2014/main" id="{2AED3393-0597-A73C-7192-42DDD3D70F25}"/>
                  </a:ext>
                </a:extLst>
              </p14:cNvPr>
              <p14:cNvContentPartPr/>
              <p14:nvPr/>
            </p14:nvContentPartPr>
            <p14:xfrm>
              <a:off x="7085952" y="3210768"/>
              <a:ext cx="2405160" cy="360"/>
            </p14:xfrm>
          </p:contentPart>
        </mc:Choice>
        <mc:Fallback xmlns="">
          <p:pic>
            <p:nvPicPr>
              <p:cNvPr id="42" name="잉크 41">
                <a:extLst>
                  <a:ext uri="{FF2B5EF4-FFF2-40B4-BE49-F238E27FC236}">
                    <a16:creationId xmlns:a16="http://schemas.microsoft.com/office/drawing/2014/main" id="{2AED3393-0597-A73C-7192-42DDD3D70F2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049952" y="3138768"/>
                <a:ext cx="24768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3" name="잉크 42">
                <a:extLst>
                  <a:ext uri="{FF2B5EF4-FFF2-40B4-BE49-F238E27FC236}">
                    <a16:creationId xmlns:a16="http://schemas.microsoft.com/office/drawing/2014/main" id="{B8526CA6-4340-1983-7D9F-43C68EFBA231}"/>
                  </a:ext>
                </a:extLst>
              </p14:cNvPr>
              <p14:cNvContentPartPr/>
              <p14:nvPr/>
            </p14:nvContentPartPr>
            <p14:xfrm>
              <a:off x="6409512" y="3347928"/>
              <a:ext cx="2459160" cy="360"/>
            </p14:xfrm>
          </p:contentPart>
        </mc:Choice>
        <mc:Fallback xmlns="">
          <p:pic>
            <p:nvPicPr>
              <p:cNvPr id="43" name="잉크 42">
                <a:extLst>
                  <a:ext uri="{FF2B5EF4-FFF2-40B4-BE49-F238E27FC236}">
                    <a16:creationId xmlns:a16="http://schemas.microsoft.com/office/drawing/2014/main" id="{B8526CA6-4340-1983-7D9F-43C68EFBA23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373512" y="3275928"/>
                <a:ext cx="25308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4" name="잉크 43">
                <a:extLst>
                  <a:ext uri="{FF2B5EF4-FFF2-40B4-BE49-F238E27FC236}">
                    <a16:creationId xmlns:a16="http://schemas.microsoft.com/office/drawing/2014/main" id="{C41C6111-626C-0E29-AF8C-4E8977633F06}"/>
                  </a:ext>
                </a:extLst>
              </p14:cNvPr>
              <p14:cNvContentPartPr/>
              <p14:nvPr/>
            </p14:nvContentPartPr>
            <p14:xfrm>
              <a:off x="9271512" y="3631608"/>
              <a:ext cx="868320" cy="360"/>
            </p14:xfrm>
          </p:contentPart>
        </mc:Choice>
        <mc:Fallback xmlns="">
          <p:pic>
            <p:nvPicPr>
              <p:cNvPr id="44" name="잉크 43">
                <a:extLst>
                  <a:ext uri="{FF2B5EF4-FFF2-40B4-BE49-F238E27FC236}">
                    <a16:creationId xmlns:a16="http://schemas.microsoft.com/office/drawing/2014/main" id="{C41C6111-626C-0E29-AF8C-4E8977633F0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235512" y="3559608"/>
                <a:ext cx="9399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5" name="잉크 44">
                <a:extLst>
                  <a:ext uri="{FF2B5EF4-FFF2-40B4-BE49-F238E27FC236}">
                    <a16:creationId xmlns:a16="http://schemas.microsoft.com/office/drawing/2014/main" id="{C8FF66B1-21C3-616C-907F-32D0E94BEE7A}"/>
                  </a:ext>
                </a:extLst>
              </p14:cNvPr>
              <p14:cNvContentPartPr/>
              <p14:nvPr/>
            </p14:nvContentPartPr>
            <p14:xfrm>
              <a:off x="6473592" y="3914928"/>
              <a:ext cx="2038680" cy="360"/>
            </p14:xfrm>
          </p:contentPart>
        </mc:Choice>
        <mc:Fallback xmlns="">
          <p:pic>
            <p:nvPicPr>
              <p:cNvPr id="45" name="잉크 44">
                <a:extLst>
                  <a:ext uri="{FF2B5EF4-FFF2-40B4-BE49-F238E27FC236}">
                    <a16:creationId xmlns:a16="http://schemas.microsoft.com/office/drawing/2014/main" id="{C8FF66B1-21C3-616C-907F-32D0E94BEE7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437592" y="3842928"/>
                <a:ext cx="2110320" cy="144000"/>
              </a:xfrm>
              <a:prstGeom prst="rect">
                <a:avLst/>
              </a:prstGeom>
            </p:spPr>
          </p:pic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B452AC3A-4189-AE5F-BD6F-3C821B0FA010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26/109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2504399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FDD72-FAC1-5EA0-2B0D-6A86505F9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E780ECC5-B828-2390-DF8B-265DF4B0996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2EB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4000" b="1" dirty="0">
                <a:solidFill>
                  <a:schemeClr val="tx1"/>
                </a:solidFill>
                <a:latin typeface="+mn-ea"/>
              </a:rPr>
              <a:t>인사말</a:t>
            </a:r>
            <a:endParaRPr lang="en-US" altLang="ko-KR" sz="40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4000" b="1" dirty="0">
                <a:solidFill>
                  <a:schemeClr val="tx1"/>
                </a:solidFill>
                <a:latin typeface="+mn-ea"/>
              </a:rPr>
              <a:t>맺음말</a:t>
            </a:r>
            <a:endParaRPr lang="en-US" altLang="ko-KR" sz="35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219823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ED059B-8AFF-4B0B-4517-0AC29D4BD145}"/>
              </a:ext>
            </a:extLst>
          </p:cNvPr>
          <p:cNvSpPr txBox="1"/>
          <p:nvPr/>
        </p:nvSpPr>
        <p:spPr>
          <a:xfrm>
            <a:off x="60051" y="70267"/>
            <a:ext cx="9572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인사말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681EAE-3CB0-D3CF-86C2-AB6D97FAFA81}"/>
              </a:ext>
            </a:extLst>
          </p:cNvPr>
          <p:cNvSpPr txBox="1"/>
          <p:nvPr/>
        </p:nvSpPr>
        <p:spPr>
          <a:xfrm>
            <a:off x="686123" y="890260"/>
            <a:ext cx="11108680" cy="53888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baseline="30000" dirty="0">
                <a:latin typeface="+mn-ea"/>
              </a:rPr>
              <a:t>안녕하십니까</a:t>
            </a:r>
            <a:r>
              <a:rPr lang="en-US" altLang="ko-KR" b="1" baseline="30000" dirty="0">
                <a:latin typeface="+mn-ea"/>
              </a:rPr>
              <a:t>? GS</a:t>
            </a:r>
            <a:r>
              <a:rPr lang="ko-KR" altLang="en-US" b="1" baseline="30000" dirty="0">
                <a:latin typeface="+mn-ea"/>
              </a:rPr>
              <a:t>리테일 대표이사 </a:t>
            </a:r>
            <a:r>
              <a:rPr lang="ko-KR" altLang="en-US" b="1" baseline="30000" dirty="0" err="1">
                <a:latin typeface="+mn-ea"/>
              </a:rPr>
              <a:t>허서홍입니다</a:t>
            </a:r>
            <a:r>
              <a:rPr lang="en-US" altLang="ko-KR" b="1" baseline="300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b="1" baseline="30000" dirty="0">
                <a:latin typeface="+mn-ea"/>
              </a:rPr>
              <a:t>먼저 데이터홈쇼핑 재승인 심사를 위해</a:t>
            </a:r>
            <a:r>
              <a:rPr lang="en-US" altLang="ko-KR" b="1" baseline="30000" dirty="0">
                <a:latin typeface="+mn-ea"/>
              </a:rPr>
              <a:t>,</a:t>
            </a:r>
            <a:r>
              <a:rPr lang="ko-KR" altLang="en-US" b="1" baseline="30000" dirty="0">
                <a:latin typeface="+mn-ea"/>
              </a:rPr>
              <a:t> 바쁘신 와중에도 시간을 내주신</a:t>
            </a:r>
            <a:endParaRPr lang="en-US" altLang="ko-KR" b="1" baseline="30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b="1" baseline="30000" dirty="0">
                <a:latin typeface="+mn-ea"/>
              </a:rPr>
              <a:t>심사위원 여러분과 방송미디어통신위원회 관계자 여러분들께 감사의 말씀을 드립니다</a:t>
            </a:r>
            <a:r>
              <a:rPr lang="en-US" altLang="ko-KR" b="1" baseline="300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ko-KR" b="1" baseline="30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b="1" baseline="30000" dirty="0" err="1">
                <a:ea typeface="맑은 고딕"/>
              </a:rPr>
              <a:t>GS리테일은</a:t>
            </a:r>
            <a:r>
              <a:rPr lang="en-US" altLang="ko-KR" b="1" baseline="30000" dirty="0">
                <a:ea typeface="맑은 고딕"/>
              </a:rPr>
              <a:t> </a:t>
            </a:r>
            <a:r>
              <a:rPr lang="ko-KR" altLang="en-US" b="1" baseline="30000" dirty="0">
                <a:ea typeface="맑은 고딕"/>
              </a:rPr>
              <a:t>대한민국 최초의 홈쇼핑 사업자로서</a:t>
            </a:r>
            <a:endParaRPr lang="en-US" altLang="ko-KR" b="1" baseline="30000" dirty="0">
              <a:ea typeface="맑은 고딕"/>
            </a:endParaRPr>
          </a:p>
          <a:p>
            <a:pPr>
              <a:lnSpc>
                <a:spcPct val="120000"/>
              </a:lnSpc>
            </a:pPr>
            <a:r>
              <a:rPr lang="en-US" altLang="ko-KR" b="1" baseline="30000" dirty="0">
                <a:ea typeface="맑은 고딕"/>
              </a:rPr>
              <a:t>TV</a:t>
            </a:r>
            <a:r>
              <a:rPr lang="ko-KR" altLang="en-US" b="1" baseline="30000" dirty="0">
                <a:ea typeface="맑은 고딕"/>
              </a:rPr>
              <a:t>홈쇼핑 뿐만 아니라</a:t>
            </a:r>
            <a:r>
              <a:rPr lang="en-US" altLang="ko-KR" b="1" baseline="30000" dirty="0">
                <a:ea typeface="맑은 고딕"/>
              </a:rPr>
              <a:t>, </a:t>
            </a:r>
            <a:r>
              <a:rPr lang="ko-KR" altLang="en-US" b="1" baseline="30000" dirty="0">
                <a:ea typeface="맑은 고딕"/>
              </a:rPr>
              <a:t>데이터홈쇼핑의 발전과 고객 신뢰를 얻기 위해 부단히 노력해 왔습니다</a:t>
            </a:r>
            <a:r>
              <a:rPr lang="en-US" altLang="ko-KR" b="1" baseline="30000" dirty="0">
                <a:ea typeface="맑은 고딕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ko-KR" altLang="en-US" b="1" baseline="30000" dirty="0">
                <a:ea typeface="맑은 고딕"/>
              </a:rPr>
              <a:t>비록 최근 다양한 유통 플랫폼과의 경쟁 속에서 홈쇼핑산업이 어려움에 직면해 있으나</a:t>
            </a:r>
            <a:r>
              <a:rPr lang="en-US" altLang="ko-KR" b="1" baseline="30000" dirty="0">
                <a:ea typeface="맑은 고딕"/>
              </a:rPr>
              <a:t>,</a:t>
            </a:r>
          </a:p>
          <a:p>
            <a:pPr>
              <a:lnSpc>
                <a:spcPct val="120000"/>
              </a:lnSpc>
            </a:pPr>
            <a:r>
              <a:rPr lang="ko-KR" altLang="en-US" b="1" baseline="30000" dirty="0">
                <a:ea typeface="맑은 고딕"/>
              </a:rPr>
              <a:t>그간 쌓아온 고객 신뢰와</a:t>
            </a:r>
            <a:r>
              <a:rPr lang="en-US" altLang="ko-KR" b="1" baseline="30000" dirty="0">
                <a:ea typeface="맑은 고딕"/>
              </a:rPr>
              <a:t> </a:t>
            </a:r>
            <a:r>
              <a:rPr lang="ko-KR" altLang="en-US" b="1" baseline="30000" dirty="0">
                <a:ea typeface="맑은 고딕"/>
              </a:rPr>
              <a:t>내부 전문인력</a:t>
            </a:r>
            <a:r>
              <a:rPr lang="en-US" altLang="ko-KR" b="1" baseline="30000" dirty="0">
                <a:ea typeface="맑은 고딕"/>
              </a:rPr>
              <a:t>, AI</a:t>
            </a:r>
            <a:r>
              <a:rPr lang="ko-KR" altLang="en-US" b="1" baseline="30000" dirty="0">
                <a:ea typeface="맑은 고딕"/>
              </a:rPr>
              <a:t>기반의 업무 혁신을 통해 </a:t>
            </a:r>
            <a:endParaRPr lang="en-US" altLang="ko-KR" b="1" baseline="30000" dirty="0">
              <a:ea typeface="맑은 고딕"/>
            </a:endParaRPr>
          </a:p>
          <a:p>
            <a:pPr>
              <a:lnSpc>
                <a:spcPct val="120000"/>
              </a:lnSpc>
            </a:pPr>
            <a:r>
              <a:rPr lang="ko-KR" altLang="en-US" b="1" baseline="30000" dirty="0">
                <a:ea typeface="맑은 고딕"/>
              </a:rPr>
              <a:t>데이터홈쇼핑이 다시 한번 성장하고 더 많은 고객의 사랑을 받을 수 있도록 최선의 노력을 다하겠습니다</a:t>
            </a:r>
            <a:r>
              <a:rPr lang="en-US" altLang="ko-KR" b="1" baseline="30000" dirty="0">
                <a:ea typeface="맑은 고딕"/>
              </a:rPr>
              <a:t>.  </a:t>
            </a:r>
          </a:p>
          <a:p>
            <a:pPr>
              <a:lnSpc>
                <a:spcPct val="120000"/>
              </a:lnSpc>
            </a:pPr>
            <a:endParaRPr lang="en-US" altLang="ko-KR" b="1" baseline="30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b="1" baseline="30000" dirty="0">
                <a:latin typeface="+mn-ea"/>
              </a:rPr>
              <a:t>향후 데이터홈쇼핑 활성화를 위해 다음과 같은 책임과 역할을 다하겠습니다</a:t>
            </a:r>
            <a:r>
              <a:rPr lang="en-US" altLang="ko-KR" b="1" baseline="300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ko-KR" b="1" baseline="30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b="1" baseline="30000" dirty="0">
                <a:latin typeface="+mn-ea"/>
              </a:rPr>
              <a:t>첫째</a:t>
            </a:r>
            <a:r>
              <a:rPr lang="en-US" altLang="ko-KR" b="1" baseline="30000" dirty="0">
                <a:latin typeface="+mn-ea"/>
              </a:rPr>
              <a:t>, </a:t>
            </a:r>
            <a:r>
              <a:rPr lang="ko-KR" altLang="en-US" b="1" baseline="30000" dirty="0">
                <a:latin typeface="+mn-ea"/>
              </a:rPr>
              <a:t>고객을 최우선 가치로 삼겠습니다</a:t>
            </a:r>
            <a:r>
              <a:rPr lang="en-US" altLang="ko-KR" b="1" baseline="300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b="1" baseline="30000" dirty="0">
                <a:latin typeface="+mn-ea"/>
              </a:rPr>
              <a:t>       </a:t>
            </a:r>
            <a:r>
              <a:rPr lang="ko-KR" altLang="en-US" b="1" baseline="30000" dirty="0">
                <a:latin typeface="+mn-ea"/>
              </a:rPr>
              <a:t>고객 의견을 적극 반영하고</a:t>
            </a:r>
            <a:r>
              <a:rPr lang="en-US" altLang="ko-KR" b="1" baseline="30000" dirty="0">
                <a:latin typeface="+mn-ea"/>
              </a:rPr>
              <a:t>,</a:t>
            </a:r>
            <a:r>
              <a:rPr lang="ko-KR" altLang="en-US" b="1" baseline="30000" dirty="0">
                <a:latin typeface="+mn-ea"/>
              </a:rPr>
              <a:t> 정확한 정보 제공</a:t>
            </a:r>
            <a:r>
              <a:rPr lang="en-US" altLang="ko-KR" b="1" baseline="30000" dirty="0">
                <a:latin typeface="+mn-ea"/>
              </a:rPr>
              <a:t>, </a:t>
            </a:r>
            <a:r>
              <a:rPr lang="ko-KR" altLang="en-US" b="1" baseline="30000" dirty="0">
                <a:latin typeface="+mn-ea"/>
              </a:rPr>
              <a:t>안심할 수 있는 품질 관리를 통해 </a:t>
            </a:r>
            <a:endParaRPr lang="en-US" altLang="ko-KR" b="1" baseline="30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b="1" baseline="30000" dirty="0">
                <a:latin typeface="+mn-ea"/>
              </a:rPr>
              <a:t>       </a:t>
            </a:r>
            <a:r>
              <a:rPr lang="ko-KR" altLang="en-US" b="1" baseline="30000" dirty="0">
                <a:latin typeface="+mn-ea"/>
              </a:rPr>
              <a:t>고객이 안심하고 만족하실 수 있는 상품과 서비스를 제공하겠습니다</a:t>
            </a:r>
            <a:r>
              <a:rPr lang="en-US" altLang="ko-KR" b="1" baseline="300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ko-KR" b="1" baseline="30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b="1" baseline="30000" dirty="0">
                <a:latin typeface="+mn-ea"/>
              </a:rPr>
              <a:t>둘째</a:t>
            </a:r>
            <a:r>
              <a:rPr lang="en-US" altLang="ko-KR" b="1" baseline="30000" dirty="0">
                <a:latin typeface="+mn-ea"/>
              </a:rPr>
              <a:t>, </a:t>
            </a:r>
            <a:r>
              <a:rPr lang="ko-KR" altLang="en-US" b="1" baseline="30000" dirty="0">
                <a:latin typeface="+mn-ea"/>
              </a:rPr>
              <a:t>중소기업의 진입 부담을 낮추고</a:t>
            </a:r>
            <a:r>
              <a:rPr lang="en-US" altLang="ko-KR" b="1" baseline="30000" dirty="0">
                <a:latin typeface="+mn-ea"/>
              </a:rPr>
              <a:t>, </a:t>
            </a:r>
            <a:r>
              <a:rPr lang="ko-KR" altLang="en-US" b="1" baseline="30000" dirty="0">
                <a:latin typeface="+mn-ea"/>
              </a:rPr>
              <a:t>중소기업이 안정적으로 성장할 수 있도록 상생에 최선을 다하겠습니다</a:t>
            </a:r>
            <a:r>
              <a:rPr lang="en-US" altLang="ko-KR" b="1" baseline="300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ko-KR" b="1" baseline="30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b="1" baseline="30000" dirty="0">
                <a:latin typeface="+mn-ea"/>
              </a:rPr>
              <a:t>셋째</a:t>
            </a:r>
            <a:r>
              <a:rPr lang="en-US" altLang="ko-KR" b="1" baseline="30000" dirty="0">
                <a:latin typeface="+mn-ea"/>
              </a:rPr>
              <a:t>, ‘</a:t>
            </a:r>
            <a:r>
              <a:rPr lang="ko-KR" altLang="en-US" b="1" baseline="30000" dirty="0">
                <a:latin typeface="+mn-ea"/>
              </a:rPr>
              <a:t>데이터 기반의 일하는 방식</a:t>
            </a:r>
            <a:r>
              <a:rPr lang="en-US" altLang="ko-KR" b="1" baseline="30000" dirty="0">
                <a:latin typeface="+mn-ea"/>
              </a:rPr>
              <a:t>’</a:t>
            </a:r>
            <a:r>
              <a:rPr lang="ko-KR" altLang="en-US" b="1" baseline="30000" dirty="0">
                <a:latin typeface="+mn-ea"/>
              </a:rPr>
              <a:t>과 </a:t>
            </a:r>
            <a:r>
              <a:rPr lang="en-US" altLang="ko-KR" b="1" baseline="30000" dirty="0">
                <a:latin typeface="+mn-ea"/>
              </a:rPr>
              <a:t>‘</a:t>
            </a:r>
            <a:r>
              <a:rPr lang="ko-KR" altLang="en-US" b="1" baseline="30000" dirty="0">
                <a:latin typeface="+mn-ea"/>
              </a:rPr>
              <a:t>디지털 혁신</a:t>
            </a:r>
            <a:r>
              <a:rPr lang="en-US" altLang="ko-KR" b="1" baseline="30000" dirty="0">
                <a:latin typeface="+mn-ea"/>
              </a:rPr>
              <a:t>’</a:t>
            </a:r>
            <a:r>
              <a:rPr lang="ko-KR" altLang="en-US" b="1" baseline="30000" dirty="0">
                <a:latin typeface="+mn-ea"/>
              </a:rPr>
              <a:t>이라는 </a:t>
            </a:r>
            <a:r>
              <a:rPr lang="en-US" altLang="ko-KR" b="1" baseline="30000" dirty="0">
                <a:latin typeface="+mn-ea"/>
              </a:rPr>
              <a:t>GS</a:t>
            </a:r>
            <a:r>
              <a:rPr lang="ko-KR" altLang="en-US" b="1" baseline="30000" dirty="0">
                <a:latin typeface="+mn-ea"/>
              </a:rPr>
              <a:t>리테일의 문화를 바탕으로</a:t>
            </a:r>
            <a:r>
              <a:rPr lang="en-US" altLang="ko-KR" b="1" baseline="30000" dirty="0">
                <a:latin typeface="+mn-ea"/>
              </a:rPr>
              <a:t>,</a:t>
            </a:r>
            <a:br>
              <a:rPr lang="en-US" altLang="ko-KR" b="1" baseline="30000" dirty="0">
                <a:latin typeface="+mn-ea"/>
              </a:rPr>
            </a:br>
            <a:r>
              <a:rPr lang="en-US" altLang="ko-KR" b="1" baseline="30000" dirty="0">
                <a:latin typeface="+mn-ea"/>
              </a:rPr>
              <a:t>        AI</a:t>
            </a:r>
            <a:r>
              <a:rPr lang="ko-KR" altLang="en-US" b="1" baseline="30000" dirty="0">
                <a:latin typeface="+mn-ea"/>
              </a:rPr>
              <a:t>를 적극 활용해 데이터홈쇼핑만의 차별화된 서비스를 지속적으로 발전시키겠습니다</a:t>
            </a:r>
            <a:r>
              <a:rPr lang="en-US" altLang="ko-KR" b="1" baseline="300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ko-KR" b="1" baseline="30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b="1" baseline="30000" dirty="0">
                <a:latin typeface="+mn-ea"/>
              </a:rPr>
              <a:t>금일 당사에 관한</a:t>
            </a:r>
            <a:r>
              <a:rPr lang="en-US" altLang="ko-KR" b="1" baseline="30000" dirty="0">
                <a:latin typeface="+mn-ea"/>
              </a:rPr>
              <a:t> </a:t>
            </a:r>
            <a:r>
              <a:rPr lang="ko-KR" altLang="en-US" b="1" baseline="30000" dirty="0">
                <a:latin typeface="+mn-ea"/>
              </a:rPr>
              <a:t>많은 질문과 조언 부탁드리며</a:t>
            </a:r>
            <a:r>
              <a:rPr lang="en-US" altLang="ko-KR" b="1" baseline="30000" dirty="0">
                <a:latin typeface="+mn-ea"/>
              </a:rPr>
              <a:t>,</a:t>
            </a:r>
          </a:p>
          <a:p>
            <a:pPr>
              <a:lnSpc>
                <a:spcPct val="120000"/>
              </a:lnSpc>
            </a:pPr>
            <a:r>
              <a:rPr lang="ko-KR" altLang="en-US" b="1" baseline="30000" dirty="0">
                <a:latin typeface="+mn-ea"/>
              </a:rPr>
              <a:t>오늘 함께 참석한 홈쇼핑 사업을 총괄하는 </a:t>
            </a:r>
            <a:r>
              <a:rPr lang="ko-KR" altLang="en-US" b="1" baseline="30000" dirty="0" err="1">
                <a:latin typeface="+mn-ea"/>
              </a:rPr>
              <a:t>박솔잎</a:t>
            </a:r>
            <a:r>
              <a:rPr lang="ko-KR" altLang="en-US" b="1" baseline="30000" dirty="0">
                <a:latin typeface="+mn-ea"/>
              </a:rPr>
              <a:t> 홈쇼핑</a:t>
            </a:r>
            <a:r>
              <a:rPr lang="en-US" altLang="ko-KR" b="1" baseline="30000" dirty="0">
                <a:latin typeface="+mn-ea"/>
              </a:rPr>
              <a:t>BU</a:t>
            </a:r>
            <a:r>
              <a:rPr lang="ko-KR" altLang="en-US" b="1" baseline="30000" dirty="0">
                <a:latin typeface="+mn-ea"/>
              </a:rPr>
              <a:t>장</a:t>
            </a:r>
            <a:r>
              <a:rPr lang="en-US" altLang="ko-KR" b="1" baseline="30000" dirty="0">
                <a:latin typeface="+mn-ea"/>
              </a:rPr>
              <a:t>, </a:t>
            </a:r>
            <a:r>
              <a:rPr lang="ko-KR" altLang="en-US" b="1" baseline="30000" dirty="0">
                <a:latin typeface="+mn-ea"/>
              </a:rPr>
              <a:t>편성책임자 </a:t>
            </a:r>
            <a:r>
              <a:rPr lang="ko-KR" altLang="en-US" b="1" baseline="30000" dirty="0" err="1">
                <a:latin typeface="+mn-ea"/>
              </a:rPr>
              <a:t>박우현</a:t>
            </a:r>
            <a:r>
              <a:rPr lang="ko-KR" altLang="en-US" b="1" baseline="30000" dirty="0">
                <a:latin typeface="+mn-ea"/>
              </a:rPr>
              <a:t> 사업부장</a:t>
            </a:r>
            <a:r>
              <a:rPr lang="en-US" altLang="ko-KR" b="1" baseline="30000" dirty="0">
                <a:latin typeface="+mn-ea"/>
              </a:rPr>
              <a:t>, </a:t>
            </a:r>
            <a:r>
              <a:rPr lang="ko-KR" altLang="en-US" b="1" baseline="30000" dirty="0">
                <a:latin typeface="+mn-ea"/>
              </a:rPr>
              <a:t>재무담당 강윤석 본부장</a:t>
            </a:r>
            <a:r>
              <a:rPr lang="en-US" altLang="ko-KR" b="1" baseline="30000" dirty="0">
                <a:latin typeface="+mn-ea"/>
              </a:rPr>
              <a:t>, </a:t>
            </a:r>
          </a:p>
          <a:p>
            <a:pPr>
              <a:lnSpc>
                <a:spcPct val="120000"/>
              </a:lnSpc>
            </a:pPr>
            <a:r>
              <a:rPr lang="ko-KR" altLang="en-US" b="1" baseline="30000" dirty="0">
                <a:latin typeface="+mn-ea"/>
              </a:rPr>
              <a:t>방송사업지원팀 </a:t>
            </a:r>
            <a:r>
              <a:rPr lang="ko-KR" altLang="en-US" b="1" baseline="30000" dirty="0" err="1">
                <a:latin typeface="+mn-ea"/>
              </a:rPr>
              <a:t>채호석</a:t>
            </a:r>
            <a:r>
              <a:rPr lang="ko-KR" altLang="en-US" b="1" baseline="30000" dirty="0">
                <a:latin typeface="+mn-ea"/>
              </a:rPr>
              <a:t> 팀장과 함께 성실히 답변 드리도록 하겠습니다</a:t>
            </a:r>
            <a:r>
              <a:rPr lang="en-US" altLang="ko-KR" b="1" baseline="30000" dirty="0">
                <a:latin typeface="+mn-ea"/>
              </a:rPr>
              <a:t>. </a:t>
            </a:r>
            <a:r>
              <a:rPr lang="ko-KR" altLang="en-US" b="1" baseline="30000" dirty="0">
                <a:latin typeface="+mn-ea"/>
              </a:rPr>
              <a:t>감사합니다</a:t>
            </a:r>
            <a:r>
              <a:rPr lang="en-US" altLang="ko-KR" b="1" baseline="30000" dirty="0">
                <a:latin typeface="+mn-ea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2AB364-BEC5-EAA2-C696-ECA05825C7D8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27/109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7729570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AC86E-5C29-2E06-9A23-0005675CD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6E9EE3-DC1F-1D7F-F756-166BA571E3DB}"/>
              </a:ext>
            </a:extLst>
          </p:cNvPr>
          <p:cNvSpPr txBox="1"/>
          <p:nvPr/>
        </p:nvSpPr>
        <p:spPr>
          <a:xfrm>
            <a:off x="67195" y="61558"/>
            <a:ext cx="9572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맺음말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3463CC-6D20-7CD2-B318-23ACF9300270}"/>
              </a:ext>
            </a:extLst>
          </p:cNvPr>
          <p:cNvSpPr txBox="1"/>
          <p:nvPr/>
        </p:nvSpPr>
        <p:spPr>
          <a:xfrm>
            <a:off x="703552" y="850701"/>
            <a:ext cx="7043057" cy="3934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baseline="30000" dirty="0">
                <a:latin typeface="+mn-ea"/>
              </a:rPr>
              <a:t>청문심사 진행하시느라 고생하신 심사위원 분들과</a:t>
            </a:r>
          </a:p>
          <a:p>
            <a:pPr>
              <a:lnSpc>
                <a:spcPct val="150000"/>
              </a:lnSpc>
            </a:pPr>
            <a:r>
              <a:rPr lang="ko-KR" altLang="en-US" b="1" baseline="30000" dirty="0">
                <a:latin typeface="+mn-ea"/>
              </a:rPr>
              <a:t>방송미디어통신위원회 관계자 분들께 감사의 말씀을 드립니다</a:t>
            </a:r>
            <a:r>
              <a:rPr lang="en-US" altLang="ko-KR" b="1" baseline="300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b="1" baseline="30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b="1" baseline="30000" dirty="0">
                <a:latin typeface="+mn-ea"/>
              </a:rPr>
              <a:t>금일 심사위원님들이 주신 질문과 의견은</a:t>
            </a:r>
            <a:br>
              <a:rPr lang="ko-KR" altLang="en-US" b="1" baseline="30000" dirty="0">
                <a:latin typeface="+mn-ea"/>
              </a:rPr>
            </a:br>
            <a:r>
              <a:rPr lang="ko-KR" altLang="en-US" b="1" baseline="30000" dirty="0">
                <a:latin typeface="+mn-ea"/>
              </a:rPr>
              <a:t>향후 경영에 적극적으로 반영하도록 하겠습니다</a:t>
            </a:r>
            <a:r>
              <a:rPr lang="en-US" altLang="ko-KR" b="1" baseline="30000" dirty="0">
                <a:latin typeface="+mn-ea"/>
              </a:rPr>
              <a:t>.</a:t>
            </a:r>
            <a:br>
              <a:rPr lang="en-US" altLang="ko-KR" b="1" baseline="30000" dirty="0">
                <a:latin typeface="+mn-ea"/>
              </a:rPr>
            </a:br>
            <a:r>
              <a:rPr lang="en-US" altLang="ko-KR" b="1" baseline="30000" dirty="0">
                <a:latin typeface="+mn-ea"/>
              </a:rPr>
              <a:t> </a:t>
            </a:r>
            <a:br>
              <a:rPr lang="en-US" altLang="ko-KR" b="1" baseline="30000" dirty="0">
                <a:latin typeface="+mn-ea"/>
              </a:rPr>
            </a:br>
            <a:r>
              <a:rPr lang="ko-KR" altLang="en-US" b="1" baseline="30000" dirty="0">
                <a:latin typeface="+mn-ea"/>
              </a:rPr>
              <a:t>당사의 고객 최우선가치를 바탕으로 </a:t>
            </a:r>
            <a:endParaRPr lang="en-US" altLang="ko-KR" b="1" baseline="30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b="1" baseline="30000" dirty="0">
                <a:latin typeface="+mn-ea"/>
              </a:rPr>
              <a:t>고객 분들께 신뢰받고 사랑받는 기업으로 성장할 수 있도록 </a:t>
            </a:r>
            <a:br>
              <a:rPr lang="ko-KR" altLang="en-US" b="1" baseline="30000" dirty="0">
                <a:latin typeface="+mn-ea"/>
              </a:rPr>
            </a:br>
            <a:r>
              <a:rPr lang="ko-KR" altLang="en-US" b="1" baseline="30000" dirty="0">
                <a:latin typeface="+mn-ea"/>
              </a:rPr>
              <a:t>전 임직원이 함께 노력할 것이며</a:t>
            </a:r>
            <a:r>
              <a:rPr lang="en-US" altLang="ko-KR" b="1" baseline="30000" dirty="0">
                <a:latin typeface="+mn-ea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b="1" baseline="30000" dirty="0">
                <a:latin typeface="+mn-ea"/>
              </a:rPr>
              <a:t>방송사업자로서 공적 책임을 이행하고</a:t>
            </a:r>
            <a:r>
              <a:rPr lang="en-US" altLang="ko-KR" b="1" baseline="30000" dirty="0">
                <a:latin typeface="+mn-ea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b="1" baseline="30000" dirty="0">
                <a:latin typeface="+mn-ea"/>
              </a:rPr>
              <a:t>중소기업과 지역사회에 기여할 수 있는 방안을 항상 고민하도록 하겠습니다</a:t>
            </a:r>
            <a:r>
              <a:rPr lang="en-US" altLang="ko-KR" b="1" baseline="300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b="1" baseline="30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b="1" baseline="30000" dirty="0">
                <a:latin typeface="+mn-ea"/>
              </a:rPr>
              <a:t>앞으로도 </a:t>
            </a:r>
            <a:r>
              <a:rPr lang="en-US" altLang="ko-KR" b="1" baseline="30000" dirty="0">
                <a:latin typeface="+mn-ea"/>
              </a:rPr>
              <a:t>GS</a:t>
            </a:r>
            <a:r>
              <a:rPr lang="ko-KR" altLang="en-US" b="1" baseline="30000" dirty="0">
                <a:latin typeface="+mn-ea"/>
              </a:rPr>
              <a:t>리테일을 관심 있게 지켜봐 주시고</a:t>
            </a:r>
            <a:r>
              <a:rPr lang="en-US" altLang="ko-KR" b="1" baseline="30000" dirty="0">
                <a:latin typeface="+mn-ea"/>
              </a:rPr>
              <a:t>, </a:t>
            </a:r>
            <a:r>
              <a:rPr lang="ko-KR" altLang="en-US" b="1" baseline="30000" dirty="0">
                <a:latin typeface="+mn-ea"/>
              </a:rPr>
              <a:t>응원 부탁 드립니다</a:t>
            </a:r>
            <a:r>
              <a:rPr lang="en-US" altLang="ko-KR" b="1" baseline="300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b="1" baseline="30000" dirty="0">
                <a:latin typeface="+mn-ea"/>
              </a:rPr>
              <a:t>감사합니다</a:t>
            </a:r>
            <a:r>
              <a:rPr lang="en-US" altLang="ko-KR" b="1" baseline="30000" dirty="0">
                <a:latin typeface="+mn-ea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07C962-3412-E9E6-36A8-58504C4164E8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28/109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397276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B8078-1858-0FF6-20AB-665138594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18A04751-77B2-8474-58B9-1F80511BE5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2EB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4000" b="1" dirty="0">
                <a:solidFill>
                  <a:schemeClr val="tx1"/>
                </a:solidFill>
                <a:latin typeface="+mn-ea"/>
              </a:rPr>
              <a:t>예상 </a:t>
            </a:r>
            <a:r>
              <a:rPr lang="en-US" altLang="ko-KR" sz="4000" b="1" dirty="0">
                <a:solidFill>
                  <a:schemeClr val="tx1"/>
                </a:solidFill>
                <a:latin typeface="+mn-ea"/>
              </a:rPr>
              <a:t>Q&amp;A</a:t>
            </a:r>
            <a:endParaRPr lang="en-US" altLang="ko-KR" sz="35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66895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FD80E-8FB1-E5A8-1BBC-143884AE6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181532-362F-5499-1EDE-92362F8F095C}"/>
              </a:ext>
            </a:extLst>
          </p:cNvPr>
          <p:cNvSpPr txBox="1"/>
          <p:nvPr/>
        </p:nvSpPr>
        <p:spPr>
          <a:xfrm>
            <a:off x="86741" y="70025"/>
            <a:ext cx="7106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정부조직 개편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57D0D95-9692-B4E0-4166-174D8FC45347}"/>
              </a:ext>
            </a:extLst>
          </p:cNvPr>
          <p:cNvCxnSpPr>
            <a:cxnSpLocks/>
          </p:cNvCxnSpPr>
          <p:nvPr/>
        </p:nvCxnSpPr>
        <p:spPr>
          <a:xfrm>
            <a:off x="2650073" y="2092351"/>
            <a:ext cx="239114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492BD62-CA56-294B-0B3C-73853C6B58C2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650073" y="1519334"/>
            <a:ext cx="239114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B420D968-2103-635A-2BC7-62CF6F9E7710}"/>
              </a:ext>
            </a:extLst>
          </p:cNvPr>
          <p:cNvSpPr/>
          <p:nvPr/>
        </p:nvSpPr>
        <p:spPr>
          <a:xfrm>
            <a:off x="616992" y="1313950"/>
            <a:ext cx="2033081" cy="4107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과학기술정보통신부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07230A-F748-7095-F412-2942B61C83F1}"/>
              </a:ext>
            </a:extLst>
          </p:cNvPr>
          <p:cNvSpPr/>
          <p:nvPr/>
        </p:nvSpPr>
        <p:spPr>
          <a:xfrm>
            <a:off x="616992" y="1881106"/>
            <a:ext cx="2033081" cy="410768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방송통신위원회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A3D26C3-8AAF-CD9E-63A9-D185AD2FAD14}"/>
              </a:ext>
            </a:extLst>
          </p:cNvPr>
          <p:cNvSpPr/>
          <p:nvPr/>
        </p:nvSpPr>
        <p:spPr>
          <a:xfrm>
            <a:off x="2771349" y="1313950"/>
            <a:ext cx="2033081" cy="4107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방송진흥 및 재승인 </a:t>
            </a:r>
            <a:endParaRPr lang="ko-KR" altLang="en-US" sz="1400" dirty="0">
              <a:solidFill>
                <a:schemeClr val="tx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787D19E-5FC4-5E57-1D38-DCA80DF07DE8}"/>
              </a:ext>
            </a:extLst>
          </p:cNvPr>
          <p:cNvSpPr/>
          <p:nvPr/>
        </p:nvSpPr>
        <p:spPr>
          <a:xfrm>
            <a:off x="5595781" y="1604175"/>
            <a:ext cx="3253077" cy="4107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 </a:t>
            </a:r>
            <a:r>
              <a:rPr lang="ko-KR" altLang="en-US" sz="140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방송미디어통신위원회 </a:t>
            </a:r>
            <a:r>
              <a:rPr lang="en-US" altLang="ko-KR" sz="110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110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위원 </a:t>
            </a:r>
            <a:r>
              <a:rPr lang="en-US" altLang="ko-KR" sz="1100" dirty="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1100" dirty="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</a:t>
            </a:r>
            <a:r>
              <a:rPr lang="en-US" altLang="ko-KR" sz="1100" dirty="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C85D26B-3C60-FDF6-E7AF-30363DB6B74D}"/>
              </a:ext>
            </a:extLst>
          </p:cNvPr>
          <p:cNvSpPr/>
          <p:nvPr/>
        </p:nvSpPr>
        <p:spPr>
          <a:xfrm>
            <a:off x="2771349" y="1881106"/>
            <a:ext cx="2033081" cy="4107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방송규제</a:t>
            </a:r>
            <a:endParaRPr lang="ko-KR" altLang="en-US" sz="1400" dirty="0">
              <a:solidFill>
                <a:schemeClr val="tx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AEBA67C-14F3-3B42-B14C-C6AC16C463B8}"/>
              </a:ext>
            </a:extLst>
          </p:cNvPr>
          <p:cNvSpPr/>
          <p:nvPr/>
        </p:nvSpPr>
        <p:spPr>
          <a:xfrm rot="20436951">
            <a:off x="441387" y="1808201"/>
            <a:ext cx="537327" cy="2006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/>
              <a:t>폐지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6C6E61F-3804-AA1C-C127-17187CB046B6}"/>
              </a:ext>
            </a:extLst>
          </p:cNvPr>
          <p:cNvSpPr/>
          <p:nvPr/>
        </p:nvSpPr>
        <p:spPr>
          <a:xfrm>
            <a:off x="5352374" y="1655220"/>
            <a:ext cx="537327" cy="3151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신설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AFDB387-6085-FBC1-5D80-9A5A1446BEA0}"/>
              </a:ext>
            </a:extLst>
          </p:cNvPr>
          <p:cNvCxnSpPr/>
          <p:nvPr/>
        </p:nvCxnSpPr>
        <p:spPr>
          <a:xfrm>
            <a:off x="5041220" y="1519334"/>
            <a:ext cx="0" cy="5730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8010EE8-F800-0C5B-22BE-DB418C4C1713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5041220" y="1809559"/>
            <a:ext cx="311154" cy="3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8B4F8F1-9745-8D2A-9333-DBB03CA87755}"/>
              </a:ext>
            </a:extLst>
          </p:cNvPr>
          <p:cNvSpPr txBox="1"/>
          <p:nvPr/>
        </p:nvSpPr>
        <p:spPr>
          <a:xfrm>
            <a:off x="268869" y="730320"/>
            <a:ext cx="5321773" cy="307777"/>
          </a:xfrm>
          <a:prstGeom prst="rect">
            <a:avLst/>
          </a:prstGeom>
          <a:noFill/>
          <a:ln>
            <a:solidFill>
              <a:schemeClr val="accent1">
                <a:shade val="15000"/>
                <a:alpha val="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■ 방송미디어통신위원회 신설 </a:t>
            </a:r>
            <a:r>
              <a:rPr lang="en-US" altLang="ko-KR" sz="14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(25</a:t>
            </a:r>
            <a:r>
              <a:rPr lang="ko-KR" altLang="en-US" sz="14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년 </a:t>
            </a:r>
            <a:r>
              <a:rPr lang="en-US" altLang="ko-KR" sz="14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10</a:t>
            </a:r>
            <a:r>
              <a:rPr lang="ko-KR" altLang="en-US" sz="14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월</a:t>
            </a:r>
            <a:r>
              <a:rPr lang="en-US" altLang="ko-KR" sz="14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)</a:t>
            </a:r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2FB25F9-EFF4-1FDF-DB4E-957315D0CE89}"/>
              </a:ext>
            </a:extLst>
          </p:cNvPr>
          <p:cNvSpPr/>
          <p:nvPr/>
        </p:nvSpPr>
        <p:spPr>
          <a:xfrm>
            <a:off x="788510" y="3750966"/>
            <a:ext cx="1432817" cy="3570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위원장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D808A5B-A555-C44A-71DB-A48D96940CC5}"/>
              </a:ext>
            </a:extLst>
          </p:cNvPr>
          <p:cNvSpPr/>
          <p:nvPr/>
        </p:nvSpPr>
        <p:spPr>
          <a:xfrm>
            <a:off x="788510" y="4316309"/>
            <a:ext cx="1432816" cy="357051"/>
          </a:xfrm>
          <a:prstGeom prst="rect">
            <a:avLst/>
          </a:prstGeom>
          <a:solidFill>
            <a:srgbClr val="356A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상임위원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81BE96F-0250-B8EC-8BB5-5E63495DFB79}"/>
              </a:ext>
            </a:extLst>
          </p:cNvPr>
          <p:cNvSpPr/>
          <p:nvPr/>
        </p:nvSpPr>
        <p:spPr>
          <a:xfrm>
            <a:off x="788510" y="4922512"/>
            <a:ext cx="1432816" cy="357051"/>
          </a:xfrm>
          <a:prstGeom prst="rect">
            <a:avLst/>
          </a:prstGeom>
          <a:solidFill>
            <a:srgbClr val="356A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상임위원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921255B-88B7-F54B-3047-5DB5E85E1D72}"/>
              </a:ext>
            </a:extLst>
          </p:cNvPr>
          <p:cNvSpPr/>
          <p:nvPr/>
        </p:nvSpPr>
        <p:spPr>
          <a:xfrm>
            <a:off x="6014169" y="3750966"/>
            <a:ext cx="1432817" cy="357051"/>
          </a:xfrm>
          <a:prstGeom prst="rect">
            <a:avLst/>
          </a:prstGeom>
          <a:solidFill>
            <a:srgbClr val="356A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비상임위원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BE6B5B6-AAAD-6208-F4E1-7879ED3B5462}"/>
              </a:ext>
            </a:extLst>
          </p:cNvPr>
          <p:cNvSpPr/>
          <p:nvPr/>
        </p:nvSpPr>
        <p:spPr>
          <a:xfrm>
            <a:off x="6014169" y="4313534"/>
            <a:ext cx="1432817" cy="357051"/>
          </a:xfrm>
          <a:prstGeom prst="rect">
            <a:avLst/>
          </a:prstGeom>
          <a:solidFill>
            <a:srgbClr val="356A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비상임위원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053C564-E944-2282-740F-F99046042F92}"/>
              </a:ext>
            </a:extLst>
          </p:cNvPr>
          <p:cNvSpPr/>
          <p:nvPr/>
        </p:nvSpPr>
        <p:spPr>
          <a:xfrm>
            <a:off x="6014169" y="4876102"/>
            <a:ext cx="1432817" cy="357051"/>
          </a:xfrm>
          <a:prstGeom prst="rect">
            <a:avLst/>
          </a:prstGeom>
          <a:solidFill>
            <a:srgbClr val="356A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비상임위원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8A1D799-7914-F1F0-AB81-8D42196D13B2}"/>
              </a:ext>
            </a:extLst>
          </p:cNvPr>
          <p:cNvSpPr/>
          <p:nvPr/>
        </p:nvSpPr>
        <p:spPr>
          <a:xfrm>
            <a:off x="6014169" y="5438670"/>
            <a:ext cx="1432817" cy="357051"/>
          </a:xfrm>
          <a:prstGeom prst="rect">
            <a:avLst/>
          </a:prstGeom>
          <a:solidFill>
            <a:srgbClr val="356A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비상임위원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2B2848-B55F-FECC-3355-F310464BFF48}"/>
              </a:ext>
            </a:extLst>
          </p:cNvPr>
          <p:cNvSpPr txBox="1"/>
          <p:nvPr/>
        </p:nvSpPr>
        <p:spPr>
          <a:xfrm>
            <a:off x="2221326" y="3755290"/>
            <a:ext cx="3627377" cy="313547"/>
          </a:xfrm>
          <a:prstGeom prst="rect">
            <a:avLst/>
          </a:prstGeom>
          <a:noFill/>
          <a:ln>
            <a:solidFill>
              <a:schemeClr val="accent1">
                <a:shade val="15000"/>
                <a:alpha val="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대통령 지명 </a:t>
            </a:r>
            <a:r>
              <a:rPr lang="en-US" altLang="ko-KR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: </a:t>
            </a:r>
            <a:r>
              <a:rPr lang="ko-KR" altLang="en-US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김종철</a:t>
            </a:r>
            <a:r>
              <a:rPr lang="en-US" altLang="ko-KR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(</a:t>
            </a:r>
            <a:r>
              <a:rPr lang="ko-KR" altLang="en-US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前연세대 법학전문대학원 교수</a:t>
            </a:r>
            <a:r>
              <a:rPr lang="en-US" altLang="ko-KR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)</a:t>
            </a:r>
            <a:endParaRPr lang="ko-KR" altLang="en-US" sz="1100" b="1" u="sng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307A79-DAAF-5EC8-4CED-957A561007B1}"/>
              </a:ext>
            </a:extLst>
          </p:cNvPr>
          <p:cNvSpPr txBox="1"/>
          <p:nvPr/>
        </p:nvSpPr>
        <p:spPr>
          <a:xfrm>
            <a:off x="7446986" y="3751084"/>
            <a:ext cx="3289133" cy="313547"/>
          </a:xfrm>
          <a:prstGeom prst="rect">
            <a:avLst/>
          </a:prstGeom>
          <a:noFill/>
          <a:ln>
            <a:solidFill>
              <a:schemeClr val="accent1">
                <a:shade val="15000"/>
                <a:alpha val="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대통령 지명 </a:t>
            </a:r>
            <a:r>
              <a:rPr lang="en-US" altLang="ko-KR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: </a:t>
            </a:r>
            <a:r>
              <a:rPr lang="ko-KR" altLang="en-US" sz="1100" b="1" u="sng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류신환</a:t>
            </a:r>
            <a:r>
              <a:rPr lang="en-US" altLang="ko-KR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(</a:t>
            </a:r>
            <a:r>
              <a:rPr lang="ko-KR" altLang="en-US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現 법무법인 지향 변호사</a:t>
            </a:r>
            <a:r>
              <a:rPr lang="en-US" altLang="ko-KR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)</a:t>
            </a:r>
            <a:endParaRPr lang="ko-KR" altLang="en-US" sz="1100" b="1" u="sng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3A93A9-986F-7192-ED77-7B157DDF8663}"/>
              </a:ext>
            </a:extLst>
          </p:cNvPr>
          <p:cNvSpPr txBox="1"/>
          <p:nvPr/>
        </p:nvSpPr>
        <p:spPr>
          <a:xfrm>
            <a:off x="7446986" y="4313613"/>
            <a:ext cx="3427678" cy="313547"/>
          </a:xfrm>
          <a:prstGeom prst="rect">
            <a:avLst/>
          </a:prstGeom>
          <a:noFill/>
          <a:ln>
            <a:solidFill>
              <a:schemeClr val="accent1">
                <a:shade val="15000"/>
                <a:alpha val="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여당 추천</a:t>
            </a:r>
            <a:r>
              <a:rPr lang="en-US" altLang="ko-KR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: </a:t>
            </a:r>
            <a:r>
              <a:rPr lang="ko-KR" altLang="en-US" sz="1100" b="1" u="sng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윤성옥</a:t>
            </a:r>
            <a:r>
              <a:rPr lang="en-US" altLang="ko-KR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(</a:t>
            </a:r>
            <a:r>
              <a:rPr lang="ko-KR" altLang="en-US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現 경기대 미디어영상학과 교수</a:t>
            </a:r>
            <a:r>
              <a:rPr lang="en-US" altLang="ko-KR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)</a:t>
            </a:r>
            <a:endParaRPr lang="ko-KR" altLang="en-US" sz="1100" b="1" u="sng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B35D08-71BE-909A-A617-5A27B092D58F}"/>
              </a:ext>
            </a:extLst>
          </p:cNvPr>
          <p:cNvSpPr txBox="1"/>
          <p:nvPr/>
        </p:nvSpPr>
        <p:spPr>
          <a:xfrm>
            <a:off x="7446986" y="4876142"/>
            <a:ext cx="3339586" cy="313547"/>
          </a:xfrm>
          <a:prstGeom prst="rect">
            <a:avLst/>
          </a:prstGeom>
          <a:noFill/>
          <a:ln>
            <a:solidFill>
              <a:schemeClr val="accent1">
                <a:shade val="15000"/>
                <a:alpha val="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야당 추천 </a:t>
            </a:r>
            <a:r>
              <a:rPr lang="en-US" altLang="ko-KR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: </a:t>
            </a:r>
            <a:r>
              <a:rPr lang="ko-KR" altLang="en-US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이상근</a:t>
            </a:r>
            <a:r>
              <a:rPr lang="en-US" altLang="ko-KR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(</a:t>
            </a:r>
            <a:r>
              <a:rPr lang="ko-KR" altLang="en-US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現 서강대 경영학부 교수</a:t>
            </a:r>
            <a:r>
              <a:rPr lang="en-US" altLang="ko-KR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)</a:t>
            </a:r>
            <a:endParaRPr lang="ko-KR" altLang="en-US" sz="1100" b="1" u="sng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32BB9D-CAA9-8857-AD96-B8A85C096C3E}"/>
              </a:ext>
            </a:extLst>
          </p:cNvPr>
          <p:cNvSpPr txBox="1"/>
          <p:nvPr/>
        </p:nvSpPr>
        <p:spPr>
          <a:xfrm>
            <a:off x="2221326" y="4316308"/>
            <a:ext cx="3289133" cy="313547"/>
          </a:xfrm>
          <a:prstGeom prst="rect">
            <a:avLst/>
          </a:prstGeom>
          <a:noFill/>
          <a:ln>
            <a:solidFill>
              <a:schemeClr val="accent1">
                <a:shade val="15000"/>
                <a:alpha val="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여당 추천</a:t>
            </a:r>
            <a:r>
              <a:rPr lang="en-US" altLang="ko-KR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: </a:t>
            </a:r>
            <a:r>
              <a:rPr lang="ko-KR" altLang="en-US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고민수</a:t>
            </a:r>
            <a:r>
              <a:rPr lang="en-US" altLang="ko-KR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(</a:t>
            </a:r>
            <a:r>
              <a:rPr lang="ko-KR" altLang="en-US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現 강릉원주대 법학과 교수</a:t>
            </a:r>
            <a:r>
              <a:rPr lang="en-US" altLang="ko-KR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)</a:t>
            </a:r>
            <a:endParaRPr lang="ko-KR" altLang="en-US" sz="1100" b="1" u="sng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F7FE18-91A6-8C11-7D4F-12A2C6AC68C7}"/>
              </a:ext>
            </a:extLst>
          </p:cNvPr>
          <p:cNvSpPr txBox="1"/>
          <p:nvPr/>
        </p:nvSpPr>
        <p:spPr>
          <a:xfrm>
            <a:off x="268868" y="3187328"/>
            <a:ext cx="5688587" cy="307777"/>
          </a:xfrm>
          <a:prstGeom prst="rect">
            <a:avLst/>
          </a:prstGeom>
          <a:noFill/>
          <a:ln>
            <a:solidFill>
              <a:schemeClr val="accent1">
                <a:shade val="15000"/>
                <a:alpha val="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   ※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26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년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4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월 현재 구성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4C3C8F5-A5EB-174C-1F6F-1263CC3627D7}"/>
              </a:ext>
            </a:extLst>
          </p:cNvPr>
          <p:cNvSpPr txBox="1"/>
          <p:nvPr/>
        </p:nvSpPr>
        <p:spPr>
          <a:xfrm>
            <a:off x="2246552" y="4941398"/>
            <a:ext cx="3289133" cy="313547"/>
          </a:xfrm>
          <a:prstGeom prst="rect">
            <a:avLst/>
          </a:prstGeom>
          <a:noFill/>
          <a:ln>
            <a:solidFill>
              <a:schemeClr val="accent1">
                <a:shade val="15000"/>
                <a:alpha val="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</a:rPr>
              <a:t>야당추천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9C0591D-7E48-425A-B618-369D463854E0}"/>
              </a:ext>
            </a:extLst>
          </p:cNvPr>
          <p:cNvSpPr txBox="1"/>
          <p:nvPr/>
        </p:nvSpPr>
        <p:spPr>
          <a:xfrm>
            <a:off x="7446986" y="5438670"/>
            <a:ext cx="3289133" cy="313547"/>
          </a:xfrm>
          <a:prstGeom prst="rect">
            <a:avLst/>
          </a:prstGeom>
          <a:noFill/>
          <a:ln>
            <a:solidFill>
              <a:schemeClr val="accent1">
                <a:shade val="15000"/>
                <a:alpha val="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야당추천 </a:t>
            </a:r>
            <a:r>
              <a:rPr lang="en-US" altLang="ko-KR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: </a:t>
            </a:r>
            <a:r>
              <a:rPr lang="ko-KR" altLang="en-US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최수영</a:t>
            </a:r>
            <a:r>
              <a:rPr lang="en-US" altLang="ko-KR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(</a:t>
            </a:r>
            <a:r>
              <a:rPr lang="ko-KR" altLang="en-US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現 관동대 경제학과 교수</a:t>
            </a:r>
            <a:r>
              <a:rPr lang="en-US" altLang="ko-KR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)</a:t>
            </a:r>
            <a:endParaRPr lang="ko-KR" altLang="en-US" sz="1100" b="1" u="sng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001CE3E-BF3A-C804-4D74-42C33C5476FC}"/>
              </a:ext>
            </a:extLst>
          </p:cNvPr>
          <p:cNvCxnSpPr>
            <a:cxnSpLocks/>
            <a:stCxn id="11" idx="2"/>
            <a:endCxn id="5" idx="0"/>
          </p:cNvCxnSpPr>
          <p:nvPr/>
        </p:nvCxnSpPr>
        <p:spPr>
          <a:xfrm>
            <a:off x="7222320" y="2014943"/>
            <a:ext cx="4349" cy="37735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995639D0-4FB4-16A7-EC92-6E44BEBAE157}"/>
              </a:ext>
            </a:extLst>
          </p:cNvPr>
          <p:cNvSpPr/>
          <p:nvPr/>
        </p:nvSpPr>
        <p:spPr>
          <a:xfrm>
            <a:off x="5600130" y="2392302"/>
            <a:ext cx="3253077" cy="41076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방송미디어통신심의위원회</a:t>
            </a:r>
            <a:endParaRPr lang="ko-KR" altLang="en-US" sz="1100" dirty="0">
              <a:solidFill>
                <a:schemeClr val="tx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7EFD1C-4ACD-E5AA-9859-DAE72D7D9512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29/109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3546499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75DE3-2C95-567F-84C4-0DD9C031D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722AE22-6654-C03C-3F6D-29E98E315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836946"/>
              </p:ext>
            </p:extLst>
          </p:nvPr>
        </p:nvGraphicFramePr>
        <p:xfrm>
          <a:off x="278054" y="1067633"/>
          <a:ext cx="5642866" cy="5434644"/>
        </p:xfrm>
        <a:graphic>
          <a:graphicData uri="http://schemas.openxmlformats.org/drawingml/2006/table">
            <a:tbl>
              <a:tblPr/>
              <a:tblGrid>
                <a:gridCol w="760774">
                  <a:extLst>
                    <a:ext uri="{9D8B030D-6E8A-4147-A177-3AD203B41FA5}">
                      <a16:colId xmlns:a16="http://schemas.microsoft.com/office/drawing/2014/main" val="908781830"/>
                    </a:ext>
                  </a:extLst>
                </a:gridCol>
                <a:gridCol w="4882092">
                  <a:extLst>
                    <a:ext uri="{9D8B030D-6E8A-4147-A177-3AD203B41FA5}">
                      <a16:colId xmlns:a16="http://schemas.microsoft.com/office/drawing/2014/main" val="405473364"/>
                    </a:ext>
                  </a:extLst>
                </a:gridCol>
              </a:tblGrid>
              <a:tr h="262051"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내용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671430"/>
                  </a:ext>
                </a:extLst>
              </a:tr>
              <a:tr h="262051"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이름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김종철</a:t>
                      </a:r>
                    </a:p>
                  </a:txBody>
                  <a:tcPr marL="72000" marR="61286" marT="30643" marB="3064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242292"/>
                  </a:ext>
                </a:extLst>
              </a:tr>
              <a:tr h="262051"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연령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1966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경남 진주</a:t>
                      </a: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61286" marT="30643" marB="3064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8455850"/>
                  </a:ext>
                </a:extLst>
              </a:tr>
              <a:tr h="951055"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학력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마산중앙고</a:t>
                      </a:r>
                      <a:endParaRPr lang="en-US" altLang="ko-KR" sz="1100" b="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서울대학교 법학과</a:t>
                      </a:r>
                      <a:endParaRPr lang="en-US" altLang="ko-KR" sz="1100" b="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서울대학교 대학원 법학 석사</a:t>
                      </a:r>
                      <a:endParaRPr lang="en-US" altLang="ko-KR" sz="1100" b="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영국 런던정치경제대학교</a:t>
                      </a: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(LSE)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법학 </a:t>
                      </a: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석사</a:t>
                      </a: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박사</a:t>
                      </a: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marR="61286" marT="30643" marB="3064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4472531"/>
                  </a:ext>
                </a:extLst>
              </a:tr>
              <a:tr h="951055"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주요 경력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前 연세대학교 법학전문대학원 교수</a:t>
                      </a:r>
                      <a:endParaRPr lang="en-US" altLang="ko-KR" sz="1100" b="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前</a:t>
                      </a: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대검 검찰개혁위원회 위원</a:t>
                      </a:r>
                      <a:endParaRPr lang="en-US" altLang="ko-KR" sz="1100" b="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前 공수처장 후보추천위원</a:t>
                      </a:r>
                      <a:endParaRPr lang="en-US" altLang="ko-KR" sz="1100" b="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前 한국공법학회 회장</a:t>
                      </a:r>
                    </a:p>
                  </a:txBody>
                  <a:tcPr marL="72000" marR="61286" marT="30643" marB="3064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8176375"/>
                  </a:ext>
                </a:extLst>
              </a:tr>
              <a:tr h="262051"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수상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2009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한국공법학회 신진학술상</a:t>
                      </a: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2017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법무부장관 표창 등</a:t>
                      </a:r>
                    </a:p>
                  </a:txBody>
                  <a:tcPr marL="72000" marR="61286" marT="30643" marB="3064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211250"/>
                  </a:ext>
                </a:extLst>
              </a:tr>
              <a:tr h="491719"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주요 논문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권력구조 개헌의 기본방향과 내용</a:t>
                      </a: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대통령의 헌법상 지위와 권력비판의 방향</a:t>
                      </a: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표현의 자유와 음란성 규제</a:t>
                      </a:r>
                    </a:p>
                  </a:txBody>
                  <a:tcPr marL="72000" marR="61286" marT="30643" marB="3064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4620"/>
                  </a:ext>
                </a:extLst>
              </a:tr>
              <a:tr h="1917256"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성향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한국언론법학회 회장</a:t>
                      </a: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한국공법학회 회장</a:t>
                      </a: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언론법학회 회장 역임하는 등</a:t>
                      </a: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>
                        <a:lnSpc>
                          <a:spcPct val="140000"/>
                        </a:lnSpc>
                      </a:pP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공법</a:t>
                      </a: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언론</a:t>
                      </a: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인권 분야에서 </a:t>
                      </a: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경력을 쌓아온</a:t>
                      </a: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헌법학자</a:t>
                      </a:r>
                      <a:endParaRPr lang="en-US" altLang="ko-KR" sz="1100" b="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40000"/>
                        </a:lnSpc>
                        <a:buFontTx/>
                        <a:buNone/>
                      </a:pP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헌법에서 보장하는 표현의 자유와 그 한계를 연구해 온 </a:t>
                      </a:r>
                      <a:r>
                        <a:rPr lang="ko-KR" altLang="en-US" sz="1100" b="0" kern="1200" spc="-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언론법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전문가로</a:t>
                      </a:r>
                      <a:endParaRPr lang="en-US" altLang="ko-KR" sz="1100" b="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40000"/>
                        </a:lnSpc>
                        <a:buFontTx/>
                        <a:buNone/>
                      </a:pP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대통령실 역시 지명 당시 “표현의 자유와 한계에 대해 이해가 깊은 헌법</a:t>
                      </a:r>
                      <a:endParaRPr lang="en-US" altLang="ko-KR" sz="1100" b="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40000"/>
                        </a:lnSpc>
                        <a:buFontTx/>
                        <a:buNone/>
                      </a:pP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학자이자 </a:t>
                      </a:r>
                      <a:r>
                        <a:rPr lang="ko-KR" altLang="en-US" sz="1100" b="0" kern="1200" spc="-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언론법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spc="-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전문가”로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평가했다는 점이 특징</a:t>
                      </a:r>
                      <a:endParaRPr lang="en-US" altLang="ko-KR" sz="1100" b="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ko-KR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※ </a:t>
                      </a: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국가보안법 등과 관련해 표현의 자유를 폭넓게 보장하되</a:t>
                      </a:r>
                      <a:r>
                        <a:rPr lang="en-US" altLang="ko-KR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ko-KR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민주적 기본질서를 위협하는 허위정보에는 엄정한 대응이</a:t>
                      </a:r>
                      <a:r>
                        <a:rPr lang="en-US" altLang="ko-KR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필요하다는 입장</a:t>
                      </a:r>
                      <a:r>
                        <a:rPr lang="en-US" altLang="ko-KR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ko-KR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인사청문회에서는 청소년 보호를 위한 </a:t>
                      </a:r>
                      <a:r>
                        <a:rPr lang="en-US" altLang="ko-KR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SNS </a:t>
                      </a: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이용</a:t>
                      </a:r>
                      <a:r>
                        <a:rPr lang="en-US" altLang="ko-KR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제한 필요성을 언급</a:t>
                      </a:r>
                      <a:endParaRPr lang="en-US" altLang="ko-KR" sz="11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61286" marT="30643" marB="3064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6301004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3107746-3829-BE33-5207-07C2C1136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383065"/>
              </p:ext>
            </p:extLst>
          </p:nvPr>
        </p:nvGraphicFramePr>
        <p:xfrm>
          <a:off x="6253999" y="1077158"/>
          <a:ext cx="5642866" cy="5434979"/>
        </p:xfrm>
        <a:graphic>
          <a:graphicData uri="http://schemas.openxmlformats.org/drawingml/2006/table">
            <a:tbl>
              <a:tblPr/>
              <a:tblGrid>
                <a:gridCol w="760774">
                  <a:extLst>
                    <a:ext uri="{9D8B030D-6E8A-4147-A177-3AD203B41FA5}">
                      <a16:colId xmlns:a16="http://schemas.microsoft.com/office/drawing/2014/main" val="908781830"/>
                    </a:ext>
                  </a:extLst>
                </a:gridCol>
                <a:gridCol w="4882092">
                  <a:extLst>
                    <a:ext uri="{9D8B030D-6E8A-4147-A177-3AD203B41FA5}">
                      <a16:colId xmlns:a16="http://schemas.microsoft.com/office/drawing/2014/main" val="405473364"/>
                    </a:ext>
                  </a:extLst>
                </a:gridCol>
              </a:tblGrid>
              <a:tr h="267731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내용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671430"/>
                  </a:ext>
                </a:extLst>
              </a:tr>
              <a:tr h="267731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이름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고민수</a:t>
                      </a:r>
                    </a:p>
                  </a:txBody>
                  <a:tcPr marL="72000" marR="61286" marT="30643" marB="3064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242292"/>
                  </a:ext>
                </a:extLst>
              </a:tr>
              <a:tr h="267731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연령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40000"/>
                        </a:lnSpc>
                        <a:buNone/>
                      </a:pP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1970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</a:p>
                  </a:txBody>
                  <a:tcPr marL="72000" marR="61286" marT="30643" marB="3064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8455850"/>
                  </a:ext>
                </a:extLst>
              </a:tr>
              <a:tr h="935609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학력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연세대학교 법학과</a:t>
                      </a:r>
                      <a:endParaRPr lang="en-US" altLang="ko-KR" sz="1100" b="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연세대학교 대학원 헌법학 </a:t>
                      </a: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석사</a:t>
                      </a: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박사</a:t>
                      </a: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marR="61286" marT="30643" marB="3064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4472531"/>
                  </a:ext>
                </a:extLst>
              </a:tr>
              <a:tr h="1034217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주요 경력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現 강릉원주대학교 법학과 교수</a:t>
                      </a:r>
                      <a:endParaRPr lang="en-US" altLang="ko-KR" sz="1100" b="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現 한국헌법학회 부회장</a:t>
                      </a:r>
                      <a:endParaRPr lang="en-US" altLang="ko-KR" sz="1100" b="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前 </a:t>
                      </a: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JTV 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전주방송 기자</a:t>
                      </a:r>
                      <a:endParaRPr lang="en-US" altLang="ko-KR" sz="1100" b="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前 방송위원회 조사관 </a:t>
                      </a: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방송행정 및 정책업무</a:t>
                      </a: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marR="61286" marT="30643" marB="3064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8176375"/>
                  </a:ext>
                </a:extLst>
              </a:tr>
              <a:tr h="267731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수상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40000"/>
                        </a:lnSpc>
                        <a:buNone/>
                      </a:pP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2014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한국공법학회 헌법분야 신진학술상</a:t>
                      </a:r>
                    </a:p>
                  </a:txBody>
                  <a:tcPr marL="72000" marR="61286" marT="30643" marB="3064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211250"/>
                  </a:ext>
                </a:extLst>
              </a:tr>
              <a:tr h="502377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주요 논문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방송조직과 방송편성규약의 법적 성질에 관한 헌법학적 고찰</a:t>
                      </a:r>
                      <a:endParaRPr lang="en-US" altLang="ko-KR" sz="1100" b="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방송사업자의 공정성의무에 관한 헌법적 고찰</a:t>
                      </a:r>
                    </a:p>
                  </a:txBody>
                  <a:tcPr marL="72000" marR="61286" marT="30643" marB="3064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4620"/>
                  </a:ext>
                </a:extLst>
              </a:tr>
              <a:tr h="1891517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성향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지역 민방기자와 방송위원회 조사관을 거쳐 법학과 교수로 재직 중</a:t>
                      </a: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방송 현장과 규제기관</a:t>
                      </a: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학계를 모두 경험한 실무형 공법 학자</a:t>
                      </a:r>
                      <a:endParaRPr lang="en-US" altLang="ko-KR" sz="1100" b="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Tx/>
                        <a:buNone/>
                      </a:pP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민주당 추천 인사이기에 진보 진영에 속하지만</a:t>
                      </a: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Tx/>
                        <a:buNone/>
                      </a:pP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정책에 있어서는 법리와</a:t>
                      </a:r>
                      <a:r>
                        <a:rPr lang="en-US" altLang="ko-KR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제도를 중시하는 온건한 진보 성향</a:t>
                      </a:r>
                      <a:endParaRPr lang="en-US" altLang="ko-KR" sz="11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Tx/>
                        <a:buNone/>
                      </a:pPr>
                      <a:r>
                        <a:rPr lang="en-US" altLang="ko-KR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민주당 언론중재법  관련 징벌적 손해배상 목적을 기준으로 한 </a:t>
                      </a:r>
                      <a:endParaRPr lang="en-US" altLang="ko-KR" sz="11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40000"/>
                        </a:lnSpc>
                        <a:buFontTx/>
                        <a:buNone/>
                      </a:pPr>
                      <a:r>
                        <a:rPr lang="en-US" altLang="ko-KR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ko-KR" altLang="en-US" sz="11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개정안에 처벌보단 제도적 장치로 억제해야 한다는 신중한 입장</a:t>
                      </a:r>
                      <a:endParaRPr lang="en-US" altLang="ko-KR" sz="11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61286" marT="30643" marB="30643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630100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4F24932-252A-DA29-9E55-491D727B11F5}"/>
              </a:ext>
            </a:extLst>
          </p:cNvPr>
          <p:cNvSpPr txBox="1"/>
          <p:nvPr/>
        </p:nvSpPr>
        <p:spPr>
          <a:xfrm>
            <a:off x="86741" y="70025"/>
            <a:ext cx="7106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정부조직 개편 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위원장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상임위원 프로필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FD5B292-CFA5-F62D-4859-42E4716C5BCD}"/>
              </a:ext>
            </a:extLst>
          </p:cNvPr>
          <p:cNvSpPr/>
          <p:nvPr/>
        </p:nvSpPr>
        <p:spPr>
          <a:xfrm>
            <a:off x="289946" y="710580"/>
            <a:ext cx="1432817" cy="3570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위원장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247511B-0D25-A8D9-1E1A-7875592B8D0A}"/>
              </a:ext>
            </a:extLst>
          </p:cNvPr>
          <p:cNvSpPr/>
          <p:nvPr/>
        </p:nvSpPr>
        <p:spPr>
          <a:xfrm>
            <a:off x="6244401" y="710580"/>
            <a:ext cx="1432816" cy="357051"/>
          </a:xfrm>
          <a:prstGeom prst="rect">
            <a:avLst/>
          </a:prstGeom>
          <a:solidFill>
            <a:srgbClr val="356A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상임위원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36585B-28D0-1261-3660-3D2C9E00CC5E}"/>
              </a:ext>
            </a:extLst>
          </p:cNvPr>
          <p:cNvSpPr txBox="1"/>
          <p:nvPr/>
        </p:nvSpPr>
        <p:spPr>
          <a:xfrm>
            <a:off x="1687926" y="714904"/>
            <a:ext cx="3627377" cy="313547"/>
          </a:xfrm>
          <a:prstGeom prst="rect">
            <a:avLst/>
          </a:prstGeom>
          <a:noFill/>
          <a:ln>
            <a:solidFill>
              <a:schemeClr val="accent1">
                <a:shade val="15000"/>
                <a:alpha val="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대통령 지명 </a:t>
            </a:r>
            <a:r>
              <a:rPr lang="en-US" altLang="ko-KR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: </a:t>
            </a:r>
            <a:r>
              <a:rPr lang="ko-KR" altLang="en-US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김종철</a:t>
            </a:r>
            <a:r>
              <a:rPr lang="en-US" altLang="ko-KR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(</a:t>
            </a:r>
            <a:r>
              <a:rPr lang="ko-KR" altLang="en-US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前연세대 법학전문대학원 교수</a:t>
            </a:r>
            <a:r>
              <a:rPr lang="en-US" altLang="ko-KR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)</a:t>
            </a:r>
            <a:endParaRPr lang="ko-KR" altLang="en-US" sz="1100" b="1" u="sng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B68ADA-1A08-CAA3-A8D8-653CC9B79292}"/>
              </a:ext>
            </a:extLst>
          </p:cNvPr>
          <p:cNvSpPr txBox="1"/>
          <p:nvPr/>
        </p:nvSpPr>
        <p:spPr>
          <a:xfrm>
            <a:off x="7694635" y="710579"/>
            <a:ext cx="3289133" cy="313547"/>
          </a:xfrm>
          <a:prstGeom prst="rect">
            <a:avLst/>
          </a:prstGeom>
          <a:noFill/>
          <a:ln>
            <a:solidFill>
              <a:schemeClr val="accent1">
                <a:shade val="15000"/>
                <a:alpha val="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여당 추천</a:t>
            </a:r>
            <a:r>
              <a:rPr lang="en-US" altLang="ko-KR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: </a:t>
            </a:r>
            <a:r>
              <a:rPr lang="ko-KR" altLang="en-US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고민수</a:t>
            </a:r>
            <a:r>
              <a:rPr lang="en-US" altLang="ko-KR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(</a:t>
            </a:r>
            <a:r>
              <a:rPr lang="ko-KR" altLang="en-US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現 강릉원주대 법학과 교수</a:t>
            </a:r>
            <a:r>
              <a:rPr lang="en-US" altLang="ko-KR" sz="1100" b="1" u="sng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)</a:t>
            </a:r>
            <a:endParaRPr lang="ko-KR" altLang="en-US" sz="1100" b="1" u="sng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C1F150F-47DB-2CEE-74FE-E51F381A9F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78" r="6378"/>
          <a:stretch>
            <a:fillRect/>
          </a:stretch>
        </p:blipFill>
        <p:spPr>
          <a:xfrm>
            <a:off x="10622281" y="1324793"/>
            <a:ext cx="1265875" cy="150548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21A9758-AFD6-C838-C642-969299D7E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046" y="1324793"/>
            <a:ext cx="1265873" cy="15054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F3064B-2A17-8A74-B496-A623855AA31A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30/109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7237828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7A4C49-F294-4D6F-898B-CE208CD5D43F}"/>
              </a:ext>
            </a:extLst>
          </p:cNvPr>
          <p:cNvSpPr txBox="1"/>
          <p:nvPr/>
        </p:nvSpPr>
        <p:spPr>
          <a:xfrm>
            <a:off x="86741" y="70025"/>
            <a:ext cx="7106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정부조직 개편 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비상임위원 프로필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20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5" name="Group 193">
            <a:extLst>
              <a:ext uri="{FF2B5EF4-FFF2-40B4-BE49-F238E27FC236}">
                <a16:creationId xmlns:a16="http://schemas.microsoft.com/office/drawing/2014/main" id="{5FAA026E-849A-CD4F-BDB3-9308B896B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930762"/>
              </p:ext>
            </p:extLst>
          </p:nvPr>
        </p:nvGraphicFramePr>
        <p:xfrm>
          <a:off x="460105" y="953674"/>
          <a:ext cx="11271790" cy="4776482"/>
        </p:xfrm>
        <a:graphic>
          <a:graphicData uri="http://schemas.openxmlformats.org/drawingml/2006/table">
            <a:tbl>
              <a:tblPr/>
              <a:tblGrid>
                <a:gridCol w="111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4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4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53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785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추천</a:t>
                      </a:r>
                      <a:endParaRPr lang="ko-KR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5" marR="91435" marT="45705" marB="45705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성  명</a:t>
                      </a:r>
                    </a:p>
                  </a:txBody>
                  <a:tcPr marL="91435" marR="91435" marT="45705" marB="45705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학 력 사 항</a:t>
                      </a:r>
                    </a:p>
                  </a:txBody>
                  <a:tcPr marL="91435" marR="91435" marT="45705" marB="45705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 요 경 력</a:t>
                      </a:r>
                    </a:p>
                  </a:txBody>
                  <a:tcPr marL="91435" marR="91435" marT="45705" marB="45705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41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대통령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지명</a:t>
                      </a:r>
                    </a:p>
                  </a:txBody>
                  <a:tcPr marL="91435" marR="91435" marT="45705" marB="45705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5" marR="91435" marT="45705" marB="45705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류 신 환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(1972</a:t>
                      </a:r>
                      <a:r>
                        <a:rPr lang="ko-KR" altLang="en-US" sz="1100" b="1" u="none" kern="1200" dirty="0" err="1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년생</a:t>
                      </a:r>
                      <a:r>
                        <a:rPr lang="en-US" altLang="ko-KR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5" marR="91435" marT="45705" marB="45705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경기고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서울대 공법학과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서울대 법과대학원 형사정책 수료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5" marR="91435" marT="45705" marB="45705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現 법무법인 지향 변호사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언론인권센터 미디어 피해구조본부 실행위원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서울대학교 법학전문대학원 겸임교수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인터넷신문위원회 인터넷신문기사 심의위원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5" marR="91435" marT="45705" marB="45705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787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국회추천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여당</a:t>
                      </a:r>
                      <a:r>
                        <a:rPr lang="en-US" altLang="ko-KR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5" marR="91435" marT="45705" marB="45705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5" marR="91435" marT="45705" marB="45705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윤 성 옥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(1970</a:t>
                      </a:r>
                      <a:r>
                        <a:rPr lang="ko-KR" altLang="en-US" sz="1100" b="1" u="none" kern="1200" dirty="0" err="1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년생</a:t>
                      </a:r>
                      <a:r>
                        <a:rPr lang="en-US" altLang="ko-KR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5" marR="91435" marT="45705" marB="45705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 err="1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금란고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경기대 불어불문학과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서강대 언론정보대학원 석사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광운대 신문방송학 박사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5" marR="91435" marT="45705" marB="45705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現 경기대 미디어영상학과 교수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한국언론법학회장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 err="1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방송통신임의위원회</a:t>
                      </a: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위원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 err="1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한국방송광고진흥공사</a:t>
                      </a: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비상임이사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5" marR="91435" marT="45705" marB="45705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53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국회추천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야당</a:t>
                      </a:r>
                      <a:r>
                        <a:rPr lang="en-US" altLang="ko-KR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5" marR="91435" marT="45705" marB="45705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5" marR="91435" marT="45705" marB="45705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 상 근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(1969</a:t>
                      </a:r>
                      <a:r>
                        <a:rPr lang="ko-KR" altLang="en-US" sz="1100" b="1" u="none" kern="1200" dirty="0" err="1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년생</a:t>
                      </a:r>
                      <a:r>
                        <a:rPr lang="en-US" altLang="ko-KR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5" marR="91435" marT="45705" marB="45705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서강대 경영학과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서강대 경영학과 석사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미국 </a:t>
                      </a:r>
                      <a:r>
                        <a:rPr lang="ko-KR" altLang="en-US" sz="1100" b="1" u="none" kern="1200" dirty="0" err="1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네브라스카</a:t>
                      </a:r>
                      <a:r>
                        <a:rPr lang="en-US" altLang="ko-KR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링컨 대학 박사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5" marR="91435" marT="45705" marB="45705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現 서강대학교 경영대학 교수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아주대학교 경영대학 교수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대통령직속 </a:t>
                      </a:r>
                      <a:r>
                        <a:rPr lang="ko-KR" altLang="en-US" sz="1100" b="1" u="none" kern="1200" dirty="0" err="1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디지털플랫폼정부위원회</a:t>
                      </a: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전문위원</a:t>
                      </a:r>
                      <a:r>
                        <a:rPr lang="en-US" altLang="ko-KR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1" u="none" kern="1200" dirty="0" err="1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윤석렬</a:t>
                      </a: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정부</a:t>
                      </a:r>
                      <a:r>
                        <a:rPr lang="en-US" altLang="ko-KR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5" marR="91435" marT="45705" marB="45705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355530"/>
                  </a:ext>
                </a:extLst>
              </a:tr>
              <a:tr h="11253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국회추천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야당</a:t>
                      </a:r>
                      <a:r>
                        <a:rPr lang="en-US" altLang="ko-KR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5" marR="91435" marT="45705" marB="45705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5" marR="91435" marT="45705" marB="45705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 수 영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(1966</a:t>
                      </a:r>
                      <a:r>
                        <a:rPr lang="ko-KR" altLang="en-US" sz="1100" b="1" u="none" kern="1200" dirty="0" err="1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년생</a:t>
                      </a:r>
                      <a:r>
                        <a:rPr lang="en-US" altLang="ko-KR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5" marR="91435" marT="45705" marB="45705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 err="1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강릉고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관동대 경제학과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5" marR="91435" marT="45705" marB="45705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새누리당 수석부대변인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대통령비서실 선임행정관</a:t>
                      </a:r>
                      <a:r>
                        <a:rPr lang="en-US" altLang="ko-KR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박근혜 정부</a:t>
                      </a:r>
                      <a:r>
                        <a:rPr lang="en-US" altLang="ko-KR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시청자미디어재단 경영기획실장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서울</a:t>
                      </a:r>
                      <a:r>
                        <a:rPr lang="en-US" altLang="ko-KR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b="1" u="none" kern="1200" dirty="0" err="1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인미디어콘텐츠협회</a:t>
                      </a:r>
                      <a:r>
                        <a:rPr lang="ko-KR" altLang="en-US" sz="1100" b="1" u="none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대표</a:t>
                      </a:r>
                      <a:endParaRPr lang="en-US" altLang="ko-KR" sz="1100" b="1" u="none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5" marR="91435" marT="45705" marB="45705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3610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81B698D5-C2BC-8EE1-EA46-54542AA86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155" y="4737462"/>
            <a:ext cx="773696" cy="93164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DBB3066-C81C-E6C8-0B81-B986F1F08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028" y="3545201"/>
            <a:ext cx="852077" cy="100938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4CE4365-E3D5-8B05-C7E8-89C430F0B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0577" y="2423108"/>
            <a:ext cx="743274" cy="100938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42BB1EC-17AB-620F-50EC-3C935683B5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844" y="1316271"/>
            <a:ext cx="814261" cy="9941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06C0EB-6976-9EB8-50BB-EABDF13BAE9D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31/109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9336319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179B3-B8B7-35A4-42C8-0BD6DDE12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BC404C91-4681-3778-882E-1ED1E59111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605943"/>
              </p:ext>
            </p:extLst>
          </p:nvPr>
        </p:nvGraphicFramePr>
        <p:xfrm>
          <a:off x="355341" y="816155"/>
          <a:ext cx="11449734" cy="4870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368">
                  <a:extLst>
                    <a:ext uri="{9D8B030D-6E8A-4147-A177-3AD203B41FA5}">
                      <a16:colId xmlns:a16="http://schemas.microsoft.com/office/drawing/2014/main" val="2790025584"/>
                    </a:ext>
                  </a:extLst>
                </a:gridCol>
                <a:gridCol w="10272366">
                  <a:extLst>
                    <a:ext uri="{9D8B030D-6E8A-4147-A177-3AD203B41FA5}">
                      <a16:colId xmlns:a16="http://schemas.microsoft.com/office/drawing/2014/main" val="4155892692"/>
                    </a:ext>
                  </a:extLst>
                </a:gridCol>
              </a:tblGrid>
              <a:tr h="3544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0" marR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581450"/>
                  </a:ext>
                </a:extLst>
              </a:tr>
              <a:tr h="208084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청문심사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36000" marT="0" marB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</a:pPr>
                      <a:r>
                        <a:rPr lang="ko-KR" altLang="en-US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방송사업자로서 경영진의 </a:t>
                      </a:r>
                      <a:r>
                        <a:rPr lang="ko-KR" altLang="en-US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공적책임에 대한 의지</a:t>
                      </a:r>
                      <a:r>
                        <a:rPr lang="ko-KR" altLang="en-US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를 보고 싶어하는 자리</a:t>
                      </a:r>
                      <a:endParaRPr lang="en-US" altLang="ko-KR" sz="1200" b="0" kern="120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just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</a:pPr>
                      <a:r>
                        <a:rPr lang="ko-KR" altLang="en-US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사회적책임</a:t>
                      </a:r>
                      <a:r>
                        <a:rPr lang="en-US" altLang="ko-KR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공익사업</a:t>
                      </a:r>
                      <a:r>
                        <a:rPr lang="en-US" altLang="ko-KR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소외계층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장애인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등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중소기업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동반성장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공정거래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소비자 보호</a:t>
                      </a:r>
                      <a:endParaRPr lang="en-US" altLang="ko-KR" sz="1200" b="0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just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tabLst>
                          <a:tab pos="558800" algn="l"/>
                        </a:tabLst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 → 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우리는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① 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과거 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년간 사업계획 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성실히 이행 </a:t>
                      </a:r>
                      <a:endParaRPr lang="en-US" altLang="ko-KR" sz="12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just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tabLst>
                          <a:tab pos="558800" algn="l"/>
                        </a:tabLst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</a:t>
                      </a:r>
                      <a:r>
                        <a:rPr lang="en-US" altLang="ko-KR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② (</a:t>
                      </a:r>
                      <a:r>
                        <a:rPr lang="ko-KR" altLang="en-US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시청률 하락</a:t>
                      </a:r>
                      <a:r>
                        <a:rPr lang="en-US" altLang="ko-KR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채널 경쟁</a:t>
                      </a:r>
                      <a:r>
                        <a:rPr lang="en-US" altLang="ko-KR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유통 플랫폼과의 경쟁 등 어려운 환경 속에서</a:t>
                      </a:r>
                      <a:r>
                        <a:rPr lang="en-US" altLang="ko-KR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보수적으로 수치 제출할 수 밖에 없는 배경</a:t>
                      </a:r>
                      <a:endParaRPr lang="en-US" altLang="ko-KR" sz="1200" b="1" kern="120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just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tabLst>
                          <a:tab pos="558800" algn="l"/>
                        </a:tabLst>
                      </a:pPr>
                      <a:r>
                        <a:rPr lang="en-US" altLang="ko-KR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③ (</a:t>
                      </a:r>
                      <a:r>
                        <a:rPr lang="ko-KR" altLang="en-US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그럼에도 많은 고민을 해서</a:t>
                      </a:r>
                      <a:r>
                        <a:rPr lang="en-US" altLang="ko-KR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b="1" u="sng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공익사업과 중소기업 위해 노력</a:t>
                      </a:r>
                      <a:r>
                        <a:rPr lang="en-US" altLang="ko-KR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algn="just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tabLst>
                          <a:tab pos="558800" algn="l"/>
                        </a:tabLst>
                      </a:pPr>
                      <a:r>
                        <a:rPr lang="en-US" altLang="ko-KR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④ AI </a:t>
                      </a:r>
                      <a:r>
                        <a:rPr lang="ko-KR" altLang="en-US" sz="1200" b="1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등 신기술 활용 서비스 차별화 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245916"/>
                  </a:ext>
                </a:extLst>
              </a:tr>
              <a:tr h="243527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돌발질문</a:t>
                      </a:r>
                      <a:endParaRPr lang="en-US" altLang="ko-KR" sz="1200" b="1" kern="120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대응 멘트</a:t>
                      </a:r>
                    </a:p>
                  </a:txBody>
                  <a:tcPr marL="54000" marR="36000" marT="0" marB="0" anchor="ctr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558800" algn="l"/>
                        </a:tabLst>
                        <a:defRPr/>
                      </a:pPr>
                      <a:r>
                        <a:rPr lang="en-US" altLang="ko-KR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ko-KR" altLang="en-US" sz="1200" b="0" u="sng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심사위원 </a:t>
                      </a:r>
                      <a:r>
                        <a:rPr lang="en-US" altLang="ko-KR" sz="1200" b="0" u="sng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= </a:t>
                      </a:r>
                      <a:r>
                        <a:rPr lang="ko-KR" altLang="en-US" sz="1200" b="0" u="sng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우리 고객에게 설명드린다는 생각으로</a:t>
                      </a:r>
                      <a:r>
                        <a:rPr lang="en-US" altLang="ko-KR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558800" algn="l"/>
                        </a:tabLst>
                        <a:defRPr/>
                      </a:pPr>
                      <a:endParaRPr lang="en-US" altLang="ko-KR" sz="1200" b="0" kern="120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4000" marR="0" lvl="0" indent="-1440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  <a:defRPr/>
                      </a:pPr>
                      <a:r>
                        <a:rPr lang="en-US" altLang="ko-KR" sz="1200" b="0" kern="120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의견 제안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좋은 의견이라 생각되며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심사위원님의 의견을 고려하여 적극 검토하겠습니다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44000" marR="0" lvl="0" indent="-1440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  <a:defRPr/>
                      </a:pP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미비점 지적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b="0" kern="120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말씀하신대로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미흡한 부분이 있습니다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심사위원께서 말씀하신 부분에 초점을 맞춰 개선하고자 노력하겠습니다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44000" indent="-1440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</a:pP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실무적 질문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질문하신 내용에 대해 배석자가 설명을 드릴 수 있을 것 같습니다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배석자가 답변을 드려도 되겠습니까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  <a:p>
                      <a:pPr marL="144000" indent="-1440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  <a:tabLst>
                          <a:tab pos="558800" algn="l"/>
                        </a:tabLst>
                      </a:pP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데이터 요구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내부적으로 실무자에게 확인을 </a:t>
                      </a:r>
                      <a:r>
                        <a:rPr lang="ko-KR" altLang="en-US" sz="1200" b="0" kern="120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해야될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것 같습니다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상세내용을 확인하여 서면으로 제출하겠습니다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>
                        <a:lnSpc>
                          <a:spcPct val="15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→ 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답변시간에 구애 없이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사례 말씀하시면서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농담도 좋고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평소에 하듯이 편안하게 답변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단지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u="sng" kern="120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구체적인 수치 언급은 자제</a:t>
                      </a:r>
                    </a:p>
                  </a:txBody>
                  <a:tcPr marL="72000" marR="360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43123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307E7A8-EEE2-EBBA-7ECF-96D8A7C1D461}"/>
              </a:ext>
            </a:extLst>
          </p:cNvPr>
          <p:cNvSpPr txBox="1"/>
          <p:nvPr/>
        </p:nvSpPr>
        <p:spPr>
          <a:xfrm>
            <a:off x="58483" y="73169"/>
            <a:ext cx="9572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답변 방향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]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24056-2B5D-D358-134A-15AA3FC3F18C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32/109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4669825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D4D78-6937-6B73-F874-3236FF355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51B1CA-13C1-1A5D-E6B7-26EEFBB5B602}"/>
              </a:ext>
            </a:extLst>
          </p:cNvPr>
          <p:cNvSpPr txBox="1"/>
          <p:nvPr/>
        </p:nvSpPr>
        <p:spPr>
          <a:xfrm>
            <a:off x="60961" y="68212"/>
            <a:ext cx="9572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2026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년 청문심사 예상 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Q&amp;A – LIST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A4D8C58-E101-A4BA-FA87-23E276E7A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491018"/>
              </p:ext>
            </p:extLst>
          </p:nvPr>
        </p:nvGraphicFramePr>
        <p:xfrm>
          <a:off x="246000" y="684000"/>
          <a:ext cx="11552726" cy="5956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342">
                  <a:extLst>
                    <a:ext uri="{9D8B030D-6E8A-4147-A177-3AD203B41FA5}">
                      <a16:colId xmlns:a16="http://schemas.microsoft.com/office/drawing/2014/main" val="2790025584"/>
                    </a:ext>
                  </a:extLst>
                </a:gridCol>
                <a:gridCol w="339548">
                  <a:extLst>
                    <a:ext uri="{9D8B030D-6E8A-4147-A177-3AD203B41FA5}">
                      <a16:colId xmlns:a16="http://schemas.microsoft.com/office/drawing/2014/main" val="2078834508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461364825"/>
                    </a:ext>
                  </a:extLst>
                </a:gridCol>
                <a:gridCol w="1056836">
                  <a:extLst>
                    <a:ext uri="{9D8B030D-6E8A-4147-A177-3AD203B41FA5}">
                      <a16:colId xmlns:a16="http://schemas.microsoft.com/office/drawing/2014/main" val="3912432859"/>
                    </a:ext>
                  </a:extLst>
                </a:gridCol>
              </a:tblGrid>
              <a:tr h="28586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0" marR="0" marT="36000" marB="3600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예상 질문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List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비고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581450"/>
                  </a:ext>
                </a:extLst>
              </a:tr>
              <a:tr h="285863">
                <a:tc rowSpan="10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종합질문</a:t>
                      </a: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방송사업자로서 공적책임을 어떻게 이행하실 계획인가요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CEO</a:t>
                      </a: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174348"/>
                  </a:ext>
                </a:extLst>
              </a:tr>
              <a:tr h="285863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TV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홈쇼핑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데이터홈쇼핑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개의 사업을 운영 중인데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데이터홈쇼핑의 차별화 전략은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CEO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162076"/>
                  </a:ext>
                </a:extLst>
              </a:tr>
              <a:tr h="285863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데이터홈쇼핑 운영방향은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CEO</a:t>
                      </a: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726716"/>
                  </a:ext>
                </a:extLst>
              </a:tr>
              <a:tr h="2858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AI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기술이 대두되고 있는데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향후 활용 방안은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CEO</a:t>
                      </a: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136544"/>
                  </a:ext>
                </a:extLst>
              </a:tr>
              <a:tr h="285863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기타 질문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업계 이슈 </a:t>
                      </a: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CEO</a:t>
                      </a: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598978"/>
                  </a:ext>
                </a:extLst>
              </a:tr>
              <a:tr h="285863">
                <a:tc vMerge="1"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데이터홈쇼핑의 영상영역 확대와 생방송 허용에 대해 어떻게 생각하시나요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CEO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060841"/>
                  </a:ext>
                </a:extLst>
              </a:tr>
              <a:tr h="285863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중소기업 판로지원을 위한 데이터홈쇼핑 신설에 대해 어떻게 생각하시나요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CEO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846548"/>
                  </a:ext>
                </a:extLst>
              </a:tr>
              <a:tr h="285863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재승인 폐지에 대해 어떻게 생각하시나요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CEO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0382751"/>
                  </a:ext>
                </a:extLst>
              </a:tr>
              <a:tr h="285863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연번제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시행에 대해 어떻게 생각하시나요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CEO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384015"/>
                  </a:ext>
                </a:extLst>
              </a:tr>
              <a:tr h="285863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연계편성에 대해 어떻게 생각하시나요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CEO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67840"/>
                  </a:ext>
                </a:extLst>
              </a:tr>
              <a:tr h="285863">
                <a:tc rowSpan="6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방송의</a:t>
                      </a: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공적책임</a:t>
                      </a: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사회환원 금액이 실적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법인 영업이익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합병 이후 규모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대비 계획이 낮은데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더 확대할 계획은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소비자 분야 지원을 타 분야 대비 너무 적게 하는 것 아닌가요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CFO</a:t>
                      </a: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995297"/>
                  </a:ext>
                </a:extLst>
              </a:tr>
              <a:tr h="28586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시청자위원회 관련 질문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(p.40)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편성책임자</a:t>
                      </a:r>
                      <a:endParaRPr lang="en-US" altLang="ko-KR" sz="100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2626970"/>
                  </a:ext>
                </a:extLst>
              </a:tr>
              <a:tr h="28586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시청자위원회 위원은 어떤 분야 중심으로 어떻게 선정하고 있나요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편성책임자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89076"/>
                  </a:ext>
                </a:extLst>
              </a:tr>
              <a:tr h="28586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시청자위원회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운영에 따른 효과가 있나요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편성책임자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8391768"/>
                  </a:ext>
                </a:extLst>
              </a:tr>
              <a:tr h="28586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시청자위원회에는 회사 경영진이 참석하고 있나요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편성책임자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7414916"/>
                  </a:ext>
                </a:extLst>
              </a:tr>
              <a:tr h="285863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시청자위원 임기가 대부분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년인데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너무 긴 것 아닌가요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편성책임자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3930088"/>
                  </a:ext>
                </a:extLst>
              </a:tr>
              <a:tr h="274320"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공정거래</a:t>
                      </a: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공정거래 제재 관련</a:t>
                      </a: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CFO</a:t>
                      </a: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119315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제도 개선 등 다양한 활동을 하고 있지만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공정거래 제재가 많은데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여러 제도가 실효성 없는 것 아닌가요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    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CFO</a:t>
                      </a: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985382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공정거래 제재 발생 시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임직원 징계를 하고 있나요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CFO</a:t>
                      </a: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372278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불공정거래로 인한 피해 발생시 보상하는 규정이 있는데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공정거래 법위반에 대해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해당 협력사에게 피해 보상 사례가 있었나요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CFO</a:t>
                      </a: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705455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63C77EB9-BB87-5D20-CE69-1A210495A383}"/>
              </a:ext>
            </a:extLst>
          </p:cNvPr>
          <p:cNvSpPr/>
          <p:nvPr/>
        </p:nvSpPr>
        <p:spPr>
          <a:xfrm>
            <a:off x="1284718" y="3847800"/>
            <a:ext cx="283011" cy="260898"/>
          </a:xfrm>
          <a:prstGeom prst="rect">
            <a:avLst/>
          </a:prstGeom>
          <a:solidFill>
            <a:srgbClr val="036635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b="1" dirty="0">
                <a:solidFill>
                  <a:schemeClr val="bg1"/>
                </a:solidFill>
              </a:rPr>
              <a:t>법인</a:t>
            </a:r>
            <a:endParaRPr lang="en-US" altLang="ko-KR" sz="6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600" b="1" dirty="0">
                <a:solidFill>
                  <a:schemeClr val="bg1"/>
                </a:solidFill>
              </a:rPr>
              <a:t>기준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EFD28B3-0210-3E60-6385-498DEC89992C}"/>
              </a:ext>
            </a:extLst>
          </p:cNvPr>
          <p:cNvSpPr/>
          <p:nvPr/>
        </p:nvSpPr>
        <p:spPr>
          <a:xfrm>
            <a:off x="251768" y="5721362"/>
            <a:ext cx="283011" cy="260898"/>
          </a:xfrm>
          <a:prstGeom prst="rect">
            <a:avLst/>
          </a:prstGeom>
          <a:solidFill>
            <a:srgbClr val="036635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b="1" dirty="0">
                <a:solidFill>
                  <a:schemeClr val="bg1"/>
                </a:solidFill>
              </a:rPr>
              <a:t>법인</a:t>
            </a:r>
            <a:endParaRPr lang="en-US" altLang="ko-KR" sz="6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600" b="1" dirty="0">
                <a:solidFill>
                  <a:schemeClr val="bg1"/>
                </a:solidFill>
              </a:rPr>
              <a:t>기준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6131C4-63A8-ED57-5746-B3FDD47F5828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33/109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3080790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E33C9-0EAC-09C5-5EB9-848087E96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F7496A6-80D8-3163-2420-6D7F592C63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378227"/>
              </p:ext>
            </p:extLst>
          </p:nvPr>
        </p:nvGraphicFramePr>
        <p:xfrm>
          <a:off x="246000" y="684000"/>
          <a:ext cx="11552727" cy="5906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145">
                  <a:extLst>
                    <a:ext uri="{9D8B030D-6E8A-4147-A177-3AD203B41FA5}">
                      <a16:colId xmlns:a16="http://schemas.microsoft.com/office/drawing/2014/main" val="2790025584"/>
                    </a:ext>
                  </a:extLst>
                </a:gridCol>
                <a:gridCol w="341746">
                  <a:extLst>
                    <a:ext uri="{9D8B030D-6E8A-4147-A177-3AD203B41FA5}">
                      <a16:colId xmlns:a16="http://schemas.microsoft.com/office/drawing/2014/main" val="2078834508"/>
                    </a:ext>
                  </a:extLst>
                </a:gridCol>
                <a:gridCol w="9153236">
                  <a:extLst>
                    <a:ext uri="{9D8B030D-6E8A-4147-A177-3AD203B41FA5}">
                      <a16:colId xmlns:a16="http://schemas.microsoft.com/office/drawing/2014/main" val="1696626523"/>
                    </a:ext>
                  </a:extLst>
                </a:gridCol>
                <a:gridCol w="1047600">
                  <a:extLst>
                    <a:ext uri="{9D8B030D-6E8A-4147-A177-3AD203B41FA5}">
                      <a16:colId xmlns:a16="http://schemas.microsoft.com/office/drawing/2014/main" val="3912432859"/>
                    </a:ext>
                  </a:extLst>
                </a:gridCol>
              </a:tblGrid>
              <a:tr h="26523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0" marR="0" marT="36000" marB="3600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예상 질문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List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비고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581450"/>
                  </a:ext>
                </a:extLst>
              </a:tr>
              <a:tr h="322985">
                <a:tc rowSpan="14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중소기업</a:t>
                      </a: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지원</a:t>
                      </a: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(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종합답변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중소기업 지원 방안에 대해 설명해주세요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편성책임자</a:t>
                      </a:r>
                      <a:endParaRPr lang="en-US" altLang="ko-KR" sz="100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6792343"/>
                  </a:ext>
                </a:extLst>
              </a:tr>
              <a:tr h="32298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중소기업 편성 비중 계획이 과거 실적 대비 낮은데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상향할 계획은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중견기업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5%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를 추가한 이유는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편성책임자</a:t>
                      </a:r>
                      <a:endParaRPr lang="en-US" altLang="ko-KR" sz="100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174348"/>
                  </a:ext>
                </a:extLst>
              </a:tr>
              <a:tr h="322985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직매입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실적 대비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타사 대비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매출액 대비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계획이 낮은데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이유는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편성책임자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162076"/>
                  </a:ext>
                </a:extLst>
              </a:tr>
              <a:tr h="322985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신규 중소기업 수가 실적 대비 향후 계획이 적은 이유는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신규 중소기업 수를 확대하기 위한 노력은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편성책임자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726716"/>
                  </a:ext>
                </a:extLst>
              </a:tr>
              <a:tr h="322985">
                <a:tc vMerge="1"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자금 지원 관련 기타 질문</a:t>
                      </a: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편성책임자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060841"/>
                  </a:ext>
                </a:extLst>
              </a:tr>
              <a:tr h="322985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(p.110)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신상품 무이자 자금 지원이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2021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년도만 협력사 수가 많은데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편성책임자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846548"/>
                  </a:ext>
                </a:extLst>
              </a:tr>
              <a:tr h="322985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(p.110)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수매 자금 지원 업체 수가 적은 이유가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편성책임자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0382751"/>
                  </a:ext>
                </a:extLst>
              </a:tr>
              <a:tr h="322985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과거 실적 대비 중소기업 </a:t>
                      </a:r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판매수수료율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계획이 높은데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이유는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편성책임자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384015"/>
                  </a:ext>
                </a:extLst>
              </a:tr>
              <a:tr h="322985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(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대기업 대비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중소기업 </a:t>
                      </a:r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판매수수료율이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더 높은 이유는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편성책임자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995297"/>
                  </a:ext>
                </a:extLst>
              </a:tr>
              <a:tr h="3229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정액방송 비중을 높여서 제출한 이유는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편성책임자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2626970"/>
                  </a:ext>
                </a:extLst>
              </a:tr>
              <a:tr h="3229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중소기업 지원 관련 기타 질문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편성책임자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89076"/>
                  </a:ext>
                </a:extLst>
              </a:tr>
              <a:tr h="2655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해외판로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실적은 있으나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해외판로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지원 계획은 </a:t>
                      </a:r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없으신가요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편성책임자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8391768"/>
                  </a:ext>
                </a:extLst>
              </a:tr>
              <a:tr h="2655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넥스트푸디콘을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2021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2022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년만 진행을 했는데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중단된 이유는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편성책임자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7414916"/>
                  </a:ext>
                </a:extLst>
              </a:tr>
              <a:tr h="26555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판매수수료 환급 실적이 감소하고 있는데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이유는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편성책임자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3930088"/>
                  </a:ext>
                </a:extLst>
              </a:tr>
              <a:tr h="322985"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프로그램</a:t>
                      </a: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제작</a:t>
                      </a: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향후 제작비 계획이 감소하는 이유는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편성책임자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119315"/>
                  </a:ext>
                </a:extLst>
              </a:tr>
              <a:tr h="322985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시청자 평가 프로그램의 편성 시간을 주시청시간대에서 야간시간대로 이동한 이유는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시청자 평가위원은 어떻게 선정하나요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편성책임자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985382"/>
                  </a:ext>
                </a:extLst>
              </a:tr>
              <a:tr h="322985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시청자 정보 프로그램을 주로 새벽시간대에 편성하고 있는데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이유는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편성책임자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372278"/>
                  </a:ext>
                </a:extLst>
              </a:tr>
              <a:tr h="322985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558800" algn="l"/>
                        </a:tabLst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자막방송 실적 대비 계획이 낮은 이유는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수어방송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비중이 낮은 이유는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편성책임자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7054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AE42AC7-8F80-4434-6236-A3DE1AE275F6}"/>
              </a:ext>
            </a:extLst>
          </p:cNvPr>
          <p:cNvSpPr txBox="1"/>
          <p:nvPr/>
        </p:nvSpPr>
        <p:spPr>
          <a:xfrm>
            <a:off x="60961" y="68212"/>
            <a:ext cx="9572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2026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년 청문심사 예상 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Q&amp;A – LIST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1E4EB7-7D39-121E-9BF2-B549552B19CE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34/109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5528850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C49C4-C956-DECB-6F4C-F6EEB1FA3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6CD063C-F295-3F3E-6A48-6C798ABDF7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445435"/>
              </p:ext>
            </p:extLst>
          </p:nvPr>
        </p:nvGraphicFramePr>
        <p:xfrm>
          <a:off x="263525" y="692150"/>
          <a:ext cx="11552727" cy="5472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342">
                  <a:extLst>
                    <a:ext uri="{9D8B030D-6E8A-4147-A177-3AD203B41FA5}">
                      <a16:colId xmlns:a16="http://schemas.microsoft.com/office/drawing/2014/main" val="2790025584"/>
                    </a:ext>
                  </a:extLst>
                </a:gridCol>
                <a:gridCol w="348785">
                  <a:extLst>
                    <a:ext uri="{9D8B030D-6E8A-4147-A177-3AD203B41FA5}">
                      <a16:colId xmlns:a16="http://schemas.microsoft.com/office/drawing/2014/main" val="2078834508"/>
                    </a:ext>
                  </a:extLst>
                </a:gridCol>
                <a:gridCol w="9126475">
                  <a:extLst>
                    <a:ext uri="{9D8B030D-6E8A-4147-A177-3AD203B41FA5}">
                      <a16:colId xmlns:a16="http://schemas.microsoft.com/office/drawing/2014/main" val="3563759377"/>
                    </a:ext>
                  </a:extLst>
                </a:gridCol>
                <a:gridCol w="1065125">
                  <a:extLst>
                    <a:ext uri="{9D8B030D-6E8A-4147-A177-3AD203B41FA5}">
                      <a16:colId xmlns:a16="http://schemas.microsoft.com/office/drawing/2014/main" val="3912432859"/>
                    </a:ext>
                  </a:extLst>
                </a:gridCol>
              </a:tblGrid>
              <a:tr h="27450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0" marR="0" marT="36000" marB="3600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예상 질문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List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비고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581450"/>
                  </a:ext>
                </a:extLst>
              </a:tr>
              <a:tr h="324874">
                <a:tc rowSpan="6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인력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교육</a:t>
                      </a: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algn="just" latinLnBrk="1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25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대비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인력 규모가 적은데 이유는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향후 인력계획 감소 이유는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비정규직이 많아 보이는데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채용사유는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홈쇼핑</a:t>
                      </a:r>
                      <a:r>
                        <a:rPr lang="en-US" altLang="ko-KR" sz="100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BU</a:t>
                      </a:r>
                      <a:r>
                        <a:rPr lang="ko-KR" altLang="en-US" sz="100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장</a:t>
                      </a:r>
                      <a:endParaRPr lang="en-US" altLang="ko-KR" sz="100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174348"/>
                  </a:ext>
                </a:extLst>
              </a:tr>
              <a:tr h="324874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현재 실적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(1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인당 교육비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매출액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대비 향후 계획이 낮아지는 이유는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데이터홈쇼핑 특화 교육 투자 금액이 실적대비 계획이 낮은데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이유는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홈쇼핑</a:t>
                      </a:r>
                      <a:r>
                        <a:rPr kumimoji="0" lang="en-US" altLang="ko-KR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BU</a:t>
                      </a:r>
                      <a:r>
                        <a:rPr kumimoji="0" lang="ko-KR" altLang="en-US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장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162076"/>
                  </a:ext>
                </a:extLst>
              </a:tr>
              <a:tr h="324874">
                <a:tc vMerge="1"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인력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교육 관련 기타 질문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홈쇼핑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BU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장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060841"/>
                  </a:ext>
                </a:extLst>
              </a:tr>
              <a:tr h="324874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2025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전체 인력 규모가 미달하였는데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이유는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홈쇼핑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BU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장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846548"/>
                  </a:ext>
                </a:extLst>
              </a:tr>
              <a:tr h="3248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2025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정규직 채용이 미달하였는데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이유는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홈쇼핑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BU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장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22253"/>
                  </a:ext>
                </a:extLst>
              </a:tr>
              <a:tr h="324874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여성인력 비율은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44%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여성 관리자 비율은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19.2%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 낮아 보이는데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여성 관리자 비율을 확대할 계획이 있나요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홈쇼핑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BU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장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0382751"/>
                  </a:ext>
                </a:extLst>
              </a:tr>
              <a:tr h="324874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경영</a:t>
                      </a: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투명성</a:t>
                      </a: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윤리위원회가 모두 내부자로 구성되어 있습니다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객관적인 위원회 운영을 위해 외부인을 참여시킬 계획은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CFO</a:t>
                      </a: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384015"/>
                  </a:ext>
                </a:extLst>
              </a:tr>
              <a:tr h="324874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지에스리테일은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ESG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관련 어떠한 노력들을 하고 </a:t>
                      </a:r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계신가요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CFO</a:t>
                      </a: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995297"/>
                  </a:ext>
                </a:extLst>
              </a:tr>
              <a:tr h="324874">
                <a:tc rowSpan="8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재정 및</a:t>
                      </a: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기술적능력</a:t>
                      </a: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재무에 관한 질문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(p.212)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CFO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2626970"/>
                  </a:ext>
                </a:extLst>
              </a:tr>
              <a:tr h="324874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부채비율이 타사대비 높은 이유는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CFO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89076"/>
                  </a:ext>
                </a:extLst>
              </a:tr>
              <a:tr h="324874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23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24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년에 당기 순손실이 발생한 이유는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CFO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8391768"/>
                  </a:ext>
                </a:extLst>
              </a:tr>
              <a:tr h="324874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홈쇼핑의 추정 매출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취급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 감소하는 이유는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CFO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7414916"/>
                  </a:ext>
                </a:extLst>
              </a:tr>
              <a:tr h="32487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홈쇼핑의 추정 영업이익이 감소하는 이유는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CFO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3930088"/>
                  </a:ext>
                </a:extLst>
              </a:tr>
              <a:tr h="32487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자금 조달 운영 계획을 설명해주세요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CFO</a:t>
                      </a: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119315"/>
                  </a:ext>
                </a:extLst>
              </a:tr>
              <a:tr h="324874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부채비율이 타사대비 높은 이유는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CFO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985382"/>
                  </a:ext>
                </a:extLst>
              </a:tr>
              <a:tr h="324874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방송 시설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기술투자 실적 대비 계획이 감소하는 이유는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편성책임자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3722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2B4BFA1-FE26-F8CD-CD3E-25BB8149ACF2}"/>
              </a:ext>
            </a:extLst>
          </p:cNvPr>
          <p:cNvSpPr txBox="1"/>
          <p:nvPr/>
        </p:nvSpPr>
        <p:spPr>
          <a:xfrm>
            <a:off x="60961" y="68212"/>
            <a:ext cx="9572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2026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년 청문심사 예상 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Q&amp;A – LIST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AFCD981-F007-4A5A-0914-F95E86272F05}"/>
              </a:ext>
            </a:extLst>
          </p:cNvPr>
          <p:cNvSpPr/>
          <p:nvPr/>
        </p:nvSpPr>
        <p:spPr>
          <a:xfrm>
            <a:off x="263524" y="2974610"/>
            <a:ext cx="283011" cy="260898"/>
          </a:xfrm>
          <a:prstGeom prst="rect">
            <a:avLst/>
          </a:prstGeom>
          <a:solidFill>
            <a:srgbClr val="036635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b="1" dirty="0">
                <a:solidFill>
                  <a:schemeClr val="bg1"/>
                </a:solidFill>
              </a:rPr>
              <a:t>법인</a:t>
            </a:r>
            <a:endParaRPr lang="en-US" altLang="ko-KR" sz="6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600" b="1" dirty="0">
                <a:solidFill>
                  <a:schemeClr val="bg1"/>
                </a:solidFill>
              </a:rPr>
              <a:t>기준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33E7977-A3B3-A136-3C15-5486E932295F}"/>
              </a:ext>
            </a:extLst>
          </p:cNvPr>
          <p:cNvSpPr/>
          <p:nvPr/>
        </p:nvSpPr>
        <p:spPr>
          <a:xfrm>
            <a:off x="263524" y="4521816"/>
            <a:ext cx="283011" cy="260898"/>
          </a:xfrm>
          <a:prstGeom prst="rect">
            <a:avLst/>
          </a:prstGeom>
          <a:solidFill>
            <a:srgbClr val="036635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b="1" dirty="0">
                <a:solidFill>
                  <a:schemeClr val="bg1"/>
                </a:solidFill>
              </a:rPr>
              <a:t>법인</a:t>
            </a:r>
            <a:endParaRPr lang="en-US" altLang="ko-KR" sz="6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600" b="1" dirty="0">
                <a:solidFill>
                  <a:schemeClr val="bg1"/>
                </a:solidFill>
              </a:rPr>
              <a:t>기준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8A2EFF-DB14-4742-7F3B-5C2F754CC3D4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35/109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9008409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3F0FD-8C9A-8BB8-CAE3-C280C3D8C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B3322E4-2EA6-2712-7566-D3A54BA7BB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603709"/>
              </p:ext>
            </p:extLst>
          </p:nvPr>
        </p:nvGraphicFramePr>
        <p:xfrm>
          <a:off x="263525" y="692150"/>
          <a:ext cx="11552727" cy="351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342">
                  <a:extLst>
                    <a:ext uri="{9D8B030D-6E8A-4147-A177-3AD203B41FA5}">
                      <a16:colId xmlns:a16="http://schemas.microsoft.com/office/drawing/2014/main" val="2790025584"/>
                    </a:ext>
                  </a:extLst>
                </a:gridCol>
                <a:gridCol w="340497">
                  <a:extLst>
                    <a:ext uri="{9D8B030D-6E8A-4147-A177-3AD203B41FA5}">
                      <a16:colId xmlns:a16="http://schemas.microsoft.com/office/drawing/2014/main" val="2078834508"/>
                    </a:ext>
                  </a:extLst>
                </a:gridCol>
                <a:gridCol w="9116291">
                  <a:extLst>
                    <a:ext uri="{9D8B030D-6E8A-4147-A177-3AD203B41FA5}">
                      <a16:colId xmlns:a16="http://schemas.microsoft.com/office/drawing/2014/main" val="2143203839"/>
                    </a:ext>
                  </a:extLst>
                </a:gridCol>
                <a:gridCol w="1083597">
                  <a:extLst>
                    <a:ext uri="{9D8B030D-6E8A-4147-A177-3AD203B41FA5}">
                      <a16:colId xmlns:a16="http://schemas.microsoft.com/office/drawing/2014/main" val="3912432859"/>
                    </a:ext>
                  </a:extLst>
                </a:gridCol>
              </a:tblGrid>
              <a:tr h="26579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0" marR="0" marT="36000" marB="3600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예상 질문 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List</a:t>
                      </a: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비고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581450"/>
                  </a:ext>
                </a:extLst>
              </a:tr>
              <a:tr h="324587">
                <a:tc rowSpan="9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소비자</a:t>
                      </a: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(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종합답변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소비자 불만 개선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소비자 보호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을 위한 방안은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홈쇼핑</a:t>
                      </a:r>
                      <a:r>
                        <a:rPr lang="en-US" altLang="ko-KR" sz="100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BU</a:t>
                      </a:r>
                      <a:r>
                        <a:rPr lang="ko-KR" altLang="en-US" sz="100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장</a:t>
                      </a:r>
                      <a:endParaRPr lang="en-US" altLang="ko-KR" sz="1000" b="0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879438"/>
                  </a:ext>
                </a:extLst>
              </a:tr>
              <a:tr h="32458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소비자 불만 중 품질과 배송 불만이 많은데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그 사유와 개선 방안은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?(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불만 관리 방안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홈쇼핑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BU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장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174348"/>
                  </a:ext>
                </a:extLst>
              </a:tr>
              <a:tr h="324587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 AI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상담센터로 전환하고 있는데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AI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상담이 소비자에게 더 불편을 주지 않을까요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홈쇼핑</a:t>
                      </a:r>
                      <a:r>
                        <a:rPr kumimoji="0" lang="en-US" altLang="ko-KR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BU</a:t>
                      </a:r>
                      <a:r>
                        <a:rPr kumimoji="0" lang="ko-KR" altLang="en-US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장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162076"/>
                  </a:ext>
                </a:extLst>
              </a:tr>
              <a:tr h="324587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시청자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소비자 보호 관한 질문</a:t>
                      </a: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홈쇼핑</a:t>
                      </a:r>
                      <a:r>
                        <a:rPr kumimoji="0" lang="en-US" altLang="ko-KR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BU</a:t>
                      </a:r>
                      <a:r>
                        <a:rPr kumimoji="0" lang="ko-KR" altLang="en-US" sz="1000" b="0" i="0" u="none" strike="noStrike" kern="1200" cap="none" spc="-50" normalizeH="0" baseline="0" noProof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장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726716"/>
                  </a:ext>
                </a:extLst>
              </a:tr>
              <a:tr h="324587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(p.230)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콜센터 불만처리 인원이 감소하고 있는데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소비자 불만처리를 적극적으로 해결하기 위해서 인원을 늘려야 </a:t>
                      </a:r>
                      <a:r>
                        <a:rPr lang="ko-KR" altLang="en-US" sz="100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하는것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아닌가요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홈쇼핑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BU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장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598978"/>
                  </a:ext>
                </a:extLst>
              </a:tr>
              <a:tr h="324587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en-US" altLang="ko-KR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최근 알부민에 대한 소비자 이슈가 있는데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소비자 보호를 위한 조치는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홈쇼핑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BU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장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846548"/>
                  </a:ext>
                </a:extLst>
              </a:tr>
              <a:tr h="324587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장애인 및 디지털 소외계층을 위한 보호 계획은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홈쇼핑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BU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장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384015"/>
                  </a:ext>
                </a:extLst>
              </a:tr>
              <a:tr h="324587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개인정보 이슈가 많은데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개인정보보호를 위한 운영방안은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CFO</a:t>
                      </a: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7597790"/>
                  </a:ext>
                </a:extLst>
              </a:tr>
              <a:tr h="324587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0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Q. (p.274)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외부 해킹 방지 시스템을 운영한다고 하는데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침해사고가 일어난 원인은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CFO</a:t>
                      </a: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995297"/>
                  </a:ext>
                </a:extLst>
              </a:tr>
              <a:tr h="32458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방송발전</a:t>
                      </a:r>
                    </a:p>
                  </a:txBody>
                  <a:tcPr marL="0" marR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방송발전 지원 향후 계획이 줄어드는데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이유는 무엇인가요</a:t>
                      </a:r>
                      <a:r>
                        <a:rPr lang="en-US" altLang="ko-KR" sz="10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홈쇼핑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BU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lumMod val="50000"/>
                                <a:alpha val="2000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장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solidFill>
                            <a:prstClr val="white">
                              <a:lumMod val="50000"/>
                              <a:alpha val="20000"/>
                            </a:prstClr>
                          </a:solidFill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262697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9837D53-2AD2-BF16-67D4-BB655512990A}"/>
              </a:ext>
            </a:extLst>
          </p:cNvPr>
          <p:cNvSpPr txBox="1"/>
          <p:nvPr/>
        </p:nvSpPr>
        <p:spPr>
          <a:xfrm>
            <a:off x="60961" y="68212"/>
            <a:ext cx="9572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2026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년 청문심사 예상 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Q&amp;A – LIST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AA78424-0296-A5C1-AB68-9BC5DD94BCD5}"/>
              </a:ext>
            </a:extLst>
          </p:cNvPr>
          <p:cNvSpPr/>
          <p:nvPr/>
        </p:nvSpPr>
        <p:spPr>
          <a:xfrm>
            <a:off x="1312427" y="3271024"/>
            <a:ext cx="283011" cy="260898"/>
          </a:xfrm>
          <a:prstGeom prst="rect">
            <a:avLst/>
          </a:prstGeom>
          <a:solidFill>
            <a:srgbClr val="036635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b="1" dirty="0">
                <a:solidFill>
                  <a:schemeClr val="bg1"/>
                </a:solidFill>
              </a:rPr>
              <a:t>법인</a:t>
            </a:r>
            <a:endParaRPr lang="en-US" altLang="ko-KR" sz="6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600" b="1" dirty="0">
                <a:solidFill>
                  <a:schemeClr val="bg1"/>
                </a:solidFill>
              </a:rPr>
              <a:t>기준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729B121-05BB-D34F-80D7-5D907BDAA249}"/>
              </a:ext>
            </a:extLst>
          </p:cNvPr>
          <p:cNvSpPr/>
          <p:nvPr/>
        </p:nvSpPr>
        <p:spPr>
          <a:xfrm>
            <a:off x="1312427" y="3602405"/>
            <a:ext cx="283011" cy="260898"/>
          </a:xfrm>
          <a:prstGeom prst="rect">
            <a:avLst/>
          </a:prstGeom>
          <a:solidFill>
            <a:srgbClr val="036635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b="1" dirty="0">
                <a:solidFill>
                  <a:schemeClr val="bg1"/>
                </a:solidFill>
              </a:rPr>
              <a:t>법인</a:t>
            </a:r>
            <a:endParaRPr lang="en-US" altLang="ko-KR" sz="6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600" b="1" dirty="0">
                <a:solidFill>
                  <a:schemeClr val="bg1"/>
                </a:solidFill>
              </a:rPr>
              <a:t>기준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5A3B12-733C-3A93-EC6D-779DFDF35530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36/109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6474272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E643D-AE29-A50E-7DCB-9ECCB3CAC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50D0F4A-55B2-B184-CF09-C22C40907C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2EB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4000" b="1" dirty="0">
                <a:solidFill>
                  <a:schemeClr val="tx1"/>
                </a:solidFill>
                <a:latin typeface="+mn-ea"/>
              </a:rPr>
              <a:t>종합질문</a:t>
            </a:r>
            <a:endParaRPr lang="en-US" altLang="ko-KR" sz="40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0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35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3500" dirty="0">
                <a:solidFill>
                  <a:schemeClr val="tx1"/>
                </a:solidFill>
                <a:latin typeface="+mn-ea"/>
              </a:rPr>
              <a:t>데이터홈쇼핑 차별화</a:t>
            </a:r>
            <a:r>
              <a:rPr lang="en-US" altLang="ko-KR" sz="3500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3500" dirty="0">
                <a:solidFill>
                  <a:schemeClr val="tx1"/>
                </a:solidFill>
                <a:latin typeface="+mn-ea"/>
              </a:rPr>
              <a:t>공적책임</a:t>
            </a:r>
            <a:r>
              <a:rPr lang="en-US" altLang="ko-KR" sz="3500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3500" dirty="0">
                <a:solidFill>
                  <a:schemeClr val="tx1"/>
                </a:solidFill>
                <a:latin typeface="+mn-ea"/>
              </a:rPr>
              <a:t>업계이슈</a:t>
            </a:r>
            <a:r>
              <a:rPr lang="en-US" altLang="ko-KR" sz="35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727421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A430D9-F121-A2F9-26D3-6B0528267DE8}"/>
              </a:ext>
            </a:extLst>
          </p:cNvPr>
          <p:cNvSpPr txBox="1"/>
          <p:nvPr/>
        </p:nvSpPr>
        <p:spPr>
          <a:xfrm>
            <a:off x="60963" y="331886"/>
            <a:ext cx="10191401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방송사업자로서 공적책임을 어떻게 이행하실 계획인가요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EB4AF-E8C7-6280-D863-983D8A16EDBD}"/>
              </a:ext>
            </a:extLst>
          </p:cNvPr>
          <p:cNvSpPr txBox="1"/>
          <p:nvPr/>
        </p:nvSpPr>
        <p:spPr>
          <a:xfrm>
            <a:off x="65067" y="17757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종합질문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C56CBF3-A5A5-77A8-2391-43298C7C9B27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CEO</a:t>
            </a:r>
            <a:endParaRPr lang="ko-KR" altLang="en-US" sz="105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018E89-EB13-FDFD-511C-1CB6279AD0D9}"/>
              </a:ext>
            </a:extLst>
          </p:cNvPr>
          <p:cNvSpPr txBox="1"/>
          <p:nvPr/>
        </p:nvSpPr>
        <p:spPr>
          <a:xfrm>
            <a:off x="5853251" y="1175682"/>
            <a:ext cx="5920292" cy="3416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spc="-50" dirty="0">
                <a:latin typeface="+mn-ea"/>
              </a:rPr>
              <a:t>방송사업자로서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고객 가치와 신뢰를 최우선</a:t>
            </a:r>
            <a:r>
              <a:rPr lang="ko-KR" altLang="en-US" sz="1200" b="1" spc="-50" dirty="0">
                <a:latin typeface="+mn-ea"/>
              </a:rPr>
              <a:t>으로 삼고</a:t>
            </a:r>
            <a:r>
              <a:rPr lang="en-US" altLang="ko-KR" sz="1200" b="1" spc="-50" dirty="0">
                <a:latin typeface="+mn-ea"/>
              </a:rPr>
              <a:t>, 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중소기업 육성</a:t>
            </a:r>
            <a:r>
              <a:rPr lang="ko-KR" altLang="en-US" sz="1200" b="1" spc="-50" dirty="0">
                <a:latin typeface="+mn-ea"/>
              </a:rPr>
              <a:t>과</a:t>
            </a:r>
            <a:r>
              <a:rPr lang="en-US" altLang="ko-KR" sz="1200" b="1" spc="-50" dirty="0">
                <a:latin typeface="+mn-ea"/>
              </a:rPr>
              <a:t>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사회에 기여하기 위해 최선을</a:t>
            </a:r>
            <a:r>
              <a:rPr lang="ko-KR" altLang="en-US" sz="1200" b="1" spc="-50" dirty="0">
                <a:latin typeface="+mn-ea"/>
              </a:rPr>
              <a:t> 다할 계획</a:t>
            </a:r>
            <a:endParaRPr lang="en-US" altLang="ko-KR" sz="1200" b="1" spc="-5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1200" b="1" spc="-50" dirty="0">
              <a:latin typeface="+mn-ea"/>
            </a:endParaRPr>
          </a:p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① 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고객과의 신뢰를 위해</a:t>
            </a:r>
            <a:r>
              <a:rPr lang="en-US" altLang="ko-KR" sz="1200" b="1" dirty="0">
                <a:latin typeface="+mn-ea"/>
              </a:rPr>
              <a:t>) </a:t>
            </a:r>
          </a:p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</a:t>
            </a:r>
            <a:r>
              <a:rPr lang="ko-KR" altLang="en-US" sz="1200" b="1" dirty="0">
                <a:latin typeface="+mn-ea"/>
              </a:rPr>
              <a:t>철저한 </a:t>
            </a:r>
            <a:r>
              <a:rPr lang="ko-KR" altLang="en-US" sz="1200" b="1" u="sng" dirty="0">
                <a:latin typeface="+mn-ea"/>
              </a:rPr>
              <a:t>품질 관리와 정확한 정보 제공</a:t>
            </a:r>
            <a:r>
              <a:rPr lang="ko-KR" altLang="en-US" sz="1200" b="1" dirty="0">
                <a:latin typeface="+mn-ea"/>
              </a:rPr>
              <a:t>으로 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</a:t>
            </a:r>
            <a:r>
              <a:rPr lang="ko-KR" altLang="en-US" sz="1200" b="1" u="sng" dirty="0">
                <a:latin typeface="+mn-ea"/>
              </a:rPr>
              <a:t>상품과 서비스에 대한 신뢰</a:t>
            </a:r>
            <a:r>
              <a:rPr lang="ko-KR" altLang="en-US" sz="1200" b="1" dirty="0">
                <a:latin typeface="+mn-ea"/>
              </a:rPr>
              <a:t>를 높이고 고객을 보호하는데 노력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 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② 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중소기업 육성을 위해</a:t>
            </a:r>
            <a:r>
              <a:rPr lang="en-US" altLang="ko-KR" sz="1200" b="1" dirty="0">
                <a:latin typeface="+mn-ea"/>
              </a:rPr>
              <a:t>)</a:t>
            </a:r>
          </a:p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</a:t>
            </a:r>
            <a:r>
              <a:rPr lang="ko-KR" altLang="en-US" sz="1200" b="1" dirty="0">
                <a:latin typeface="+mn-ea"/>
              </a:rPr>
              <a:t>다양한 지원프로그램을 통해 </a:t>
            </a:r>
            <a:r>
              <a:rPr lang="ko-KR" altLang="en-US" sz="1200" b="1" u="sng" dirty="0">
                <a:latin typeface="+mn-ea"/>
              </a:rPr>
              <a:t>신규 중소기업의 입점 기회를 확대</a:t>
            </a:r>
            <a:r>
              <a:rPr lang="ko-KR" altLang="en-US" sz="1200" b="1" dirty="0">
                <a:latin typeface="+mn-ea"/>
              </a:rPr>
              <a:t>하고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</a:t>
            </a:r>
            <a:r>
              <a:rPr lang="ko-KR" altLang="en-US" sz="1200" b="1" dirty="0">
                <a:latin typeface="+mn-ea"/>
              </a:rPr>
              <a:t>브랜드 육성과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품질 역량 강화로 </a:t>
            </a:r>
            <a:r>
              <a:rPr lang="ko-KR" altLang="en-US" sz="1200" b="1" u="sng" dirty="0">
                <a:latin typeface="+mn-ea"/>
              </a:rPr>
              <a:t>중소기업 성장을 지원</a:t>
            </a:r>
            <a:endParaRPr lang="en-US" altLang="ko-KR" sz="1200" b="1" u="sng" dirty="0">
              <a:latin typeface="+mn-ea"/>
            </a:endParaRPr>
          </a:p>
          <a:p>
            <a:pPr>
              <a:lnSpc>
                <a:spcPct val="12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③ 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사회적 기여를 위해</a:t>
            </a:r>
            <a:r>
              <a:rPr lang="en-US" altLang="ko-KR" sz="1200" b="1" dirty="0">
                <a:latin typeface="+mn-ea"/>
              </a:rPr>
              <a:t>) </a:t>
            </a:r>
          </a:p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    </a:t>
            </a:r>
            <a:r>
              <a:rPr lang="ko-KR" altLang="en-US" sz="1200" b="1" u="sng" spc="-50" dirty="0">
                <a:latin typeface="+mn-ea"/>
              </a:rPr>
              <a:t>소외계층과 미래세대 중심의 공익사업을 </a:t>
            </a:r>
            <a:r>
              <a:rPr lang="ko-KR" altLang="en-US" sz="1200" b="1" spc="-50" dirty="0">
                <a:latin typeface="+mn-ea"/>
              </a:rPr>
              <a:t>향후에도 지속하고</a:t>
            </a:r>
            <a:r>
              <a:rPr lang="en-US" altLang="ko-KR" sz="1200" b="1" spc="-50" dirty="0">
                <a:latin typeface="+mn-ea"/>
              </a:rPr>
              <a:t>,</a:t>
            </a:r>
          </a:p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en-US" altLang="ko-KR" sz="1200" b="1" spc="-50">
                <a:latin typeface="+mn-ea"/>
              </a:rPr>
              <a:t>     </a:t>
            </a:r>
            <a:r>
              <a:rPr lang="ko-KR" altLang="en-US" sz="1200" b="1" u="sng" spc="-50">
                <a:latin typeface="+mn-ea"/>
              </a:rPr>
              <a:t>방송분야 인재 육성</a:t>
            </a:r>
            <a:r>
              <a:rPr lang="ko-KR" altLang="en-US" sz="1200" b="1" spc="-50">
                <a:latin typeface="+mn-ea"/>
              </a:rPr>
              <a:t>을 </a:t>
            </a:r>
            <a:r>
              <a:rPr lang="ko-KR" altLang="en-US" sz="1200" b="1" spc="-50" dirty="0">
                <a:latin typeface="+mn-ea"/>
              </a:rPr>
              <a:t>통해 </a:t>
            </a:r>
            <a:r>
              <a:rPr lang="ko-KR" altLang="en-US" sz="1200" b="1" spc="-50">
                <a:latin typeface="+mn-ea"/>
              </a:rPr>
              <a:t>방송발전에 기여</a:t>
            </a:r>
            <a:endParaRPr lang="en-US" altLang="ko-KR" sz="1200" b="1" spc="-50">
              <a:latin typeface="+mn-ea"/>
            </a:endParaRPr>
          </a:p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en-US" altLang="ko-KR" sz="1000" spc="-50">
                <a:latin typeface="+mn-ea"/>
              </a:rPr>
              <a:t>     </a:t>
            </a:r>
            <a:r>
              <a:rPr lang="ko-KR" altLang="ko-KR" sz="1000" spc="-50">
                <a:latin typeface="+mn-ea"/>
              </a:rPr>
              <a:t>※</a:t>
            </a:r>
            <a:r>
              <a:rPr lang="en-US" altLang="ko-KR" sz="1000" spc="-50">
                <a:latin typeface="+mn-ea"/>
              </a:rPr>
              <a:t> </a:t>
            </a:r>
            <a:r>
              <a:rPr lang="ko-KR" altLang="en-US" sz="1000" spc="-50">
                <a:latin typeface="+mn-ea"/>
              </a:rPr>
              <a:t>방송분야 인재 육성 </a:t>
            </a:r>
            <a:r>
              <a:rPr lang="en-US" altLang="ko-KR" sz="1000" spc="-50">
                <a:latin typeface="+mn-ea"/>
              </a:rPr>
              <a:t>: </a:t>
            </a:r>
            <a:r>
              <a:rPr lang="en-US" altLang="ko-KR" sz="1000">
                <a:latin typeface="+mn-ea"/>
              </a:rPr>
              <a:t>2018</a:t>
            </a:r>
            <a:r>
              <a:rPr lang="ko-KR" altLang="en-US" sz="1000">
                <a:latin typeface="+mn-ea"/>
              </a:rPr>
              <a:t>년부터 방송 미디어분야 대학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원</a:t>
            </a:r>
            <a:r>
              <a:rPr lang="en-US" altLang="ko-KR" sz="1000">
                <a:latin typeface="+mn-ea"/>
              </a:rPr>
              <a:t>)</a:t>
            </a:r>
            <a:r>
              <a:rPr lang="ko-KR" altLang="en-US" sz="1000">
                <a:latin typeface="+mn-ea"/>
              </a:rPr>
              <a:t>생 장학금 누적 </a:t>
            </a:r>
            <a:r>
              <a:rPr lang="en-US" altLang="ko-KR" sz="1000">
                <a:latin typeface="+mn-ea"/>
              </a:rPr>
              <a:t>420</a:t>
            </a:r>
            <a:r>
              <a:rPr lang="ko-KR" altLang="en-US" sz="1000">
                <a:latin typeface="+mn-ea"/>
              </a:rPr>
              <a:t>명 지원</a:t>
            </a:r>
            <a:endParaRPr lang="en-US" altLang="ko-KR" sz="1000" spc="-5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953F152-F4CD-A506-BB31-043F7C1D5254}"/>
              </a:ext>
            </a:extLst>
          </p:cNvPr>
          <p:cNvSpPr/>
          <p:nvPr/>
        </p:nvSpPr>
        <p:spPr>
          <a:xfrm>
            <a:off x="5843588" y="979055"/>
            <a:ext cx="5976937" cy="565682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ea"/>
            </a:endParaRPr>
          </a:p>
        </p:txBody>
      </p:sp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97EF03-D0D6-3715-FE63-0C0342F707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22"/>
          <a:stretch>
            <a:fillRect/>
          </a:stretch>
        </p:blipFill>
        <p:spPr>
          <a:xfrm>
            <a:off x="827315" y="1225090"/>
            <a:ext cx="4393824" cy="55147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37F6F0-BB73-3480-9CD5-003CD12B7079}"/>
              </a:ext>
            </a:extLst>
          </p:cNvPr>
          <p:cNvSpPr txBox="1"/>
          <p:nvPr/>
        </p:nvSpPr>
        <p:spPr>
          <a:xfrm>
            <a:off x="130629" y="862157"/>
            <a:ext cx="45458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ko-KR" altLang="en-US" sz="1100" b="1" dirty="0">
                <a:latin typeface="+mn-ea"/>
              </a:rPr>
              <a:t>사업계획서 </a:t>
            </a:r>
            <a:r>
              <a:rPr lang="en-US" altLang="ko-KR" sz="1100" b="1" dirty="0">
                <a:latin typeface="+mn-ea"/>
              </a:rPr>
              <a:t>p.14~18)</a:t>
            </a:r>
            <a:r>
              <a:rPr lang="ko-KR" altLang="en-US" sz="1100" b="1" dirty="0">
                <a:latin typeface="+mn-ea"/>
              </a:rPr>
              <a:t>방송의 공적책임 이행 의지와 실천 계획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24C2B5-D8B0-C1F2-190C-3D64A24D563D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37/109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7598491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F3F44-6BE7-C928-D7B1-43443637D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A6897E-7BDB-5F7B-3D9D-E04B45C9E559}"/>
              </a:ext>
            </a:extLst>
          </p:cNvPr>
          <p:cNvSpPr txBox="1"/>
          <p:nvPr/>
        </p:nvSpPr>
        <p:spPr>
          <a:xfrm>
            <a:off x="60963" y="331886"/>
            <a:ext cx="11428712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TV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홈쇼핑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,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데이터홈쇼핑 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2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개의 사업을 운영 중인데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데이터홈쇼핑의 차별화 전략은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</a:t>
            </a:r>
            <a:endParaRPr lang="en-US" altLang="ko-KR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5539BF-B3DA-4063-9DF0-F467CB71054F}"/>
              </a:ext>
            </a:extLst>
          </p:cNvPr>
          <p:cNvSpPr txBox="1"/>
          <p:nvPr/>
        </p:nvSpPr>
        <p:spPr>
          <a:xfrm>
            <a:off x="65067" y="17757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종합질문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20E0949-CEBE-22A9-C0F8-0BB60AF06BAA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CEO</a:t>
            </a:r>
            <a:endParaRPr lang="ko-KR" altLang="en-US" sz="105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2F7ACB5-5019-A981-0BDF-AB1FB3A9DE34}"/>
              </a:ext>
            </a:extLst>
          </p:cNvPr>
          <p:cNvSpPr/>
          <p:nvPr/>
        </p:nvSpPr>
        <p:spPr>
          <a:xfrm>
            <a:off x="5843588" y="981075"/>
            <a:ext cx="5976937" cy="56515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ea"/>
            </a:endParaRPr>
          </a:p>
        </p:txBody>
      </p:sp>
      <p:pic>
        <p:nvPicPr>
          <p:cNvPr id="12" name="그림 11" descr="의류, 텍스트, 스크린샷, 코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824090-81B0-26F4-16E7-C5828F80A7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836" y="1289011"/>
            <a:ext cx="4988478" cy="2796704"/>
          </a:xfrm>
          <a:prstGeom prst="rect">
            <a:avLst/>
          </a:prstGeom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A8324850-E9CD-D4A0-0A39-745EAADB564F}"/>
              </a:ext>
            </a:extLst>
          </p:cNvPr>
          <p:cNvGraphicFramePr>
            <a:graphicFrameLocks noGrp="1"/>
          </p:cNvGraphicFramePr>
          <p:nvPr/>
        </p:nvGraphicFramePr>
        <p:xfrm>
          <a:off x="440124" y="1289009"/>
          <a:ext cx="4988478" cy="2762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787">
                  <a:extLst>
                    <a:ext uri="{9D8B030D-6E8A-4147-A177-3AD203B41FA5}">
                      <a16:colId xmlns:a16="http://schemas.microsoft.com/office/drawing/2014/main" val="645506538"/>
                    </a:ext>
                  </a:extLst>
                </a:gridCol>
                <a:gridCol w="1290691">
                  <a:extLst>
                    <a:ext uri="{9D8B030D-6E8A-4147-A177-3AD203B41FA5}">
                      <a16:colId xmlns:a16="http://schemas.microsoft.com/office/drawing/2014/main" val="2693775867"/>
                    </a:ext>
                  </a:extLst>
                </a:gridCol>
              </a:tblGrid>
              <a:tr h="385351">
                <a:tc>
                  <a:txBody>
                    <a:bodyPr/>
                    <a:lstStyle/>
                    <a:p>
                      <a:pPr latinLnBrk="1"/>
                      <a:endParaRPr lang="en-US" altLang="ko-KR" sz="1500" dirty="0"/>
                    </a:p>
                  </a:txBody>
                  <a:tcPr>
                    <a:lnL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278553"/>
                  </a:ext>
                </a:extLst>
              </a:tr>
              <a:tr h="1911939"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ko-KR" altLang="en-US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505543"/>
                  </a:ext>
                </a:extLst>
              </a:tr>
              <a:tr h="357622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91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65618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AC89DD8D-8350-0DB1-C40A-FE7723268D78}"/>
              </a:ext>
            </a:extLst>
          </p:cNvPr>
          <p:cNvSpPr txBox="1"/>
          <p:nvPr/>
        </p:nvSpPr>
        <p:spPr>
          <a:xfrm>
            <a:off x="461348" y="5616083"/>
            <a:ext cx="4988478" cy="728276"/>
          </a:xfrm>
          <a:prstGeom prst="rect">
            <a:avLst/>
          </a:prstGeom>
          <a:solidFill>
            <a:srgbClr val="B8D4F0"/>
          </a:solidFill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100" b="1" dirty="0">
                <a:latin typeface="+mn-ea"/>
              </a:rPr>
              <a:t>&lt;</a:t>
            </a:r>
            <a:r>
              <a:rPr lang="ko-KR" altLang="en-US" sz="1100" b="1" dirty="0">
                <a:latin typeface="+mn-ea"/>
              </a:rPr>
              <a:t>데이터영역</a:t>
            </a:r>
            <a:r>
              <a:rPr lang="en-US" altLang="ko-KR" sz="1100" b="1" dirty="0">
                <a:latin typeface="+mn-ea"/>
              </a:rPr>
              <a:t>&gt;</a:t>
            </a:r>
          </a:p>
          <a:p>
            <a:pPr>
              <a:lnSpc>
                <a:spcPct val="130000"/>
              </a:lnSpc>
            </a:pPr>
            <a:r>
              <a:rPr lang="ko-KR" altLang="en-US" sz="1100" b="1" dirty="0">
                <a:latin typeface="+mn-ea"/>
              </a:rPr>
              <a:t>①</a:t>
            </a:r>
            <a:r>
              <a:rPr lang="en-US" altLang="ko-KR" sz="1100" b="1" dirty="0">
                <a:latin typeface="+mn-ea"/>
              </a:rPr>
              <a:t> </a:t>
            </a:r>
            <a:r>
              <a:rPr lang="ko-KR" altLang="en-US" sz="1100" b="1" dirty="0">
                <a:latin typeface="+mn-ea"/>
              </a:rPr>
              <a:t>최초화면에 다양한 상품 구성</a:t>
            </a:r>
            <a:endParaRPr lang="en-US" altLang="ko-KR" sz="1100" b="1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ko-KR" altLang="en-US" sz="1100" b="1" dirty="0">
                <a:latin typeface="+mn-ea"/>
              </a:rPr>
              <a:t>② </a:t>
            </a:r>
            <a:r>
              <a:rPr lang="ko-KR" altLang="en-US" sz="1100" b="1" u="sng" dirty="0">
                <a:latin typeface="+mn-ea"/>
              </a:rPr>
              <a:t>양방향 서비스 제공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0A4E8E-6937-37A8-13A2-23136574AD7C}"/>
              </a:ext>
            </a:extLst>
          </p:cNvPr>
          <p:cNvSpPr txBox="1"/>
          <p:nvPr/>
        </p:nvSpPr>
        <p:spPr>
          <a:xfrm>
            <a:off x="461348" y="4196963"/>
            <a:ext cx="4988478" cy="13153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b="1" dirty="0">
                <a:latin typeface="+mn-ea"/>
              </a:rPr>
              <a:t>&lt;</a:t>
            </a:r>
            <a:r>
              <a:rPr lang="ko-KR" altLang="en-US" sz="1100" b="1" spc="-50" dirty="0">
                <a:latin typeface="+mn-ea"/>
              </a:rPr>
              <a:t>영상영역</a:t>
            </a:r>
            <a:r>
              <a:rPr lang="en-US" altLang="ko-KR" sz="1100" b="1" spc="-50" dirty="0">
                <a:latin typeface="+mn-ea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ko-KR" altLang="en-US" sz="1100" b="1" spc="-50" dirty="0">
                <a:latin typeface="+mn-ea"/>
              </a:rPr>
              <a:t>① 전체화면 </a:t>
            </a:r>
            <a:r>
              <a:rPr lang="en-US" altLang="ko-KR" sz="1100" b="1" spc="-50" dirty="0">
                <a:latin typeface="+mn-ea"/>
              </a:rPr>
              <a:t>2</a:t>
            </a:r>
            <a:r>
              <a:rPr lang="ko-KR" altLang="en-US" sz="1100" b="1" spc="-50" dirty="0">
                <a:latin typeface="+mn-ea"/>
              </a:rPr>
              <a:t>분의 </a:t>
            </a:r>
            <a:r>
              <a:rPr lang="en-US" altLang="ko-KR" sz="1100" b="1" spc="-50" dirty="0">
                <a:latin typeface="+mn-ea"/>
              </a:rPr>
              <a:t>1 </a:t>
            </a:r>
            <a:r>
              <a:rPr lang="ko-KR" altLang="en-US" sz="1100" b="1" spc="-50" dirty="0">
                <a:latin typeface="+mn-ea"/>
              </a:rPr>
              <a:t>미만 영상 제공 가능</a:t>
            </a:r>
            <a:endParaRPr lang="en-US" altLang="ko-KR" sz="1100" b="1" spc="-5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100" b="1" spc="-50" dirty="0">
                <a:latin typeface="+mn-ea"/>
              </a:rPr>
              <a:t>   </a:t>
            </a:r>
            <a:r>
              <a:rPr lang="ko-KR" altLang="en-US" sz="1100" b="1" spc="-50" dirty="0">
                <a:latin typeface="+mn-ea"/>
              </a:rPr>
              <a:t>단</a:t>
            </a:r>
            <a:r>
              <a:rPr lang="en-US" altLang="ko-KR" sz="1100" b="1" spc="-50" dirty="0">
                <a:latin typeface="+mn-ea"/>
              </a:rPr>
              <a:t>, </a:t>
            </a:r>
            <a:r>
              <a:rPr lang="ko-KR" altLang="en-US" sz="1100" b="1" spc="-50" dirty="0">
                <a:latin typeface="+mn-ea"/>
              </a:rPr>
              <a:t>데이터 로딩을 곧바로 하는 것이 기술적으로 불가능한 경우에 한하여</a:t>
            </a:r>
            <a:endParaRPr lang="en-US" altLang="ko-KR" sz="1100" b="1" spc="-5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100" b="1" spc="-50" dirty="0">
                <a:latin typeface="+mn-ea"/>
              </a:rPr>
              <a:t>  </a:t>
            </a:r>
            <a:r>
              <a:rPr lang="ko-KR" altLang="en-US" sz="1100" b="1" spc="-50" dirty="0">
                <a:latin typeface="+mn-ea"/>
              </a:rPr>
              <a:t> 최초 </a:t>
            </a:r>
            <a:r>
              <a:rPr lang="en-US" altLang="ko-KR" sz="1100" b="1" spc="-50" dirty="0">
                <a:latin typeface="+mn-ea"/>
              </a:rPr>
              <a:t>10</a:t>
            </a:r>
            <a:r>
              <a:rPr lang="ko-KR" altLang="en-US" sz="1100" b="1" spc="-50" dirty="0">
                <a:latin typeface="+mn-ea"/>
              </a:rPr>
              <a:t>초 내외의 범위에서 전체화면으로 영상 제공 가능</a:t>
            </a:r>
            <a:endParaRPr lang="en-US" altLang="ko-KR" sz="1100" b="1" spc="-5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100" b="1" spc="-50" dirty="0">
                <a:latin typeface="+mn-ea"/>
              </a:rPr>
              <a:t>②</a:t>
            </a:r>
            <a:r>
              <a:rPr lang="en-US" altLang="ko-KR" sz="1100" b="1" spc="-50" dirty="0">
                <a:latin typeface="+mn-ea"/>
              </a:rPr>
              <a:t> </a:t>
            </a:r>
            <a:r>
              <a:rPr lang="ko-KR" altLang="en-US" sz="1100" b="1" spc="-50" dirty="0">
                <a:latin typeface="+mn-ea"/>
              </a:rPr>
              <a:t>생방송 금지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A55C40-F543-F90A-0FBB-DFCD0F94F8F5}"/>
              </a:ext>
            </a:extLst>
          </p:cNvPr>
          <p:cNvSpPr/>
          <p:nvPr/>
        </p:nvSpPr>
        <p:spPr>
          <a:xfrm>
            <a:off x="447268" y="1716583"/>
            <a:ext cx="3663008" cy="1916022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24356B-A30E-BB45-2F7C-5416166B06D7}"/>
              </a:ext>
            </a:extLst>
          </p:cNvPr>
          <p:cNvSpPr txBox="1"/>
          <p:nvPr/>
        </p:nvSpPr>
        <p:spPr>
          <a:xfrm>
            <a:off x="134067" y="834792"/>
            <a:ext cx="5628205" cy="289301"/>
          </a:xfrm>
          <a:prstGeom prst="rect">
            <a:avLst/>
          </a:prstGeom>
          <a:noFill/>
        </p:spPr>
        <p:txBody>
          <a:bodyPr wrap="square" tIns="72000" rtlCol="0"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ko-KR" altLang="en-US" sz="1100" b="1" spc="-50" dirty="0">
                <a:latin typeface="+mn-ea"/>
              </a:rPr>
              <a:t>■ 「데이터홈쇼핑 개념 및 범위에 관한 법적 적용 기준</a:t>
            </a:r>
            <a:r>
              <a:rPr lang="en-US" altLang="ko-KR" sz="1100" b="1" spc="-50" dirty="0">
                <a:latin typeface="+mn-ea"/>
              </a:rPr>
              <a:t>(guideline)</a:t>
            </a:r>
            <a:r>
              <a:rPr lang="ko-KR" altLang="en-US" sz="1100" b="1" spc="-50" dirty="0">
                <a:latin typeface="+mn-ea"/>
              </a:rPr>
              <a:t>」</a:t>
            </a:r>
            <a:endParaRPr lang="en-US" altLang="ko-KR" sz="1100" b="1" spc="-50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3EED2D-6BCF-E485-F478-CA2CF32D7A7A}"/>
              </a:ext>
            </a:extLst>
          </p:cNvPr>
          <p:cNvSpPr txBox="1"/>
          <p:nvPr/>
        </p:nvSpPr>
        <p:spPr>
          <a:xfrm>
            <a:off x="5951773" y="1119634"/>
            <a:ext cx="5868752" cy="5787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spc="-50" dirty="0">
                <a:latin typeface="+mn-ea"/>
              </a:rPr>
              <a:t>&lt;</a:t>
            </a:r>
            <a:r>
              <a:rPr lang="ko-KR" altLang="en-US" sz="1200" b="1" spc="-50" dirty="0">
                <a:latin typeface="+mn-ea"/>
              </a:rPr>
              <a:t>영상영역</a:t>
            </a:r>
            <a:r>
              <a:rPr lang="en-US" altLang="ko-KR" sz="1200" b="1" spc="-50" dirty="0">
                <a:latin typeface="+mn-ea"/>
              </a:rPr>
              <a:t>&gt;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spc="-50" dirty="0">
                <a:latin typeface="+mn-ea"/>
              </a:rPr>
              <a:t>①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다양한 길이의 </a:t>
            </a:r>
            <a:r>
              <a:rPr lang="en-US" altLang="ko-KR" sz="1200" b="1" spc="-50" dirty="0">
                <a:solidFill>
                  <a:srgbClr val="0000FF"/>
                </a:solidFill>
                <a:latin typeface="+mn-ea"/>
              </a:rPr>
              <a:t>PGM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운영</a:t>
            </a:r>
            <a:endParaRPr lang="en-US" altLang="ko-KR" sz="1200" b="1" spc="-50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spc="-50" dirty="0">
                <a:latin typeface="+mn-ea"/>
              </a:rPr>
              <a:t>    데이터홈쇼핑은 </a:t>
            </a:r>
            <a:r>
              <a:rPr lang="en-US" altLang="ko-KR" sz="1200" b="1" spc="-50" dirty="0">
                <a:latin typeface="+mn-ea"/>
              </a:rPr>
              <a:t>TV</a:t>
            </a:r>
            <a:r>
              <a:rPr lang="ko-KR" altLang="en-US" sz="1200" b="1" spc="-50" dirty="0">
                <a:latin typeface="+mn-ea"/>
              </a:rPr>
              <a:t>홈쇼핑 대비</a:t>
            </a:r>
            <a:r>
              <a:rPr lang="en-US" altLang="ko-KR" sz="1200" b="1" spc="-50" dirty="0">
                <a:latin typeface="+mn-ea"/>
              </a:rPr>
              <a:t> </a:t>
            </a:r>
            <a:r>
              <a:rPr lang="ko-KR" altLang="en-US" sz="1200" b="1" spc="-50" dirty="0">
                <a:latin typeface="+mn-ea"/>
              </a:rPr>
              <a:t>규모가 작은 중소기업 제품 비중이 높아 </a:t>
            </a:r>
            <a:endParaRPr lang="en-US" altLang="ko-KR" sz="1200" b="1" spc="-5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spc="-50" dirty="0">
                <a:latin typeface="+mn-ea"/>
              </a:rPr>
              <a:t>    </a:t>
            </a:r>
            <a:r>
              <a:rPr lang="ko-KR" altLang="en-US" sz="1200" b="1" u="sng" spc="-50" dirty="0">
                <a:latin typeface="+mn-ea"/>
              </a:rPr>
              <a:t>협력사 생산규모를 고려하여 </a:t>
            </a:r>
            <a:r>
              <a:rPr lang="en-US" altLang="ko-KR" sz="1200" b="1" spc="-50" dirty="0">
                <a:latin typeface="+mn-ea"/>
              </a:rPr>
              <a:t>10</a:t>
            </a:r>
            <a:r>
              <a:rPr lang="ko-KR" altLang="en-US" sz="1200" b="1" spc="-50" dirty="0">
                <a:latin typeface="+mn-ea"/>
              </a:rPr>
              <a:t>분</a:t>
            </a:r>
            <a:r>
              <a:rPr lang="en-US" altLang="ko-KR" sz="1200" b="1" spc="-50" dirty="0">
                <a:latin typeface="+mn-ea"/>
              </a:rPr>
              <a:t>, 20</a:t>
            </a:r>
            <a:r>
              <a:rPr lang="ko-KR" altLang="en-US" sz="1200" b="1" spc="-50" dirty="0">
                <a:latin typeface="+mn-ea"/>
              </a:rPr>
              <a:t>분</a:t>
            </a:r>
            <a:r>
              <a:rPr lang="en-US" altLang="ko-KR" sz="1200" b="1" spc="-50" dirty="0">
                <a:latin typeface="+mn-ea"/>
              </a:rPr>
              <a:t>, 40</a:t>
            </a:r>
            <a:r>
              <a:rPr lang="ko-KR" altLang="en-US" sz="1200" b="1" spc="-50" dirty="0">
                <a:latin typeface="+mn-ea"/>
              </a:rPr>
              <a:t>분 등 </a:t>
            </a:r>
            <a:r>
              <a:rPr lang="ko-KR" altLang="en-US" sz="1200" b="1" u="sng" spc="-50" dirty="0">
                <a:latin typeface="+mn-ea"/>
              </a:rPr>
              <a:t>짧은 </a:t>
            </a:r>
            <a:r>
              <a:rPr lang="en-US" altLang="ko-KR" sz="1200" b="1" u="sng" spc="-50" dirty="0">
                <a:latin typeface="+mn-ea"/>
              </a:rPr>
              <a:t>PGM</a:t>
            </a:r>
            <a:r>
              <a:rPr lang="ko-KR" altLang="en-US" sz="1200" b="1" u="sng" spc="-50" dirty="0">
                <a:latin typeface="+mn-ea"/>
              </a:rPr>
              <a:t>을 운영</a:t>
            </a:r>
            <a:r>
              <a:rPr lang="ko-KR" altLang="en-US" sz="1200" b="1" spc="-50" dirty="0">
                <a:latin typeface="+mn-ea"/>
              </a:rPr>
              <a:t>하고 있음</a:t>
            </a:r>
            <a:endParaRPr lang="en-US" altLang="ko-KR" sz="1200" b="1" spc="-5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spc="-50" dirty="0">
                <a:latin typeface="+mn-ea"/>
              </a:rPr>
              <a:t> 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spc="-50" dirty="0">
                <a:latin typeface="+mn-ea"/>
              </a:rPr>
              <a:t>②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녹화영상 반복 송출</a:t>
            </a:r>
            <a:endParaRPr lang="en-US" altLang="ko-KR" sz="1200" b="1" spc="-5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spc="-50" dirty="0">
                <a:latin typeface="+mn-ea"/>
              </a:rPr>
              <a:t>    편성시간이 짧아 프로그램당 취급액은 적으나</a:t>
            </a:r>
            <a:r>
              <a:rPr lang="en-US" altLang="ko-KR" sz="1200" b="1" spc="-50" dirty="0">
                <a:latin typeface="+mn-ea"/>
              </a:rPr>
              <a:t>, 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spc="-50" dirty="0">
                <a:latin typeface="+mn-ea"/>
              </a:rPr>
              <a:t>    </a:t>
            </a:r>
            <a:r>
              <a:rPr lang="ko-KR" altLang="en-US" sz="1200" b="1" spc="-50" dirty="0">
                <a:latin typeface="+mn-ea"/>
              </a:rPr>
              <a:t>녹화방송의 특성을 활용하여 </a:t>
            </a:r>
            <a:r>
              <a:rPr lang="ko-KR" altLang="en-US" sz="1200" b="1" u="sng" spc="-50" dirty="0">
                <a:latin typeface="+mn-ea"/>
              </a:rPr>
              <a:t>상품별 타겟 시청 시간대에 반복하여 송출</a:t>
            </a:r>
            <a:endParaRPr lang="en-US" altLang="ko-KR" sz="1200" b="1" u="sng" spc="-5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1200" b="1" u="sng" spc="-5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spc="-50" dirty="0">
                <a:latin typeface="+mn-ea"/>
              </a:rPr>
              <a:t>③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정확한 정보 제공</a:t>
            </a:r>
            <a:endParaRPr lang="en-US" altLang="ko-KR" sz="1200" b="1" spc="-50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spc="-50" dirty="0">
                <a:latin typeface="+mn-ea"/>
              </a:rPr>
              <a:t>    고객 신뢰를 얻을 수 있도록 품질 관리 뿐만 아니라 </a:t>
            </a:r>
            <a:endParaRPr lang="en-US" altLang="ko-KR" sz="1200" b="1" spc="-5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spc="-50" dirty="0">
                <a:latin typeface="+mn-ea"/>
              </a:rPr>
              <a:t>    </a:t>
            </a:r>
            <a:r>
              <a:rPr lang="ko-KR" altLang="en-US" sz="1200" b="1" u="sng" spc="-50" dirty="0">
                <a:latin typeface="+mn-ea"/>
              </a:rPr>
              <a:t>녹화 영상의 철저한 사전심의</a:t>
            </a:r>
            <a:r>
              <a:rPr lang="ko-KR" altLang="en-US" sz="1200" b="1" spc="-50" dirty="0">
                <a:latin typeface="+mn-ea"/>
              </a:rPr>
              <a:t>를 통해 정확한 정보를 제공하고자 노력하고 있음</a:t>
            </a:r>
            <a:endParaRPr lang="en-US" altLang="ko-KR" sz="1200" b="1" spc="-5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1200" b="1" spc="-5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1200" b="1" spc="-5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spc="-50" dirty="0">
                <a:latin typeface="+mn-ea"/>
              </a:rPr>
              <a:t>&lt;</a:t>
            </a:r>
            <a:r>
              <a:rPr lang="ko-KR" altLang="en-US" sz="1200" b="1" spc="-50" dirty="0">
                <a:latin typeface="+mn-ea"/>
              </a:rPr>
              <a:t>데이터영역을 활용하여</a:t>
            </a:r>
            <a:r>
              <a:rPr lang="en-US" altLang="ko-KR" sz="1200" b="1" spc="-50" dirty="0">
                <a:latin typeface="+mn-ea"/>
              </a:rPr>
              <a:t>&gt;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spc="-50" dirty="0">
                <a:latin typeface="+mn-ea"/>
              </a:rPr>
              <a:t>①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다양한 매장 제공</a:t>
            </a:r>
            <a:r>
              <a:rPr lang="ko-KR" altLang="en-US" sz="1200" b="1" spc="-50" dirty="0">
                <a:latin typeface="+mn-ea"/>
              </a:rPr>
              <a:t> </a:t>
            </a:r>
            <a:endParaRPr lang="en-US" altLang="ko-KR" sz="1200" b="1" spc="-5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spc="-50" dirty="0">
                <a:latin typeface="+mn-ea"/>
              </a:rPr>
              <a:t>    특가 매장</a:t>
            </a:r>
            <a:r>
              <a:rPr lang="en-US" altLang="ko-KR" sz="1200" b="1" spc="-50" dirty="0">
                <a:latin typeface="+mn-ea"/>
              </a:rPr>
              <a:t>, </a:t>
            </a:r>
            <a:r>
              <a:rPr lang="ko-KR" altLang="en-US" sz="1200" b="1" spc="-50" dirty="0">
                <a:latin typeface="+mn-ea"/>
              </a:rPr>
              <a:t>브랜드관</a:t>
            </a:r>
            <a:r>
              <a:rPr lang="en-US" altLang="ko-KR" sz="1200" b="1" spc="-50" dirty="0">
                <a:latin typeface="+mn-ea"/>
              </a:rPr>
              <a:t>, </a:t>
            </a:r>
            <a:r>
              <a:rPr lang="ko-KR" altLang="en-US" sz="1200" b="1" spc="-50" dirty="0">
                <a:latin typeface="+mn-ea"/>
              </a:rPr>
              <a:t>아울렛 매장</a:t>
            </a:r>
            <a:r>
              <a:rPr lang="en-US" altLang="ko-KR" sz="1200" b="1" spc="-50" dirty="0">
                <a:latin typeface="+mn-ea"/>
              </a:rPr>
              <a:t> </a:t>
            </a:r>
            <a:r>
              <a:rPr lang="ko-KR" altLang="en-US" sz="1200" b="1" spc="-50" dirty="0">
                <a:latin typeface="+mn-ea"/>
              </a:rPr>
              <a:t>등을 탭 구조의 매장으로 구성하여</a:t>
            </a:r>
            <a:endParaRPr lang="en-US" altLang="ko-KR" sz="1200" b="1" spc="-5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spc="-50" dirty="0">
                <a:latin typeface="+mn-ea"/>
              </a:rPr>
              <a:t>    </a:t>
            </a:r>
            <a:r>
              <a:rPr lang="ko-KR" altLang="en-US" sz="1200" b="1" u="sng" spc="-50" dirty="0">
                <a:latin typeface="+mn-ea"/>
              </a:rPr>
              <a:t>다양한 고객 니즈를 반영</a:t>
            </a:r>
            <a:r>
              <a:rPr lang="ko-KR" altLang="en-US" sz="1200" b="1" spc="-50" dirty="0">
                <a:latin typeface="+mn-ea"/>
              </a:rPr>
              <a:t>하고 있음</a:t>
            </a:r>
            <a:endParaRPr lang="en-US" altLang="ko-KR" sz="1200" b="1" spc="-5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1200" b="1" spc="-5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spc="-50" dirty="0">
                <a:latin typeface="+mn-ea"/>
              </a:rPr>
              <a:t>②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동영상 콘텐츠를 활용한 중기상품 브랜드 강화</a:t>
            </a:r>
            <a:endParaRPr lang="en-US" altLang="ko-KR" sz="1200" b="1" spc="-50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spc="-50" dirty="0">
                <a:latin typeface="+mn-ea"/>
              </a:rPr>
              <a:t>    데이터영역 매장 안에서도 다양한 동영상 콘텐츠를 제공하여 </a:t>
            </a:r>
            <a:endParaRPr lang="en-US" altLang="ko-KR" sz="1200" b="1" spc="-5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spc="-50" dirty="0">
                <a:latin typeface="+mn-ea"/>
              </a:rPr>
              <a:t>    </a:t>
            </a:r>
            <a:r>
              <a:rPr lang="ko-KR" altLang="en-US" sz="1200" b="1" u="sng" spc="-50" dirty="0">
                <a:latin typeface="+mn-ea"/>
              </a:rPr>
              <a:t>다수의 중소기업 제품을 소개하여 브랜드 인지도 강화</a:t>
            </a:r>
            <a:endParaRPr lang="en-US" altLang="ko-KR" sz="1200" b="1" spc="-5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000" spc="-50" dirty="0">
                <a:latin typeface="+mn-ea"/>
              </a:rPr>
              <a:t> 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1200" b="1" spc="-50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967BDD-7138-9978-77FD-F22F3DB05BD1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38/109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5018062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F3F44-6BE7-C928-D7B1-43443637D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A6897E-7BDB-5F7B-3D9D-E04B45C9E559}"/>
              </a:ext>
            </a:extLst>
          </p:cNvPr>
          <p:cNvSpPr txBox="1"/>
          <p:nvPr/>
        </p:nvSpPr>
        <p:spPr>
          <a:xfrm>
            <a:off x="60963" y="331886"/>
            <a:ext cx="10850877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데이터홈쇼핑 운영방향은 무엇인가요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</a:t>
            </a:r>
            <a:endParaRPr lang="en-US" altLang="ko-KR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5539BF-B3DA-4063-9DF0-F467CB71054F}"/>
              </a:ext>
            </a:extLst>
          </p:cNvPr>
          <p:cNvSpPr txBox="1"/>
          <p:nvPr/>
        </p:nvSpPr>
        <p:spPr>
          <a:xfrm>
            <a:off x="65067" y="17757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종합질문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20E0949-CEBE-22A9-C0F8-0BB60AF06BAA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CEO</a:t>
            </a:r>
            <a:endParaRPr lang="ko-KR" altLang="en-US" sz="105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2F7ACB5-5019-A981-0BDF-AB1FB3A9DE34}"/>
              </a:ext>
            </a:extLst>
          </p:cNvPr>
          <p:cNvSpPr/>
          <p:nvPr/>
        </p:nvSpPr>
        <p:spPr>
          <a:xfrm>
            <a:off x="5843588" y="981075"/>
            <a:ext cx="5990672" cy="565480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ea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F56F4981-3741-A9E1-2632-07B3072C2F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27" t="49829" b="23245"/>
          <a:stretch>
            <a:fillRect/>
          </a:stretch>
        </p:blipFill>
        <p:spPr>
          <a:xfrm>
            <a:off x="1118035" y="4652477"/>
            <a:ext cx="4229031" cy="2128739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DA28A742-6F3E-6887-127E-056311BA92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089"/>
          <a:stretch>
            <a:fillRect/>
          </a:stretch>
        </p:blipFill>
        <p:spPr>
          <a:xfrm>
            <a:off x="1118035" y="1199160"/>
            <a:ext cx="4229031" cy="3448609"/>
          </a:xfrm>
          <a:prstGeom prst="rect">
            <a:avLst/>
          </a:prstGeom>
        </p:spPr>
      </p:pic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53156E7E-B4C5-DE10-A3F0-16C059669AA3}"/>
              </a:ext>
            </a:extLst>
          </p:cNvPr>
          <p:cNvCxnSpPr/>
          <p:nvPr/>
        </p:nvCxnSpPr>
        <p:spPr>
          <a:xfrm>
            <a:off x="2715742" y="1393372"/>
            <a:ext cx="14208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D1D0EFE-5B21-3155-0F38-AA4BC9386938}"/>
              </a:ext>
            </a:extLst>
          </p:cNvPr>
          <p:cNvCxnSpPr/>
          <p:nvPr/>
        </p:nvCxnSpPr>
        <p:spPr>
          <a:xfrm>
            <a:off x="1200450" y="4894814"/>
            <a:ext cx="14208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284C0DC-C32E-4049-33C6-2D8841416EB4}"/>
              </a:ext>
            </a:extLst>
          </p:cNvPr>
          <p:cNvSpPr txBox="1"/>
          <p:nvPr/>
        </p:nvSpPr>
        <p:spPr>
          <a:xfrm>
            <a:off x="587782" y="1194452"/>
            <a:ext cx="612668" cy="2462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(p.301)</a:t>
            </a:r>
            <a:endParaRPr lang="ko-KR" altLang="en-US" sz="1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5209CE-EADE-8C6E-36B0-8BF94FBBE2F7}"/>
              </a:ext>
            </a:extLst>
          </p:cNvPr>
          <p:cNvSpPr txBox="1"/>
          <p:nvPr/>
        </p:nvSpPr>
        <p:spPr>
          <a:xfrm>
            <a:off x="505367" y="4681192"/>
            <a:ext cx="612668" cy="2462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(p.302)</a:t>
            </a:r>
            <a:endParaRPr lang="ko-KR" altLang="en-US" sz="1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99A2B1-51B7-695A-35B3-68BAB4E75013}"/>
              </a:ext>
            </a:extLst>
          </p:cNvPr>
          <p:cNvSpPr txBox="1"/>
          <p:nvPr/>
        </p:nvSpPr>
        <p:spPr>
          <a:xfrm>
            <a:off x="122060" y="850270"/>
            <a:ext cx="45458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ko-KR" altLang="en-US" sz="1100" b="1" dirty="0">
                <a:latin typeface="+mn-ea"/>
              </a:rPr>
              <a:t>사업계획서 </a:t>
            </a:r>
            <a:r>
              <a:rPr lang="en-US" altLang="ko-KR" sz="1100" b="1" dirty="0">
                <a:latin typeface="+mn-ea"/>
              </a:rPr>
              <a:t>p.295~304)</a:t>
            </a:r>
            <a:r>
              <a:rPr lang="ko-KR" altLang="en-US" sz="1100" b="1" spc="-50" dirty="0">
                <a:latin typeface="+mn-ea"/>
              </a:rPr>
              <a:t>데이터방송 발전 기여실적 및 계획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C9BE82-8B10-3E78-B752-D294F8307DF5}"/>
              </a:ext>
            </a:extLst>
          </p:cNvPr>
          <p:cNvSpPr txBox="1"/>
          <p:nvPr/>
        </p:nvSpPr>
        <p:spPr>
          <a:xfrm>
            <a:off x="5877319" y="1109335"/>
            <a:ext cx="5990672" cy="5499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>
              <a:lnSpc>
                <a:spcPct val="120000"/>
              </a:lnSpc>
              <a:defRPr/>
            </a:pPr>
            <a:r>
              <a:rPr lang="en-US" altLang="ko-KR" sz="1050" spc="-50" dirty="0">
                <a:latin typeface="+mn-ea"/>
              </a:rPr>
              <a:t>(</a:t>
            </a:r>
            <a:r>
              <a:rPr lang="ko-KR" altLang="en-US" sz="1050" spc="-50" dirty="0">
                <a:latin typeface="+mn-ea"/>
              </a:rPr>
              <a:t>정부는 </a:t>
            </a:r>
            <a:r>
              <a:rPr lang="en-US" altLang="ko-KR" sz="1050" spc="-50" dirty="0">
                <a:latin typeface="+mn-ea"/>
              </a:rPr>
              <a:t>TV</a:t>
            </a:r>
            <a:r>
              <a:rPr lang="ko-KR" altLang="en-US" sz="1050" spc="-50" dirty="0">
                <a:latin typeface="+mn-ea"/>
              </a:rPr>
              <a:t>홈쇼핑과 차별화되도록</a:t>
            </a:r>
            <a:r>
              <a:rPr lang="en-US" altLang="ko-KR" sz="1050" spc="-50" dirty="0">
                <a:latin typeface="+mn-ea"/>
              </a:rPr>
              <a:t>,</a:t>
            </a:r>
            <a:r>
              <a:rPr lang="ko-KR" altLang="en-US" sz="1050" spc="-50" dirty="0">
                <a:latin typeface="+mn-ea"/>
              </a:rPr>
              <a:t> 영상영역의 크기와 생방송을 금지하고 데이터영역을 활용한</a:t>
            </a:r>
            <a:endParaRPr lang="en-US" altLang="ko-KR" sz="1050" spc="-50" dirty="0">
              <a:latin typeface="+mn-ea"/>
            </a:endParaRPr>
          </a:p>
          <a:p>
            <a:pPr lvl="0" fontAlgn="base">
              <a:lnSpc>
                <a:spcPct val="120000"/>
              </a:lnSpc>
              <a:defRPr/>
            </a:pPr>
            <a:r>
              <a:rPr lang="en-US" altLang="ko-KR" sz="1050" spc="-50" dirty="0">
                <a:latin typeface="+mn-ea"/>
              </a:rPr>
              <a:t> </a:t>
            </a:r>
            <a:r>
              <a:rPr lang="ko-KR" altLang="en-US" sz="1050" spc="-50" dirty="0">
                <a:latin typeface="+mn-ea"/>
              </a:rPr>
              <a:t>새로운 </a:t>
            </a:r>
            <a:r>
              <a:rPr lang="en-US" altLang="ko-KR" sz="1050" spc="-50" dirty="0">
                <a:latin typeface="+mn-ea"/>
              </a:rPr>
              <a:t>Biz </a:t>
            </a:r>
            <a:r>
              <a:rPr lang="ko-KR" altLang="en-US" sz="1050" spc="-50" dirty="0">
                <a:latin typeface="+mn-ea"/>
              </a:rPr>
              <a:t>모델 활성화가 정책방향이기에</a:t>
            </a:r>
            <a:r>
              <a:rPr lang="en-US" altLang="ko-KR" sz="1050" spc="-50" dirty="0">
                <a:latin typeface="+mn-ea"/>
              </a:rPr>
              <a:t>)</a:t>
            </a:r>
          </a:p>
          <a:p>
            <a:pPr lvl="0" fontAlgn="base">
              <a:lnSpc>
                <a:spcPct val="120000"/>
              </a:lnSpc>
              <a:defRPr/>
            </a:pPr>
            <a:r>
              <a:rPr lang="ko-KR" altLang="en-US" sz="1050" spc="-50" dirty="0">
                <a:latin typeface="+mn-ea"/>
              </a:rPr>
              <a:t> </a:t>
            </a:r>
            <a:endParaRPr lang="en-US" altLang="ko-KR" sz="1050" spc="-50" dirty="0">
              <a:latin typeface="+mn-ea"/>
            </a:endParaRPr>
          </a:p>
          <a:p>
            <a:pPr lvl="0" fontAlgn="base">
              <a:lnSpc>
                <a:spcPct val="120000"/>
              </a:lnSpc>
              <a:defRPr/>
            </a:pPr>
            <a:r>
              <a:rPr lang="en-US" altLang="ko-KR" sz="1200" b="1" spc="-50" dirty="0">
                <a:latin typeface="+mn-ea"/>
              </a:rPr>
              <a:t>GSMYSHOP</a:t>
            </a:r>
            <a:r>
              <a:rPr lang="ko-KR" altLang="en-US" sz="1200" b="1" spc="-50" dirty="0">
                <a:latin typeface="+mn-ea"/>
              </a:rPr>
              <a:t>은 </a:t>
            </a:r>
            <a:r>
              <a:rPr lang="ko-KR" altLang="en-US" sz="1200" b="1" u="sng" spc="-50" dirty="0">
                <a:latin typeface="+mn-ea"/>
              </a:rPr>
              <a:t>영상영역의 경쟁력</a:t>
            </a:r>
            <a:r>
              <a:rPr lang="ko-KR" altLang="en-US" sz="1200" b="1" spc="-50" dirty="0">
                <a:latin typeface="+mn-ea"/>
              </a:rPr>
              <a:t>을 갖추고 있을 뿐만 아니라</a:t>
            </a:r>
            <a:r>
              <a:rPr lang="en-US" altLang="ko-KR" sz="1200" b="1" spc="-50" dirty="0">
                <a:latin typeface="+mn-ea"/>
              </a:rPr>
              <a:t>,</a:t>
            </a:r>
          </a:p>
          <a:p>
            <a:pPr lvl="0" fontAlgn="base">
              <a:lnSpc>
                <a:spcPct val="120000"/>
              </a:lnSpc>
              <a:defRPr/>
            </a:pPr>
            <a:r>
              <a:rPr lang="ko-KR" altLang="en-US" sz="1200" b="1" u="sng" spc="-50" dirty="0">
                <a:latin typeface="+mn-ea"/>
              </a:rPr>
              <a:t>데이터 영역을 통해서도</a:t>
            </a:r>
            <a:r>
              <a:rPr lang="ko-KR" altLang="en-US" sz="1200" b="1" spc="-50" dirty="0">
                <a:latin typeface="+mn-ea"/>
              </a:rPr>
              <a:t> 연간 약 </a:t>
            </a:r>
            <a:r>
              <a:rPr lang="en-US" altLang="ko-KR" sz="1200" b="1" spc="-50" dirty="0">
                <a:latin typeface="+mn-ea"/>
              </a:rPr>
              <a:t>250</a:t>
            </a:r>
            <a:r>
              <a:rPr lang="ko-KR" altLang="en-US" sz="1200" b="1" spc="-50" dirty="0">
                <a:latin typeface="+mn-ea"/>
              </a:rPr>
              <a:t>억원의 상품 판매를 하고  있음</a:t>
            </a:r>
            <a:endParaRPr lang="en-US" altLang="ko-KR" sz="1200" b="1" spc="-50" dirty="0">
              <a:latin typeface="+mn-ea"/>
            </a:endParaRPr>
          </a:p>
          <a:p>
            <a:pPr lvl="0" fontAlgn="base">
              <a:lnSpc>
                <a:spcPct val="120000"/>
              </a:lnSpc>
              <a:defRPr/>
            </a:pPr>
            <a:endParaRPr lang="en-US" altLang="ko-KR" sz="1200" b="1" spc="-50" dirty="0">
              <a:latin typeface="+mn-ea"/>
            </a:endParaRPr>
          </a:p>
          <a:p>
            <a:pPr fontAlgn="base">
              <a:lnSpc>
                <a:spcPct val="120000"/>
              </a:lnSpc>
              <a:defRPr/>
            </a:pPr>
            <a:r>
              <a:rPr lang="ko-KR" altLang="en-US" sz="1200" b="1" spc="-50" dirty="0">
                <a:latin typeface="+mn-ea"/>
              </a:rPr>
              <a:t>①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데이터영역 투자</a:t>
            </a:r>
            <a:endParaRPr lang="en-US" altLang="ko-KR" sz="1200" b="1" spc="-50" dirty="0">
              <a:solidFill>
                <a:srgbClr val="0000FF"/>
              </a:solidFill>
              <a:latin typeface="+mn-ea"/>
            </a:endParaRPr>
          </a:p>
          <a:p>
            <a:pPr fontAlgn="base">
              <a:lnSpc>
                <a:spcPct val="120000"/>
              </a:lnSpc>
              <a:defRPr/>
            </a:pPr>
            <a:r>
              <a:rPr lang="ko-KR" altLang="en-US" sz="1200" b="1" spc="-50" dirty="0">
                <a:latin typeface="+mn-ea"/>
              </a:rPr>
              <a:t>    </a:t>
            </a:r>
            <a:r>
              <a:rPr lang="en-US" altLang="ko-KR" sz="1200" b="1" spc="-50" dirty="0">
                <a:latin typeface="+mn-ea"/>
              </a:rPr>
              <a:t>GSMYSHOP</a:t>
            </a:r>
            <a:r>
              <a:rPr lang="ko-KR" altLang="en-US" sz="1200" b="1" spc="-50" dirty="0">
                <a:latin typeface="+mn-ea"/>
              </a:rPr>
              <a:t>은 고객분들이 다양한 상품을 탐색</a:t>
            </a:r>
            <a:r>
              <a:rPr lang="en-US" altLang="ko-KR" sz="1200" b="1" spc="-50" dirty="0">
                <a:latin typeface="+mn-ea"/>
              </a:rPr>
              <a:t>/</a:t>
            </a:r>
            <a:r>
              <a:rPr lang="ko-KR" altLang="en-US" sz="1200" b="1" spc="-50" dirty="0">
                <a:latin typeface="+mn-ea"/>
              </a:rPr>
              <a:t>구매하실 수 있도록 </a:t>
            </a:r>
            <a:endParaRPr lang="en-US" altLang="ko-KR" sz="1200" b="1" spc="-50" dirty="0">
              <a:latin typeface="+mn-ea"/>
            </a:endParaRPr>
          </a:p>
          <a:p>
            <a:pPr lvl="0" fontAlgn="base">
              <a:lnSpc>
                <a:spcPct val="120000"/>
              </a:lnSpc>
              <a:defRPr/>
            </a:pPr>
            <a:r>
              <a:rPr lang="ko-KR" altLang="en-US" sz="1200" b="1" spc="-50" dirty="0">
                <a:latin typeface="+mn-ea"/>
              </a:rPr>
              <a:t>    </a:t>
            </a:r>
            <a:r>
              <a:rPr lang="ko-KR" altLang="en-US" sz="1200" b="1" u="sng" spc="-50" dirty="0">
                <a:latin typeface="+mn-ea"/>
              </a:rPr>
              <a:t>데이터영역의 </a:t>
            </a:r>
            <a:r>
              <a:rPr lang="en-US" altLang="ko-KR" sz="1200" b="1" u="sng" spc="-50" dirty="0">
                <a:latin typeface="+mn-ea"/>
              </a:rPr>
              <a:t>UI/UX </a:t>
            </a:r>
            <a:r>
              <a:rPr lang="ko-KR" altLang="en-US" sz="1200" b="1" u="sng" spc="-50" dirty="0">
                <a:latin typeface="+mn-ea"/>
              </a:rPr>
              <a:t>개선</a:t>
            </a:r>
            <a:r>
              <a:rPr lang="en-US" altLang="ko-KR" sz="1200" b="1" u="sng" spc="-50" dirty="0">
                <a:latin typeface="+mn-ea"/>
              </a:rPr>
              <a:t>, </a:t>
            </a:r>
            <a:r>
              <a:rPr lang="ko-KR" altLang="en-US" sz="1200" b="1" u="sng" spc="-50" dirty="0">
                <a:latin typeface="+mn-ea"/>
              </a:rPr>
              <a:t>동영상 콘텐츠</a:t>
            </a:r>
            <a:r>
              <a:rPr lang="en-US" altLang="ko-KR" sz="1200" b="1" u="sng" spc="-50" dirty="0">
                <a:latin typeface="+mn-ea"/>
              </a:rPr>
              <a:t> </a:t>
            </a:r>
            <a:r>
              <a:rPr lang="ko-KR" altLang="en-US" sz="1200" b="1" u="sng" spc="-50" dirty="0">
                <a:latin typeface="+mn-ea"/>
              </a:rPr>
              <a:t>활용</a:t>
            </a:r>
            <a:r>
              <a:rPr lang="en-US" altLang="ko-KR" sz="1200" b="1" u="sng" spc="-50" dirty="0">
                <a:latin typeface="+mn-ea"/>
              </a:rPr>
              <a:t>, </a:t>
            </a:r>
            <a:r>
              <a:rPr lang="ko-KR" altLang="en-US" sz="1200" b="1" u="sng" spc="-50" dirty="0">
                <a:latin typeface="+mn-ea"/>
              </a:rPr>
              <a:t>개인화된 상품 추천 및 결제 편의성을</a:t>
            </a:r>
            <a:r>
              <a:rPr lang="ko-KR" altLang="en-US" sz="1200" b="1" spc="-50" dirty="0">
                <a:latin typeface="+mn-ea"/>
              </a:rPr>
              <a:t> </a:t>
            </a:r>
            <a:endParaRPr lang="en-US" altLang="ko-KR" sz="1200" b="1" spc="-50" dirty="0">
              <a:latin typeface="+mn-ea"/>
            </a:endParaRPr>
          </a:p>
          <a:p>
            <a:pPr lvl="0" fontAlgn="base">
              <a:lnSpc>
                <a:spcPct val="120000"/>
              </a:lnSpc>
              <a:defRPr/>
            </a:pPr>
            <a:r>
              <a:rPr lang="en-US" altLang="ko-KR" sz="1200" b="1" spc="-50" dirty="0">
                <a:latin typeface="+mn-ea"/>
              </a:rPr>
              <a:t>    </a:t>
            </a:r>
            <a:r>
              <a:rPr lang="ko-KR" altLang="en-US" sz="1200" b="1" spc="-50" dirty="0">
                <a:latin typeface="+mn-ea"/>
              </a:rPr>
              <a:t>위해</a:t>
            </a:r>
            <a:r>
              <a:rPr lang="en-US" altLang="ko-KR" sz="1200" b="1" spc="-50" dirty="0">
                <a:latin typeface="+mn-ea"/>
              </a:rPr>
              <a:t> </a:t>
            </a:r>
            <a:r>
              <a:rPr lang="ko-KR" altLang="en-US" sz="1200" b="1" spc="-50" dirty="0">
                <a:latin typeface="+mn-ea"/>
              </a:rPr>
              <a:t>많은 투자를 하고 있음</a:t>
            </a:r>
            <a:endParaRPr lang="en-US" altLang="ko-KR" sz="1200" b="1" spc="-50" dirty="0">
              <a:latin typeface="+mn-ea"/>
            </a:endParaRPr>
          </a:p>
          <a:p>
            <a:pPr lvl="0" fontAlgn="base">
              <a:lnSpc>
                <a:spcPct val="120000"/>
              </a:lnSpc>
              <a:defRPr/>
            </a:pPr>
            <a:endParaRPr lang="en-US" altLang="ko-KR" sz="1200" b="1" spc="-50" dirty="0">
              <a:latin typeface="+mn-ea"/>
            </a:endParaRPr>
          </a:p>
          <a:p>
            <a:pPr lvl="0" fontAlgn="base">
              <a:lnSpc>
                <a:spcPct val="120000"/>
              </a:lnSpc>
              <a:defRPr/>
            </a:pPr>
            <a:r>
              <a:rPr lang="ko-KR" altLang="en-US" sz="1200" b="1" spc="-50" dirty="0">
                <a:latin typeface="+mn-ea"/>
              </a:rPr>
              <a:t>   데이터영역에서 판매되는 상품의 약 </a:t>
            </a:r>
            <a:r>
              <a:rPr lang="en-US" altLang="ko-KR" sz="1200" b="1" spc="-50" dirty="0">
                <a:latin typeface="+mn-ea"/>
              </a:rPr>
              <a:t>77%</a:t>
            </a:r>
            <a:r>
              <a:rPr lang="ko-KR" altLang="en-US" sz="1200" b="1" spc="-50" dirty="0">
                <a:latin typeface="+mn-ea"/>
              </a:rPr>
              <a:t>는 중소기업 제품이며</a:t>
            </a:r>
            <a:r>
              <a:rPr lang="en-US" altLang="ko-KR" sz="1200" b="1" spc="-50" dirty="0">
                <a:latin typeface="+mn-ea"/>
              </a:rPr>
              <a:t>,</a:t>
            </a:r>
          </a:p>
          <a:p>
            <a:pPr lvl="0" fontAlgn="base">
              <a:lnSpc>
                <a:spcPct val="120000"/>
              </a:lnSpc>
              <a:defRPr/>
            </a:pPr>
            <a:r>
              <a:rPr lang="ko-KR" altLang="en-US" sz="1200" b="1" spc="-50" dirty="0">
                <a:latin typeface="+mn-ea"/>
              </a:rPr>
              <a:t>   매출 활성화를 위해 매년 약 </a:t>
            </a:r>
            <a:r>
              <a:rPr lang="en-US" altLang="ko-KR" sz="1200" b="1" spc="-50" dirty="0">
                <a:latin typeface="+mn-ea"/>
              </a:rPr>
              <a:t>16</a:t>
            </a:r>
            <a:r>
              <a:rPr lang="ko-KR" altLang="en-US" sz="1200" b="1" spc="-50" dirty="0">
                <a:latin typeface="+mn-ea"/>
              </a:rPr>
              <a:t>억원의 마케팅 투자도 진행하고 있음</a:t>
            </a:r>
            <a:endParaRPr lang="en-US" altLang="ko-KR" sz="1200" b="1" spc="-50" dirty="0">
              <a:latin typeface="+mn-ea"/>
            </a:endParaRPr>
          </a:p>
          <a:p>
            <a:pPr lvl="0" fontAlgn="base">
              <a:lnSpc>
                <a:spcPct val="120000"/>
              </a:lnSpc>
              <a:defRPr/>
            </a:pPr>
            <a:endParaRPr lang="en-US" altLang="ko-KR" sz="1200" b="1" spc="-50" dirty="0">
              <a:latin typeface="+mn-ea"/>
            </a:endParaRPr>
          </a:p>
          <a:p>
            <a:pPr lvl="0" fontAlgn="base">
              <a:lnSpc>
                <a:spcPct val="120000"/>
              </a:lnSpc>
              <a:defRPr/>
            </a:pPr>
            <a:r>
              <a:rPr lang="ko-KR" altLang="en-US" sz="1200" b="1" spc="-50" dirty="0">
                <a:latin typeface="+mn-ea"/>
              </a:rPr>
              <a:t>②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모바일 상품 육성</a:t>
            </a:r>
            <a:endParaRPr lang="en-US" altLang="ko-KR" sz="1200" b="1" spc="-50" dirty="0">
              <a:solidFill>
                <a:srgbClr val="0000FF"/>
              </a:solidFill>
              <a:latin typeface="+mn-ea"/>
            </a:endParaRPr>
          </a:p>
          <a:p>
            <a:pPr lvl="0" fontAlgn="base">
              <a:lnSpc>
                <a:spcPct val="120000"/>
              </a:lnSpc>
              <a:defRPr/>
            </a:pPr>
            <a:r>
              <a:rPr lang="en-US" altLang="ko-KR" sz="1200" b="1" spc="-50" dirty="0">
                <a:latin typeface="+mn-ea"/>
              </a:rPr>
              <a:t>    </a:t>
            </a:r>
            <a:r>
              <a:rPr lang="ko-KR" altLang="en-US" sz="1200" b="1" u="sng" spc="-50" dirty="0">
                <a:latin typeface="+mn-ea"/>
              </a:rPr>
              <a:t>당사의 강점인 모바일채널</a:t>
            </a:r>
            <a:r>
              <a:rPr lang="en-US" altLang="ko-KR" sz="1200" b="1" u="sng" spc="-50" dirty="0">
                <a:latin typeface="+mn-ea"/>
              </a:rPr>
              <a:t>(GS SHOP)</a:t>
            </a:r>
            <a:r>
              <a:rPr lang="ko-KR" altLang="en-US" sz="1200" b="1" spc="-50" dirty="0">
                <a:latin typeface="+mn-ea"/>
              </a:rPr>
              <a:t>의 중소기업들을 데이터홈쇼핑에</a:t>
            </a:r>
            <a:endParaRPr lang="en-US" altLang="ko-KR" sz="1200" b="1" spc="-50" dirty="0">
              <a:latin typeface="+mn-ea"/>
            </a:endParaRPr>
          </a:p>
          <a:p>
            <a:pPr lvl="0" fontAlgn="base">
              <a:lnSpc>
                <a:spcPct val="120000"/>
              </a:lnSpc>
              <a:defRPr/>
            </a:pPr>
            <a:r>
              <a:rPr lang="ko-KR" altLang="en-US" sz="1200" b="1" spc="-50" dirty="0">
                <a:latin typeface="+mn-ea"/>
              </a:rPr>
              <a:t>    판로를 확장할 수 있도록 지원함으로써 경쟁사 대비 상품경쟁력을 확보해 가고자 함</a:t>
            </a:r>
            <a:endParaRPr lang="en-US" altLang="ko-KR" sz="1200" b="1" spc="-50" dirty="0">
              <a:latin typeface="+mn-ea"/>
            </a:endParaRPr>
          </a:p>
          <a:p>
            <a:pPr lvl="0" fontAlgn="base">
              <a:lnSpc>
                <a:spcPct val="120000"/>
              </a:lnSpc>
              <a:defRPr/>
            </a:pPr>
            <a:endParaRPr lang="en-US" altLang="ko-KR" sz="1200" b="1" spc="-50" dirty="0">
              <a:latin typeface="+mn-ea"/>
            </a:endParaRPr>
          </a:p>
          <a:p>
            <a:pPr lvl="0" fontAlgn="base">
              <a:lnSpc>
                <a:spcPct val="120000"/>
              </a:lnSpc>
              <a:defRPr/>
            </a:pPr>
            <a:r>
              <a:rPr lang="ko-KR" altLang="en-US" sz="1200" b="1" spc="-50" dirty="0">
                <a:latin typeface="+mn-ea"/>
              </a:rPr>
              <a:t>③ </a:t>
            </a:r>
            <a:r>
              <a:rPr lang="en-US" altLang="ko-KR" sz="1200" b="1" spc="-50" dirty="0">
                <a:solidFill>
                  <a:srgbClr val="0000FF"/>
                </a:solidFill>
                <a:latin typeface="+mn-ea"/>
              </a:rPr>
              <a:t>AI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 기반 콘텐츠 강화</a:t>
            </a:r>
            <a:endParaRPr lang="en-US" altLang="ko-KR" sz="1200" b="1" spc="-50" dirty="0">
              <a:solidFill>
                <a:srgbClr val="0000FF"/>
              </a:solidFill>
              <a:latin typeface="+mn-ea"/>
            </a:endParaRPr>
          </a:p>
          <a:p>
            <a:pPr lvl="0" fontAlgn="base">
              <a:lnSpc>
                <a:spcPct val="120000"/>
              </a:lnSpc>
              <a:defRPr/>
            </a:pPr>
            <a:r>
              <a:rPr lang="en-US" altLang="ko-KR" sz="1200" b="1" spc="-50" dirty="0">
                <a:latin typeface="+mn-ea"/>
              </a:rPr>
              <a:t>    </a:t>
            </a:r>
            <a:r>
              <a:rPr lang="en-US" altLang="ko-KR" sz="1200" b="1" u="sng" spc="-50" dirty="0">
                <a:latin typeface="+mn-ea"/>
              </a:rPr>
              <a:t>AI </a:t>
            </a:r>
            <a:r>
              <a:rPr lang="ko-KR" altLang="en-US" sz="1200" b="1" u="sng" spc="-50" dirty="0">
                <a:latin typeface="+mn-ea"/>
              </a:rPr>
              <a:t>기술을 방송제작에 활용해 </a:t>
            </a:r>
            <a:r>
              <a:rPr lang="ko-KR" altLang="en-US" sz="1200" b="1" spc="-50" dirty="0">
                <a:latin typeface="+mn-ea"/>
              </a:rPr>
              <a:t>고객에게 새로운 경험을 제공하고</a:t>
            </a:r>
            <a:endParaRPr lang="en-US" altLang="ko-KR" sz="1200" b="1" spc="-50" dirty="0">
              <a:latin typeface="+mn-ea"/>
            </a:endParaRPr>
          </a:p>
          <a:p>
            <a:pPr lvl="0" fontAlgn="base">
              <a:lnSpc>
                <a:spcPct val="120000"/>
              </a:lnSpc>
              <a:defRPr/>
            </a:pPr>
            <a:r>
              <a:rPr lang="en-US" altLang="ko-KR" sz="1200" b="1" spc="-50" dirty="0">
                <a:latin typeface="+mn-ea"/>
              </a:rPr>
              <a:t>   </a:t>
            </a:r>
            <a:r>
              <a:rPr lang="ko-KR" altLang="en-US" sz="1200" b="1" spc="-50" dirty="0">
                <a:latin typeface="+mn-ea"/>
              </a:rPr>
              <a:t> 중소기업 제품 </a:t>
            </a:r>
            <a:r>
              <a:rPr lang="ko-KR" altLang="en-US" sz="1200" b="1" u="sng" spc="-50" dirty="0" err="1">
                <a:latin typeface="+mn-ea"/>
              </a:rPr>
              <a:t>숏폼</a:t>
            </a:r>
            <a:r>
              <a:rPr lang="ko-KR" altLang="en-US" sz="1200" b="1" u="sng" spc="-50" dirty="0">
                <a:latin typeface="+mn-ea"/>
              </a:rPr>
              <a:t> 영상을 지원하여 </a:t>
            </a:r>
            <a:r>
              <a:rPr lang="ko-KR" altLang="en-US" sz="1200" b="1" spc="-50" dirty="0">
                <a:latin typeface="+mn-ea"/>
              </a:rPr>
              <a:t>브랜드 인지도 향상에 주력</a:t>
            </a:r>
            <a:endParaRPr lang="en-US" altLang="ko-KR" sz="1200" b="1" spc="-50" dirty="0">
              <a:latin typeface="+mn-ea"/>
            </a:endParaRPr>
          </a:p>
          <a:p>
            <a:pPr lvl="0" fontAlgn="base">
              <a:lnSpc>
                <a:spcPct val="120000"/>
              </a:lnSpc>
              <a:defRPr/>
            </a:pPr>
            <a:endParaRPr lang="en-US" altLang="ko-KR" sz="1200" b="1" spc="-50" dirty="0">
              <a:latin typeface="+mn-ea"/>
            </a:endParaRPr>
          </a:p>
          <a:p>
            <a:pPr lvl="0" fontAlgn="base">
              <a:lnSpc>
                <a:spcPct val="120000"/>
              </a:lnSpc>
              <a:defRPr/>
            </a:pPr>
            <a:r>
              <a:rPr lang="ko-KR" altLang="en-US" sz="1200" b="1" spc="-50" dirty="0">
                <a:latin typeface="+mn-ea"/>
              </a:rPr>
              <a:t>→ </a:t>
            </a:r>
            <a:r>
              <a:rPr lang="ko-KR" altLang="en-US" sz="1200" b="1" u="sng" spc="-50" dirty="0">
                <a:latin typeface="+mn-ea"/>
              </a:rPr>
              <a:t>데이터홈쇼핑의 특성을 살려 고객분들이 더 다양한 상품을 경쟁력 있는 조건으로 </a:t>
            </a:r>
            <a:endParaRPr lang="en-US" altLang="ko-KR" sz="1200" b="1" u="sng" spc="-50" dirty="0">
              <a:latin typeface="+mn-ea"/>
            </a:endParaRPr>
          </a:p>
          <a:p>
            <a:pPr lvl="0" fontAlgn="base">
              <a:lnSpc>
                <a:spcPct val="120000"/>
              </a:lnSpc>
              <a:defRPr/>
            </a:pPr>
            <a:r>
              <a:rPr lang="ko-KR" altLang="en-US" sz="1200" b="1" spc="-50" dirty="0">
                <a:latin typeface="+mn-ea"/>
              </a:rPr>
              <a:t>    </a:t>
            </a:r>
            <a:r>
              <a:rPr lang="ko-KR" altLang="en-US" sz="1200" b="1" u="sng" spc="-50" dirty="0">
                <a:latin typeface="+mn-ea"/>
              </a:rPr>
              <a:t>구매하실 수 있는 채널로 육성해 가는 것이 당사의 전략</a:t>
            </a:r>
            <a:endParaRPr lang="en-US" altLang="ko-KR" sz="1200" b="1" u="sng" spc="-50" dirty="0"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52F758-FBFD-077A-97DE-FAE21E00A021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39/109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5502700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5BF9F84-78A6-A56E-BB1D-31DAA6F63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5716"/>
              </p:ext>
            </p:extLst>
          </p:nvPr>
        </p:nvGraphicFramePr>
        <p:xfrm>
          <a:off x="493164" y="631186"/>
          <a:ext cx="11205672" cy="60628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486">
                  <a:extLst>
                    <a:ext uri="{9D8B030D-6E8A-4147-A177-3AD203B41FA5}">
                      <a16:colId xmlns:a16="http://schemas.microsoft.com/office/drawing/2014/main" val="2104778950"/>
                    </a:ext>
                  </a:extLst>
                </a:gridCol>
                <a:gridCol w="3535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81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7837">
                  <a:extLst>
                    <a:ext uri="{9D8B030D-6E8A-4147-A177-3AD203B41FA5}">
                      <a16:colId xmlns:a16="http://schemas.microsoft.com/office/drawing/2014/main" val="540878447"/>
                    </a:ext>
                  </a:extLst>
                </a:gridCol>
                <a:gridCol w="2567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7837">
                  <a:extLst>
                    <a:ext uri="{9D8B030D-6E8A-4147-A177-3AD203B41FA5}">
                      <a16:colId xmlns:a16="http://schemas.microsoft.com/office/drawing/2014/main" val="1655360877"/>
                    </a:ext>
                  </a:extLst>
                </a:gridCol>
              </a:tblGrid>
              <a:tr h="211206">
                <a:tc rowSpan="2" grid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 분</a:t>
                      </a:r>
                    </a:p>
                  </a:txBody>
                  <a:tcPr marL="0" marR="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TV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홈쇼핑</a:t>
                      </a:r>
                    </a:p>
                  </a:txBody>
                  <a:tcPr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데이터홈쇼핑</a:t>
                      </a:r>
                    </a:p>
                  </a:txBody>
                  <a:tcPr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206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200" b="1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200" b="1" kern="120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영상영역</a:t>
                      </a:r>
                    </a:p>
                  </a:txBody>
                  <a:tcPr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데이터영역</a:t>
                      </a:r>
                    </a:p>
                  </a:txBody>
                  <a:tcPr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10056"/>
                  </a:ext>
                </a:extLst>
              </a:tr>
              <a:tr h="268705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채널 특성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생방송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일방향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녹화방송</a:t>
                      </a: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양방향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VOD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3443028"/>
                  </a:ext>
                </a:extLst>
              </a:tr>
              <a:tr h="268705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고객 특성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 고객 연령대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성별 및 비율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55~59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 여성 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(16%)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55~59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 여성 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(17%)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55~59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 여성 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(19%)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442320"/>
                  </a:ext>
                </a:extLst>
              </a:tr>
              <a:tr h="442574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시청자 수</a:t>
                      </a:r>
                      <a:endParaRPr lang="en-US" altLang="ko-KR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(10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초 이상 채널 체류 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 KT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기준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3,000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가구</a:t>
                      </a: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2,556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가구</a:t>
                      </a: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만명</a:t>
                      </a:r>
                      <a:endParaRPr lang="en-US" altLang="ko-KR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리모컨조작 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UV)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045112"/>
                  </a:ext>
                </a:extLst>
              </a:tr>
              <a:tr h="268705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주문단가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106,932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원</a:t>
                      </a: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77,338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원</a:t>
                      </a: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59,359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원</a:t>
                      </a: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844544"/>
                  </a:ext>
                </a:extLst>
              </a:tr>
              <a:tr h="442574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편성 특성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협력사 수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중소기업 수</a:t>
                      </a:r>
                      <a:endParaRPr lang="en-US" altLang="ko-KR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신규 중소기업 수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546 / 422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(203)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589 / 492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(233)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277787"/>
                  </a:ext>
                </a:extLst>
              </a:tr>
              <a:tr h="268705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아이템 수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약 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1,332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</a:t>
                      </a: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약 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1,402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</a:t>
                      </a: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약 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9,062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</a:t>
                      </a: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657995"/>
                  </a:ext>
                </a:extLst>
              </a:tr>
              <a:tr h="268705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중소기업 편성 규제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55%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71%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758480"/>
                  </a:ext>
                </a:extLst>
              </a:tr>
              <a:tr h="60636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방송길이</a:t>
                      </a:r>
                      <a:endParaRPr lang="en-US" altLang="ko-KR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프로그램 수 기준 비율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기본 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60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 내외</a:t>
                      </a: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 이하 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43%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20~40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16%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60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 이상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41%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4453834"/>
                  </a:ext>
                </a:extLst>
              </a:tr>
              <a:tr h="268705">
                <a:tc rowSpan="9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실적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분당 </a:t>
                      </a:r>
                      <a:r>
                        <a:rPr lang="ko-KR" altLang="en-US" sz="110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취급액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483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141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705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시간당 </a:t>
                      </a:r>
                      <a:r>
                        <a:rPr lang="ko-KR" altLang="en-US" sz="110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정액수수료액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6,694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1,781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3919630"/>
                  </a:ext>
                </a:extLst>
              </a:tr>
              <a:tr h="268705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중소기업 </a:t>
                      </a:r>
                      <a:r>
                        <a:rPr lang="ko-KR" altLang="en-US" sz="110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판매수수료율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33.1%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31.4%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13.9%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8755969"/>
                  </a:ext>
                </a:extLst>
              </a:tr>
              <a:tr h="268705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총 주문 수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51,509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21,717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2,360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705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ARS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14,637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8,095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961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705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상담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3,451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1,939</a:t>
                      </a: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28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705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리모컨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139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193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344201"/>
                  </a:ext>
                </a:extLst>
              </a:tr>
              <a:tr h="16967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MC/PC</a:t>
                      </a: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33,230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11,544</a:t>
                      </a:r>
                      <a:r>
                        <a:rPr lang="ko-KR" altLang="en-US" sz="1100" b="1" kern="1200" spc="-5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1,180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636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중소기업 히트 상품</a:t>
                      </a:r>
                      <a:endParaRPr lang="en-US" altLang="ko-KR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8100" marR="38100" marT="1905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관절엔 </a:t>
                      </a:r>
                      <a:r>
                        <a:rPr lang="ko-KR" altLang="en-US" sz="110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콘드로이친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관절건식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셀폰즈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녹는실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앰플 마스크</a:t>
                      </a:r>
                      <a:endParaRPr lang="en-US" altLang="ko-KR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에이글로벌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제우스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 (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미용기기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거림산업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브루마스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운동화</a:t>
                      </a:r>
                      <a:endParaRPr lang="en-US" altLang="ko-KR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닥터린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콘드로이친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관절건식</a:t>
                      </a:r>
                      <a:r>
                        <a:rPr lang="en-US" altLang="ko-KR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spc="-50" baseline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자코모</a:t>
                      </a:r>
                      <a:r>
                        <a:rPr lang="ko-KR" altLang="en-US" sz="1100" b="1" kern="1200" spc="-5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소파</a:t>
                      </a:r>
                      <a:endParaRPr lang="en-US" altLang="ko-KR" sz="1100" b="1" kern="1200" spc="-5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spc="-50" baseline="0" noProof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위바이옴</a:t>
                      </a:r>
                      <a:r>
                        <a:rPr lang="ko-KR" altLang="en-US" sz="1100" b="1" kern="1200" spc="-50" baseline="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1" kern="1200" spc="-50" baseline="0" noProof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두뇌엔닥터</a:t>
                      </a:r>
                      <a:r>
                        <a:rPr lang="ko-KR" altLang="en-US" sz="1100" b="1" kern="1200" spc="-50" baseline="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유산균</a:t>
                      </a:r>
                      <a:endParaRPr lang="en-US" altLang="ko-KR" sz="1100" b="1" kern="1200" spc="-50" baseline="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1" kern="1200" spc="-50" baseline="0" noProof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이경제</a:t>
                      </a:r>
                      <a:r>
                        <a:rPr lang="en-US" altLang="ko-KR" sz="1100" b="1" kern="1200" spc="-50" baseline="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spc="-50" baseline="0" noProof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흑염소</a:t>
                      </a:r>
                      <a:r>
                        <a:rPr lang="en-US" altLang="ko-KR" sz="1100" b="1" kern="1200" spc="-50" baseline="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spc="-50" baseline="0" noProof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추출액</a:t>
                      </a:r>
                      <a:endParaRPr lang="en-US" altLang="ko-KR" sz="1100" b="1" kern="1200" spc="-50" baseline="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spc="-50" baseline="0" noProof="0" dirty="0" err="1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사대부집곳간</a:t>
                      </a:r>
                      <a:r>
                        <a:rPr lang="ko-KR" altLang="en-US" sz="1100" b="1" kern="1200" spc="-50" baseline="0" noProof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보리굴비</a:t>
                      </a:r>
                      <a:endParaRPr lang="en-US" altLang="ko-KR" sz="1100" b="1" kern="1200" spc="-50" baseline="0" noProof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72000" marT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07214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3F72CBB-1035-03CC-3019-D70BA2B87014}"/>
              </a:ext>
            </a:extLst>
          </p:cNvPr>
          <p:cNvSpPr txBox="1"/>
          <p:nvPr/>
        </p:nvSpPr>
        <p:spPr>
          <a:xfrm>
            <a:off x="58771" y="77326"/>
            <a:ext cx="723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 TV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홈쇼핑 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vs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데이터홈쇼핑 </a:t>
            </a:r>
            <a:r>
              <a:rPr lang="ko-KR" altLang="en-US" b="1" dirty="0" err="1">
                <a:solidFill>
                  <a:schemeClr val="bg1"/>
                </a:solidFill>
                <a:latin typeface="+mn-ea"/>
              </a:rPr>
              <a:t>차별점</a:t>
            </a:r>
            <a:endParaRPr lang="en-US" altLang="ko-KR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93492C-CEBF-1896-DF41-877C2B80C352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40/109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2023532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20BE99-E62C-82E7-9922-3EC96DE72330}"/>
              </a:ext>
            </a:extLst>
          </p:cNvPr>
          <p:cNvSpPr txBox="1"/>
          <p:nvPr/>
        </p:nvSpPr>
        <p:spPr>
          <a:xfrm>
            <a:off x="56352" y="9048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8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  데이터 특화기술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7E43A10-7097-0391-F769-4F1239508247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CEO</a:t>
            </a:r>
            <a:endParaRPr lang="ko-KR" altLang="en-US" sz="105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29F94C-1A11-AE3B-A246-C96BC531FE5D}"/>
              </a:ext>
            </a:extLst>
          </p:cNvPr>
          <p:cNvSpPr txBox="1"/>
          <p:nvPr/>
        </p:nvSpPr>
        <p:spPr>
          <a:xfrm>
            <a:off x="60961" y="319117"/>
            <a:ext cx="11428712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just" latinLnBrk="1">
              <a:lnSpc>
                <a:spcPct val="120000"/>
              </a:lnSpc>
              <a:spcAft>
                <a:spcPts val="0"/>
              </a:spcAf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AI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기술이 대두되고 있는데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향후 활용 방안은 무엇인가요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89C8EA-EC2A-9D3E-3279-649951173847}"/>
              </a:ext>
            </a:extLst>
          </p:cNvPr>
          <p:cNvSpPr txBox="1"/>
          <p:nvPr/>
        </p:nvSpPr>
        <p:spPr>
          <a:xfrm>
            <a:off x="294526" y="982082"/>
            <a:ext cx="10460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i="0" strike="noStrike" baseline="0">
                <a:latin typeface="+mn-ea"/>
              </a:rPr>
              <a:t>■ </a:t>
            </a:r>
            <a:r>
              <a:rPr lang="ko-KR" altLang="en-US" sz="1200" b="1">
                <a:latin typeface="+mn-ea"/>
              </a:rPr>
              <a:t>모든 영역에서 </a:t>
            </a:r>
            <a:r>
              <a:rPr lang="en-US" altLang="ko-KR" sz="1200" b="1">
                <a:latin typeface="+mn-ea"/>
              </a:rPr>
              <a:t>AI </a:t>
            </a:r>
            <a:r>
              <a:rPr lang="ko-KR" altLang="en-US" sz="1200" b="1">
                <a:latin typeface="+mn-ea"/>
              </a:rPr>
              <a:t>활용 </a:t>
            </a:r>
            <a:r>
              <a:rPr lang="ko-KR" altLang="en-US" sz="1200" b="1" spc="-50">
                <a:latin typeface="+mn-ea"/>
              </a:rPr>
              <a:t>→ 내부 업무 효율화뿐만 아니라</a:t>
            </a:r>
            <a:r>
              <a:rPr lang="en-US" altLang="ko-KR" sz="1200" b="1" spc="-50">
                <a:latin typeface="+mn-ea"/>
              </a:rPr>
              <a:t>, </a:t>
            </a:r>
            <a:r>
              <a:rPr lang="en-US" altLang="ko-KR" sz="1200" b="1" spc="-50">
                <a:solidFill>
                  <a:srgbClr val="0000FF"/>
                </a:solidFill>
                <a:latin typeface="+mn-ea"/>
              </a:rPr>
              <a:t>'</a:t>
            </a:r>
            <a:r>
              <a:rPr lang="ko-KR" altLang="en-US" sz="1200" b="1" spc="-50">
                <a:solidFill>
                  <a:srgbClr val="0000FF"/>
                </a:solidFill>
                <a:latin typeface="+mn-ea"/>
              </a:rPr>
              <a:t>방송 콘텐츠 고도화</a:t>
            </a:r>
            <a:r>
              <a:rPr lang="en-US" altLang="ko-KR" sz="1200" b="1" spc="-50">
                <a:solidFill>
                  <a:srgbClr val="0000FF"/>
                </a:solidFill>
                <a:latin typeface="+mn-ea"/>
              </a:rPr>
              <a:t>' '</a:t>
            </a:r>
            <a:r>
              <a:rPr lang="ko-KR" altLang="en-US" sz="1200" b="1" spc="-50">
                <a:solidFill>
                  <a:srgbClr val="0000FF"/>
                </a:solidFill>
                <a:latin typeface="+mn-ea"/>
              </a:rPr>
              <a:t>심의 정확도 향상</a:t>
            </a:r>
            <a:r>
              <a:rPr lang="en-US" altLang="ko-KR" sz="1200" b="1" spc="-50">
                <a:solidFill>
                  <a:srgbClr val="0000FF"/>
                </a:solidFill>
                <a:latin typeface="+mn-ea"/>
              </a:rPr>
              <a:t>' '</a:t>
            </a:r>
            <a:r>
              <a:rPr lang="ko-KR" altLang="en-US" sz="1200" b="1" spc="-50">
                <a:solidFill>
                  <a:srgbClr val="0000FF"/>
                </a:solidFill>
                <a:latin typeface="+mn-ea"/>
              </a:rPr>
              <a:t>빠른 배송</a:t>
            </a:r>
            <a:r>
              <a:rPr lang="en-US" altLang="ko-KR" sz="1200" b="1" spc="-50">
                <a:solidFill>
                  <a:srgbClr val="0000FF"/>
                </a:solidFill>
                <a:latin typeface="+mn-ea"/>
              </a:rPr>
              <a:t>' </a:t>
            </a:r>
            <a:r>
              <a:rPr lang="ko-KR" altLang="en-US" sz="1200" b="1" spc="-50">
                <a:solidFill>
                  <a:srgbClr val="0000FF"/>
                </a:solidFill>
                <a:latin typeface="+mn-ea"/>
              </a:rPr>
              <a:t>등 고객에게 새로운 가치 제공 </a:t>
            </a:r>
            <a:r>
              <a:rPr lang="ko-KR" altLang="en-US" sz="1200" b="1">
                <a:solidFill>
                  <a:srgbClr val="0000FF"/>
                </a:solidFill>
                <a:latin typeface="+mn-ea"/>
              </a:rPr>
              <a:t> </a:t>
            </a:r>
            <a:endParaRPr lang="ko-KR" altLang="en-US" sz="1200" b="1" i="0" strike="noStrike" baseline="0" dirty="0">
              <a:solidFill>
                <a:srgbClr val="0000FF"/>
              </a:solidFill>
              <a:latin typeface="+mn-ea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041B154-E85D-E632-A462-D95DC2B95820}"/>
              </a:ext>
            </a:extLst>
          </p:cNvPr>
          <p:cNvGraphicFramePr>
            <a:graphicFrameLocks noGrp="1"/>
          </p:cNvGraphicFramePr>
          <p:nvPr/>
        </p:nvGraphicFramePr>
        <p:xfrm>
          <a:off x="479863" y="1402819"/>
          <a:ext cx="11337668" cy="3900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577">
                  <a:extLst>
                    <a:ext uri="{9D8B030D-6E8A-4147-A177-3AD203B41FA5}">
                      <a16:colId xmlns:a16="http://schemas.microsoft.com/office/drawing/2014/main" val="3886744939"/>
                    </a:ext>
                  </a:extLst>
                </a:gridCol>
                <a:gridCol w="9440091">
                  <a:extLst>
                    <a:ext uri="{9D8B030D-6E8A-4147-A177-3AD203B41FA5}">
                      <a16:colId xmlns:a16="http://schemas.microsoft.com/office/drawing/2014/main" val="2243698427"/>
                    </a:ext>
                  </a:extLst>
                </a:gridCol>
              </a:tblGrid>
              <a:tr h="33018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4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40000"/>
                        </a:lnSpc>
                      </a:pPr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150591"/>
                  </a:ext>
                </a:extLst>
              </a:tr>
              <a:tr h="35014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40000"/>
                        </a:lnSpc>
                      </a:pPr>
                      <a:r>
                        <a:rPr lang="ko-KR" altLang="en-US" sz="1200" b="1" u="none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</a:t>
                      </a:r>
                      <a:r>
                        <a:rPr lang="ko-KR" altLang="en-US" sz="1200" b="1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제작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40000"/>
                        </a:lnSpc>
                      </a:pPr>
                      <a:r>
                        <a:rPr lang="en-US" altLang="ko-KR" sz="1200" b="1" u="none" spc="-50" dirty="0">
                          <a:latin typeface="+mn-ea"/>
                          <a:ea typeface="+mn-ea"/>
                        </a:rPr>
                        <a:t>AI</a:t>
                      </a:r>
                      <a:r>
                        <a:rPr lang="ko-KR" altLang="en-US" sz="1200" b="1" u="none" spc="-50" dirty="0">
                          <a:latin typeface="+mn-ea"/>
                          <a:ea typeface="+mn-ea"/>
                        </a:rPr>
                        <a:t>를 활용한 가상공간 구현</a:t>
                      </a:r>
                      <a:r>
                        <a:rPr lang="en-US" altLang="ko-KR" sz="1200" b="1" u="none" spc="-50" dirty="0">
                          <a:latin typeface="+mn-ea"/>
                          <a:ea typeface="+mn-ea"/>
                        </a:rPr>
                        <a:t>, AI </a:t>
                      </a:r>
                      <a:r>
                        <a:rPr lang="ko-KR" altLang="en-US" sz="1200" b="1" u="none" spc="-50">
                          <a:latin typeface="+mn-ea"/>
                          <a:ea typeface="+mn-ea"/>
                        </a:rPr>
                        <a:t>모델</a:t>
                      </a:r>
                      <a:r>
                        <a:rPr lang="en-US" altLang="ko-KR" sz="1200" b="1" u="none" spc="-50">
                          <a:latin typeface="+mn-ea"/>
                          <a:ea typeface="+mn-ea"/>
                        </a:rPr>
                        <a:t>, AI </a:t>
                      </a:r>
                      <a:r>
                        <a:rPr lang="ko-KR" altLang="en-US" sz="1200" b="1" u="none" spc="-50">
                          <a:latin typeface="+mn-ea"/>
                          <a:ea typeface="+mn-ea"/>
                        </a:rPr>
                        <a:t>성우</a:t>
                      </a:r>
                      <a:r>
                        <a:rPr lang="en-US" altLang="ko-KR" sz="1200" b="1" u="none" spc="-50">
                          <a:latin typeface="+mn-ea"/>
                          <a:ea typeface="+mn-ea"/>
                        </a:rPr>
                        <a:t>, AI </a:t>
                      </a:r>
                      <a:r>
                        <a:rPr lang="ko-KR" altLang="en-US" sz="1200" b="1" u="none" spc="-50">
                          <a:latin typeface="+mn-ea"/>
                          <a:ea typeface="+mn-ea"/>
                        </a:rPr>
                        <a:t>대본 활용 → 비용 효율화</a:t>
                      </a:r>
                      <a:r>
                        <a:rPr lang="en-US" altLang="ko-KR" sz="1200" b="1" u="none" spc="-5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u="none" spc="-50">
                          <a:latin typeface="+mn-ea"/>
                          <a:ea typeface="+mn-ea"/>
                        </a:rPr>
                        <a:t>상품 특성을 효과적으로 전달</a:t>
                      </a:r>
                      <a:r>
                        <a:rPr lang="en-US" altLang="ko-KR" sz="1200" b="1" u="none" spc="-5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u="none" spc="-50">
                          <a:latin typeface="+mn-ea"/>
                          <a:ea typeface="+mn-ea"/>
                        </a:rPr>
                        <a:t>몰입감 있는 콘텐츠 제공</a:t>
                      </a:r>
                      <a:endParaRPr lang="en-US" altLang="ko-KR" sz="1200" b="1" u="none" spc="-5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u="none" spc="-5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0" u="none" spc="-5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1000" b="0" u="none" spc="-5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편당 제작 시간 </a:t>
                      </a:r>
                      <a:r>
                        <a:rPr lang="en-US" altLang="ko-KR" sz="1000" b="0" u="none" spc="-5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57.8% </a:t>
                      </a:r>
                      <a:r>
                        <a:rPr lang="ko-KR" altLang="en-US" sz="1000" b="0" u="none" spc="-5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단축 </a:t>
                      </a:r>
                      <a:r>
                        <a:rPr lang="en-US" altLang="ko-KR" sz="1000" b="0" u="none" spc="-5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(23.7</a:t>
                      </a:r>
                      <a:r>
                        <a:rPr lang="ko-KR" altLang="en-US" sz="1000" b="0" u="none" spc="-5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시간→</a:t>
                      </a:r>
                      <a:r>
                        <a:rPr lang="en-US" altLang="ko-KR" sz="1000" b="0" u="none" spc="-5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000" b="0" u="none" spc="-5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시간</a:t>
                      </a:r>
                      <a:r>
                        <a:rPr lang="en-US" altLang="ko-KR" sz="1000" b="0" u="none" spc="-5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), 25</a:t>
                      </a:r>
                      <a:r>
                        <a:rPr lang="ko-KR" altLang="en-US" sz="1000" b="0" u="none" spc="-5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000" b="0" u="none" spc="-5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000" b="0" u="none" spc="-5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기술 활용 콘텐츠 제작비율 </a:t>
                      </a:r>
                      <a:r>
                        <a:rPr lang="en-US" altLang="ko-KR" sz="1000" b="0" u="none" spc="-5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17%</a:t>
                      </a:r>
                      <a:r>
                        <a:rPr lang="en-US" altLang="ko-KR" sz="1000" b="0" u="none" spc="-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373794"/>
                  </a:ext>
                </a:extLst>
              </a:tr>
              <a:tr h="35014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40000"/>
                        </a:lnSpc>
                      </a:pPr>
                      <a:r>
                        <a:rPr lang="ko-KR" altLang="en-US" sz="1200" b="1" u="none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심의</a:t>
                      </a:r>
                      <a:endParaRPr lang="ko-KR" altLang="en-US" sz="1200" b="1" u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200" b="1" u="none" spc="-50" dirty="0"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200" b="1" u="none" spc="-50" dirty="0">
                          <a:latin typeface="+mn-ea"/>
                          <a:ea typeface="+mn-ea"/>
                        </a:rPr>
                        <a:t>활용 </a:t>
                      </a:r>
                      <a:r>
                        <a:rPr lang="ko-KR" altLang="en-US" sz="1200" b="1" u="none" spc="-50" dirty="0" err="1">
                          <a:latin typeface="+mn-ea"/>
                          <a:ea typeface="+mn-ea"/>
                        </a:rPr>
                        <a:t>쇼핑호스트</a:t>
                      </a:r>
                      <a:r>
                        <a:rPr lang="ko-KR" altLang="en-US" sz="1200" b="1" u="none" spc="-50" dirty="0">
                          <a:latin typeface="+mn-ea"/>
                          <a:ea typeface="+mn-ea"/>
                        </a:rPr>
                        <a:t> 멘트</a:t>
                      </a:r>
                      <a:r>
                        <a:rPr lang="en-US" altLang="ko-KR" sz="1200" b="1" u="none" spc="-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u="none" spc="-50" dirty="0">
                          <a:latin typeface="+mn-ea"/>
                          <a:ea typeface="+mn-ea"/>
                        </a:rPr>
                        <a:t>상품정보의 심의 위반여부 체크</a:t>
                      </a:r>
                      <a:r>
                        <a:rPr lang="en-US" altLang="ko-KR" sz="1200" b="1" u="none" spc="-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1" u="none" spc="-50" dirty="0">
                          <a:latin typeface="+mn-ea"/>
                          <a:ea typeface="+mn-ea"/>
                        </a:rPr>
                        <a:t>→ 심의 정확도 향상</a:t>
                      </a:r>
                      <a:endParaRPr lang="en-US" altLang="ko-KR" sz="1200" b="1" u="none" spc="-50" dirty="0"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4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000" b="0" u="none" spc="-50" dirty="0"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1000" b="0" u="none" spc="-50" dirty="0" err="1">
                          <a:latin typeface="+mn-ea"/>
                          <a:ea typeface="+mn-ea"/>
                        </a:rPr>
                        <a:t>쇼핑호스트</a:t>
                      </a:r>
                      <a:r>
                        <a:rPr lang="ko-KR" altLang="en-US" sz="1000" b="0" u="none" spc="-50" dirty="0">
                          <a:latin typeface="+mn-ea"/>
                          <a:ea typeface="+mn-ea"/>
                        </a:rPr>
                        <a:t> 멘트 심의 시스템 </a:t>
                      </a:r>
                      <a:r>
                        <a:rPr lang="en-US" altLang="ko-KR" sz="1000" b="0" u="none" spc="-5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="0" u="none" spc="-50" dirty="0" err="1">
                          <a:latin typeface="+mn-ea"/>
                          <a:ea typeface="+mn-ea"/>
                        </a:rPr>
                        <a:t>쇼핑호스트</a:t>
                      </a:r>
                      <a:r>
                        <a:rPr lang="ko-KR" altLang="en-US" sz="1000" b="0" u="none" spc="-50" dirty="0">
                          <a:latin typeface="+mn-ea"/>
                          <a:ea typeface="+mn-ea"/>
                        </a:rPr>
                        <a:t> 멘트를 </a:t>
                      </a:r>
                      <a:r>
                        <a:rPr lang="en-US" altLang="ko-KR" sz="1000" b="0" u="none" spc="-50" dirty="0">
                          <a:latin typeface="+mn-ea"/>
                          <a:ea typeface="+mn-ea"/>
                        </a:rPr>
                        <a:t>AI</a:t>
                      </a:r>
                      <a:r>
                        <a:rPr lang="ko-KR" altLang="en-US" sz="1000" b="0" u="none" spc="-50" dirty="0">
                          <a:latin typeface="+mn-ea"/>
                          <a:ea typeface="+mn-ea"/>
                        </a:rPr>
                        <a:t>로 분석하여 심의 위반여부 판단</a:t>
                      </a:r>
                      <a:endParaRPr lang="en-US" altLang="ko-KR" sz="1000" b="0" u="none" spc="-50" dirty="0"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4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000" b="0" u="none" spc="-50" dirty="0"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1000" b="0" u="none" spc="-50" dirty="0">
                          <a:latin typeface="+mn-ea"/>
                          <a:ea typeface="+mn-ea"/>
                        </a:rPr>
                        <a:t>모바일 상품정보를 </a:t>
                      </a:r>
                      <a:r>
                        <a:rPr lang="en-US" altLang="ko-KR" sz="1000" b="0" u="none" spc="-50" dirty="0">
                          <a:latin typeface="+mn-ea"/>
                          <a:ea typeface="+mn-ea"/>
                        </a:rPr>
                        <a:t>AI</a:t>
                      </a:r>
                      <a:r>
                        <a:rPr lang="ko-KR" altLang="en-US" sz="1000" b="0" u="none" spc="-50" dirty="0">
                          <a:latin typeface="+mn-ea"/>
                          <a:ea typeface="+mn-ea"/>
                        </a:rPr>
                        <a:t>로 분석하여 </a:t>
                      </a:r>
                      <a:r>
                        <a:rPr lang="en-US" altLang="ko-KR" sz="1000" b="0" u="none" spc="-50" dirty="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000" b="0" u="none" spc="-50" dirty="0">
                          <a:latin typeface="+mn-ea"/>
                          <a:ea typeface="+mn-ea"/>
                        </a:rPr>
                        <a:t>문맥</a:t>
                      </a:r>
                      <a:r>
                        <a:rPr lang="en-US" altLang="ko-KR" sz="1000" b="0" u="none" spc="-50" dirty="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000" b="0" u="none" spc="-50" dirty="0">
                          <a:latin typeface="+mn-ea"/>
                          <a:ea typeface="+mn-ea"/>
                        </a:rPr>
                        <a:t>까지 고려한 </a:t>
                      </a:r>
                      <a:r>
                        <a:rPr lang="ko-KR" altLang="en-US" sz="1000" b="0" u="none" spc="-50" dirty="0" err="1">
                          <a:latin typeface="+mn-ea"/>
                          <a:ea typeface="+mn-ea"/>
                        </a:rPr>
                        <a:t>금지어</a:t>
                      </a:r>
                      <a:r>
                        <a:rPr lang="ko-KR" altLang="en-US" sz="1000" b="0" u="none" spc="-50" dirty="0">
                          <a:latin typeface="+mn-ea"/>
                          <a:ea typeface="+mn-ea"/>
                        </a:rPr>
                        <a:t> 체크</a:t>
                      </a:r>
                      <a:endParaRPr lang="ko-KR" altLang="en-US" sz="1000" b="0" u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374369"/>
                  </a:ext>
                </a:extLst>
              </a:tr>
              <a:tr h="35014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40000"/>
                        </a:lnSpc>
                      </a:pPr>
                      <a:r>
                        <a:rPr lang="ko-KR" altLang="en-US" sz="1200" b="1" u="none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물류</a:t>
                      </a:r>
                      <a:endParaRPr lang="ko-KR" altLang="en-US" sz="1200" b="1" u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u="none" spc="-50"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200" b="1" u="none" spc="-50">
                          <a:latin typeface="+mn-ea"/>
                          <a:ea typeface="+mn-ea"/>
                        </a:rPr>
                        <a:t>피킹 알고리즘을 활용 스타트업 </a:t>
                      </a:r>
                      <a:r>
                        <a:rPr lang="en-US" altLang="ko-KR" sz="1200" b="1" u="none" spc="-5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200" b="1" u="none" spc="-50">
                          <a:latin typeface="+mn-ea"/>
                          <a:ea typeface="+mn-ea"/>
                        </a:rPr>
                        <a:t>틸타</a:t>
                      </a:r>
                      <a:r>
                        <a:rPr lang="en-US" altLang="ko-KR" sz="1200" b="1" u="none" spc="-5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200" b="1" u="none" spc="-50">
                          <a:latin typeface="+mn-ea"/>
                          <a:ea typeface="+mn-ea"/>
                        </a:rPr>
                        <a:t>와 연계 빠른 출고 시스템 구축 중</a:t>
                      </a:r>
                      <a:r>
                        <a:rPr lang="en-US" altLang="ko-KR" sz="1200" b="1" u="none" spc="-5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1" u="none" spc="-50">
                          <a:latin typeface="+mn-ea"/>
                          <a:ea typeface="+mn-ea"/>
                        </a:rPr>
                        <a:t>→ 빠른 배송 서비스 제공</a:t>
                      </a:r>
                      <a:endParaRPr lang="en-US" altLang="ko-KR" sz="1200" b="1" u="none" spc="-5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3647337"/>
                  </a:ext>
                </a:extLst>
              </a:tr>
              <a:tr h="35014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40000"/>
                        </a:lnSpc>
                      </a:pPr>
                      <a:r>
                        <a:rPr lang="ko-KR" altLang="en-US" sz="1200" b="1" u="none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</a:t>
                      </a:r>
                      <a:r>
                        <a:rPr lang="ko-KR" altLang="en-US" sz="1200" b="1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소싱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40000"/>
                        </a:lnSpc>
                      </a:pPr>
                      <a:r>
                        <a:rPr lang="en-US" altLang="ko-KR" sz="1200" b="1" u="none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AI Tool(</a:t>
                      </a:r>
                      <a:r>
                        <a:rPr lang="ko-KR" altLang="en-US" sz="1200" b="1" u="none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 비교 분석 시스템</a:t>
                      </a:r>
                      <a:r>
                        <a:rPr lang="en-US" altLang="ko-KR" sz="1200" b="1" u="none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1" u="none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활용 →  경쟁력 있는 중소기업 브랜드 발굴 </a:t>
                      </a:r>
                      <a:endParaRPr lang="en-US" altLang="ko-KR" sz="1200" b="1" u="none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40000"/>
                        </a:lnSpc>
                      </a:pPr>
                      <a:r>
                        <a:rPr lang="ko-KR" altLang="ko-KR" sz="1000" b="0" u="none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※</a:t>
                      </a:r>
                      <a:r>
                        <a:rPr lang="en-US" altLang="ko-KR" sz="1000" b="0" u="none" spc="-5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u="none" spc="-50">
                          <a:latin typeface="+mn-ea"/>
                          <a:ea typeface="+mn-ea"/>
                        </a:rPr>
                        <a:t>뷰티 브랜드 약 </a:t>
                      </a:r>
                      <a:r>
                        <a:rPr lang="en-US" altLang="ko-KR" sz="1000" b="0" u="none" spc="-50">
                          <a:latin typeface="+mn-ea"/>
                          <a:ea typeface="+mn-ea"/>
                        </a:rPr>
                        <a:t>4,500</a:t>
                      </a:r>
                      <a:r>
                        <a:rPr lang="ko-KR" altLang="en-US" sz="1000" b="0" u="none" spc="-50">
                          <a:latin typeface="+mn-ea"/>
                          <a:ea typeface="+mn-ea"/>
                        </a:rPr>
                        <a:t>여개 데이터 비교 분석을 통해</a:t>
                      </a:r>
                      <a:r>
                        <a:rPr lang="en-US" altLang="ko-KR" sz="1000" b="0" u="none" spc="-5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u="none" spc="-50">
                          <a:latin typeface="+mn-ea"/>
                          <a:ea typeface="+mn-ea"/>
                        </a:rPr>
                        <a:t>고객이 원하는 중소기업 브랜드 빠르게 발굴 </a:t>
                      </a:r>
                      <a:endParaRPr lang="ko-KR" altLang="en-US" sz="1000" b="0" u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448936"/>
                  </a:ext>
                </a:extLst>
              </a:tr>
              <a:tr h="35740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40000"/>
                        </a:lnSpc>
                      </a:pPr>
                      <a:r>
                        <a:rPr lang="ko-KR" altLang="en-US" sz="1200" b="1" u="none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데이터영역</a:t>
                      </a:r>
                      <a:endParaRPr lang="ko-KR" altLang="en-US" sz="1200" b="1" u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40000"/>
                        </a:lnSpc>
                      </a:pPr>
                      <a:r>
                        <a:rPr lang="ko-KR" altLang="en-US" sz="1200" b="1" u="none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데이터영역을 활용해 시청 상품</a:t>
                      </a:r>
                      <a:r>
                        <a:rPr lang="en-US" altLang="ko-KR" sz="1200" b="1" u="none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1" u="none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또는 개인별 구매 상품과 연관된 상품 추천 </a:t>
                      </a:r>
                      <a:r>
                        <a:rPr lang="ko-KR" altLang="ko-KR" sz="1200" b="1" u="none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→</a:t>
                      </a:r>
                      <a:r>
                        <a:rPr lang="en-US" altLang="ko-KR" sz="1200" b="1" u="none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1" u="none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개인별 맞춤 상품 제안</a:t>
                      </a:r>
                      <a:endParaRPr lang="en-US" altLang="ko-KR" sz="1200" b="1" u="none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4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000">
                          <a:latin typeface="+mn-ea"/>
                        </a:rPr>
                        <a:t>※ </a:t>
                      </a:r>
                      <a:r>
                        <a:rPr lang="ko-KR" altLang="en-US" sz="1000">
                          <a:latin typeface="+mn-ea"/>
                        </a:rPr>
                        <a:t>향후 데이터홈쇼핑에 </a:t>
                      </a:r>
                      <a:r>
                        <a:rPr lang="en-US" altLang="ko-KR" sz="1000">
                          <a:latin typeface="+mn-ea"/>
                        </a:rPr>
                        <a:t>108</a:t>
                      </a:r>
                      <a:r>
                        <a:rPr lang="ko-KR" altLang="en-US" sz="1000">
                          <a:latin typeface="+mn-ea"/>
                        </a:rPr>
                        <a:t>억원 투자 예정 </a:t>
                      </a:r>
                      <a:r>
                        <a:rPr lang="en-US" altLang="ko-KR" sz="1000">
                          <a:latin typeface="+mn-ea"/>
                        </a:rPr>
                        <a:t>(TV, </a:t>
                      </a:r>
                      <a:r>
                        <a:rPr lang="ko-KR" altLang="en-US" sz="1000">
                          <a:latin typeface="+mn-ea"/>
                        </a:rPr>
                        <a:t>공통까지 포함 시 </a:t>
                      </a:r>
                      <a:r>
                        <a:rPr lang="en-US" altLang="ko-KR" sz="1000">
                          <a:latin typeface="+mn-ea"/>
                        </a:rPr>
                        <a:t>520</a:t>
                      </a:r>
                      <a:r>
                        <a:rPr lang="ko-KR" altLang="en-US" sz="1000">
                          <a:latin typeface="+mn-ea"/>
                        </a:rPr>
                        <a:t>억원</a:t>
                      </a:r>
                      <a:r>
                        <a:rPr lang="en-US" altLang="ko-KR" sz="1000">
                          <a:latin typeface="+mn-ea"/>
                        </a:rPr>
                        <a:t>)</a:t>
                      </a:r>
                      <a:endParaRPr lang="en-US" altLang="ko-KR" sz="1000" dirty="0">
                        <a:latin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955925"/>
                  </a:ext>
                </a:extLst>
              </a:tr>
              <a:tr h="35740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40000"/>
                        </a:lnSpc>
                      </a:pPr>
                      <a:r>
                        <a:rPr lang="ko-KR" altLang="en-US" sz="1200" b="1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 효율화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tabLst>
                          <a:tab pos="558800" algn="l"/>
                        </a:tabLst>
                      </a:pPr>
                      <a:r>
                        <a:rPr lang="ko-KR" altLang="en-US" sz="1200" b="1" u="none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 자동화 및 데이터 분석 </a:t>
                      </a:r>
                      <a:endParaRPr lang="en-US" altLang="ko-KR" sz="1200" b="1" u="none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40000"/>
                        </a:lnSpc>
                        <a:tabLst>
                          <a:tab pos="558800" algn="l"/>
                        </a:tabLst>
                      </a:pPr>
                      <a:r>
                        <a:rPr lang="ko-KR" altLang="en-US" sz="1200" b="1" u="none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1200" b="1" u="none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200" b="1" u="none" spc="-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비상대처봇</a:t>
                      </a:r>
                      <a:r>
                        <a:rPr lang="ko-KR" altLang="en-US" sz="1200" b="1" u="none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u="none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200" b="1" u="none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장비 장애 발생 시 장애 해결 방법을 제공하여 빠른 대처 가능</a:t>
                      </a:r>
                      <a:endParaRPr lang="en-US" altLang="ko-KR" sz="1200" b="1" u="none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40000"/>
                        </a:lnSpc>
                        <a:tabLst>
                          <a:tab pos="558800" algn="l"/>
                        </a:tabLst>
                      </a:pPr>
                      <a:r>
                        <a:rPr lang="ko-KR" altLang="en-US" sz="1200" b="1" u="none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1200" b="1" u="none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VOC </a:t>
                      </a:r>
                      <a:r>
                        <a:rPr lang="ko-KR" altLang="en-US" sz="1200" b="1" u="none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문제해결 </a:t>
                      </a:r>
                      <a:r>
                        <a:rPr lang="en-US" altLang="ko-KR" sz="1200" b="1" u="none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200" b="1" u="none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과거 </a:t>
                      </a:r>
                      <a:r>
                        <a:rPr lang="en-US" altLang="ko-KR" sz="1200" b="1" u="none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VOC </a:t>
                      </a:r>
                      <a:r>
                        <a:rPr lang="ko-KR" altLang="en-US" sz="1200" b="1" u="none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데이터를 기반으로 유사 사례를 분석하여 대처 방안 안내</a:t>
                      </a:r>
                      <a:endParaRPr lang="ko-KR" altLang="en-US" sz="1200" b="1" u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584167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5FD1B8A8-3F52-9452-E892-9A5AB22144B8}"/>
              </a:ext>
            </a:extLst>
          </p:cNvPr>
          <p:cNvSpPr txBox="1"/>
          <p:nvPr/>
        </p:nvSpPr>
        <p:spPr>
          <a:xfrm>
            <a:off x="384064" y="5516647"/>
            <a:ext cx="6096000" cy="1057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ko-KR" altLang="en-US" sz="1200" b="1">
                <a:latin typeface="+mn-ea"/>
              </a:rPr>
              <a:t>■ </a:t>
            </a:r>
            <a:r>
              <a:rPr lang="en-US" altLang="ko-KR" sz="1200" b="1" spc="-50">
                <a:latin typeface="+mn-ea"/>
              </a:rPr>
              <a:t>AI </a:t>
            </a:r>
            <a:r>
              <a:rPr lang="ko-KR" altLang="en-US" sz="1200" b="1" spc="-50">
                <a:latin typeface="+mn-ea"/>
              </a:rPr>
              <a:t>활용에 따른 공적책임 노력 </a:t>
            </a:r>
            <a:r>
              <a:rPr lang="en-US" altLang="ko-KR" sz="1200" b="1" spc="-50">
                <a:latin typeface="+mn-ea"/>
              </a:rPr>
              <a:t>(</a:t>
            </a:r>
            <a:r>
              <a:rPr lang="ko-KR" altLang="en-US" sz="1200" b="1" spc="-50">
                <a:solidFill>
                  <a:srgbClr val="0000FF"/>
                </a:solidFill>
                <a:latin typeface="+mn-ea"/>
              </a:rPr>
              <a:t>신뢰성</a:t>
            </a:r>
            <a:r>
              <a:rPr lang="en-US" altLang="ko-KR" sz="1200" b="1" spc="-5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spc="-50">
                <a:solidFill>
                  <a:srgbClr val="0000FF"/>
                </a:solidFill>
                <a:latin typeface="+mn-ea"/>
              </a:rPr>
              <a:t>투명성</a:t>
            </a:r>
            <a:r>
              <a:rPr lang="en-US" altLang="ko-KR" sz="1200" b="1" spc="-50">
                <a:latin typeface="+mn-ea"/>
              </a:rPr>
              <a:t>)</a:t>
            </a: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 spc="-50">
                <a:latin typeface="+mn-ea"/>
              </a:rPr>
              <a:t>- (AI </a:t>
            </a:r>
            <a:r>
              <a:rPr lang="ko-KR" altLang="en-US" sz="1200" b="1" spc="-50">
                <a:latin typeface="+mn-ea"/>
              </a:rPr>
              <a:t>규정 마련</a:t>
            </a:r>
            <a:r>
              <a:rPr lang="en-US" altLang="ko-KR" sz="1200" b="1" spc="-50">
                <a:latin typeface="+mn-ea"/>
              </a:rPr>
              <a:t>)</a:t>
            </a:r>
            <a:r>
              <a:rPr lang="en-US" altLang="ko-KR" sz="1200" b="1" u="sng" spc="-50">
                <a:latin typeface="+mn-ea"/>
              </a:rPr>
              <a:t>AI </a:t>
            </a:r>
            <a:r>
              <a:rPr lang="ko-KR" altLang="en-US" sz="1200" b="1" u="sng" spc="-50">
                <a:latin typeface="+mn-ea"/>
              </a:rPr>
              <a:t>활용 가이드 </a:t>
            </a:r>
            <a:r>
              <a:rPr lang="ko-KR" altLang="en-US" sz="1200" b="1" spc="-50">
                <a:latin typeface="+mn-ea"/>
              </a:rPr>
              <a:t>제정 </a:t>
            </a:r>
            <a:r>
              <a:rPr lang="en-US" altLang="ko-KR" sz="1000" spc="-50">
                <a:latin typeface="+mn-ea"/>
              </a:rPr>
              <a:t>(</a:t>
            </a:r>
            <a:r>
              <a:rPr lang="ko-KR" altLang="en-US" sz="1000" spc="-50">
                <a:latin typeface="+mn-ea"/>
              </a:rPr>
              <a:t>컴플라이언스팀</a:t>
            </a:r>
            <a:r>
              <a:rPr lang="en-US" altLang="ko-KR" sz="1000" spc="-50">
                <a:latin typeface="+mn-ea"/>
              </a:rPr>
              <a:t>)</a:t>
            </a: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 spc="-50">
                <a:latin typeface="+mn-ea"/>
              </a:rPr>
              <a:t>- (</a:t>
            </a:r>
            <a:r>
              <a:rPr lang="ko-KR" altLang="en-US" sz="1200" b="1" spc="-50">
                <a:latin typeface="+mn-ea"/>
              </a:rPr>
              <a:t>고객보호</a:t>
            </a:r>
            <a:r>
              <a:rPr lang="en-US" altLang="ko-KR" sz="1200" b="1" spc="-50">
                <a:latin typeface="+mn-ea"/>
              </a:rPr>
              <a:t>)</a:t>
            </a:r>
            <a:r>
              <a:rPr lang="ko-KR" altLang="en-US" sz="1200" b="1" u="sng" spc="-50">
                <a:latin typeface="+mn-ea"/>
              </a:rPr>
              <a:t>이용약관 개정해서 </a:t>
            </a:r>
            <a:r>
              <a:rPr lang="en-US" altLang="ko-KR" sz="1200" b="1" u="sng" spc="-50">
                <a:latin typeface="+mn-ea"/>
              </a:rPr>
              <a:t>AI </a:t>
            </a:r>
            <a:r>
              <a:rPr lang="ko-KR" altLang="en-US" sz="1200" b="1" u="sng" spc="-50">
                <a:latin typeface="+mn-ea"/>
              </a:rPr>
              <a:t>활용 여부 사전 고지</a:t>
            </a:r>
            <a:r>
              <a:rPr lang="en-US" altLang="ko-KR" sz="1200" b="1" u="sng" spc="-50">
                <a:latin typeface="+mn-ea"/>
              </a:rPr>
              <a:t>, 'AI </a:t>
            </a:r>
            <a:r>
              <a:rPr lang="ko-KR" altLang="en-US" sz="1200" b="1" u="sng" spc="-50">
                <a:latin typeface="+mn-ea"/>
              </a:rPr>
              <a:t>활용한 영상입니다</a:t>
            </a:r>
            <a:r>
              <a:rPr lang="en-US" altLang="ko-KR" sz="1200" b="1" u="sng" spc="-50">
                <a:latin typeface="+mn-ea"/>
              </a:rPr>
              <a:t>.'</a:t>
            </a:r>
            <a:r>
              <a:rPr lang="ko-KR" altLang="en-US" sz="1200" b="1" u="sng" spc="-50">
                <a:latin typeface="+mn-ea"/>
              </a:rPr>
              <a:t> 표시</a:t>
            </a:r>
            <a:endParaRPr lang="en-US" altLang="ko-KR" sz="1200" b="1" u="sng" spc="-5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000" spc="-50">
                <a:latin typeface="+mn-ea"/>
              </a:rPr>
              <a:t>   ※ </a:t>
            </a:r>
            <a:r>
              <a:rPr lang="ko-KR" altLang="en-US" sz="1000" spc="-50">
                <a:latin typeface="+mn-ea"/>
              </a:rPr>
              <a:t>인공지능기본법 제정</a:t>
            </a:r>
            <a:r>
              <a:rPr lang="en-US" altLang="ko-KR" sz="1000" spc="-50">
                <a:latin typeface="+mn-ea"/>
              </a:rPr>
              <a:t>. 26</a:t>
            </a:r>
            <a:r>
              <a:rPr lang="ko-KR" altLang="en-US" sz="1000" spc="-50">
                <a:latin typeface="+mn-ea"/>
              </a:rPr>
              <a:t>년 </a:t>
            </a:r>
            <a:r>
              <a:rPr lang="en-US" altLang="ko-KR" sz="1000" spc="-50">
                <a:latin typeface="+mn-ea"/>
              </a:rPr>
              <a:t>1</a:t>
            </a:r>
            <a:r>
              <a:rPr lang="ko-KR" altLang="en-US" sz="1000" spc="-50">
                <a:latin typeface="+mn-ea"/>
              </a:rPr>
              <a:t>월 </a:t>
            </a:r>
            <a:r>
              <a:rPr lang="en-US" altLang="ko-KR" sz="1000" spc="-50">
                <a:latin typeface="+mn-ea"/>
              </a:rPr>
              <a:t>22</a:t>
            </a:r>
            <a:r>
              <a:rPr lang="ko-KR" altLang="en-US" sz="1000" spc="-50">
                <a:latin typeface="+mn-ea"/>
              </a:rPr>
              <a:t>일부터 시행 중</a:t>
            </a:r>
            <a:r>
              <a:rPr lang="en-US" altLang="ko-KR" sz="1000" spc="-50">
                <a:latin typeface="+mn-ea"/>
              </a:rPr>
              <a:t> </a:t>
            </a:r>
            <a:endParaRPr lang="en-US" altLang="ko-KR" sz="1000" spc="-50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267227-333B-923C-FA80-813D9DCC21B3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41/109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41627216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2BAB8-DD31-BB2C-09B8-85CA11BEC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828958-5999-A036-6FC3-F4F4B0CFF91A}"/>
              </a:ext>
            </a:extLst>
          </p:cNvPr>
          <p:cNvSpPr txBox="1"/>
          <p:nvPr/>
        </p:nvSpPr>
        <p:spPr>
          <a:xfrm>
            <a:off x="60963" y="83316"/>
            <a:ext cx="8819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 AI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활용 사례</a:t>
            </a:r>
            <a:endParaRPr lang="en-US" altLang="ko-KR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EB65FEB-6F43-A4AA-E9FD-317080350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841" y="935409"/>
            <a:ext cx="3931568" cy="556341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4786347-201E-2704-AC1A-B534F3674FF7}"/>
              </a:ext>
            </a:extLst>
          </p:cNvPr>
          <p:cNvSpPr txBox="1"/>
          <p:nvPr/>
        </p:nvSpPr>
        <p:spPr>
          <a:xfrm>
            <a:off x="8051918" y="635116"/>
            <a:ext cx="3919233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(p.265)AI</a:t>
            </a:r>
            <a:r>
              <a:rPr lang="ko-KR" altLang="en-US" sz="1100" b="1" dirty="0">
                <a:latin typeface="+mn-ea"/>
              </a:rPr>
              <a:t>활용 출고시스템 고도화</a:t>
            </a:r>
            <a:endParaRPr lang="en-US" altLang="ko-KR" sz="1100" b="1" dirty="0">
              <a:latin typeface="+mn-ea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B0A223F-DF1C-7C5A-8900-8A793F0A6F96}"/>
              </a:ext>
            </a:extLst>
          </p:cNvPr>
          <p:cNvCxnSpPr>
            <a:cxnSpLocks/>
          </p:cNvCxnSpPr>
          <p:nvPr/>
        </p:nvCxnSpPr>
        <p:spPr>
          <a:xfrm>
            <a:off x="9699532" y="3146399"/>
            <a:ext cx="152183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0323551-7954-D296-4C33-3B9BDDB7DB2F}"/>
              </a:ext>
            </a:extLst>
          </p:cNvPr>
          <p:cNvCxnSpPr>
            <a:cxnSpLocks/>
          </p:cNvCxnSpPr>
          <p:nvPr/>
        </p:nvCxnSpPr>
        <p:spPr>
          <a:xfrm>
            <a:off x="8354058" y="5684948"/>
            <a:ext cx="152183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EB93601-0C55-514F-44A1-AA6C99283D48}"/>
              </a:ext>
            </a:extLst>
          </p:cNvPr>
          <p:cNvCxnSpPr>
            <a:cxnSpLocks/>
          </p:cNvCxnSpPr>
          <p:nvPr/>
        </p:nvCxnSpPr>
        <p:spPr>
          <a:xfrm>
            <a:off x="10300423" y="5680590"/>
            <a:ext cx="152183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0144486-D30C-69CB-F18B-1CE48E01399B}"/>
              </a:ext>
            </a:extLst>
          </p:cNvPr>
          <p:cNvSpPr txBox="1"/>
          <p:nvPr/>
        </p:nvSpPr>
        <p:spPr>
          <a:xfrm>
            <a:off x="4107393" y="635116"/>
            <a:ext cx="3919233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(p.158)</a:t>
            </a:r>
            <a:r>
              <a:rPr lang="ko-KR" altLang="en-US" sz="1100" b="1" dirty="0">
                <a:latin typeface="+mn-ea"/>
              </a:rPr>
              <a:t>신기술 활용 콘텐츠 차별화 및 제작 효율화</a:t>
            </a:r>
            <a:endParaRPr lang="en-US" altLang="ko-KR" sz="1100" b="1" dirty="0">
              <a:latin typeface="+mn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113971F-0F1C-4183-6A2C-24C2BC074A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27"/>
          <a:stretch>
            <a:fillRect/>
          </a:stretch>
        </p:blipFill>
        <p:spPr>
          <a:xfrm>
            <a:off x="4183245" y="899719"/>
            <a:ext cx="3784377" cy="577046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81513E2-93F8-BF74-FF13-2F68B16D0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08" y="918565"/>
            <a:ext cx="3928274" cy="55128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351739-D111-A6D3-677C-71A11B00C428}"/>
              </a:ext>
            </a:extLst>
          </p:cNvPr>
          <p:cNvSpPr txBox="1"/>
          <p:nvPr/>
        </p:nvSpPr>
        <p:spPr>
          <a:xfrm>
            <a:off x="75675" y="635116"/>
            <a:ext cx="3919233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(p.143)</a:t>
            </a:r>
            <a:r>
              <a:rPr lang="ko-KR" altLang="en-US" sz="1100" b="1" dirty="0">
                <a:latin typeface="+mn-ea"/>
              </a:rPr>
              <a:t>신기술 활용 콘텐츠 차별화 및 제작 효율화</a:t>
            </a:r>
            <a:endParaRPr lang="en-US" altLang="ko-KR" sz="1100" b="1" dirty="0">
              <a:latin typeface="+mn-ea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6676A1C-0DF2-C0B1-C06F-D4363541237B}"/>
              </a:ext>
            </a:extLst>
          </p:cNvPr>
          <p:cNvCxnSpPr/>
          <p:nvPr/>
        </p:nvCxnSpPr>
        <p:spPr>
          <a:xfrm>
            <a:off x="1625797" y="2785561"/>
            <a:ext cx="49638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3F14C2E-31A0-40E3-743F-A2EA0D097867}"/>
              </a:ext>
            </a:extLst>
          </p:cNvPr>
          <p:cNvCxnSpPr>
            <a:cxnSpLocks/>
          </p:cNvCxnSpPr>
          <p:nvPr/>
        </p:nvCxnSpPr>
        <p:spPr>
          <a:xfrm>
            <a:off x="1656272" y="2101936"/>
            <a:ext cx="97972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4DBC2E8-65C6-9A27-29CB-9740A66594D6}"/>
              </a:ext>
            </a:extLst>
          </p:cNvPr>
          <p:cNvCxnSpPr/>
          <p:nvPr/>
        </p:nvCxnSpPr>
        <p:spPr>
          <a:xfrm>
            <a:off x="1643205" y="3360330"/>
            <a:ext cx="49638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F3D87EF-3182-E89A-7373-D4FF1CA581AE}"/>
              </a:ext>
            </a:extLst>
          </p:cNvPr>
          <p:cNvCxnSpPr>
            <a:cxnSpLocks/>
          </p:cNvCxnSpPr>
          <p:nvPr/>
        </p:nvCxnSpPr>
        <p:spPr>
          <a:xfrm>
            <a:off x="1656261" y="3930744"/>
            <a:ext cx="89264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7E2E6E7-C9C4-6FE8-81AE-E673AA9CDC97}"/>
              </a:ext>
            </a:extLst>
          </p:cNvPr>
          <p:cNvCxnSpPr>
            <a:cxnSpLocks/>
          </p:cNvCxnSpPr>
          <p:nvPr/>
        </p:nvCxnSpPr>
        <p:spPr>
          <a:xfrm>
            <a:off x="9547523" y="4143532"/>
            <a:ext cx="63279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070FC5E-3D0C-F884-4B82-0D1698ECF485}"/>
              </a:ext>
            </a:extLst>
          </p:cNvPr>
          <p:cNvCxnSpPr>
            <a:cxnSpLocks/>
          </p:cNvCxnSpPr>
          <p:nvPr/>
        </p:nvCxnSpPr>
        <p:spPr>
          <a:xfrm>
            <a:off x="9699532" y="3375998"/>
            <a:ext cx="169998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E755AE3-1DB9-E323-A609-F6D5235A2788}"/>
              </a:ext>
            </a:extLst>
          </p:cNvPr>
          <p:cNvCxnSpPr>
            <a:cxnSpLocks/>
          </p:cNvCxnSpPr>
          <p:nvPr/>
        </p:nvCxnSpPr>
        <p:spPr>
          <a:xfrm>
            <a:off x="9695176" y="3493562"/>
            <a:ext cx="169998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CC5C5C4-3F9D-D617-5DE3-C4D5A2E9F029}"/>
              </a:ext>
            </a:extLst>
          </p:cNvPr>
          <p:cNvCxnSpPr>
            <a:cxnSpLocks/>
          </p:cNvCxnSpPr>
          <p:nvPr/>
        </p:nvCxnSpPr>
        <p:spPr>
          <a:xfrm>
            <a:off x="5118821" y="1294647"/>
            <a:ext cx="169998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9DD91CB-BCBB-9AA8-F8FB-BEB8F80D1EA2}"/>
              </a:ext>
            </a:extLst>
          </p:cNvPr>
          <p:cNvCxnSpPr>
            <a:cxnSpLocks/>
          </p:cNvCxnSpPr>
          <p:nvPr/>
        </p:nvCxnSpPr>
        <p:spPr>
          <a:xfrm>
            <a:off x="5741484" y="2195984"/>
            <a:ext cx="159113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FDF3A360-9FF7-E167-BE26-06841667ACFE}"/>
              </a:ext>
            </a:extLst>
          </p:cNvPr>
          <p:cNvCxnSpPr>
            <a:cxnSpLocks/>
          </p:cNvCxnSpPr>
          <p:nvPr/>
        </p:nvCxnSpPr>
        <p:spPr>
          <a:xfrm>
            <a:off x="6075433" y="3437709"/>
            <a:ext cx="12571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BBAB2B7-B0F9-34BD-5B2D-3A4E06F8FB06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42/109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9811357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D66022-1E33-A94F-5DBE-633FD1BEAFC9}"/>
              </a:ext>
            </a:extLst>
          </p:cNvPr>
          <p:cNvSpPr txBox="1"/>
          <p:nvPr/>
        </p:nvSpPr>
        <p:spPr>
          <a:xfrm>
            <a:off x="56358" y="17757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기타질문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6E73930-DD39-EA23-4101-7C1DD7AD9637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CEO</a:t>
            </a:r>
            <a:endParaRPr lang="ko-KR" altLang="en-US" sz="105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CF14D1-70EA-CEE4-841E-DC08233700C2}"/>
              </a:ext>
            </a:extLst>
          </p:cNvPr>
          <p:cNvSpPr txBox="1"/>
          <p:nvPr/>
        </p:nvSpPr>
        <p:spPr>
          <a:xfrm>
            <a:off x="52254" y="319117"/>
            <a:ext cx="11428712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just" latinLnBrk="1">
              <a:lnSpc>
                <a:spcPct val="120000"/>
              </a:lnSpc>
              <a:spcAft>
                <a:spcPts val="0"/>
              </a:spcAf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기타 질문 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업계 이슈 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2356E17-7A2E-1D83-0ABA-C1BAC4ABA8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86669"/>
              </p:ext>
            </p:extLst>
          </p:nvPr>
        </p:nvGraphicFramePr>
        <p:xfrm>
          <a:off x="170401" y="894606"/>
          <a:ext cx="11909757" cy="45565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2561">
                  <a:extLst>
                    <a:ext uri="{9D8B030D-6E8A-4147-A177-3AD203B41FA5}">
                      <a16:colId xmlns:a16="http://schemas.microsoft.com/office/drawing/2014/main" val="520437847"/>
                    </a:ext>
                  </a:extLst>
                </a:gridCol>
                <a:gridCol w="4120532">
                  <a:extLst>
                    <a:ext uri="{9D8B030D-6E8A-4147-A177-3AD203B41FA5}">
                      <a16:colId xmlns:a16="http://schemas.microsoft.com/office/drawing/2014/main" val="1650677874"/>
                    </a:ext>
                  </a:extLst>
                </a:gridCol>
                <a:gridCol w="6686664">
                  <a:extLst>
                    <a:ext uri="{9D8B030D-6E8A-4147-A177-3AD203B41FA5}">
                      <a16:colId xmlns:a16="http://schemas.microsoft.com/office/drawing/2014/main" val="2615130860"/>
                    </a:ext>
                  </a:extLst>
                </a:gridCol>
              </a:tblGrid>
              <a:tr h="3158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구 분</a:t>
                      </a:r>
                    </a:p>
                  </a:txBody>
                  <a:tcPr marL="48000" marR="48000" marT="48000" marB="4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예상 질문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답변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141071"/>
                  </a:ext>
                </a:extLst>
              </a:tr>
              <a:tr h="248194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데이터홈쇼핑</a:t>
                      </a:r>
                      <a:endParaRPr lang="en-US" altLang="ko-KR" sz="1100" b="1" dirty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라이브 허용</a:t>
                      </a:r>
                    </a:p>
                  </a:txBody>
                  <a:tcPr marL="0" marR="0" marT="48000" marB="4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데이터홈쇼핑의 영상영역 확대와 생방송 허용에 대해 어떻게 </a:t>
                      </a:r>
                      <a:endParaRPr lang="en-US" altLang="ko-KR" sz="11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생각하시나요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endParaRPr lang="en-US" altLang="ko-KR" sz="11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8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58800" algn="l"/>
                        </a:tabLst>
                        <a:defRPr/>
                      </a:pP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영상영역 확대 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現 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50%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미만 →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 50%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이상 확대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>
                        <a:lnSpc>
                          <a:spcPct val="13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100" b="1" u="sng" dirty="0">
                          <a:latin typeface="+mn-ea"/>
                          <a:ea typeface="+mn-ea"/>
                        </a:rPr>
                        <a:t>당사는 </a:t>
                      </a:r>
                      <a:r>
                        <a:rPr lang="ko-KR" altLang="en-US" sz="1100" b="1" u="sng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데이터영역</a:t>
                      </a:r>
                      <a:r>
                        <a:rPr lang="ko-KR" altLang="en-US" sz="1100" b="1" u="sng" dirty="0">
                          <a:latin typeface="+mn-ea"/>
                          <a:ea typeface="+mn-ea"/>
                        </a:rPr>
                        <a:t>이 </a:t>
                      </a:r>
                      <a:r>
                        <a:rPr lang="en-US" altLang="ko-KR" sz="1100" b="1" u="sng" dirty="0">
                          <a:latin typeface="+mn-ea"/>
                          <a:ea typeface="+mn-ea"/>
                        </a:rPr>
                        <a:t>TV</a:t>
                      </a:r>
                      <a:r>
                        <a:rPr lang="ko-KR" altLang="en-US" sz="1100" b="1" dirty="0" err="1">
                          <a:latin typeface="+mn-ea"/>
                          <a:ea typeface="+mn-ea"/>
                        </a:rPr>
                        <a:t>홈쇼핑는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 차별화된 고객 가치를 창출 할 수 있다고 생각하며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>
                        <a:lnSpc>
                          <a:spcPct val="130000"/>
                        </a:lnSpc>
                        <a:tabLst>
                          <a:tab pos="558800" algn="l"/>
                        </a:tabLst>
                      </a:pP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  그에 따라 </a:t>
                      </a:r>
                      <a:r>
                        <a:rPr lang="ko-KR" altLang="en-US" sz="1100" b="1" u="sng" dirty="0">
                          <a:latin typeface="+mn-ea"/>
                          <a:ea typeface="+mn-ea"/>
                        </a:rPr>
                        <a:t>많은 투자와 노력을 기울여 왔음</a:t>
                      </a:r>
                      <a:endParaRPr lang="en-US" altLang="ko-KR" sz="1100" b="1" u="sng" dirty="0">
                        <a:latin typeface="+mn-ea"/>
                        <a:ea typeface="+mn-ea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  <a:buFontTx/>
                        <a:buNone/>
                        <a:tabLst>
                          <a:tab pos="558800" algn="l"/>
                        </a:tabLst>
                      </a:pP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데이터영역의 매장 감소 및 투자 축소에 따른 중소기업 판로 감소 우려</a:t>
                      </a:r>
                      <a:endParaRPr lang="en-US" altLang="ko-KR" sz="1100" b="1" dirty="0"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3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데이터영역은 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'TV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홈쇼핑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과 차별되는 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데이터홈쇼핑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’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핵심 요소로 이를 활용해 성장 기회를 찾아야 함</a:t>
                      </a:r>
                      <a:endParaRPr lang="en-US" altLang="ko-KR" sz="1100" b="1" dirty="0">
                        <a:latin typeface="+mn-ea"/>
                        <a:ea typeface="+mn-ea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  <a:buFontTx/>
                        <a:buNone/>
                        <a:tabLst>
                          <a:tab pos="558800" algn="l"/>
                        </a:tabLst>
                      </a:pPr>
                      <a:endParaRPr lang="en-US" altLang="ko-KR" sz="1100" b="1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58800" algn="l"/>
                        </a:tabLst>
                        <a:defRPr/>
                      </a:pP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생방송 허용 관련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indent="0">
                        <a:lnSpc>
                          <a:spcPct val="130000"/>
                        </a:lnSpc>
                        <a:buFontTx/>
                        <a:buNone/>
                        <a:tabLst>
                          <a:tab pos="558800" algn="l"/>
                        </a:tabLst>
                      </a:pP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녹화방송은 </a:t>
                      </a:r>
                      <a:r>
                        <a:rPr lang="ko-KR" altLang="en-US" sz="1100" b="1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①적은 제작 비용</a:t>
                      </a:r>
                      <a:r>
                        <a:rPr lang="en-US" altLang="ko-KR" sz="1100" b="1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 ②</a:t>
                      </a:r>
                      <a:r>
                        <a:rPr lang="ko-KR" altLang="en-US" sz="1100" b="1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중소기업 생산규모에 맞게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분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, 20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분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, 40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분 등 프로그램 구성이</a:t>
                      </a:r>
                      <a:endParaRPr lang="en-US" altLang="ko-KR" sz="1100" b="1" dirty="0">
                        <a:latin typeface="+mn-ea"/>
                        <a:ea typeface="+mn-ea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  <a:buFontTx/>
                        <a:buNone/>
                        <a:tabLst>
                          <a:tab pos="558800" algn="l"/>
                        </a:tabLst>
                      </a:pP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  가능하기에 영세 중소기업 진입에 유리</a:t>
                      </a:r>
                      <a:endParaRPr lang="en-US" altLang="ko-KR" sz="1100" b="1" dirty="0"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3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생방송의 경우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매출은 늘어날 수 있으나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영세 중소기업에게 비용 부담이 될 수 있음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22683"/>
                  </a:ext>
                </a:extLst>
              </a:tr>
              <a:tr h="175870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데이터홈쇼핑</a:t>
                      </a:r>
                      <a:endParaRPr lang="en-US" altLang="ko-KR" sz="1100" b="1" dirty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신설</a:t>
                      </a:r>
                    </a:p>
                  </a:txBody>
                  <a:tcPr marL="0" marR="0" marT="48000" marB="4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중소기업 판로지원을 위한 데이터홈쇼핑 신설에 대해 </a:t>
                      </a:r>
                      <a:endParaRPr lang="en-US" altLang="ko-KR" sz="11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어떻게 생각하시나요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endParaRPr lang="ko-KR" altLang="en-US" sz="11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8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사업자로서 찬성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반대 여부를 말씀드리기 어려운 사안입니다만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중소기업 판로지원 측면에서 공감하고 있으나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①TV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시청률 하락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②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모바일커머스와의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경쟁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③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채널 확보 경쟁이 심한 상황에서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사업자 진입은 부담이 되는 것도 사실</a:t>
                      </a:r>
                      <a:endParaRPr lang="en-US" altLang="ko-KR" sz="1100" b="1" u="sng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신설에 대해 고민을 하실 때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홈쇼핑업계 전체 성장을 위한 </a:t>
                      </a:r>
                      <a:r>
                        <a:rPr lang="ko-KR" altLang="en-US" sz="1100" b="1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규제 완화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 같이 고려되었으면 함 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11860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161FB58-2133-FCBD-929F-23F6275C65F9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43/109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6618704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DBB3E-0DE8-54F3-71C6-30FA8F423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61C498-0C05-DCF9-99C5-4AF8A8F87C28}"/>
              </a:ext>
            </a:extLst>
          </p:cNvPr>
          <p:cNvSpPr txBox="1"/>
          <p:nvPr/>
        </p:nvSpPr>
        <p:spPr>
          <a:xfrm>
            <a:off x="56358" y="17757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기타질문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FA47F35-8C52-B3D7-1142-78071B566A9E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CEO</a:t>
            </a:r>
            <a:endParaRPr lang="ko-KR" altLang="en-US" sz="105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FA28E8-56C9-B91F-D45E-4DBAFFC5378C}"/>
              </a:ext>
            </a:extLst>
          </p:cNvPr>
          <p:cNvSpPr txBox="1"/>
          <p:nvPr/>
        </p:nvSpPr>
        <p:spPr>
          <a:xfrm>
            <a:off x="52254" y="319117"/>
            <a:ext cx="11428712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just" latinLnBrk="1">
              <a:lnSpc>
                <a:spcPct val="120000"/>
              </a:lnSpc>
              <a:spcAft>
                <a:spcPts val="0"/>
              </a:spcAf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기타 질문 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업계 이슈 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8D45DB0-0118-A2BE-3756-4F5E03FCC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294798"/>
              </p:ext>
            </p:extLst>
          </p:nvPr>
        </p:nvGraphicFramePr>
        <p:xfrm>
          <a:off x="170401" y="894605"/>
          <a:ext cx="11909757" cy="43653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2561">
                  <a:extLst>
                    <a:ext uri="{9D8B030D-6E8A-4147-A177-3AD203B41FA5}">
                      <a16:colId xmlns:a16="http://schemas.microsoft.com/office/drawing/2014/main" val="520437847"/>
                    </a:ext>
                  </a:extLst>
                </a:gridCol>
                <a:gridCol w="4120532">
                  <a:extLst>
                    <a:ext uri="{9D8B030D-6E8A-4147-A177-3AD203B41FA5}">
                      <a16:colId xmlns:a16="http://schemas.microsoft.com/office/drawing/2014/main" val="1650677874"/>
                    </a:ext>
                  </a:extLst>
                </a:gridCol>
                <a:gridCol w="6686664">
                  <a:extLst>
                    <a:ext uri="{9D8B030D-6E8A-4147-A177-3AD203B41FA5}">
                      <a16:colId xmlns:a16="http://schemas.microsoft.com/office/drawing/2014/main" val="2615130860"/>
                    </a:ext>
                  </a:extLst>
                </a:gridCol>
              </a:tblGrid>
              <a:tr h="2750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구 분</a:t>
                      </a:r>
                    </a:p>
                  </a:txBody>
                  <a:tcPr marL="48000" marR="48000" marT="48000" marB="4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예상 질문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답변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141071"/>
                  </a:ext>
                </a:extLst>
              </a:tr>
              <a:tr h="12118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재승인 폐지</a:t>
                      </a:r>
                    </a:p>
                  </a:txBody>
                  <a:tcPr marL="0" marR="0" marT="48000" marB="4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재승인 폐지에 대해 어떻게 생각하시나요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*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더불어민주당 한민수의원실에서 재승인 폐지 법안 발의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8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/>
                        <a:t>- </a:t>
                      </a:r>
                      <a:r>
                        <a:rPr lang="ko-KR" altLang="en-US" sz="1100" b="1" dirty="0"/>
                        <a:t>공공재인 방송을 </a:t>
                      </a:r>
                      <a:r>
                        <a:rPr lang="ko-KR" altLang="en-US" sz="1100" b="1"/>
                        <a:t>활용하는 만큼</a:t>
                      </a:r>
                      <a:r>
                        <a:rPr lang="en-US" altLang="ko-KR" sz="1100" b="1"/>
                        <a:t>,</a:t>
                      </a:r>
                    </a:p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/>
                        <a:t>  </a:t>
                      </a:r>
                      <a:r>
                        <a:rPr lang="ko-KR" altLang="en-US" sz="1100" b="1"/>
                        <a:t> </a:t>
                      </a:r>
                      <a:r>
                        <a:rPr lang="ko-KR" altLang="en-US" sz="1100" b="1" u="sng" dirty="0"/>
                        <a:t>재승인 과정에 대한 부담도 있지만</a:t>
                      </a:r>
                      <a:r>
                        <a:rPr lang="en-US" altLang="ko-KR" sz="1100" b="1" u="sng"/>
                        <a:t>, </a:t>
                      </a:r>
                      <a:r>
                        <a:rPr lang="ko-KR" altLang="en-US" sz="1100" b="1" u="sng"/>
                        <a:t>의미 </a:t>
                      </a:r>
                      <a:r>
                        <a:rPr lang="ko-KR" altLang="en-US" sz="1100" b="1" u="sng" dirty="0"/>
                        <a:t>있는 과정</a:t>
                      </a:r>
                      <a:r>
                        <a:rPr lang="ko-KR" altLang="en-US" sz="1100" b="1" dirty="0"/>
                        <a:t>이라고 생각함</a:t>
                      </a:r>
                      <a:endParaRPr lang="en-US" altLang="ko-KR" sz="1100" b="1" dirty="0"/>
                    </a:p>
                    <a:p>
                      <a:pPr marL="0" indent="0" latinLnBrk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재승인 폐지를 고민하시는 </a:t>
                      </a: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배경이 홈쇼핑 산업의 어려움을 고려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 것으로 알고 있음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홈쇼핑 산업이 </a:t>
                      </a:r>
                      <a:r>
                        <a:rPr lang="ko-KR" altLang="en-US" sz="11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 커머스</a:t>
                      </a:r>
                      <a:r>
                        <a:rPr lang="en-US" altLang="ko-KR" sz="11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라이브 커머스 등과 치열한 경쟁을 하고 있는 상황임을 고려하여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11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11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실질적인 규제완화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 되기를 희망함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166317"/>
                  </a:ext>
                </a:extLst>
              </a:tr>
              <a:tr h="12118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dirty="0" err="1">
                          <a:latin typeface="+mn-ea"/>
                          <a:ea typeface="+mn-ea"/>
                        </a:rPr>
                        <a:t>연번제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marL="0" marR="0" marT="48000" marB="4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1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연번제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시행에 대해 어떻게 생각하시나요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*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송출수수료 과열 방지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시청권 보호 위해 일정 번호대에서만 송출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예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홈쇼핑은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40~50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번대에서 송출 가능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8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100" b="1" spc="-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spc="-50" dirty="0">
                          <a:latin typeface="+mn-ea"/>
                          <a:ea typeface="+mn-ea"/>
                        </a:rPr>
                        <a:t>구체적인 </a:t>
                      </a:r>
                      <a:r>
                        <a:rPr lang="ko-KR" altLang="en-US" sz="1100" b="1" spc="-50" dirty="0" err="1">
                          <a:latin typeface="+mn-ea"/>
                          <a:ea typeface="+mn-ea"/>
                        </a:rPr>
                        <a:t>번호대</a:t>
                      </a:r>
                      <a:r>
                        <a:rPr lang="ko-KR" altLang="en-US" sz="1100" b="1" spc="-50" dirty="0">
                          <a:latin typeface="+mn-ea"/>
                          <a:ea typeface="+mn-ea"/>
                        </a:rPr>
                        <a:t> 등이 어떻게 </a:t>
                      </a:r>
                      <a:r>
                        <a:rPr lang="ko-KR" altLang="en-US" sz="1100" b="1" spc="-50" dirty="0" err="1">
                          <a:latin typeface="+mn-ea"/>
                          <a:ea typeface="+mn-ea"/>
                        </a:rPr>
                        <a:t>정해지느냐에</a:t>
                      </a:r>
                      <a:r>
                        <a:rPr lang="ko-KR" altLang="en-US" sz="1100" b="1" spc="-50" dirty="0">
                          <a:latin typeface="+mn-ea"/>
                          <a:ea typeface="+mn-ea"/>
                        </a:rPr>
                        <a:t> 따라 의견을 말씀드릴 수 있을 것 같으나</a:t>
                      </a:r>
                      <a:r>
                        <a:rPr lang="en-US" altLang="ko-KR" sz="1100" b="1" spc="-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>
                        <a:lnSpc>
                          <a:spcPct val="13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100" b="1" spc="-5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100" b="1" spc="-50" dirty="0">
                          <a:latin typeface="+mn-ea"/>
                          <a:ea typeface="+mn-ea"/>
                        </a:rPr>
                        <a:t>연번제는 송출수수료 과열 방지</a:t>
                      </a:r>
                      <a:r>
                        <a:rPr lang="en-US" altLang="ko-KR" sz="1100" b="1" spc="-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100" b="1" spc="-50" dirty="0">
                          <a:latin typeface="+mn-ea"/>
                          <a:ea typeface="+mn-ea"/>
                        </a:rPr>
                        <a:t> 시청자의 시청권 보호 등 긍정적 효과가 있지만</a:t>
                      </a:r>
                      <a:r>
                        <a:rPr lang="en-US" altLang="ko-KR" sz="1100" b="1" spc="-50" dirty="0"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>
                        <a:lnSpc>
                          <a:spcPct val="13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100" b="1" spc="-5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100" b="1" spc="-50" dirty="0">
                          <a:latin typeface="+mn-ea"/>
                          <a:ea typeface="+mn-ea"/>
                        </a:rPr>
                        <a:t>홈쇼핑 뿐만 아니라 </a:t>
                      </a:r>
                      <a:r>
                        <a:rPr lang="ko-KR" altLang="en-US" sz="1100" b="1" spc="-50" dirty="0" err="1">
                          <a:latin typeface="+mn-ea"/>
                          <a:ea typeface="+mn-ea"/>
                        </a:rPr>
                        <a:t>택배사</a:t>
                      </a:r>
                      <a:r>
                        <a:rPr lang="en-US" altLang="ko-KR" sz="1100" b="1" spc="-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spc="-50" dirty="0">
                          <a:latin typeface="+mn-ea"/>
                          <a:ea typeface="+mn-ea"/>
                        </a:rPr>
                        <a:t>콜센터</a:t>
                      </a:r>
                      <a:r>
                        <a:rPr lang="en-US" altLang="ko-KR" sz="1100" b="1" spc="-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spc="-50" dirty="0">
                          <a:latin typeface="+mn-ea"/>
                          <a:ea typeface="+mn-ea"/>
                        </a:rPr>
                        <a:t>플랫폼</a:t>
                      </a:r>
                      <a:r>
                        <a:rPr lang="en-US" altLang="ko-KR" sz="1100" b="1" spc="-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spc="-50" dirty="0">
                          <a:latin typeface="+mn-ea"/>
                          <a:ea typeface="+mn-ea"/>
                        </a:rPr>
                        <a:t>특히 중소기업 협력사의 매출과 고용에 상당한 </a:t>
                      </a:r>
                      <a:endParaRPr lang="en-US" altLang="ko-KR" sz="1100" b="1" spc="-50" dirty="0"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3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100" b="1" spc="-50" dirty="0"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1100" b="1" spc="-50" dirty="0">
                          <a:latin typeface="+mn-ea"/>
                          <a:ea typeface="+mn-ea"/>
                        </a:rPr>
                        <a:t>영향을 미칠 것으로 예상되기에</a:t>
                      </a:r>
                      <a:r>
                        <a:rPr lang="en-US" altLang="ko-KR" sz="1100" b="1" spc="-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100" b="1" spc="-50" dirty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1100" b="1" spc="-50" dirty="0"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3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100" b="1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100" b="1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많은 논의와 대안을 고민하고 </a:t>
                      </a:r>
                      <a:r>
                        <a:rPr lang="ko-KR" altLang="en-US" sz="1100" b="1" spc="-5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신중한 접근</a:t>
                      </a:r>
                      <a:r>
                        <a:rPr lang="ko-KR" altLang="en-US" sz="1100" b="1" spc="-50" dirty="0">
                          <a:latin typeface="+mn-ea"/>
                          <a:ea typeface="+mn-ea"/>
                        </a:rPr>
                        <a:t>이 필요하다고 생각함</a:t>
                      </a:r>
                      <a:endParaRPr lang="en-US" altLang="ko-KR" sz="1100" b="1" spc="-50" dirty="0">
                        <a:latin typeface="+mn-ea"/>
                        <a:ea typeface="+mn-ea"/>
                      </a:endParaRPr>
                    </a:p>
                  </a:txBody>
                  <a:tcPr marL="720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723593"/>
                  </a:ext>
                </a:extLst>
              </a:tr>
              <a:tr h="16665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연계편성</a:t>
                      </a:r>
                      <a:br>
                        <a:rPr lang="en-US" altLang="ko-KR" sz="11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11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추가</a:t>
                      </a:r>
                      <a:r>
                        <a:rPr lang="en-US" altLang="ko-KR" sz="11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48000" marB="4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Q.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연계편성에 대해서 어떻게 생각하시나요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8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tabLst>
                          <a:tab pos="558800" algn="l"/>
                        </a:tabLst>
                      </a:pPr>
                      <a:r>
                        <a:rPr lang="ko-KR" altLang="en-US" sz="1100" b="1" spc="-50" dirty="0">
                          <a:latin typeface="+mn-ea"/>
                          <a:ea typeface="+mn-ea"/>
                        </a:rPr>
                        <a:t>협력사는 드라마 </a:t>
                      </a:r>
                      <a:r>
                        <a:rPr lang="en-US" altLang="ko-KR" sz="1100" b="1" spc="-50" dirty="0">
                          <a:latin typeface="+mn-ea"/>
                          <a:ea typeface="+mn-ea"/>
                        </a:rPr>
                        <a:t>PPL, </a:t>
                      </a:r>
                      <a:r>
                        <a:rPr lang="ko-KR" altLang="en-US" sz="1100" b="1" spc="-50" dirty="0">
                          <a:latin typeface="+mn-ea"/>
                          <a:ea typeface="+mn-ea"/>
                        </a:rPr>
                        <a:t>유튜브 정보와 커머스 결합과 같은 마케팅 활동으로 활용하고 있으나</a:t>
                      </a:r>
                      <a:r>
                        <a:rPr lang="en-US" altLang="ko-KR" sz="1100" b="1" spc="-50" dirty="0"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>
                        <a:lnSpc>
                          <a:spcPct val="13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100" b="1" spc="-5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100" b="1" spc="-50" dirty="0">
                          <a:latin typeface="+mn-ea"/>
                          <a:ea typeface="+mn-ea"/>
                        </a:rPr>
                        <a:t>결과적으로 시청자가 정보와 광고를 혼동할 가능성에 대해서는 공감하고 있음</a:t>
                      </a:r>
                    </a:p>
                    <a:p>
                      <a:pPr>
                        <a:lnSpc>
                          <a:spcPct val="13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100" b="1" spc="-5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100" b="1" spc="-50" dirty="0">
                          <a:latin typeface="+mn-ea"/>
                          <a:ea typeface="+mn-ea"/>
                        </a:rPr>
                        <a:t>다만 ① 방송사 편성권과 홈쇼핑사의 편성권은 독립되어 있고</a:t>
                      </a:r>
                    </a:p>
                    <a:p>
                      <a:pPr>
                        <a:lnSpc>
                          <a:spcPct val="130000"/>
                        </a:lnSpc>
                        <a:tabLst>
                          <a:tab pos="558800" algn="l"/>
                        </a:tabLst>
                      </a:pPr>
                      <a:r>
                        <a:rPr lang="ko-KR" altLang="en-US" sz="1100" b="1" spc="-50" dirty="0">
                          <a:latin typeface="+mn-ea"/>
                          <a:ea typeface="+mn-ea"/>
                        </a:rPr>
                        <a:t>          ② 특히</a:t>
                      </a:r>
                      <a:r>
                        <a:rPr lang="en-US" altLang="ko-KR" sz="1100" b="1" spc="-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spc="-50" dirty="0">
                          <a:latin typeface="+mn-ea"/>
                          <a:ea typeface="+mn-ea"/>
                        </a:rPr>
                        <a:t>당사는 상품 선정</a:t>
                      </a:r>
                      <a:r>
                        <a:rPr lang="en-US" altLang="ko-KR" sz="1100" b="1" spc="-50" dirty="0">
                          <a:latin typeface="+mn-ea"/>
                          <a:ea typeface="+mn-ea"/>
                        </a:rPr>
                        <a:t>(MD)</a:t>
                      </a:r>
                      <a:r>
                        <a:rPr lang="ko-KR" altLang="en-US" sz="1100" b="1" spc="-50" dirty="0">
                          <a:latin typeface="+mn-ea"/>
                          <a:ea typeface="+mn-ea"/>
                        </a:rPr>
                        <a:t>과 방송 편성</a:t>
                      </a:r>
                      <a:r>
                        <a:rPr lang="en-US" altLang="ko-KR" sz="1100" b="1" spc="-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spc="-50" dirty="0">
                          <a:latin typeface="+mn-ea"/>
                          <a:ea typeface="+mn-ea"/>
                        </a:rPr>
                        <a:t>편성기획팀</a:t>
                      </a:r>
                      <a:r>
                        <a:rPr lang="en-US" altLang="ko-KR" sz="1100" b="1" spc="-5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100" b="1" spc="-50" dirty="0">
                          <a:latin typeface="+mn-ea"/>
                          <a:ea typeface="+mn-ea"/>
                        </a:rPr>
                        <a:t>을 조직적으로 분리하고 있어</a:t>
                      </a:r>
                    </a:p>
                    <a:p>
                      <a:pPr>
                        <a:lnSpc>
                          <a:spcPct val="130000"/>
                        </a:lnSpc>
                        <a:tabLst>
                          <a:tab pos="558800" algn="l"/>
                        </a:tabLst>
                      </a:pPr>
                      <a:r>
                        <a:rPr lang="ko-KR" altLang="en-US" sz="1100" b="1" spc="-50" dirty="0">
                          <a:latin typeface="+mn-ea"/>
                          <a:ea typeface="+mn-ea"/>
                        </a:rPr>
                        <a:t>              관여할 수 없는 구조</a:t>
                      </a:r>
                    </a:p>
                    <a:p>
                      <a:pPr>
                        <a:lnSpc>
                          <a:spcPct val="13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100" b="1" spc="-5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100" b="1" spc="-50" dirty="0">
                          <a:latin typeface="+mn-ea"/>
                          <a:ea typeface="+mn-ea"/>
                        </a:rPr>
                        <a:t>상품 기능과 효능에 대해 사전 심의를 강화하고</a:t>
                      </a:r>
                      <a:r>
                        <a:rPr lang="en-US" altLang="ko-KR" sz="1100" b="1" spc="-50" dirty="0"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>
                        <a:lnSpc>
                          <a:spcPct val="13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100" b="1" spc="-50" dirty="0"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1100" b="1" spc="-50" dirty="0">
                          <a:latin typeface="+mn-ea"/>
                          <a:ea typeface="+mn-ea"/>
                        </a:rPr>
                        <a:t>과장</a:t>
                      </a:r>
                      <a:r>
                        <a:rPr lang="en-US" altLang="ko-KR" sz="1100" b="1" spc="-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spc="-50" dirty="0">
                          <a:latin typeface="+mn-ea"/>
                          <a:ea typeface="+mn-ea"/>
                        </a:rPr>
                        <a:t>오인이 없는 정확한 정보 제공을 하여 시청자가 합리적인 판단을 할 수 있도록 하겠음</a:t>
                      </a:r>
                      <a:endParaRPr lang="en-US" altLang="ko-KR" sz="1100" b="1" spc="-50" dirty="0">
                        <a:latin typeface="+mn-ea"/>
                        <a:ea typeface="+mn-ea"/>
                      </a:endParaRPr>
                    </a:p>
                  </a:txBody>
                  <a:tcPr marL="720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1218732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2C3811F1-B273-9150-A516-DEEEB29E0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588" y="5376997"/>
            <a:ext cx="2664686" cy="1352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ACC9C952-CE21-2280-C843-15A77BDB1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566" y="4429505"/>
            <a:ext cx="3789128" cy="424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F304D23-0525-3E3D-8659-2AC479631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566" y="4039007"/>
            <a:ext cx="1390484" cy="315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2FE99AA-4549-66D1-588E-E813BCA3B2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318" y="5402848"/>
            <a:ext cx="2462176" cy="136135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6433B65-CC0C-7CE2-6DA2-7475D03CF3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7052" y="5402848"/>
            <a:ext cx="2429151" cy="13613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98A836-1B99-8753-A885-51CDD25B9E61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44/109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9859315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2EB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4000" b="1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4000" b="1" dirty="0">
                <a:solidFill>
                  <a:schemeClr val="tx1"/>
                </a:solidFill>
                <a:latin typeface="+mn-ea"/>
              </a:rPr>
              <a:t>장</a:t>
            </a:r>
            <a:r>
              <a:rPr lang="en-US" altLang="ko-KR" sz="4000" b="1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4000" b="1" dirty="0">
                <a:solidFill>
                  <a:schemeClr val="tx1"/>
                </a:solidFill>
                <a:latin typeface="+mn-ea"/>
              </a:rPr>
              <a:t>방송의 공적책임 등</a:t>
            </a:r>
            <a:endParaRPr lang="en-US" altLang="ko-KR" sz="40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6605935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D0CD7-D054-3149-1782-00709D0C1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A1722EA2-1C68-38C4-9697-8103BC405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54" y="1462749"/>
            <a:ext cx="4987924" cy="26853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A17483-4B87-DCD7-9756-B5C6F9FEA0F4}"/>
              </a:ext>
            </a:extLst>
          </p:cNvPr>
          <p:cNvSpPr txBox="1"/>
          <p:nvPr/>
        </p:nvSpPr>
        <p:spPr>
          <a:xfrm>
            <a:off x="67631" y="21294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2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공익사업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C9BF2C5-F9CD-E5EC-E416-CB6B77BACC18}"/>
              </a:ext>
            </a:extLst>
          </p:cNvPr>
          <p:cNvSpPr/>
          <p:nvPr/>
        </p:nvSpPr>
        <p:spPr>
          <a:xfrm>
            <a:off x="5848297" y="1190697"/>
            <a:ext cx="6140172" cy="544187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80E89A3-D775-4F57-7757-323BC1F062FF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>
                <a:solidFill>
                  <a:schemeClr val="tx2">
                    <a:lumMod val="75000"/>
                  </a:schemeClr>
                </a:solidFill>
                <a:latin typeface="+mn-ea"/>
              </a:rPr>
              <a:t>CEO</a:t>
            </a:r>
            <a:endParaRPr lang="ko-KR" altLang="en-US" sz="105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13C160-EF3C-ADB9-1E4E-459DADA0F1E3}"/>
              </a:ext>
            </a:extLst>
          </p:cNvPr>
          <p:cNvSpPr txBox="1"/>
          <p:nvPr/>
        </p:nvSpPr>
        <p:spPr>
          <a:xfrm>
            <a:off x="53268" y="336562"/>
            <a:ext cx="11146640" cy="724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사회환원 금액이 실적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법인 영업이익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합병 이후 규모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대비 계획이 낮은데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더 확대할 계획은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 </a:t>
            </a:r>
          </a:p>
          <a:p>
            <a:pPr algn="just">
              <a:lnSpc>
                <a:spcPct val="120000"/>
              </a:lnSpc>
            </a:pP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   소비자 분야 지원을 타 분야 대비 너무 적게 하는 것 아닌가요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D0F6211D-F986-1A61-29A5-1E612F2BE19E}"/>
              </a:ext>
            </a:extLst>
          </p:cNvPr>
          <p:cNvGraphicFramePr>
            <a:graphicFrameLocks noGrp="1"/>
          </p:cNvGraphicFramePr>
          <p:nvPr/>
        </p:nvGraphicFramePr>
        <p:xfrm>
          <a:off x="257322" y="5795595"/>
          <a:ext cx="5393596" cy="83214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53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925">
                  <a:extLst>
                    <a:ext uri="{9D8B030D-6E8A-4147-A177-3AD203B41FA5}">
                      <a16:colId xmlns:a16="http://schemas.microsoft.com/office/drawing/2014/main" val="2955035312"/>
                    </a:ext>
                  </a:extLst>
                </a:gridCol>
                <a:gridCol w="847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7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7925">
                  <a:extLst>
                    <a:ext uri="{9D8B030D-6E8A-4147-A177-3AD203B41FA5}">
                      <a16:colId xmlns:a16="http://schemas.microsoft.com/office/drawing/2014/main" val="2498453021"/>
                    </a:ext>
                  </a:extLst>
                </a:gridCol>
              </a:tblGrid>
              <a:tr h="179788">
                <a:tc>
                  <a:txBody>
                    <a:bodyPr/>
                    <a:lstStyle/>
                    <a:p>
                      <a:pPr marL="0" indent="0" algn="ctr" defTabSz="1339728" rtl="0" eaLnBrk="1" latinLnBrk="1" hangingPunct="1">
                        <a:buFontTx/>
                        <a:buNone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롯데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CJ ENM</a:t>
                      </a:r>
                      <a:endParaRPr lang="ko-KR" altLang="en-US" sz="10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NS</a:t>
                      </a:r>
                      <a:endParaRPr lang="ko-KR" altLang="en-US" sz="10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현대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BGF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리테일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884">
                <a:tc>
                  <a:txBody>
                    <a:bodyPr/>
                    <a:lstStyle/>
                    <a:p>
                      <a:pPr marL="0" indent="0" algn="ctr" defTabSz="1339728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연간 공익사업</a:t>
                      </a:r>
                      <a:endParaRPr lang="en-US" altLang="ko-KR" sz="10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55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28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22.5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235">
                <a:tc>
                  <a:txBody>
                    <a:bodyPr/>
                    <a:lstStyle/>
                    <a:p>
                      <a:pPr marL="0" indent="0" algn="ctr" defTabSz="1339728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이익 사회환원율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7.9%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3.8%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2.2%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1.0%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577209"/>
                  </a:ext>
                </a:extLst>
              </a:tr>
              <a:tr h="205235">
                <a:tc>
                  <a:txBody>
                    <a:bodyPr/>
                    <a:lstStyle/>
                    <a:p>
                      <a:pPr marL="0" indent="0" algn="ctr" defTabSz="1339728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24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영업이익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504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1,759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531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1,301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2,516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332143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33701B5D-5865-BD1A-3AD9-89B979D4C11B}"/>
              </a:ext>
            </a:extLst>
          </p:cNvPr>
          <p:cNvSpPr txBox="1"/>
          <p:nvPr/>
        </p:nvSpPr>
        <p:spPr>
          <a:xfrm>
            <a:off x="203531" y="5517575"/>
            <a:ext cx="26349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spc="-50" dirty="0">
                <a:latin typeface="+mn-ea"/>
              </a:rPr>
              <a:t>※</a:t>
            </a:r>
            <a:r>
              <a:rPr lang="ko-KR" altLang="en-US" sz="1000" b="1" dirty="0">
                <a:latin typeface="+mn-ea"/>
              </a:rPr>
              <a:t> 업계 현황 </a:t>
            </a:r>
            <a:r>
              <a:rPr lang="en-US" altLang="ko-KR" sz="1000" dirty="0">
                <a:latin typeface="+mn-ea"/>
              </a:rPr>
              <a:t>(’25</a:t>
            </a:r>
            <a:r>
              <a:rPr lang="ko-KR" altLang="en-US" sz="1000" dirty="0">
                <a:latin typeface="+mn-ea"/>
              </a:rPr>
              <a:t>년 공시 기준</a:t>
            </a:r>
            <a:r>
              <a:rPr lang="en-US" altLang="ko-KR" sz="1000" dirty="0">
                <a:latin typeface="+mn-ea"/>
              </a:rPr>
              <a:t>)</a:t>
            </a:r>
            <a:r>
              <a:rPr lang="ko-KR" altLang="en-US" sz="1000" dirty="0">
                <a:latin typeface="+mn-ea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C6C921-E326-4B19-BA2F-8F0F8E56B5D3}"/>
              </a:ext>
            </a:extLst>
          </p:cNvPr>
          <p:cNvSpPr txBox="1"/>
          <p:nvPr/>
        </p:nvSpPr>
        <p:spPr>
          <a:xfrm>
            <a:off x="5846556" y="1216568"/>
            <a:ext cx="6189176" cy="5533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실적 대비 낮은 계획인 이유</a:t>
            </a:r>
            <a:r>
              <a:rPr lang="en-US" altLang="ko-KR" sz="1000" dirty="0">
                <a:latin typeface="+mn-ea"/>
              </a:rPr>
              <a:t>)</a:t>
            </a: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①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영업이익 대비 사회환원율 </a:t>
            </a:r>
            <a:r>
              <a:rPr lang="ko-KR" altLang="en-US" sz="1200" b="1" dirty="0">
                <a:latin typeface="+mn-ea"/>
              </a:rPr>
              <a:t>실적과 유사한 수준으로 수립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② </a:t>
            </a:r>
            <a:r>
              <a:rPr lang="ko-KR" altLang="en-US" sz="1200" b="1" dirty="0" err="1">
                <a:latin typeface="+mn-ea"/>
              </a:rPr>
              <a:t>소외계층∙지역사회</a:t>
            </a:r>
            <a:r>
              <a:rPr lang="ko-KR" altLang="en-US" sz="1200" b="1" dirty="0">
                <a:latin typeface="+mn-ea"/>
              </a:rPr>
              <a:t> 공익사업은 확대할 예정이나</a:t>
            </a:r>
            <a:r>
              <a:rPr lang="en-US" altLang="ko-KR" sz="1200" b="1" dirty="0">
                <a:latin typeface="+mn-ea"/>
              </a:rPr>
              <a:t>, </a:t>
            </a: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</a:t>
            </a:r>
            <a:r>
              <a:rPr lang="ko-KR" altLang="en-US" sz="1200" b="1" dirty="0">
                <a:latin typeface="+mn-ea"/>
              </a:rPr>
              <a:t>방송발전분야 신기술 연구 사업</a:t>
            </a:r>
            <a:r>
              <a:rPr lang="en-US" altLang="ko-KR" sz="1000" dirty="0">
                <a:latin typeface="+mn-ea"/>
              </a:rPr>
              <a:t>(1.5</a:t>
            </a:r>
            <a:r>
              <a:rPr lang="ko-KR" altLang="en-US" sz="1000" dirty="0">
                <a:latin typeface="+mn-ea"/>
              </a:rPr>
              <a:t>억원</a:t>
            </a:r>
            <a:r>
              <a:rPr lang="en-US" altLang="ko-KR" sz="1000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이 종료되고 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합병으로 인한</a:t>
            </a:r>
            <a:r>
              <a:rPr lang="en-US" altLang="ko-KR" sz="1000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일부 중복사업 조정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000" dirty="0">
                <a:latin typeface="+mn-ea"/>
              </a:rPr>
              <a:t>     ※ </a:t>
            </a:r>
            <a:r>
              <a:rPr lang="ko-KR" altLang="en-US" sz="1000" dirty="0">
                <a:latin typeface="+mn-ea"/>
              </a:rPr>
              <a:t>소외계층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지역사회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실적 </a:t>
            </a:r>
            <a:r>
              <a:rPr lang="en-US" altLang="ko-KR" sz="1000" dirty="0">
                <a:latin typeface="+mn-ea"/>
              </a:rPr>
              <a:t>25</a:t>
            </a:r>
            <a:r>
              <a:rPr lang="ko-KR" altLang="en-US" sz="1000" dirty="0">
                <a:latin typeface="+mn-ea"/>
              </a:rPr>
              <a:t>억원 → 계획 </a:t>
            </a:r>
            <a:r>
              <a:rPr lang="en-US" altLang="ko-KR" sz="1000" dirty="0">
                <a:latin typeface="+mn-ea"/>
              </a:rPr>
              <a:t>27</a:t>
            </a:r>
            <a:r>
              <a:rPr lang="ko-KR" altLang="en-US" sz="1000" dirty="0">
                <a:latin typeface="+mn-ea"/>
              </a:rPr>
              <a:t>억원 </a:t>
            </a:r>
            <a:r>
              <a:rPr lang="en-US" altLang="ko-KR" sz="1000" dirty="0">
                <a:latin typeface="+mn-ea"/>
              </a:rPr>
              <a:t>/ </a:t>
            </a:r>
            <a:r>
              <a:rPr lang="ko-KR" altLang="en-US" sz="1000" dirty="0">
                <a:latin typeface="+mn-ea"/>
              </a:rPr>
              <a:t>방송발전 공익사업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실적 </a:t>
            </a:r>
            <a:r>
              <a:rPr lang="en-US" altLang="ko-KR" sz="1000" dirty="0">
                <a:latin typeface="+mn-ea"/>
              </a:rPr>
              <a:t>9</a:t>
            </a:r>
            <a:r>
              <a:rPr lang="ko-KR" altLang="en-US" sz="1000" dirty="0">
                <a:latin typeface="+mn-ea"/>
              </a:rPr>
              <a:t>억원 → 계획</a:t>
            </a:r>
            <a:r>
              <a:rPr lang="en-US" altLang="ko-KR" sz="1000" dirty="0">
                <a:latin typeface="+mn-ea"/>
              </a:rPr>
              <a:t>5</a:t>
            </a:r>
            <a:r>
              <a:rPr lang="ko-KR" altLang="en-US" sz="1000" dirty="0">
                <a:latin typeface="+mn-ea"/>
              </a:rPr>
              <a:t>억원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endParaRPr lang="en-US" altLang="ko-KR" sz="8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향후 사회환원 방향</a:t>
            </a:r>
            <a:r>
              <a:rPr lang="en-US" altLang="ko-KR" sz="1000" dirty="0">
                <a:latin typeface="+mn-ea"/>
              </a:rPr>
              <a:t>)   </a:t>
            </a: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①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영업실적 변화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경영환경 변화에 따라 적극적인 사회환원을 실행하겠음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② (</a:t>
            </a:r>
            <a:r>
              <a:rPr lang="ko-KR" altLang="en-US" sz="1200" b="1" dirty="0">
                <a:latin typeface="+mn-ea"/>
              </a:rPr>
              <a:t>단순 금액 기부 형태가 아니라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u="sng" dirty="0">
                <a:latin typeface="+mn-ea"/>
              </a:rPr>
              <a:t>사회복지사가 직접 프로그램은 만들어서 </a:t>
            </a:r>
            <a:r>
              <a:rPr lang="ko-KR" altLang="en-US" sz="1200" b="1" dirty="0">
                <a:latin typeface="+mn-ea"/>
              </a:rPr>
              <a:t>운영하며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</a:t>
            </a:r>
            <a:r>
              <a:rPr lang="ko-KR" altLang="en-US" sz="1200" b="1" dirty="0">
                <a:latin typeface="+mn-ea"/>
              </a:rPr>
              <a:t>단기적 효과보다는 </a:t>
            </a:r>
            <a:r>
              <a:rPr lang="en-US" altLang="ko-KR" sz="1200" b="1" u="sng" dirty="0">
                <a:latin typeface="+mn-ea"/>
              </a:rPr>
              <a:t>10</a:t>
            </a:r>
            <a:r>
              <a:rPr lang="ko-KR" altLang="en-US" sz="1200" b="1" u="sng" dirty="0">
                <a:latin typeface="+mn-ea"/>
              </a:rPr>
              <a:t>년 이상 장기적으로</a:t>
            </a:r>
            <a:r>
              <a:rPr lang="ko-KR" altLang="en-US" sz="1200" b="1" dirty="0">
                <a:latin typeface="+mn-ea"/>
              </a:rPr>
              <a:t> 사업 수행 예정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③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사업계획서에 기재된 사회환원 금액 외에</a:t>
            </a:r>
            <a:r>
              <a:rPr lang="en-US" altLang="ko-KR" sz="1200" b="1" dirty="0">
                <a:latin typeface="+mn-ea"/>
              </a:rPr>
              <a:t>,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금액으로 </a:t>
            </a:r>
            <a:r>
              <a:rPr lang="ko-KR" altLang="en-US" sz="1000" dirty="0" err="1">
                <a:latin typeface="+mn-ea"/>
              </a:rPr>
              <a:t>수치화할</a:t>
            </a:r>
            <a:r>
              <a:rPr lang="ko-KR" altLang="en-US" sz="1000" dirty="0">
                <a:latin typeface="+mn-ea"/>
              </a:rPr>
              <a:t> 수 없는</a:t>
            </a:r>
            <a:r>
              <a:rPr lang="en-US" altLang="ko-KR" sz="1000" dirty="0">
                <a:latin typeface="+mn-ea"/>
              </a:rPr>
              <a:t>)</a:t>
            </a:r>
            <a:endParaRPr lang="en-US" altLang="ko-KR" sz="10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   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임직원들의 봉사 참여</a:t>
            </a:r>
            <a:r>
              <a:rPr lang="ko-KR" altLang="en-US" sz="1200" b="1" dirty="0">
                <a:latin typeface="+mn-ea"/>
              </a:rPr>
              <a:t>와</a:t>
            </a:r>
            <a:r>
              <a:rPr lang="en-US" altLang="ko-KR" sz="1000" dirty="0">
                <a:latin typeface="+mn-ea"/>
              </a:rPr>
              <a:t>(7</a:t>
            </a:r>
            <a:r>
              <a:rPr lang="ko-KR" altLang="en-US" sz="1000" dirty="0">
                <a:latin typeface="+mn-ea"/>
              </a:rPr>
              <a:t>천여명의 임직원이 연간 </a:t>
            </a:r>
            <a:r>
              <a:rPr lang="en-US" altLang="ko-KR" sz="1000" dirty="0">
                <a:latin typeface="+mn-ea"/>
              </a:rPr>
              <a:t>5</a:t>
            </a:r>
            <a:r>
              <a:rPr lang="ko-KR" altLang="en-US" sz="1000" dirty="0">
                <a:latin typeface="+mn-ea"/>
              </a:rPr>
              <a:t>천 시간 이상 자발적으로 참여 중</a:t>
            </a:r>
            <a:r>
              <a:rPr lang="en-US" altLang="ko-KR" sz="1000" dirty="0">
                <a:latin typeface="+mn-ea"/>
              </a:rPr>
              <a:t>)</a:t>
            </a: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000" dirty="0">
                <a:latin typeface="+mn-ea"/>
              </a:rPr>
              <a:t>     (</a:t>
            </a:r>
            <a:r>
              <a:rPr lang="ko-KR" altLang="en-US" sz="1000" dirty="0">
                <a:latin typeface="+mn-ea"/>
              </a:rPr>
              <a:t>공공재인 방송을 통해 영업을 하는 홈쇼핑의 영향으로 합병 이후 편의점 부문까지 공익사업 확대</a:t>
            </a:r>
            <a:r>
              <a:rPr lang="en-US" altLang="ko-KR" sz="1000" dirty="0">
                <a:latin typeface="+mn-ea"/>
              </a:rPr>
              <a:t>)</a:t>
            </a: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    소외계층과 시니어 일자리 창출을 위한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공익 목적의 점포 운영</a:t>
            </a:r>
            <a:r>
              <a:rPr lang="ko-KR" altLang="en-US" sz="1200" b="1" dirty="0">
                <a:latin typeface="+mn-ea"/>
              </a:rPr>
              <a:t>을 통해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전국 </a:t>
            </a:r>
            <a:r>
              <a:rPr lang="en-US" altLang="ko-KR" sz="1000" dirty="0">
                <a:latin typeface="+mn-ea"/>
              </a:rPr>
              <a:t>238</a:t>
            </a:r>
            <a:r>
              <a:rPr lang="ko-KR" altLang="en-US" sz="1000" dirty="0">
                <a:latin typeface="+mn-ea"/>
              </a:rPr>
              <a:t>개</a:t>
            </a:r>
            <a:r>
              <a:rPr lang="en-US" altLang="ko-KR" sz="1000" dirty="0">
                <a:latin typeface="+mn-ea"/>
              </a:rPr>
              <a:t>)</a:t>
            </a: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</a:t>
            </a:r>
            <a:r>
              <a:rPr lang="ko-KR" altLang="en-US" sz="1200" b="1" dirty="0">
                <a:latin typeface="+mn-ea"/>
              </a:rPr>
              <a:t>사회에 기여해 가겠음</a:t>
            </a:r>
            <a:endParaRPr lang="en-US" altLang="ko-KR" sz="1200" b="1" dirty="0">
              <a:latin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58800" algn="l"/>
              </a:tabLst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보충설명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 </a:t>
            </a:r>
            <a:r>
              <a:rPr lang="ko-KR" altLang="en-US" sz="1200" b="1" dirty="0">
                <a:latin typeface="+mn-ea"/>
              </a:rPr>
              <a:t>영이어린이집 등 봉사 참여했던 실제 경험담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endParaRPr lang="en-US" altLang="ko-KR" sz="8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소비자분야 지원 대응 논리</a:t>
            </a:r>
            <a:r>
              <a:rPr lang="en-US" altLang="ko-KR" sz="1000" dirty="0">
                <a:latin typeface="+mn-ea"/>
              </a:rPr>
              <a:t>)</a:t>
            </a: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①</a:t>
            </a:r>
            <a:r>
              <a:rPr lang="ko-KR" altLang="en-US" sz="1200" b="1" dirty="0">
                <a:latin typeface="+mn-ea"/>
              </a:rPr>
              <a:t> 당사는 고객 신뢰 확보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유지를 위해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소비자 분야 인재 육성</a:t>
            </a:r>
            <a:r>
              <a:rPr lang="ko-KR" altLang="en-US" sz="1200" b="1" dirty="0">
                <a:latin typeface="+mn-ea"/>
              </a:rPr>
              <a:t>이 중요하다고 생각함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</a:t>
            </a:r>
            <a:r>
              <a:rPr lang="ko-KR" altLang="en-US" sz="1200" b="1" dirty="0">
                <a:latin typeface="+mn-ea"/>
              </a:rPr>
              <a:t>소비자학 전문가 육성을 위한 </a:t>
            </a:r>
            <a:r>
              <a:rPr lang="en-US" altLang="ko-KR" sz="1200" b="1" dirty="0">
                <a:latin typeface="+mn-ea"/>
              </a:rPr>
              <a:t>‘GS SHOP </a:t>
            </a:r>
            <a:r>
              <a:rPr lang="ko-KR" altLang="en-US" sz="1200" b="1" dirty="0">
                <a:latin typeface="+mn-ea"/>
              </a:rPr>
              <a:t>소비자 리더 장학금</a:t>
            </a:r>
            <a:r>
              <a:rPr lang="en-US" altLang="ko-KR" sz="1200" b="1" dirty="0">
                <a:latin typeface="+mn-ea"/>
              </a:rPr>
              <a:t>’</a:t>
            </a:r>
            <a:r>
              <a:rPr lang="ko-KR" altLang="en-US" sz="1200" b="1" dirty="0">
                <a:latin typeface="+mn-ea"/>
              </a:rPr>
              <a:t> 사업을 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17</a:t>
            </a:r>
            <a:r>
              <a:rPr lang="ko-KR" altLang="en-US" sz="1200" b="1" dirty="0">
                <a:latin typeface="+mn-ea"/>
              </a:rPr>
              <a:t>년간 </a:t>
            </a:r>
            <a:r>
              <a:rPr lang="en-US" altLang="ko-KR" sz="1200" b="1" dirty="0">
                <a:latin typeface="+mn-ea"/>
              </a:rPr>
              <a:t>12</a:t>
            </a:r>
            <a:r>
              <a:rPr lang="ko-KR" altLang="en-US" sz="1200" b="1" dirty="0">
                <a:latin typeface="+mn-ea"/>
              </a:rPr>
              <a:t>억원 집행해 왔음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 → </a:t>
            </a:r>
            <a:r>
              <a:rPr lang="ko-KR" altLang="en-US" sz="1200" b="1" dirty="0">
                <a:latin typeface="+mn-ea"/>
              </a:rPr>
              <a:t>현재까지 </a:t>
            </a:r>
            <a:r>
              <a:rPr lang="en-US" altLang="ko-KR" sz="1200" b="1" dirty="0">
                <a:latin typeface="+mn-ea"/>
              </a:rPr>
              <a:t>800</a:t>
            </a:r>
            <a:r>
              <a:rPr lang="ko-KR" altLang="en-US" sz="1200" b="1" dirty="0">
                <a:latin typeface="+mn-ea"/>
              </a:rPr>
              <a:t>여명 지원하여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그분들이 소비자단체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학계에서 전문가로 활동 중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EB397A9-8C9E-1325-5B3A-B0648C24DDDF}"/>
              </a:ext>
            </a:extLst>
          </p:cNvPr>
          <p:cNvSpPr/>
          <p:nvPr/>
        </p:nvSpPr>
        <p:spPr>
          <a:xfrm>
            <a:off x="982768" y="3202311"/>
            <a:ext cx="4165374" cy="16729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35EE8B69-BDC9-7029-A418-D8DCBFDC4801}"/>
              </a:ext>
            </a:extLst>
          </p:cNvPr>
          <p:cNvSpPr/>
          <p:nvPr/>
        </p:nvSpPr>
        <p:spPr>
          <a:xfrm>
            <a:off x="4998559" y="2350435"/>
            <a:ext cx="463437" cy="2907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0C03E8-31BD-C4A1-95E0-2E7870065994}"/>
              </a:ext>
            </a:extLst>
          </p:cNvPr>
          <p:cNvSpPr txBox="1"/>
          <p:nvPr/>
        </p:nvSpPr>
        <p:spPr>
          <a:xfrm>
            <a:off x="133850" y="1125032"/>
            <a:ext cx="5256125" cy="288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ko-KR" altLang="en-US" sz="1100" b="1" dirty="0">
                <a:latin typeface="+mn-ea"/>
              </a:rPr>
              <a:t>사업계획서</a:t>
            </a:r>
            <a:r>
              <a:rPr lang="en-US" altLang="ko-KR" sz="1100" b="1" dirty="0">
                <a:latin typeface="+mn-ea"/>
              </a:rPr>
              <a:t>p.19)</a:t>
            </a:r>
            <a:r>
              <a:rPr lang="ko-KR" altLang="en-US" sz="1100" b="1" dirty="0">
                <a:latin typeface="+mn-ea"/>
              </a:rPr>
              <a:t>영업이익의 사회환원 실적 및 계획</a:t>
            </a:r>
            <a:endParaRPr lang="en-US" altLang="ko-KR" sz="1100" b="1" dirty="0">
              <a:solidFill>
                <a:srgbClr val="0000FF"/>
              </a:solidFill>
              <a:latin typeface="+mn-ea"/>
            </a:endParaRPr>
          </a:p>
        </p:txBody>
      </p:sp>
      <p:pic>
        <p:nvPicPr>
          <p:cNvPr id="14" name="그림 1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96C2FA-3FAA-B0EF-7AFC-BC8D1736D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55" y="4313561"/>
            <a:ext cx="4987924" cy="1000594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55D1E99F-039A-2CD9-22E0-D5AFD409582C}"/>
              </a:ext>
            </a:extLst>
          </p:cNvPr>
          <p:cNvSpPr/>
          <p:nvPr/>
        </p:nvSpPr>
        <p:spPr>
          <a:xfrm>
            <a:off x="4962478" y="4644245"/>
            <a:ext cx="463437" cy="2907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C000"/>
              </a:solidFill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BA74597-846A-DD36-F19B-188A4F808F89}"/>
              </a:ext>
            </a:extLst>
          </p:cNvPr>
          <p:cNvCxnSpPr>
            <a:cxnSpLocks/>
            <a:stCxn id="3" idx="4"/>
            <a:endCxn id="6" idx="0"/>
          </p:cNvCxnSpPr>
          <p:nvPr/>
        </p:nvCxnSpPr>
        <p:spPr>
          <a:xfrm flipH="1">
            <a:off x="5194197" y="2641178"/>
            <a:ext cx="36081" cy="2003067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95AC129F-9D91-C3DD-84A5-0BCE9E935AFC}"/>
              </a:ext>
            </a:extLst>
          </p:cNvPr>
          <p:cNvCxnSpPr/>
          <p:nvPr/>
        </p:nvCxnSpPr>
        <p:spPr>
          <a:xfrm>
            <a:off x="4687563" y="2204877"/>
            <a:ext cx="30975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FC713F2-AF01-51C2-15D3-508974CEB885}"/>
              </a:ext>
            </a:extLst>
          </p:cNvPr>
          <p:cNvCxnSpPr/>
          <p:nvPr/>
        </p:nvCxnSpPr>
        <p:spPr>
          <a:xfrm>
            <a:off x="4700619" y="2557579"/>
            <a:ext cx="30975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EC216FF-85AD-6F91-8B60-84AD58BC7FCC}"/>
              </a:ext>
            </a:extLst>
          </p:cNvPr>
          <p:cNvSpPr txBox="1"/>
          <p:nvPr/>
        </p:nvSpPr>
        <p:spPr>
          <a:xfrm>
            <a:off x="275058" y="1393519"/>
            <a:ext cx="5502601" cy="25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en-US" altLang="ko-KR" sz="1000" b="1" dirty="0">
                <a:latin typeface="+mn-ea"/>
              </a:rPr>
              <a:t>- </a:t>
            </a:r>
            <a:r>
              <a:rPr lang="ko-KR" altLang="en-US" sz="1000" b="1" dirty="0">
                <a:latin typeface="+mn-ea"/>
              </a:rPr>
              <a:t>실적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DA0F0F-A92C-4F39-356E-5B3753EA2994}"/>
              </a:ext>
            </a:extLst>
          </p:cNvPr>
          <p:cNvSpPr txBox="1"/>
          <p:nvPr/>
        </p:nvSpPr>
        <p:spPr>
          <a:xfrm>
            <a:off x="257322" y="4179920"/>
            <a:ext cx="5502601" cy="25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en-US" altLang="ko-KR" sz="1000" b="1" dirty="0">
                <a:latin typeface="+mn-ea"/>
              </a:rPr>
              <a:t>- </a:t>
            </a:r>
            <a:r>
              <a:rPr lang="ko-KR" altLang="en-US" sz="1000" b="1" dirty="0">
                <a:latin typeface="+mn-ea"/>
              </a:rPr>
              <a:t>계획</a:t>
            </a:r>
            <a:endParaRPr lang="en-US" altLang="ko-KR" sz="1000" b="1" dirty="0">
              <a:latin typeface="+mn-ea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600F488-69AA-E181-205D-089237C56D13}"/>
              </a:ext>
            </a:extLst>
          </p:cNvPr>
          <p:cNvCxnSpPr>
            <a:cxnSpLocks/>
          </p:cNvCxnSpPr>
          <p:nvPr/>
        </p:nvCxnSpPr>
        <p:spPr>
          <a:xfrm>
            <a:off x="2177143" y="2734491"/>
            <a:ext cx="2899954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CCAB1C7-B950-568E-44CA-47CA2A8C6BAE}"/>
              </a:ext>
            </a:extLst>
          </p:cNvPr>
          <p:cNvCxnSpPr>
            <a:cxnSpLocks/>
          </p:cNvCxnSpPr>
          <p:nvPr/>
        </p:nvCxnSpPr>
        <p:spPr>
          <a:xfrm>
            <a:off x="1421836" y="5174122"/>
            <a:ext cx="3790401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BEFA89D-5572-8D03-61C5-62F3EF813E88}"/>
              </a:ext>
            </a:extLst>
          </p:cNvPr>
          <p:cNvSpPr/>
          <p:nvPr/>
        </p:nvSpPr>
        <p:spPr>
          <a:xfrm>
            <a:off x="11262835" y="723714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CFO</a:t>
            </a:r>
            <a:endParaRPr lang="ko-KR" altLang="en-US" sz="105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1254DE-4BE9-A88F-AA40-3041F63AF855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45/109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6310493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334" y="84393"/>
            <a:ext cx="8819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공익사업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방송발전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선정 기준 및 절차</a:t>
            </a:r>
            <a:endParaRPr lang="en-US" altLang="ko-KR" sz="10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22" name="표 21"/>
          <p:cNvGraphicFramePr>
            <a:graphicFrameLocks noGrp="1"/>
          </p:cNvGraphicFramePr>
          <p:nvPr/>
        </p:nvGraphicFramePr>
        <p:xfrm>
          <a:off x="407989" y="692150"/>
          <a:ext cx="7382699" cy="3570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7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55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355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① 제안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just" latinLnBrk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공익 전문기관의 자발적 제안 또는 당사 요청에 따른 복수 기관 제안 방식</a:t>
                      </a:r>
                      <a:endParaRPr lang="ko-KR" altLang="en-US" sz="1000" b="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55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② </a:t>
                      </a:r>
                      <a:r>
                        <a:rPr lang="en-US" altLang="ko-KR" sz="1000" b="1" spc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spc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사전</a:t>
                      </a:r>
                      <a:r>
                        <a:rPr lang="en-US" altLang="ko-KR" sz="1000" b="1" spc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="1" spc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컴플라이언스팀 검증</a:t>
                      </a:r>
                      <a:endParaRPr lang="ko-KR" altLang="en-US" sz="1000" b="1" spc="0" dirty="0">
                        <a:solidFill>
                          <a:srgbClr val="1919E5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just" latinLnBrk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차 집행부서의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공익성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타당성 검증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08000" indent="-108000" algn="just" latinLnBrk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차 컴플라이언스팀의 적정성 심사</a:t>
                      </a:r>
                      <a:endParaRPr lang="ko-KR" altLang="en-US" sz="1000" b="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55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③ </a:t>
                      </a:r>
                      <a:r>
                        <a:rPr lang="en-US" altLang="ko-KR" sz="1000" b="1" spc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spc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사전</a:t>
                      </a:r>
                      <a:r>
                        <a:rPr lang="en-US" altLang="ko-KR" sz="1000" b="1" spc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="1" spc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사회공헌심의위원회 심의</a:t>
                      </a:r>
                      <a:endParaRPr lang="ko-KR" altLang="en-US" sz="1000" b="1" spc="0" dirty="0">
                        <a:solidFill>
                          <a:srgbClr val="1919E5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just" latinLnBrk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안건 상정 및 심의 </a:t>
                      </a:r>
                      <a:r>
                        <a:rPr lang="en-US" altLang="ko-KR" sz="1000" b="1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외부전문가 변호사 </a:t>
                      </a:r>
                      <a:r>
                        <a:rPr lang="en-US" altLang="ko-KR" sz="1000" b="1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1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참여</a:t>
                      </a:r>
                      <a:r>
                        <a:rPr lang="en-US" altLang="ko-KR" sz="1000" b="1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55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④ 내부 품의</a:t>
                      </a:r>
                      <a:endParaRPr lang="ko-KR" altLang="en-US" sz="1000" b="1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just" latinLnBrk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집행부서 </a:t>
                      </a:r>
                      <a:r>
                        <a:rPr lang="ko-KR" altLang="en-US" sz="1000" b="0" kern="120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본부장</a:t>
                      </a:r>
                      <a:r>
                        <a:rPr lang="en-US" altLang="ko-KR" sz="1000" b="0" kern="120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합의권자는</a:t>
                      </a:r>
                      <a:r>
                        <a:rPr lang="ko-KR" altLang="en-US" sz="1000" b="0" kern="120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사회공헌심의위원회 위원장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55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⑤ </a:t>
                      </a:r>
                      <a:r>
                        <a:rPr lang="en-US" altLang="ko-KR" sz="1000" b="1" spc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spc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사전</a:t>
                      </a:r>
                      <a:r>
                        <a:rPr lang="en-US" altLang="ko-KR" sz="1000" b="1" spc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="1" spc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준법확인서 수령 </a:t>
                      </a:r>
                      <a:endParaRPr lang="ko-KR" altLang="en-US" sz="1000" b="1" spc="0" dirty="0">
                        <a:solidFill>
                          <a:srgbClr val="1919E5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just" latinLnBrk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위탁한 전문기관 공익 목적 사용 및 준법 서약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55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⑥ 사업 진행</a:t>
                      </a:r>
                      <a:r>
                        <a:rPr lang="en-US" altLang="ko-KR" sz="1000" b="1" spc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spc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대상자 선정</a:t>
                      </a:r>
                      <a:endParaRPr lang="ko-KR" altLang="en-US" sz="1000" b="1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indent="-108000" algn="just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위탁한 전문기관에서 객관적 절차에 따라 선정</a:t>
                      </a:r>
                      <a:endParaRPr lang="en-US" altLang="ko-KR" sz="1000" b="0" kern="1200" spc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355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⑦ 사업 결과 확인</a:t>
                      </a:r>
                      <a:endParaRPr lang="ko-KR" altLang="en-US" sz="1000" b="1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just" latinLnBrk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 보고서를 제출 받아 집행부서 확인</a:t>
                      </a:r>
                      <a:endParaRPr lang="ko-KR" altLang="en-US" sz="1000" b="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355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⑧ </a:t>
                      </a:r>
                      <a:r>
                        <a:rPr lang="en-US" altLang="ko-KR" sz="1000" b="1" spc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spc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사후</a:t>
                      </a:r>
                      <a:r>
                        <a:rPr lang="en-US" altLang="ko-KR" sz="1000" b="1" spc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="1" spc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사회공헌심의위원회 보고</a:t>
                      </a:r>
                      <a:endParaRPr lang="ko-KR" altLang="en-US" sz="1000" b="1" spc="0" dirty="0">
                        <a:solidFill>
                          <a:srgbClr val="1919E5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just" latinLnBrk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사업 결과 보고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079860"/>
              </p:ext>
            </p:extLst>
          </p:nvPr>
        </p:nvGraphicFramePr>
        <p:xfrm>
          <a:off x="407988" y="4699528"/>
          <a:ext cx="11412537" cy="1833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9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8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8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0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위탁 전문기관</a:t>
                      </a:r>
                      <a:endParaRPr lang="ko-KR" altLang="en-US" sz="10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개별 사업 집행 절차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사업 선정 배경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974">
                <a:tc>
                  <a:txBody>
                    <a:bodyPr/>
                    <a:lstStyle/>
                    <a:p>
                      <a:pPr marL="0" indent="0" algn="just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① 무지개 상자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기아대책</a:t>
                      </a:r>
                      <a:endParaRPr lang="ko-KR" altLang="en-US" sz="1000" b="0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just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1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공모</a:t>
                      </a:r>
                      <a:r>
                        <a:rPr lang="ko-KR" altLang="en-US" sz="1000" b="0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→ 접수 → 선정위원회 → 지역아동 센터 선정</a:t>
                      </a:r>
                      <a:r>
                        <a:rPr lang="en-US" altLang="ko-KR" sz="1000" b="0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→ </a:t>
                      </a:r>
                      <a:r>
                        <a:rPr lang="ko-KR" altLang="en-US" sz="1000" b="0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선정된 센터 지원</a:t>
                      </a:r>
                      <a:endParaRPr lang="ko-KR" altLang="en-US" sz="1000" b="0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0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아동복지 사업</a:t>
                      </a:r>
                      <a:r>
                        <a:rPr lang="en-US" altLang="ko-KR" sz="10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(05</a:t>
                      </a:r>
                      <a:r>
                        <a:rPr lang="ko-KR" altLang="en-US" sz="10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년부터</a:t>
                      </a:r>
                      <a:r>
                        <a:rPr lang="en-US" altLang="ko-KR" sz="10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745">
                <a:tc>
                  <a:txBody>
                    <a:bodyPr/>
                    <a:lstStyle/>
                    <a:p>
                      <a:pPr marL="0" indent="0" algn="just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strike="noStrike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② 백혈병소아암 환자 지원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 strike="noStrike" kern="1200" spc="-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백혈병소아암협회</a:t>
                      </a:r>
                      <a:endParaRPr lang="ko-KR" altLang="en-US" sz="1000" b="0" strike="noStrike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strike="noStrike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서류신청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서류심사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중위소득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150%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이하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→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심의위원회 심의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(5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개 병원 심의위원회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→ 선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정</a:t>
                      </a:r>
                      <a:endParaRPr lang="ko-KR" altLang="en-US" sz="1000" b="0" strike="noStrike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strike="noStrike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b="0" strike="noStrike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치료비 지원 사업</a:t>
                      </a:r>
                      <a:r>
                        <a:rPr lang="en-US" altLang="ko-KR" sz="1000" b="0" strike="noStrike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(25</a:t>
                      </a:r>
                      <a:r>
                        <a:rPr lang="ko-KR" altLang="en-US" sz="1000" b="0" strike="noStrike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년부터</a:t>
                      </a:r>
                      <a:r>
                        <a:rPr lang="en-US" altLang="ko-KR" sz="1000" b="0" strike="noStrike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0" strike="noStrike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17">
                <a:tc>
                  <a:txBody>
                    <a:bodyPr/>
                    <a:lstStyle/>
                    <a:p>
                      <a:pPr marL="0" indent="0" algn="just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③ 영등포구청 장학금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기아대책 </a:t>
                      </a:r>
                      <a:r>
                        <a:rPr lang="en-US" altLang="ko-KR" sz="100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영등포구청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just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1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영등포구청에서 대상자 추천</a:t>
                      </a:r>
                      <a:r>
                        <a:rPr lang="ko-KR" altLang="en-US" sz="1000" b="0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중위소득 </a:t>
                      </a:r>
                      <a:r>
                        <a:rPr lang="en-US" altLang="ko-KR" sz="1000" b="0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100% </a:t>
                      </a:r>
                      <a:r>
                        <a:rPr lang="ko-KR" altLang="en-US" sz="1000" b="0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이하</a:t>
                      </a:r>
                      <a:r>
                        <a:rPr lang="en-US" altLang="ko-KR" sz="100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→ </a:t>
                      </a:r>
                      <a:r>
                        <a:rPr lang="ko-KR" altLang="en-US" sz="1000" b="0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기아대책 선정위원회 → 선정</a:t>
                      </a:r>
                      <a:endParaRPr lang="ko-KR" altLang="en-US" sz="1000" b="0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영등포 지역사회 기여</a:t>
                      </a:r>
                      <a:r>
                        <a:rPr lang="en-US" altLang="ko-KR" sz="10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(07</a:t>
                      </a:r>
                      <a:r>
                        <a:rPr lang="ko-KR" altLang="en-US" sz="10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년부터</a:t>
                      </a:r>
                      <a:r>
                        <a:rPr lang="en-US" altLang="ko-KR" sz="10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017">
                <a:tc>
                  <a:txBody>
                    <a:bodyPr/>
                    <a:lstStyle/>
                    <a:p>
                      <a:pPr marL="0" indent="0" algn="just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④ 소비자리더 장학금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 kern="1200" spc="-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한국소비자정책교육학회</a:t>
                      </a:r>
                      <a:endParaRPr lang="ko-KR" altLang="en-US" sz="1000" b="0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just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1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공모</a:t>
                      </a:r>
                      <a:r>
                        <a:rPr lang="ko-KR" altLang="en-US" sz="1000" b="0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→ </a:t>
                      </a:r>
                      <a:r>
                        <a:rPr lang="ko-KR" altLang="en-US" sz="1000" b="0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장학위원회 </a:t>
                      </a:r>
                      <a:r>
                        <a:rPr lang="en-US" altLang="ko-KR" sz="1000" b="0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→ 정량적 기준에 </a:t>
                      </a:r>
                      <a:r>
                        <a:rPr lang="ko-KR" altLang="en-US" sz="1000" b="0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의한 심사 → 선정 결과 </a:t>
                      </a:r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발표 </a:t>
                      </a:r>
                      <a:r>
                        <a:rPr lang="ko-KR" altLang="en-US" sz="1000" b="0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공개 </a:t>
                      </a:r>
                      <a:endParaRPr lang="ko-KR" altLang="en-US" sz="1000" b="0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소비자 권익보호</a:t>
                      </a:r>
                      <a:r>
                        <a:rPr lang="en-US" altLang="ko-KR" sz="10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(05</a:t>
                      </a:r>
                      <a:r>
                        <a:rPr lang="ko-KR" altLang="en-US" sz="10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년부터</a:t>
                      </a:r>
                      <a:r>
                        <a:rPr lang="en-US" altLang="ko-KR" sz="10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974">
                <a:tc>
                  <a:txBody>
                    <a:bodyPr/>
                    <a:lstStyle/>
                    <a:p>
                      <a:pPr marL="0" indent="0" algn="just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⑤ 시간강사 지원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한국방송학회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just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1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공모</a:t>
                      </a:r>
                      <a:r>
                        <a:rPr lang="ko-KR" altLang="en-US" sz="1000" b="0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→ 접수 → 선정위원회 → 정량적 </a:t>
                      </a:r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기준에 의한 심사 </a:t>
                      </a:r>
                      <a:r>
                        <a:rPr lang="ko-KR" altLang="en-US" sz="1000" b="0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→ 선정 결과 </a:t>
                      </a:r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발표 공개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방송발전 지원</a:t>
                      </a:r>
                      <a:r>
                        <a:rPr lang="en-US" altLang="ko-KR" sz="10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(17</a:t>
                      </a:r>
                      <a:r>
                        <a:rPr lang="ko-KR" altLang="en-US" sz="10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년부터</a:t>
                      </a:r>
                      <a:r>
                        <a:rPr lang="en-US" altLang="ko-KR" sz="10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C9421ABE-8620-5891-7BBA-388A54D0A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206" y="2455841"/>
            <a:ext cx="1540221" cy="14978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9C39DA-ADA4-3106-7409-82D5A58132F6}"/>
              </a:ext>
            </a:extLst>
          </p:cNvPr>
          <p:cNvSpPr txBox="1"/>
          <p:nvPr/>
        </p:nvSpPr>
        <p:spPr>
          <a:xfrm>
            <a:off x="7901292" y="692150"/>
            <a:ext cx="3919233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(p.31)</a:t>
            </a:r>
            <a:r>
              <a:rPr lang="ko-KR" altLang="en-US" sz="1100" b="1" dirty="0">
                <a:latin typeface="+mn-ea"/>
              </a:rPr>
              <a:t>소비자분야 지원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ko-KR" altLang="en-US" sz="1100" b="1" dirty="0">
                <a:latin typeface="+mn-ea"/>
              </a:rPr>
              <a:t>소비자리더장학금</a:t>
            </a:r>
            <a:r>
              <a:rPr lang="en-US" altLang="ko-KR" sz="1100" b="1" dirty="0">
                <a:latin typeface="+mn-ea"/>
              </a:rPr>
              <a:t>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5E3F00A-748F-744D-EE9B-870181130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206" y="1015952"/>
            <a:ext cx="3726970" cy="139154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04A4699-1EF2-4D5B-5312-C0E7FF7980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6326" y="2464402"/>
            <a:ext cx="2403471" cy="15677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003158-AD48-148C-05F2-681EBF22E1A8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46/109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8952653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26A6F-0F07-3AE2-8D3A-DFC2EF60C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89CE422-27C9-BEC7-218F-2A704DBE4496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편성책임자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DC069-536F-7A5F-9D65-C013C95F018B}"/>
              </a:ext>
            </a:extLst>
          </p:cNvPr>
          <p:cNvSpPr txBox="1"/>
          <p:nvPr/>
        </p:nvSpPr>
        <p:spPr>
          <a:xfrm>
            <a:off x="65067" y="9048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2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시청자위원회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A76FFE-7D6F-6ABE-D806-2D69A8709846}"/>
              </a:ext>
            </a:extLst>
          </p:cNvPr>
          <p:cNvSpPr txBox="1"/>
          <p:nvPr/>
        </p:nvSpPr>
        <p:spPr>
          <a:xfrm>
            <a:off x="60963" y="318330"/>
            <a:ext cx="10337074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just" latinLnBrk="1">
              <a:lnSpc>
                <a:spcPct val="120000"/>
              </a:lnSpc>
              <a:spcAft>
                <a:spcPts val="0"/>
              </a:spcAf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시청자위원회 관련 질문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(p.40)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3493683-2D07-5F02-1151-8D39C17985E3}"/>
              </a:ext>
            </a:extLst>
          </p:cNvPr>
          <p:cNvGraphicFramePr>
            <a:graphicFrameLocks noGrp="1"/>
          </p:cNvGraphicFramePr>
          <p:nvPr/>
        </p:nvGraphicFramePr>
        <p:xfrm>
          <a:off x="287730" y="913390"/>
          <a:ext cx="11616540" cy="52955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85415">
                  <a:extLst>
                    <a:ext uri="{9D8B030D-6E8A-4147-A177-3AD203B41FA5}">
                      <a16:colId xmlns:a16="http://schemas.microsoft.com/office/drawing/2014/main" val="1650677874"/>
                    </a:ext>
                  </a:extLst>
                </a:gridCol>
                <a:gridCol w="6631125">
                  <a:extLst>
                    <a:ext uri="{9D8B030D-6E8A-4147-A177-3AD203B41FA5}">
                      <a16:colId xmlns:a16="http://schemas.microsoft.com/office/drawing/2014/main" val="2615130860"/>
                    </a:ext>
                  </a:extLst>
                </a:gridCol>
              </a:tblGrid>
              <a:tr h="2796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예상 질문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답변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141071"/>
                  </a:ext>
                </a:extLst>
              </a:tr>
              <a:tr h="14282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Q.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시청자위원회 위원은 어떤 분야 중심으로 어떻게 선정하고 있나요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 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800" marR="48000" marT="48000" marB="48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dirty="0"/>
                        <a:t>A.</a:t>
                      </a:r>
                      <a:r>
                        <a:rPr lang="ko-KR" altLang="en-US" sz="1100" b="1" dirty="0"/>
                        <a:t> 시청자위원회는 </a:t>
                      </a:r>
                      <a:r>
                        <a:rPr lang="ko-KR" altLang="en-US" sz="1100" b="1" dirty="0">
                          <a:solidFill>
                            <a:srgbClr val="0000FF"/>
                          </a:solidFill>
                        </a:rPr>
                        <a:t>다양한 분야</a:t>
                      </a:r>
                      <a:r>
                        <a:rPr lang="ko-KR" altLang="en-US" sz="1100" b="1" dirty="0"/>
                        <a:t>의 균형 있는 구성을 위해 </a:t>
                      </a:r>
                      <a:endParaRPr lang="en-US" altLang="ko-KR" sz="11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dirty="0"/>
                        <a:t>    </a:t>
                      </a:r>
                      <a:r>
                        <a:rPr lang="ko-KR" altLang="en-US" sz="1100" b="1" u="sng" dirty="0"/>
                        <a:t>특정 분야 위원이 </a:t>
                      </a:r>
                      <a:r>
                        <a:rPr lang="en-US" altLang="ko-KR" sz="1100" b="1" u="sng" dirty="0"/>
                        <a:t>2</a:t>
                      </a:r>
                      <a:r>
                        <a:rPr lang="ko-KR" altLang="en-US" sz="1100" b="1" u="sng" dirty="0"/>
                        <a:t>인을 초과하지 않도록 내부 규정</a:t>
                      </a:r>
                      <a:r>
                        <a:rPr lang="ko-KR" altLang="en-US" sz="1100" b="1" dirty="0"/>
                        <a:t>으로 운영</a:t>
                      </a:r>
                      <a:r>
                        <a:rPr lang="ko-KR" altLang="en-US" sz="1100" b="1" dirty="0">
                          <a:latin typeface="+mn-ea"/>
                        </a:rPr>
                        <a:t>   </a:t>
                      </a:r>
                      <a:r>
                        <a:rPr lang="en-US" altLang="ko-KR" sz="1100" b="1" baseline="0" dirty="0">
                          <a:latin typeface="+mn-ea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latin typeface="+mn-ea"/>
                        </a:rPr>
                        <a:t>    </a:t>
                      </a:r>
                      <a:r>
                        <a:rPr lang="ko-KR" altLang="en-US" sz="1100" b="1" baseline="0" dirty="0">
                          <a:latin typeface="+mn-ea"/>
                        </a:rPr>
                        <a:t>시청자위원 선정은 외부 </a:t>
                      </a:r>
                      <a:r>
                        <a:rPr lang="ko-KR" altLang="en-US" sz="1100" b="1" u="none" baseline="0" dirty="0">
                          <a:solidFill>
                            <a:srgbClr val="0000FF"/>
                          </a:solidFill>
                          <a:latin typeface="+mn-ea"/>
                        </a:rPr>
                        <a:t>공개 모집 형식이며</a:t>
                      </a:r>
                      <a:r>
                        <a:rPr lang="en-US" altLang="ko-KR" sz="1100" b="1" u="none" baseline="0" dirty="0">
                          <a:solidFill>
                            <a:srgbClr val="0000FF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1100" b="1" u="none" baseline="0" dirty="0">
                          <a:solidFill>
                            <a:srgbClr val="0000FF"/>
                          </a:solidFill>
                          <a:latin typeface="+mn-ea"/>
                        </a:rPr>
                        <a:t>선정위원회를 통하여</a:t>
                      </a:r>
                      <a:r>
                        <a:rPr lang="ko-KR" altLang="en-US" sz="1100" b="1" u="none" baseline="0" dirty="0">
                          <a:latin typeface="+mn-ea"/>
                        </a:rPr>
                        <a:t> </a:t>
                      </a:r>
                      <a:r>
                        <a:rPr lang="ko-KR" altLang="en-US" sz="1100" b="1" baseline="0" dirty="0">
                          <a:latin typeface="+mn-ea"/>
                        </a:rPr>
                        <a:t>선정의 객관성을 유지하고 있음</a:t>
                      </a:r>
                      <a:endParaRPr lang="en-US" altLang="ko-KR" sz="1100" b="1" baseline="0" dirty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500" b="1" baseline="0" dirty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※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위원 구성 현황</a:t>
                      </a:r>
                      <a:endParaRPr lang="en-US" altLang="ko-KR" sz="10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-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분야별 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</a:t>
                      </a:r>
                      <a:r>
                        <a:rPr lang="en-US" altLang="ko-KR" sz="10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</a:t>
                      </a:r>
                      <a:r>
                        <a:rPr lang="en-US" altLang="ko-KR" sz="10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유통 </a:t>
                      </a:r>
                      <a:r>
                        <a:rPr lang="en-US" altLang="ko-KR" sz="10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</a:t>
                      </a:r>
                      <a:r>
                        <a:rPr lang="en-US" altLang="ko-KR" sz="10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소비자 </a:t>
                      </a:r>
                      <a:r>
                        <a:rPr lang="en-US" altLang="ko-KR" sz="10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</a:t>
                      </a:r>
                      <a:r>
                        <a:rPr lang="en-US" altLang="ko-KR" sz="10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변호사 </a:t>
                      </a:r>
                      <a:r>
                        <a:rPr lang="en-US" altLang="ko-KR" sz="10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</a:t>
                      </a:r>
                      <a:r>
                        <a:rPr lang="en-US" altLang="ko-KR" sz="10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학부모 </a:t>
                      </a:r>
                      <a:r>
                        <a:rPr lang="en-US" altLang="ko-KR" sz="10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</a:t>
                      </a:r>
                      <a:r>
                        <a:rPr lang="en-US" altLang="ko-KR" sz="10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소외계층 </a:t>
                      </a:r>
                      <a:r>
                        <a:rPr lang="en-US" altLang="ko-KR" sz="10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-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성별 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남성 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여성 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</a:t>
                      </a:r>
                      <a:endParaRPr lang="en-US" altLang="ko-KR" sz="10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-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지역별 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서울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경기 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지역 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</a:t>
                      </a:r>
                      <a:endParaRPr lang="en-US" altLang="ko-KR" sz="10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500" b="1" baseline="0" dirty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baseline="0" dirty="0">
                          <a:latin typeface="+mn-ea"/>
                        </a:rPr>
                        <a:t>    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시청자위원회 선정위원회 구성 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(6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-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위원장 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사업지원부문장</a:t>
                      </a:r>
                      <a:endParaRPr lang="en-US" altLang="ko-KR" sz="10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-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위원 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준법지원인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컴플라이언스팀장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),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법무팀장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심의팀장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CX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팀장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방송사업지원팀장</a:t>
                      </a:r>
                      <a:endParaRPr lang="en-US" altLang="ko-KR" sz="10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8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136880"/>
                  </a:ext>
                </a:extLst>
              </a:tr>
              <a:tr h="975827">
                <a:tc>
                  <a:txBody>
                    <a:bodyPr/>
                    <a:lstStyle/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Q.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시청자위원회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운영에 따른 효과가 있나요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800" marR="48000" marT="48000" marB="48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+mn-ea"/>
                        </a:rPr>
                        <a:t>A. 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+mn-ea"/>
                        </a:rPr>
                        <a:t>방송심의 관련 안건 중심으로 운영 중으로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100" b="1" u="none" dirty="0">
                          <a:solidFill>
                            <a:srgbClr val="0000FF"/>
                          </a:solidFill>
                          <a:latin typeface="+mn-ea"/>
                        </a:rPr>
                        <a:t>다양한 관점의 의견을 청취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+mn-ea"/>
                        </a:rPr>
                        <a:t>할 수 있는 기회라고 생각</a:t>
                      </a:r>
                      <a:endParaRPr lang="en-US" altLang="ko-KR" sz="1100" b="1" u="none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+mn-ea"/>
                        </a:rPr>
                        <a:t>    수렴된 의견을 지속적으로 개선에 반영한 결과</a:t>
                      </a: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+mn-ea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+mn-ea"/>
                        </a:rPr>
                        <a:t>    데이터홈쇼핑 </a:t>
                      </a: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latin typeface="+mn-ea"/>
                        </a:rPr>
                        <a:t>심의 제재 감소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+mn-ea"/>
                        </a:rPr>
                        <a:t> 등 실질적인 효과로 이어지고 있음</a:t>
                      </a:r>
                      <a:endParaRPr lang="en-US" altLang="ko-KR" sz="1100" b="1" u="none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3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※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데이터홈쇼핑 심의 법정제재 감소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16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~20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경고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2)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21~25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건으로 감소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8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215538"/>
                  </a:ext>
                </a:extLst>
              </a:tr>
              <a:tr h="9344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Q.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시청자위원회에는 회사 경영진이 참석하고 있나요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 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800" marR="48000" marT="48000" marB="48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latin typeface="+mn-ea"/>
                        </a:rPr>
                        <a:t>A. </a:t>
                      </a:r>
                      <a:r>
                        <a:rPr lang="ko-KR" altLang="en-US" sz="1100" b="1" dirty="0">
                          <a:latin typeface="+mn-ea"/>
                        </a:rPr>
                        <a:t>시청자위원회는 </a:t>
                      </a:r>
                      <a:r>
                        <a:rPr lang="ko-KR" altLang="en-US" sz="1100" b="1" u="sng" dirty="0">
                          <a:latin typeface="+mn-ea"/>
                        </a:rPr>
                        <a:t>시청자 권익보호와 공공성</a:t>
                      </a:r>
                      <a:r>
                        <a:rPr lang="ko-KR" altLang="en-US" sz="1100" b="1" dirty="0">
                          <a:latin typeface="+mn-ea"/>
                        </a:rPr>
                        <a:t> 관련 개선 의견을 많이 주시기에</a:t>
                      </a:r>
                      <a:r>
                        <a:rPr lang="en-US" altLang="ko-KR" sz="1100" b="1" dirty="0">
                          <a:latin typeface="+mn-ea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u="none" dirty="0">
                          <a:latin typeface="+mn-ea"/>
                        </a:rPr>
                        <a:t> </a:t>
                      </a:r>
                      <a:r>
                        <a:rPr lang="ko-KR" altLang="en-US" sz="1100" b="1" u="none" dirty="0">
                          <a:solidFill>
                            <a:srgbClr val="FF0000"/>
                          </a:solidFill>
                          <a:latin typeface="+mn-ea"/>
                        </a:rPr>
                        <a:t>   </a:t>
                      </a: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latin typeface="+mn-ea"/>
                        </a:rPr>
                        <a:t>시청자 권익 및 </a:t>
                      </a:r>
                      <a:r>
                        <a:rPr lang="ko-KR" altLang="en-US" sz="1100" b="1" u="sng" dirty="0">
                          <a:solidFill>
                            <a:srgbClr val="0000FF"/>
                          </a:solidFill>
                          <a:latin typeface="+mn-ea"/>
                        </a:rPr>
                        <a:t>심의를 총괄하는 담당 임원</a:t>
                      </a:r>
                      <a:r>
                        <a:rPr lang="en-US" altLang="ko-KR" sz="1100" b="1" dirty="0">
                          <a:latin typeface="+mn-ea"/>
                        </a:rPr>
                        <a:t>(</a:t>
                      </a:r>
                      <a:r>
                        <a:rPr lang="ko-KR" altLang="en-US" sz="1100" b="1" dirty="0" err="1">
                          <a:latin typeface="+mn-ea"/>
                        </a:rPr>
                        <a:t>허남준</a:t>
                      </a:r>
                      <a:r>
                        <a:rPr lang="ko-KR" altLang="en-US" sz="1100" b="1" dirty="0">
                          <a:latin typeface="+mn-ea"/>
                        </a:rPr>
                        <a:t> 사업지원부문장</a:t>
                      </a:r>
                      <a:r>
                        <a:rPr lang="en-US" altLang="ko-KR" sz="1100" b="1" dirty="0">
                          <a:latin typeface="+mn-ea"/>
                        </a:rPr>
                        <a:t>)</a:t>
                      </a:r>
                      <a:r>
                        <a:rPr lang="ko-KR" altLang="en-US" sz="1100" b="1" dirty="0">
                          <a:latin typeface="+mn-ea"/>
                        </a:rPr>
                        <a:t>이 참석 중</a:t>
                      </a:r>
                      <a:endParaRPr lang="en-US" altLang="ko-KR" sz="1100" b="1" dirty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→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중요 이슈는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공정방송위원회 통해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 b="1" u="sng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편성책임자에게 보고</a:t>
                      </a:r>
                      <a:endParaRPr lang="en-US" altLang="ko-KR" sz="1100" b="1" u="sng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468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5654075"/>
                  </a:ext>
                </a:extLst>
              </a:tr>
              <a:tr h="934422">
                <a:tc>
                  <a:txBody>
                    <a:bodyPr/>
                    <a:lstStyle/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Q.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시청자위원 임기가 대부분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년인데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너무 긴 것 아닌가요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800" marR="48000" marT="48000" marB="48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latin typeface="+mn-ea"/>
                        </a:rPr>
                        <a:t>A. </a:t>
                      </a:r>
                      <a:r>
                        <a:rPr lang="ko-KR" altLang="en-US" sz="1100" b="1" dirty="0">
                          <a:latin typeface="+mn-ea"/>
                        </a:rPr>
                        <a:t>기본 임기는 </a:t>
                      </a:r>
                      <a:r>
                        <a:rPr lang="en-US" altLang="ko-KR" sz="1100" b="1" dirty="0">
                          <a:latin typeface="+mn-ea"/>
                        </a:rPr>
                        <a:t>2</a:t>
                      </a:r>
                      <a:r>
                        <a:rPr lang="ko-KR" altLang="en-US" sz="1100" b="1" dirty="0">
                          <a:latin typeface="+mn-ea"/>
                        </a:rPr>
                        <a:t>년이며 </a:t>
                      </a:r>
                      <a:r>
                        <a:rPr lang="en-US" altLang="ko-KR" sz="1100" b="1" dirty="0">
                          <a:latin typeface="+mn-ea"/>
                        </a:rPr>
                        <a:t>1</a:t>
                      </a:r>
                      <a:r>
                        <a:rPr lang="ko-KR" altLang="en-US" sz="1100" b="1" dirty="0">
                          <a:latin typeface="+mn-ea"/>
                        </a:rPr>
                        <a:t>회 연임 가능</a:t>
                      </a:r>
                      <a:endParaRPr lang="en-US" altLang="ko-KR" sz="1100" b="1" dirty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latin typeface="+mn-ea"/>
                        </a:rPr>
                        <a:t>    홈쇼핑과 방송심의에 대한 </a:t>
                      </a: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latin typeface="+mn-ea"/>
                        </a:rPr>
                        <a:t>이해도와 심의 일관성을 위해 일정 기간 필요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</a:rPr>
                        <a:t>    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</a:rPr>
                        <a:t>심사위원께서 말씀하신 부분에 대해 시청자위원들과 논의해서 보완 방안을 마련하겠음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</a:txBody>
                  <a:tcPr marL="468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2268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B285E9A-05AF-5BC1-C1DC-0FD8D5DEBBEF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47/109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6592786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FC7F9-FC79-2AC4-F0C6-82E2DAB35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FC10B3-7AA9-047F-C75F-789246F82660}"/>
              </a:ext>
            </a:extLst>
          </p:cNvPr>
          <p:cNvSpPr txBox="1"/>
          <p:nvPr/>
        </p:nvSpPr>
        <p:spPr>
          <a:xfrm>
            <a:off x="59588" y="70880"/>
            <a:ext cx="10337074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just" latinLnBrk="1">
              <a:lnSpc>
                <a:spcPct val="120000"/>
              </a:lnSpc>
              <a:spcAft>
                <a:spcPts val="0"/>
              </a:spcAf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시청자위원회 역할 및 구성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2D5338-3568-3020-7DC8-1E4FBB7586F7}"/>
              </a:ext>
            </a:extLst>
          </p:cNvPr>
          <p:cNvSpPr txBox="1"/>
          <p:nvPr/>
        </p:nvSpPr>
        <p:spPr>
          <a:xfrm>
            <a:off x="5798552" y="784808"/>
            <a:ext cx="62816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■ 시청자위원회 위원 </a:t>
            </a:r>
            <a:r>
              <a:rPr lang="ko-KR" altLang="en-US" sz="1200" b="1">
                <a:latin typeface="+mn-ea"/>
              </a:rPr>
              <a:t>구성 </a:t>
            </a:r>
            <a:r>
              <a:rPr lang="en-US" altLang="ko-KR" sz="1200" b="1" u="sng">
                <a:latin typeface="+mn-ea"/>
              </a:rPr>
              <a:t>(</a:t>
            </a:r>
            <a:r>
              <a:rPr lang="ko-KR" altLang="en-US" sz="1200" b="1" u="sng">
                <a:latin typeface="+mn-ea"/>
              </a:rPr>
              <a:t>분야 </a:t>
            </a:r>
            <a:r>
              <a:rPr lang="en-US" altLang="ko-KR" sz="1200" b="1" u="sng">
                <a:latin typeface="+mn-ea"/>
              </a:rPr>
              <a:t>6</a:t>
            </a:r>
            <a:r>
              <a:rPr lang="ko-KR" altLang="en-US" sz="1200" b="1" u="sng">
                <a:latin typeface="+mn-ea"/>
              </a:rPr>
              <a:t>개 </a:t>
            </a:r>
            <a:r>
              <a:rPr lang="en-US" altLang="ko-KR" sz="1200" b="1" u="sng">
                <a:latin typeface="+mn-ea"/>
              </a:rPr>
              <a:t>/ </a:t>
            </a:r>
            <a:r>
              <a:rPr lang="ko-KR" altLang="en-US" sz="1200" b="1" u="sng">
                <a:latin typeface="+mn-ea"/>
              </a:rPr>
              <a:t>남녀 </a:t>
            </a:r>
            <a:r>
              <a:rPr lang="en-US" altLang="ko-KR" sz="1200" b="1" u="sng">
                <a:latin typeface="+mn-ea"/>
              </a:rPr>
              <a:t>: </a:t>
            </a:r>
            <a:r>
              <a:rPr lang="ko-KR" altLang="en-US" sz="1200" b="1" u="sng">
                <a:latin typeface="+mn-ea"/>
              </a:rPr>
              <a:t>각 </a:t>
            </a:r>
            <a:r>
              <a:rPr lang="en-US" altLang="ko-KR" sz="1200" b="1" u="sng">
                <a:latin typeface="+mn-ea"/>
              </a:rPr>
              <a:t>5</a:t>
            </a:r>
            <a:r>
              <a:rPr lang="ko-KR" altLang="en-US" sz="1200" b="1" u="sng">
                <a:latin typeface="+mn-ea"/>
              </a:rPr>
              <a:t>명 </a:t>
            </a:r>
            <a:r>
              <a:rPr lang="en-US" altLang="ko-KR" sz="1200" b="1" u="sng">
                <a:latin typeface="+mn-ea"/>
              </a:rPr>
              <a:t>/ </a:t>
            </a:r>
            <a:r>
              <a:rPr lang="ko-KR" altLang="en-US" sz="1200" b="1" u="sng">
                <a:latin typeface="+mn-ea"/>
              </a:rPr>
              <a:t>지역안배</a:t>
            </a:r>
            <a:r>
              <a:rPr lang="en-US" altLang="ko-KR" sz="1200" b="1" u="sng" dirty="0">
                <a:latin typeface="+mn-ea"/>
              </a:rPr>
              <a:t>(</a:t>
            </a:r>
            <a:r>
              <a:rPr lang="ko-KR" altLang="en-US" sz="1200" b="1" u="sng" dirty="0">
                <a:latin typeface="+mn-ea"/>
              </a:rPr>
              <a:t>김민정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>
                <a:latin typeface="+mn-ea"/>
              </a:rPr>
              <a:t>신영수 교수</a:t>
            </a:r>
            <a:r>
              <a:rPr lang="en-US" altLang="ko-KR" sz="1200" b="1" u="sng" dirty="0">
                <a:latin typeface="+mn-ea"/>
              </a:rPr>
              <a:t>)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1A09F23-F047-55D0-4B62-2BEE62453372}"/>
              </a:ext>
            </a:extLst>
          </p:cNvPr>
          <p:cNvGraphicFramePr>
            <a:graphicFrameLocks noGrp="1"/>
          </p:cNvGraphicFramePr>
          <p:nvPr/>
        </p:nvGraphicFramePr>
        <p:xfrm>
          <a:off x="5879982" y="1171989"/>
          <a:ext cx="6024292" cy="4842255"/>
        </p:xfrm>
        <a:graphic>
          <a:graphicData uri="http://schemas.openxmlformats.org/drawingml/2006/table">
            <a:tbl>
              <a:tblPr/>
              <a:tblGrid>
                <a:gridCol w="644486">
                  <a:extLst>
                    <a:ext uri="{9D8B030D-6E8A-4147-A177-3AD203B41FA5}">
                      <a16:colId xmlns:a16="http://schemas.microsoft.com/office/drawing/2014/main" val="3599392486"/>
                    </a:ext>
                  </a:extLst>
                </a:gridCol>
                <a:gridCol w="797018">
                  <a:extLst>
                    <a:ext uri="{9D8B030D-6E8A-4147-A177-3AD203B41FA5}">
                      <a16:colId xmlns:a16="http://schemas.microsoft.com/office/drawing/2014/main" val="528696949"/>
                    </a:ext>
                  </a:extLst>
                </a:gridCol>
                <a:gridCol w="1402335">
                  <a:extLst>
                    <a:ext uri="{9D8B030D-6E8A-4147-A177-3AD203B41FA5}">
                      <a16:colId xmlns:a16="http://schemas.microsoft.com/office/drawing/2014/main" val="2419777564"/>
                    </a:ext>
                  </a:extLst>
                </a:gridCol>
                <a:gridCol w="2119812">
                  <a:extLst>
                    <a:ext uri="{9D8B030D-6E8A-4147-A177-3AD203B41FA5}">
                      <a16:colId xmlns:a16="http://schemas.microsoft.com/office/drawing/2014/main" val="1898050317"/>
                    </a:ext>
                  </a:extLst>
                </a:gridCol>
                <a:gridCol w="1060641">
                  <a:extLst>
                    <a:ext uri="{9D8B030D-6E8A-4147-A177-3AD203B41FA5}">
                      <a16:colId xmlns:a16="http://schemas.microsoft.com/office/drawing/2014/main" val="2851006916"/>
                    </a:ext>
                  </a:extLst>
                </a:gridCol>
              </a:tblGrid>
              <a:tr h="4402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성명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분야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소속 및 직위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주요 약력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임기</a:t>
                      </a:r>
                    </a:p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재임 기간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765339"/>
                  </a:ext>
                </a:extLst>
              </a:tr>
              <a:tr h="4402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b="1" kern="0" spc="-50">
                          <a:solidFill>
                            <a:srgbClr val="1919E5"/>
                          </a:solidFill>
                          <a:effectLst/>
                          <a:latin typeface="+mn-ea"/>
                          <a:ea typeface="+mn-ea"/>
                        </a:rPr>
                        <a:t>김민정</a:t>
                      </a:r>
                      <a:endParaRPr lang="ko-KR" altLang="en-US" sz="1000" kern="0" spc="-50">
                        <a:solidFill>
                          <a:srgbClr val="1919E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b="1" kern="0" spc="-50">
                          <a:solidFill>
                            <a:srgbClr val="1919E5"/>
                          </a:solidFill>
                          <a:effectLst/>
                          <a:latin typeface="+mn-ea"/>
                          <a:ea typeface="+mn-ea"/>
                        </a:rPr>
                        <a:t>소비자보호</a:t>
                      </a:r>
                      <a:endParaRPr lang="ko-KR" altLang="en-US" sz="1000" kern="0" spc="-50">
                        <a:solidFill>
                          <a:srgbClr val="1919E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1919E5"/>
                          </a:solidFill>
                          <a:effectLst/>
                          <a:latin typeface="+mn-ea"/>
                          <a:ea typeface="+mn-ea"/>
                        </a:rPr>
                        <a:t>충북대학교 교수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▪前 한국소비자업무협회 회장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25.10 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∼ 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27. 9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(24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개월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8314825"/>
                  </a:ext>
                </a:extLst>
              </a:tr>
              <a:tr h="4402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b="1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김다래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b="1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소비자보호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한국소비자단체협회의 물가감시센터 팀장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▪前 한국소비자단체협의회 </a:t>
                      </a:r>
                    </a:p>
                    <a:p>
                      <a:pPr marL="0" marR="0" indent="0" algn="l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자율분쟁조정위원회 간사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25.10 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∼ 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27. 9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(24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개월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963373"/>
                  </a:ext>
                </a:extLst>
              </a:tr>
              <a:tr h="4402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b="1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심재웅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b="1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방송언론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숙명여자대학교 교수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▪前 한국방송학회 총무이사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23. 3 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∼ 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27. 2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(48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개월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6344"/>
                  </a:ext>
                </a:extLst>
              </a:tr>
              <a:tr h="4402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b="1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정사강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b="1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방송언론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이화여자대학교 교수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▪前 한국언론학회 총무이사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22. 9 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∼ 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26. 8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(48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개월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5801986"/>
                  </a:ext>
                </a:extLst>
              </a:tr>
              <a:tr h="4402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b="1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최정혜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b="1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유통물류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연세대학교 교수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▪現 한국유통학회 이사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23.10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∼ 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27. 9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(48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개월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399415"/>
                  </a:ext>
                </a:extLst>
              </a:tr>
              <a:tr h="4402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b="1" kern="0" spc="-50">
                          <a:solidFill>
                            <a:srgbClr val="1919E5"/>
                          </a:solidFill>
                          <a:effectLst/>
                          <a:latin typeface="+mn-ea"/>
                          <a:ea typeface="+mn-ea"/>
                        </a:rPr>
                        <a:t>신영수</a:t>
                      </a:r>
                      <a:endParaRPr lang="ko-KR" altLang="en-US" sz="1000" kern="0" spc="-50">
                        <a:solidFill>
                          <a:srgbClr val="1919E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b="1" kern="0" spc="-50">
                          <a:solidFill>
                            <a:srgbClr val="1919E5"/>
                          </a:solidFill>
                          <a:effectLst/>
                          <a:latin typeface="+mn-ea"/>
                          <a:ea typeface="+mn-ea"/>
                        </a:rPr>
                        <a:t>유통물류</a:t>
                      </a:r>
                      <a:endParaRPr lang="ko-KR" altLang="en-US" sz="1000" kern="0" spc="-50">
                        <a:solidFill>
                          <a:srgbClr val="1919E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1919E5"/>
                          </a:solidFill>
                          <a:effectLst/>
                          <a:latin typeface="+mn-ea"/>
                          <a:ea typeface="+mn-ea"/>
                        </a:rPr>
                        <a:t>경북대학교 교수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▪現 한국유통법학회 이사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23.10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∼ 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27. 9</a:t>
                      </a:r>
                      <a:endParaRPr kumimoji="0" lang="ko-KR" altLang="en-US" sz="10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(48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개월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</a:t>
                      </a:r>
                      <a:endParaRPr kumimoji="0" lang="ko-KR" altLang="en-US" sz="10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243947"/>
                  </a:ext>
                </a:extLst>
              </a:tr>
              <a:tr h="4402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b="1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서현선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b="1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학부모단체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한양대학교 교수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▪現 사교육걱정없는세상 이사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23.10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∼ 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27. 9</a:t>
                      </a:r>
                      <a:endParaRPr kumimoji="0" lang="ko-KR" altLang="en-US" sz="10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(48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개월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</a:t>
                      </a:r>
                      <a:endParaRPr kumimoji="0" lang="ko-KR" altLang="en-US" sz="10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584259"/>
                  </a:ext>
                </a:extLst>
              </a:tr>
              <a:tr h="4402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b="1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한명삼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b="1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소외계층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기아대책</a:t>
                      </a:r>
                    </a:p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행복한나눔 본부장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▪現 사단법인 로뎀복지회 감사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23.10 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∼ 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27. 9</a:t>
                      </a:r>
                      <a:endParaRPr kumimoji="0" lang="ko-KR" altLang="en-US" sz="10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(48</a:t>
                      </a:r>
                      <a:r>
                        <a:rPr kumimoji="0" lang="ko-KR" altLang="en-US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개월</a:t>
                      </a:r>
                      <a:r>
                        <a:rPr kumimoji="0" lang="en-US" altLang="ko-KR" sz="10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</a:t>
                      </a:r>
                      <a:endParaRPr kumimoji="0" lang="ko-KR" altLang="en-US" sz="10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029142"/>
                  </a:ext>
                </a:extLst>
              </a:tr>
              <a:tr h="4402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b="1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박상오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b="1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법률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법무법인 바른 변호사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▪現 서울지방변호사회 회원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25.10 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∼ 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27. 9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(24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개월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728073"/>
                  </a:ext>
                </a:extLst>
              </a:tr>
              <a:tr h="4402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b="1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김현호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b="1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법률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법무법인 이제 변호사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▪現 서울지방변호사회 회원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25.10 </a:t>
                      </a:r>
                      <a:r>
                        <a:rPr lang="ko-KR" altLang="en-US" sz="10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∼ </a:t>
                      </a:r>
                      <a:r>
                        <a:rPr lang="en-US" altLang="ko-KR" sz="10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27. 9</a:t>
                      </a: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(24</a:t>
                      </a:r>
                      <a:r>
                        <a:rPr lang="ko-KR" altLang="en-US" sz="10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개월</a:t>
                      </a:r>
                      <a:r>
                        <a:rPr lang="en-US" altLang="ko-KR" sz="10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399827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FCCFAF5-E8D0-B039-4EAA-CC396D55258A}"/>
              </a:ext>
            </a:extLst>
          </p:cNvPr>
          <p:cNvSpPr txBox="1"/>
          <p:nvPr/>
        </p:nvSpPr>
        <p:spPr>
          <a:xfrm>
            <a:off x="287727" y="784808"/>
            <a:ext cx="50194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■ 시청자위원회의 역할 및 권한 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방송법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 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685FDC-E63C-16B3-1F00-975376D1E696}"/>
              </a:ext>
            </a:extLst>
          </p:cNvPr>
          <p:cNvSpPr txBox="1"/>
          <p:nvPr/>
        </p:nvSpPr>
        <p:spPr>
          <a:xfrm>
            <a:off x="287726" y="3513065"/>
            <a:ext cx="50194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■ 시청자위원회 선정 과정 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시청자위원회 운영기준 발췌</a:t>
            </a:r>
            <a:r>
              <a:rPr lang="en-US" altLang="ko-KR" sz="1200" b="1" dirty="0">
                <a:latin typeface="+mn-ea"/>
              </a:rPr>
              <a:t>)</a:t>
            </a:r>
          </a:p>
        </p:txBody>
      </p:sp>
      <p:pic>
        <p:nvPicPr>
          <p:cNvPr id="16" name="그림 1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855456-8F7B-1B5C-CCE7-92DF8ACD3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40" y="3857439"/>
            <a:ext cx="4856376" cy="215680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AC4E7F6-7426-8B3E-D3E1-A6FC278B8645}"/>
              </a:ext>
            </a:extLst>
          </p:cNvPr>
          <p:cNvCxnSpPr>
            <a:cxnSpLocks/>
          </p:cNvCxnSpPr>
          <p:nvPr/>
        </p:nvCxnSpPr>
        <p:spPr>
          <a:xfrm>
            <a:off x="718458" y="1545772"/>
            <a:ext cx="414092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">
            <a:extLst>
              <a:ext uri="{FF2B5EF4-FFF2-40B4-BE49-F238E27FC236}">
                <a16:creationId xmlns:a16="http://schemas.microsoft.com/office/drawing/2014/main" id="{2A3C5771-3794-8D79-120E-E472E0590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40" y="1100041"/>
            <a:ext cx="4856376" cy="19005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제88조(시청자위원회의 권한과 직무) </a:t>
            </a:r>
            <a:endParaRPr kumimoji="0" lang="en-US" altLang="ko-KR" sz="1100" b="1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1. 방송편성 또는 채널의 구성과 운영에 관한 의견제시 또는 시정요구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2. 방송사업자의 자체심의규정 및 방송프로그램 내용에 관한 의견제시 </a:t>
            </a:r>
            <a:endParaRPr kumimoji="0" lang="en-US" altLang="ko-KR" sz="1100" b="0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100" dirty="0">
                <a:latin typeface="+mn-ea"/>
              </a:rPr>
              <a:t>  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또는 시정요구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3. 시청자평가원의 선임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4. 그 밖에 시청자의 권익보호와 침해구제에 관한 업무</a:t>
            </a:r>
            <a:endParaRPr kumimoji="0" lang="en-US" altLang="ko-KR" sz="1100" b="0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  <a:p>
            <a:pPr lvl="0" latinLnBrk="0">
              <a:lnSpc>
                <a:spcPct val="120000"/>
              </a:lnSpc>
            </a:pPr>
            <a:endParaRPr lang="en-US" altLang="ko-KR" sz="1100" b="1" dirty="0">
              <a:latin typeface="+mn-ea"/>
            </a:endParaRPr>
          </a:p>
          <a:p>
            <a:pPr lvl="0" latinLnBrk="0">
              <a:lnSpc>
                <a:spcPct val="120000"/>
              </a:lnSpc>
            </a:pPr>
            <a:r>
              <a:rPr lang="ko-KR" altLang="ko-KR" sz="1100" b="1" dirty="0">
                <a:latin typeface="+mn-ea"/>
              </a:rPr>
              <a:t>제90조(방송사업자의 의무) </a:t>
            </a:r>
            <a:r>
              <a:rPr lang="ko-KR" altLang="ko-KR" sz="1100" dirty="0">
                <a:latin typeface="+mn-ea"/>
              </a:rPr>
              <a:t>시청자위원회의 의견제시 또는 시정요구를 받은 경우에는 특별한 사유가 없으면 이를 수용하여야 한다.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154F069-C326-566D-DEB0-C043D589614D}"/>
              </a:ext>
            </a:extLst>
          </p:cNvPr>
          <p:cNvCxnSpPr>
            <a:cxnSpLocks/>
          </p:cNvCxnSpPr>
          <p:nvPr/>
        </p:nvCxnSpPr>
        <p:spPr>
          <a:xfrm>
            <a:off x="1480458" y="2957017"/>
            <a:ext cx="2795451" cy="87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85B752FD-0BFE-B65B-8729-AD19643ED49D}"/>
              </a:ext>
            </a:extLst>
          </p:cNvPr>
          <p:cNvCxnSpPr>
            <a:cxnSpLocks/>
          </p:cNvCxnSpPr>
          <p:nvPr/>
        </p:nvCxnSpPr>
        <p:spPr>
          <a:xfrm>
            <a:off x="779418" y="4668252"/>
            <a:ext cx="317427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923410D-AE85-01C1-32B3-FEDA66C52E16}"/>
              </a:ext>
            </a:extLst>
          </p:cNvPr>
          <p:cNvCxnSpPr>
            <a:cxnSpLocks/>
          </p:cNvCxnSpPr>
          <p:nvPr/>
        </p:nvCxnSpPr>
        <p:spPr>
          <a:xfrm>
            <a:off x="1092927" y="5186411"/>
            <a:ext cx="210311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79FEF4A-8A5D-10A9-B1CD-3877CB7C8E1C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48/109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9417614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DBF77-78CC-9292-B4C5-8EC4068F2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F051EA-E471-BB7B-C21B-F3D1CF97B7E7}"/>
              </a:ext>
            </a:extLst>
          </p:cNvPr>
          <p:cNvSpPr txBox="1"/>
          <p:nvPr/>
        </p:nvSpPr>
        <p:spPr>
          <a:xfrm>
            <a:off x="52254" y="73387"/>
            <a:ext cx="10337074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just" latinLnBrk="1">
              <a:lnSpc>
                <a:spcPct val="120000"/>
              </a:lnSpc>
              <a:spcAft>
                <a:spcPts val="0"/>
              </a:spcAf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시청자위원회 안건</a:t>
            </a:r>
          </a:p>
        </p:txBody>
      </p:sp>
      <p:pic>
        <p:nvPicPr>
          <p:cNvPr id="2" name="그림 1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0A546DE-05D0-FD18-CF38-6C532C8EC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350" y="981806"/>
            <a:ext cx="4755900" cy="2676275"/>
          </a:xfrm>
          <a:prstGeom prst="rect">
            <a:avLst/>
          </a:prstGeom>
        </p:spPr>
      </p:pic>
      <p:pic>
        <p:nvPicPr>
          <p:cNvPr id="3" name="그림 2" descr="텍스트, 스크린샷, 웹사이트, 온라인 광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501267-9F28-3E9C-BADA-D9C4702EE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80" y="981806"/>
            <a:ext cx="4696691" cy="26678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186E9A-3171-C307-497F-328C03A3029A}"/>
              </a:ext>
            </a:extLst>
          </p:cNvPr>
          <p:cNvSpPr txBox="1"/>
          <p:nvPr/>
        </p:nvSpPr>
        <p:spPr>
          <a:xfrm>
            <a:off x="470123" y="676232"/>
            <a:ext cx="38166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공정방송위원회 안건 샘플 </a:t>
            </a:r>
            <a:r>
              <a:rPr lang="en-US" altLang="ko-KR" sz="1100" b="1" dirty="0">
                <a:latin typeface="+mn-ea"/>
              </a:rPr>
              <a:t>(24</a:t>
            </a:r>
            <a:r>
              <a:rPr lang="ko-KR" altLang="en-US" sz="1100" b="1" dirty="0">
                <a:latin typeface="+mn-ea"/>
              </a:rPr>
              <a:t>년 </a:t>
            </a:r>
            <a:r>
              <a:rPr lang="en-US" altLang="ko-KR" sz="1100" b="1" dirty="0">
                <a:latin typeface="+mn-ea"/>
              </a:rPr>
              <a:t>8</a:t>
            </a:r>
            <a:r>
              <a:rPr lang="ko-KR" altLang="en-US" sz="1100" b="1" dirty="0">
                <a:latin typeface="+mn-ea"/>
              </a:rPr>
              <a:t>월</a:t>
            </a:r>
            <a:r>
              <a:rPr lang="en-US" altLang="ko-KR" sz="1100" b="1" dirty="0">
                <a:latin typeface="+mn-ea"/>
              </a:rPr>
              <a:t>)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F421782-958D-2329-854D-E44F0B382066}"/>
              </a:ext>
            </a:extLst>
          </p:cNvPr>
          <p:cNvSpPr/>
          <p:nvPr/>
        </p:nvSpPr>
        <p:spPr>
          <a:xfrm>
            <a:off x="1973096" y="1651051"/>
            <a:ext cx="1457325" cy="15670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100456-F9A3-D94D-2149-24F2B5AD2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51" y="3869843"/>
            <a:ext cx="2569369" cy="2744952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2A26121-D0D3-152C-864B-BE5FB2AE6EB5}"/>
              </a:ext>
            </a:extLst>
          </p:cNvPr>
          <p:cNvCxnSpPr>
            <a:cxnSpLocks/>
          </p:cNvCxnSpPr>
          <p:nvPr/>
        </p:nvCxnSpPr>
        <p:spPr>
          <a:xfrm>
            <a:off x="2687471" y="3218085"/>
            <a:ext cx="0" cy="7334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15D2852-57A4-68EF-EE5E-E3A61EBFBEAD}"/>
              </a:ext>
            </a:extLst>
          </p:cNvPr>
          <p:cNvSpPr/>
          <p:nvPr/>
        </p:nvSpPr>
        <p:spPr>
          <a:xfrm>
            <a:off x="7085628" y="3346501"/>
            <a:ext cx="2032720" cy="2621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21C1038A-B0C9-15F7-1AAC-E1D360F77BCF}"/>
              </a:ext>
            </a:extLst>
          </p:cNvPr>
          <p:cNvCxnSpPr>
            <a:cxnSpLocks/>
          </p:cNvCxnSpPr>
          <p:nvPr/>
        </p:nvCxnSpPr>
        <p:spPr>
          <a:xfrm>
            <a:off x="8000028" y="3608610"/>
            <a:ext cx="0" cy="2612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17B59CE-8945-B53B-CC87-E21AC6A92AF3}"/>
              </a:ext>
            </a:extLst>
          </p:cNvPr>
          <p:cNvSpPr txBox="1"/>
          <p:nvPr/>
        </p:nvSpPr>
        <p:spPr>
          <a:xfrm>
            <a:off x="5810249" y="704807"/>
            <a:ext cx="44606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방송 심의 가이드라인 內 제</a:t>
            </a:r>
            <a:r>
              <a:rPr lang="en-US" altLang="ko-KR" sz="1100" b="1" dirty="0">
                <a:latin typeface="+mn-ea"/>
              </a:rPr>
              <a:t>65</a:t>
            </a:r>
            <a:r>
              <a:rPr lang="ko-KR" altLang="en-US" sz="1100" b="1" dirty="0">
                <a:latin typeface="+mn-ea"/>
              </a:rPr>
              <a:t>조 출연 제한 규정에 반영</a:t>
            </a:r>
            <a:endParaRPr lang="en-US" altLang="ko-KR" sz="1100" b="1" dirty="0">
              <a:latin typeface="+mn-ea"/>
            </a:endParaRPr>
          </a:p>
        </p:txBody>
      </p:sp>
      <p:pic>
        <p:nvPicPr>
          <p:cNvPr id="16" name="그림 15" descr="텍스트, 폰트, 노랑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56E3F1B-26B5-FE52-63AA-16EBC14799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5587" y="3951510"/>
            <a:ext cx="3781425" cy="7239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56C23AB-7E70-5154-BA3C-EE9EAA8887AB}"/>
              </a:ext>
            </a:extLst>
          </p:cNvPr>
          <p:cNvCxnSpPr/>
          <p:nvPr/>
        </p:nvCxnSpPr>
        <p:spPr>
          <a:xfrm>
            <a:off x="1715105" y="4894213"/>
            <a:ext cx="152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76BA953-8016-C747-1E6F-DDF0852A08BE}"/>
              </a:ext>
            </a:extLst>
          </p:cNvPr>
          <p:cNvCxnSpPr/>
          <p:nvPr/>
        </p:nvCxnSpPr>
        <p:spPr>
          <a:xfrm>
            <a:off x="1925471" y="5320933"/>
            <a:ext cx="152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5487561-042D-5655-7311-ED637C31FA43}"/>
              </a:ext>
            </a:extLst>
          </p:cNvPr>
          <p:cNvCxnSpPr>
            <a:cxnSpLocks/>
          </p:cNvCxnSpPr>
          <p:nvPr/>
        </p:nvCxnSpPr>
        <p:spPr>
          <a:xfrm>
            <a:off x="1646797" y="5773778"/>
            <a:ext cx="126138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1B8AE9E-195E-D378-88C1-D06C10D4058B}"/>
              </a:ext>
            </a:extLst>
          </p:cNvPr>
          <p:cNvSpPr txBox="1"/>
          <p:nvPr/>
        </p:nvSpPr>
        <p:spPr>
          <a:xfrm>
            <a:off x="5538652" y="5425623"/>
            <a:ext cx="6357256" cy="10953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사례</a:t>
            </a:r>
            <a:r>
              <a:rPr lang="en-US" altLang="ko-KR" sz="1200" b="1" dirty="0">
                <a:latin typeface="+mn-ea"/>
              </a:rPr>
              <a:t>) </a:t>
            </a:r>
            <a:r>
              <a:rPr lang="ko-KR" altLang="en-US" sz="1200" b="1" dirty="0">
                <a:latin typeface="+mn-ea"/>
              </a:rPr>
              <a:t>① 시청자 민원 → 게스트 </a:t>
            </a:r>
            <a:r>
              <a:rPr lang="ko-KR" altLang="en-US" sz="1200" b="1" dirty="0" err="1">
                <a:latin typeface="+mn-ea"/>
              </a:rPr>
              <a:t>타투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과도한 노출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찢어진 청바지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에 대한 불쾌감 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        ② 시청자위원회 의견 → 청소년도 시청할 수 있기에 모방 우려</a:t>
            </a:r>
            <a:r>
              <a:rPr lang="en-US" altLang="ko-KR" sz="1200" b="1" dirty="0">
                <a:latin typeface="+mn-ea"/>
              </a:rPr>
              <a:t>                                         </a:t>
            </a: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        ③ 내부 가이드 마련 → 출연자 용모에 대한 가이드라인을 마련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                                  </a:t>
            </a:r>
            <a:r>
              <a:rPr lang="ko-KR" altLang="en-US" sz="1200" b="1" dirty="0">
                <a:latin typeface="+mn-ea"/>
              </a:rPr>
              <a:t> </a:t>
            </a:r>
            <a:r>
              <a:rPr lang="ko-KR" altLang="en-US" sz="1200" b="1" dirty="0" err="1">
                <a:latin typeface="+mn-ea"/>
              </a:rPr>
              <a:t>타투에</a:t>
            </a:r>
            <a:r>
              <a:rPr lang="ko-KR" altLang="en-US" sz="1200" b="1" dirty="0">
                <a:latin typeface="+mn-ea"/>
              </a:rPr>
              <a:t> </a:t>
            </a:r>
            <a:r>
              <a:rPr lang="ko-KR" altLang="en-US" sz="1200" b="1" dirty="0" err="1">
                <a:latin typeface="+mn-ea"/>
              </a:rPr>
              <a:t>테이핑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불쾌감을 주는 의상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노출과다 등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 교체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4A17FF-1852-F6F3-44D2-E0174E175F95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49/109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8169350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2EB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4000" b="1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4000" b="1" dirty="0">
                <a:solidFill>
                  <a:schemeClr val="tx1"/>
                </a:solidFill>
                <a:latin typeface="+mn-ea"/>
              </a:rPr>
              <a:t>장</a:t>
            </a:r>
            <a:r>
              <a:rPr lang="en-US" altLang="ko-KR" sz="4000" b="1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4000" b="1" dirty="0">
                <a:solidFill>
                  <a:schemeClr val="tx1"/>
                </a:solidFill>
                <a:latin typeface="+mn-ea"/>
              </a:rPr>
              <a:t>공정거래 정착</a:t>
            </a:r>
            <a:r>
              <a:rPr lang="en-US" altLang="ko-KR" sz="4000" b="1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4000" b="1" dirty="0">
                <a:solidFill>
                  <a:schemeClr val="tx1"/>
                </a:solidFill>
                <a:latin typeface="+mn-ea"/>
              </a:rPr>
              <a:t>중소기업 지원 등</a:t>
            </a:r>
            <a:endParaRPr lang="en-US" altLang="ko-KR" sz="40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0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3500" dirty="0">
                <a:solidFill>
                  <a:schemeClr val="tx1"/>
                </a:solidFill>
                <a:latin typeface="+mn-ea"/>
              </a:rPr>
              <a:t>(1) </a:t>
            </a:r>
            <a:r>
              <a:rPr lang="ko-KR" altLang="en-US" sz="3500" dirty="0">
                <a:solidFill>
                  <a:schemeClr val="tx1"/>
                </a:solidFill>
                <a:latin typeface="+mn-ea"/>
              </a:rPr>
              <a:t>공정거래</a:t>
            </a:r>
            <a:endParaRPr lang="en-US" altLang="ko-KR" sz="35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264095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2EC51-FC0C-1A12-F2D7-192A262B6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58C616E-471B-7F04-4AC7-E7E3E22B3B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118533"/>
              </p:ext>
            </p:extLst>
          </p:nvPr>
        </p:nvGraphicFramePr>
        <p:xfrm>
          <a:off x="365191" y="1035826"/>
          <a:ext cx="6366535" cy="4671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398">
                  <a:extLst>
                    <a:ext uri="{9D8B030D-6E8A-4147-A177-3AD203B41FA5}">
                      <a16:colId xmlns:a16="http://schemas.microsoft.com/office/drawing/2014/main" val="4049201456"/>
                    </a:ext>
                  </a:extLst>
                </a:gridCol>
                <a:gridCol w="651944">
                  <a:extLst>
                    <a:ext uri="{9D8B030D-6E8A-4147-A177-3AD203B41FA5}">
                      <a16:colId xmlns:a16="http://schemas.microsoft.com/office/drawing/2014/main" val="507244353"/>
                    </a:ext>
                  </a:extLst>
                </a:gridCol>
                <a:gridCol w="2509989">
                  <a:extLst>
                    <a:ext uri="{9D8B030D-6E8A-4147-A177-3AD203B41FA5}">
                      <a16:colId xmlns:a16="http://schemas.microsoft.com/office/drawing/2014/main" val="1891986853"/>
                    </a:ext>
                  </a:extLst>
                </a:gridCol>
                <a:gridCol w="815558">
                  <a:extLst>
                    <a:ext uri="{9D8B030D-6E8A-4147-A177-3AD203B41FA5}">
                      <a16:colId xmlns:a16="http://schemas.microsoft.com/office/drawing/2014/main" val="951173592"/>
                    </a:ext>
                  </a:extLst>
                </a:gridCol>
                <a:gridCol w="2281646">
                  <a:extLst>
                    <a:ext uri="{9D8B030D-6E8A-4147-A177-3AD203B41FA5}">
                      <a16:colId xmlns:a16="http://schemas.microsoft.com/office/drawing/2014/main" val="2358122020"/>
                    </a:ext>
                  </a:extLst>
                </a:gridCol>
              </a:tblGrid>
              <a:tr h="254610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 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위반 내용</a:t>
                      </a:r>
                      <a:endParaRPr lang="en-US" altLang="ko-KR" sz="10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처분</a:t>
                      </a:r>
                      <a:endParaRPr lang="en-US" altLang="ko-KR" sz="10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재발 방지 조치</a:t>
                      </a:r>
                      <a:endParaRPr lang="en-US" altLang="ko-KR" sz="10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794100"/>
                  </a:ext>
                </a:extLst>
              </a:tr>
              <a:tr h="71376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" b="1" spc="-8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05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대규모</a:t>
                      </a:r>
                      <a:endParaRPr lang="en-US" altLang="ko-KR" sz="105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05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유통업법</a:t>
                      </a:r>
                      <a:r>
                        <a:rPr lang="en-US" altLang="ko-KR" sz="105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050" b="1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(21.5.20</a:t>
                      </a:r>
                      <a:r>
                        <a:rPr lang="en-US" altLang="ko-KR" sz="105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5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u="sng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(17</a:t>
                      </a:r>
                      <a:r>
                        <a:rPr lang="ko-KR" altLang="en-US" sz="1000" b="1" u="sng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000" b="1" u="sng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공정위에 제출하는 서면실태조사자료 중</a:t>
                      </a:r>
                      <a:endParaRPr lang="en-US" altLang="ko-KR" sz="1000" b="1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1000" b="1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판매수수료율</a:t>
                      </a:r>
                      <a:r>
                        <a:rPr lang="ko-KR" altLang="en-US" sz="10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자료 </a:t>
                      </a:r>
                      <a:r>
                        <a:rPr lang="en-US" altLang="ko-KR" sz="10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 업체</a:t>
                      </a:r>
                      <a:r>
                        <a:rPr lang="en-US" altLang="ko-KR" sz="10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 오류</a:t>
                      </a:r>
                      <a:endParaRPr lang="en-US" altLang="ko-KR" sz="1000" b="1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3972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과태료</a:t>
                      </a:r>
                      <a:endParaRPr lang="en-US" altLang="ko-KR" sz="100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133972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(500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만원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</a:rPr>
                        <a:t>데이터 자동 추출 프로그램 개발</a:t>
                      </a:r>
                      <a:endParaRPr lang="en-US" altLang="ko-KR" sz="1000" b="1" spc="-8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08000" indent="-108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</a:rPr>
                        <a:t>데이터 추출 이력 관리 프로세스 구축</a:t>
                      </a:r>
                      <a:endParaRPr lang="en-US" altLang="ko-KR" sz="1000" b="1" spc="-8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097707"/>
                  </a:ext>
                </a:extLst>
              </a:tr>
              <a:tr h="73422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" b="1" spc="-8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05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대규모</a:t>
                      </a:r>
                      <a:endParaRPr lang="en-US" altLang="ko-KR" sz="105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05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유통업법</a:t>
                      </a:r>
                      <a:r>
                        <a:rPr lang="en-US" altLang="ko-KR" sz="105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50" b="1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(21.7.06</a:t>
                      </a:r>
                      <a:r>
                        <a:rPr lang="en-US" altLang="ko-KR" sz="105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5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000" b="1" u="sng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17~19</a:t>
                      </a:r>
                      <a:r>
                        <a:rPr lang="ko-KR" altLang="en-US" sz="1000" b="1" u="sng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</a:t>
                      </a:r>
                      <a:r>
                        <a:rPr lang="en-US" altLang="ko-KR" sz="1000" b="1" u="sng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법원의 가압류 요청에 따라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14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협력사 대금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지급 보류하였으나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대금을 회사가 가지고 있어서 발생한 </a:t>
                      </a:r>
                      <a:endParaRPr lang="en-US" altLang="ko-KR" sz="100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이자만큼 지급 필요</a:t>
                      </a:r>
                      <a:endParaRPr lang="en-US" altLang="ko-KR" sz="100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3972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경고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spc="-80" baseline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지연이자 </a:t>
                      </a:r>
                      <a:r>
                        <a:rPr lang="en-US" altLang="ko-KR" sz="1000" b="1" spc="-80" baseline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000" b="1" spc="-80" baseline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백만원 지급</a:t>
                      </a:r>
                      <a:endParaRPr lang="en-US" altLang="ko-KR" sz="1000" b="1" spc="-80" baseline="0">
                        <a:solidFill>
                          <a:srgbClr val="1919E5"/>
                        </a:solidFill>
                        <a:latin typeface="+mn-ea"/>
                        <a:ea typeface="+mn-ea"/>
                      </a:endParaRPr>
                    </a:p>
                    <a:p>
                      <a:pPr marL="108000" marR="0" lvl="0" indent="-10800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spc="-80" baseline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가압류 </a:t>
                      </a:r>
                      <a:r>
                        <a:rPr lang="ko-KR" altLang="en-US" sz="1000" b="1" spc="-80" baseline="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대금 공탁 </a:t>
                      </a:r>
                      <a:r>
                        <a:rPr lang="ko-KR" altLang="en-US" sz="1000" b="1" spc="-80" baseline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진행 </a:t>
                      </a:r>
                      <a:endParaRPr lang="ko-KR" altLang="en-US" sz="1000" b="1" spc="-80" baseline="0" dirty="0">
                        <a:solidFill>
                          <a:srgbClr val="1919E5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544479"/>
                  </a:ext>
                </a:extLst>
              </a:tr>
              <a:tr h="120026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" b="1" spc="-8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05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대규모</a:t>
                      </a:r>
                      <a:endParaRPr lang="en-US" altLang="ko-KR" sz="105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05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유통업법</a:t>
                      </a:r>
                      <a:r>
                        <a:rPr lang="en-US" altLang="ko-KR" sz="105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50" b="1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(22.2.4</a:t>
                      </a:r>
                      <a:r>
                        <a:rPr lang="en-US" altLang="ko-KR" sz="105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5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u="sng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(17~20</a:t>
                      </a:r>
                      <a:r>
                        <a:rPr lang="ko-KR" altLang="en-US" sz="1000" b="1" u="sng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</a:t>
                      </a:r>
                      <a:r>
                        <a:rPr lang="en-US" altLang="ko-KR" sz="1000" b="1" u="sng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(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협력사에 이익이 되는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반품이라는 </a:t>
                      </a:r>
                      <a:endParaRPr lang="en-US" altLang="ko-KR" sz="100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ko-KR" altLang="en-US" sz="1000" b="1" u="sng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증빙 부족</a:t>
                      </a:r>
                      <a:endParaRPr lang="en-US" altLang="ko-KR" sz="1000" b="1" u="sng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(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판촉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1" u="sng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서면 약정 없이 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사은품 판촉행사 진행</a:t>
                      </a:r>
                      <a:endParaRPr lang="en-US" altLang="ko-KR" sz="100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(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게스트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1" u="sng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서면 약정 없이 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협력사 종업원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</a:t>
                      </a:r>
                      <a:endParaRPr lang="en-US" altLang="ko-KR" sz="100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시정명령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통지명령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과징금</a:t>
                      </a:r>
                      <a:endParaRPr lang="en-US" altLang="ko-KR" sz="100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(1,027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백만원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indent="-10800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반품 전 법무팀장 검증 프로세스 </a:t>
                      </a:r>
                      <a:endParaRPr lang="en-US" altLang="ko-KR" sz="100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신설 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(2020)</a:t>
                      </a:r>
                    </a:p>
                    <a:p>
                      <a:pPr marL="108000" marR="0" indent="-10800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판촉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서면 약정 프로세스 보완 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(2020)</a:t>
                      </a:r>
                    </a:p>
                    <a:p>
                      <a:pPr marL="108000" marR="0" indent="-10800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게스트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협력사 게스트 등록시스템 개발</a:t>
                      </a:r>
                      <a:endParaRPr lang="en-US" altLang="ko-KR" sz="100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  </a:t>
                      </a:r>
                      <a:r>
                        <a:rPr lang="ko-KR" altLang="en-US" sz="1000" b="1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심의팀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게스트 출연 검증</a:t>
                      </a:r>
                      <a:endParaRPr lang="en-US" altLang="ko-KR" sz="100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50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</a:t>
                      </a:r>
                      <a:r>
                        <a:rPr lang="ko-KR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</a:rPr>
                        <a:t>→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</a:rPr>
                        <a:t> 3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심 진행 중 </a:t>
                      </a:r>
                      <a:endParaRPr lang="en-US" altLang="ko-KR" sz="100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398386"/>
                  </a:ext>
                </a:extLst>
              </a:tr>
              <a:tr h="78641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" b="1" spc="-8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05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대규모</a:t>
                      </a:r>
                      <a:endParaRPr lang="en-US" altLang="ko-KR" sz="105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05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유통업법</a:t>
                      </a:r>
                      <a:r>
                        <a:rPr lang="en-US" altLang="ko-KR" sz="105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50" b="1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(23.1.19</a:t>
                      </a:r>
                      <a:r>
                        <a:rPr lang="en-US" altLang="ko-KR" sz="105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5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u="sng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(17~20</a:t>
                      </a:r>
                      <a:r>
                        <a:rPr lang="ko-KR" altLang="en-US" sz="1000" b="1" u="sng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</a:t>
                      </a:r>
                      <a:r>
                        <a:rPr lang="en-US" altLang="ko-KR" sz="1000" b="1" u="sng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b="1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앱할인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판촉행사 진행 시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1" u="sng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불완전 약정서 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체결</a:t>
                      </a:r>
                      <a:endParaRPr lang="en-US" altLang="ko-KR" sz="100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시정명령</a:t>
                      </a:r>
                      <a:r>
                        <a:rPr lang="en-US" altLang="ko-KR" sz="1000" b="1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통지명령</a:t>
                      </a:r>
                      <a:r>
                        <a:rPr lang="en-US" altLang="ko-KR" sz="1000" b="1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과징금</a:t>
                      </a:r>
                      <a:endParaRPr lang="en-US" altLang="ko-KR" sz="1000" b="1" spc="-8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(1,582</a:t>
                      </a:r>
                      <a:r>
                        <a:rPr lang="ko-KR" altLang="en-US" sz="1000" b="1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백만원</a:t>
                      </a:r>
                      <a:r>
                        <a:rPr lang="en-US" altLang="ko-KR" sz="1000" b="1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1" spc="-8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indent="-10800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앱할인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관련 약정서 보완</a:t>
                      </a:r>
                      <a:endParaRPr lang="en-US" altLang="ko-KR" sz="100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570687"/>
                  </a:ext>
                </a:extLst>
              </a:tr>
              <a:tr h="63845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" b="1" spc="-8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05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공정</a:t>
                      </a:r>
                      <a:endParaRPr lang="en-US" altLang="ko-KR" sz="105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05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거래법</a:t>
                      </a:r>
                      <a:endParaRPr lang="en-US" altLang="ko-KR" sz="105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050" b="1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(24.7.17</a:t>
                      </a:r>
                      <a:r>
                        <a:rPr lang="en-US" altLang="ko-KR" sz="105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5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u="sng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(21</a:t>
                      </a:r>
                      <a:r>
                        <a:rPr lang="ko-KR" altLang="en-US" sz="1000" b="1" u="sng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</a:t>
                      </a:r>
                      <a:r>
                        <a:rPr lang="en-US" altLang="ko-KR" sz="1000" b="1" u="sng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㈜</a:t>
                      </a:r>
                      <a:r>
                        <a:rPr lang="ko-KR" altLang="en-US" sz="1000" b="1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퍼스프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계열 편입 신고 지연</a:t>
                      </a:r>
                      <a:endParaRPr lang="en-US" altLang="ko-KR" sz="100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경고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indent="-10800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계열 편입 신고 관련 내부프로세스 구축</a:t>
                      </a:r>
                      <a:endParaRPr lang="en-US" altLang="ko-KR" sz="100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391035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D7CBC7E-7F6D-29BE-CC07-7258E7CCCB35}"/>
              </a:ext>
            </a:extLst>
          </p:cNvPr>
          <p:cNvSpPr txBox="1"/>
          <p:nvPr/>
        </p:nvSpPr>
        <p:spPr>
          <a:xfrm>
            <a:off x="60393" y="71718"/>
            <a:ext cx="11550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공정거래 제재 및 임직원 범죄행위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4B04D6-0BFE-2450-7F49-6E6BF391304B}"/>
              </a:ext>
            </a:extLst>
          </p:cNvPr>
          <p:cNvSpPr txBox="1"/>
          <p:nvPr/>
        </p:nvSpPr>
        <p:spPr>
          <a:xfrm>
            <a:off x="295521" y="692151"/>
            <a:ext cx="54575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+mn-ea"/>
              </a:rPr>
              <a:t>■</a:t>
            </a:r>
            <a:r>
              <a:rPr lang="en-US" altLang="ko-KR" sz="1200" b="1" dirty="0">
                <a:latin typeface="+mn-ea"/>
              </a:rPr>
              <a:t> (</a:t>
            </a:r>
            <a:r>
              <a:rPr lang="ko-KR" altLang="en-US" sz="1200" b="1" dirty="0">
                <a:latin typeface="+mn-ea"/>
              </a:rPr>
              <a:t>사업계획서 </a:t>
            </a:r>
            <a:r>
              <a:rPr lang="en-US" altLang="ko-KR" sz="1200" b="1" dirty="0">
                <a:latin typeface="+mn-ea"/>
              </a:rPr>
              <a:t>p.44)</a:t>
            </a:r>
            <a:r>
              <a:rPr lang="ko-KR" altLang="en-US" sz="1200" b="1" dirty="0">
                <a:latin typeface="+mn-ea"/>
              </a:rPr>
              <a:t>공정거래 관련 </a:t>
            </a:r>
            <a:r>
              <a:rPr lang="en-US" altLang="ko-KR" sz="1200" b="1" dirty="0">
                <a:latin typeface="+mn-ea"/>
              </a:rPr>
              <a:t>: 5</a:t>
            </a:r>
            <a:r>
              <a:rPr lang="ko-KR" altLang="en-US" sz="1200" b="1" dirty="0">
                <a:latin typeface="+mn-ea"/>
              </a:rPr>
              <a:t>건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편의점 하도급 위반은 제외시킴</a:t>
            </a:r>
            <a:r>
              <a:rPr lang="en-US" altLang="ko-KR" sz="1200" b="1" dirty="0">
                <a:latin typeface="+mn-ea"/>
              </a:rPr>
              <a:t>)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1F5139-9DF9-4B53-B2AE-FDD6541E27B3}"/>
              </a:ext>
            </a:extLst>
          </p:cNvPr>
          <p:cNvSpPr txBox="1"/>
          <p:nvPr/>
        </p:nvSpPr>
        <p:spPr>
          <a:xfrm>
            <a:off x="7084967" y="4370541"/>
            <a:ext cx="3559279" cy="313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spc="-1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spc="-1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공시 기준</a:t>
            </a:r>
            <a:r>
              <a:rPr lang="en-US" altLang="ko-KR" sz="1100" spc="-1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F3F5C2D-8E6B-4043-F22A-5BA81F7BCB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584025"/>
              </p:ext>
            </p:extLst>
          </p:nvPr>
        </p:nvGraphicFramePr>
        <p:xfrm>
          <a:off x="7184839" y="4693928"/>
          <a:ext cx="3756181" cy="1013716"/>
        </p:xfrm>
        <a:graphic>
          <a:graphicData uri="http://schemas.openxmlformats.org/drawingml/2006/table">
            <a:tbl>
              <a:tblPr/>
              <a:tblGrid>
                <a:gridCol w="823976">
                  <a:extLst>
                    <a:ext uri="{9D8B030D-6E8A-4147-A177-3AD203B41FA5}">
                      <a16:colId xmlns:a16="http://schemas.microsoft.com/office/drawing/2014/main" val="380351057"/>
                    </a:ext>
                  </a:extLst>
                </a:gridCol>
                <a:gridCol w="586441">
                  <a:extLst>
                    <a:ext uri="{9D8B030D-6E8A-4147-A177-3AD203B41FA5}">
                      <a16:colId xmlns:a16="http://schemas.microsoft.com/office/drawing/2014/main" val="3257076089"/>
                    </a:ext>
                  </a:extLst>
                </a:gridCol>
                <a:gridCol w="586441">
                  <a:extLst>
                    <a:ext uri="{9D8B030D-6E8A-4147-A177-3AD203B41FA5}">
                      <a16:colId xmlns:a16="http://schemas.microsoft.com/office/drawing/2014/main" val="145055744"/>
                    </a:ext>
                  </a:extLst>
                </a:gridCol>
                <a:gridCol w="586441">
                  <a:extLst>
                    <a:ext uri="{9D8B030D-6E8A-4147-A177-3AD203B41FA5}">
                      <a16:colId xmlns:a16="http://schemas.microsoft.com/office/drawing/2014/main" val="4247333150"/>
                    </a:ext>
                  </a:extLst>
                </a:gridCol>
                <a:gridCol w="586441">
                  <a:extLst>
                    <a:ext uri="{9D8B030D-6E8A-4147-A177-3AD203B41FA5}">
                      <a16:colId xmlns:a16="http://schemas.microsoft.com/office/drawing/2014/main" val="1182626023"/>
                    </a:ext>
                  </a:extLst>
                </a:gridCol>
                <a:gridCol w="586441">
                  <a:extLst>
                    <a:ext uri="{9D8B030D-6E8A-4147-A177-3AD203B41FA5}">
                      <a16:colId xmlns:a16="http://schemas.microsoft.com/office/drawing/2014/main" val="9644551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altLang="ko-KR" sz="10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21~24</a:t>
                      </a:r>
                      <a:r>
                        <a:rPr lang="ko-KR" altLang="en-US" sz="10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년​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altLang="ko-KR" sz="10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GS</a:t>
                      </a:r>
                      <a:endParaRPr lang="en-US" altLang="ko-KR" sz="1400" b="1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000" b="1" i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CJ</a:t>
                      </a:r>
                      <a:r>
                        <a:rPr lang="en-US" altLang="ko-KR" sz="1000" b="1" i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​</a:t>
                      </a:r>
                      <a:endParaRPr lang="en-US" altLang="ko-KR" sz="1400" b="1" i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HD</a:t>
                      </a:r>
                      <a:r>
                        <a:rPr lang="en-US" altLang="ko-KR" sz="10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​</a:t>
                      </a:r>
                      <a:endParaRPr lang="en-US" altLang="ko-KR" sz="1400" b="1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LT</a:t>
                      </a:r>
                      <a:r>
                        <a:rPr lang="en-US" altLang="ko-KR" sz="10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​</a:t>
                      </a:r>
                      <a:endParaRPr lang="en-US" altLang="ko-KR" sz="1400" b="1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BGF</a:t>
                      </a:r>
                      <a:r>
                        <a:rPr lang="en-US" altLang="ko-KR" sz="10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​</a:t>
                      </a:r>
                      <a:endParaRPr lang="en-US" altLang="ko-KR" sz="1400" b="1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477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ko-KR" altLang="en-US" sz="1000" b="0" i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공정거래​</a:t>
                      </a:r>
                      <a:endParaRPr lang="ko-KR" altLang="en-US" sz="1400" b="0" i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ko-KR" sz="14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000" b="0" i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en-US" altLang="ko-KR" sz="1000" b="0" i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​</a:t>
                      </a:r>
                      <a:endParaRPr lang="en-US" altLang="ko-KR" sz="1400" b="0" i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000" b="0" i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en-US" altLang="ko-KR" sz="1000" b="0" i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​</a:t>
                      </a:r>
                      <a:endParaRPr lang="en-US" altLang="ko-KR" sz="1400" b="0" i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000" b="0" i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1000" b="0" i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​</a:t>
                      </a:r>
                      <a:endParaRPr lang="en-US" altLang="ko-KR" sz="1400" b="0" i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000" b="0" i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1000" b="0" i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​</a:t>
                      </a:r>
                      <a:endParaRPr lang="en-US" altLang="ko-KR" sz="1400" b="0" i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96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ko-KR" altLang="en-US" sz="1000" b="0" i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개인정보​</a:t>
                      </a:r>
                      <a:endParaRPr lang="ko-KR" altLang="en-US" sz="1400" b="0" i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ko-KR" sz="14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000" b="0" i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en-US" altLang="ko-KR" sz="1000" b="0" i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​</a:t>
                      </a:r>
                      <a:endParaRPr lang="en-US" altLang="ko-KR" sz="1400" b="0" i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-​</a:t>
                      </a:r>
                      <a:endParaRPr lang="en-US" altLang="ko-KR" sz="1400" b="0" i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000" b="0" i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en-US" altLang="ko-KR" sz="1000" b="0" i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​</a:t>
                      </a:r>
                      <a:endParaRPr lang="en-US" altLang="ko-KR" sz="1400" b="0" i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000" b="0" i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1000" b="0" i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​</a:t>
                      </a:r>
                      <a:endParaRPr lang="en-US" altLang="ko-KR" sz="1400" b="0" i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9335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ko-KR" altLang="en-US" sz="1000" b="0" i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기타​</a:t>
                      </a:r>
                      <a:endParaRPr lang="ko-KR" altLang="en-US" sz="1400" b="0" i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-​</a:t>
                      </a:r>
                      <a:endParaRPr lang="en-US" altLang="ko-KR" sz="14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000" b="0" i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en-US" altLang="ko-KR" sz="1000" b="0" i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​</a:t>
                      </a:r>
                      <a:endParaRPr lang="en-US" altLang="ko-KR" sz="1400" b="0" i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​</a:t>
                      </a:r>
                      <a:endParaRPr lang="en-US" altLang="ko-KR" sz="14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000" b="0" i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1000" b="0" i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​</a:t>
                      </a:r>
                      <a:endParaRPr lang="en-US" altLang="ko-KR" sz="1400" b="0" i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​</a:t>
                      </a:r>
                      <a:endParaRPr lang="en-US" altLang="ko-KR" sz="14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193913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8ED08DC-5720-4F85-B8A3-CEB10A6F30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246903"/>
              </p:ext>
            </p:extLst>
          </p:nvPr>
        </p:nvGraphicFramePr>
        <p:xfrm>
          <a:off x="7110194" y="1035825"/>
          <a:ext cx="4585417" cy="27854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987">
                  <a:extLst>
                    <a:ext uri="{9D8B030D-6E8A-4147-A177-3AD203B41FA5}">
                      <a16:colId xmlns:a16="http://schemas.microsoft.com/office/drawing/2014/main" val="2915288099"/>
                    </a:ext>
                  </a:extLst>
                </a:gridCol>
                <a:gridCol w="1933303">
                  <a:extLst>
                    <a:ext uri="{9D8B030D-6E8A-4147-A177-3AD203B41FA5}">
                      <a16:colId xmlns:a16="http://schemas.microsoft.com/office/drawing/2014/main" val="1122124439"/>
                    </a:ext>
                  </a:extLst>
                </a:gridCol>
                <a:gridCol w="1971127">
                  <a:extLst>
                    <a:ext uri="{9D8B030D-6E8A-4147-A177-3AD203B41FA5}">
                      <a16:colId xmlns:a16="http://schemas.microsoft.com/office/drawing/2014/main" val="1093393994"/>
                    </a:ext>
                  </a:extLst>
                </a:gridCol>
              </a:tblGrid>
              <a:tr h="2572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 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위반 내용</a:t>
                      </a:r>
                      <a:endParaRPr lang="en-US" altLang="ko-KR" sz="10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판결 관련</a:t>
                      </a:r>
                      <a:endParaRPr lang="en-US" altLang="ko-KR" sz="10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464780"/>
                  </a:ext>
                </a:extLst>
              </a:tr>
              <a:tr h="84273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05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형법</a:t>
                      </a:r>
                      <a:endParaRPr lang="en-US" altLang="ko-KR" sz="105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05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(23.05.24)</a:t>
                      </a:r>
                      <a:endParaRPr lang="ko-KR" altLang="en-US" sz="105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(23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업무상 횡령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(1,136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만원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72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spc="-80" baseline="0">
                          <a:solidFill>
                            <a:srgbClr val="1919E5"/>
                          </a:solidFill>
                          <a:latin typeface="+mn-ea"/>
                        </a:rPr>
                        <a:t>징계해고하고 형사고발</a:t>
                      </a:r>
                      <a:endParaRPr lang="en-US" altLang="ko-KR" sz="1000" b="1" spc="-80" baseline="0">
                        <a:solidFill>
                          <a:srgbClr val="1919E5"/>
                        </a:solidFill>
                        <a:latin typeface="+mn-ea"/>
                      </a:endParaRPr>
                    </a:p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spc="-80" baseline="0">
                          <a:solidFill>
                            <a:schemeClr val="tx1"/>
                          </a:solidFill>
                          <a:latin typeface="+mn-ea"/>
                        </a:rPr>
                        <a:t>    </a:t>
                      </a:r>
                      <a:r>
                        <a:rPr lang="ko-KR" altLang="ko-KR" sz="1000" b="1" spc="-80" baseline="0">
                          <a:solidFill>
                            <a:schemeClr val="tx1"/>
                          </a:solidFill>
                          <a:latin typeface="+mn-ea"/>
                        </a:rPr>
                        <a:t>→</a:t>
                      </a:r>
                      <a:r>
                        <a:rPr lang="ko-KR" altLang="en-US" sz="1000" b="1" spc="-80" baseline="0">
                          <a:solidFill>
                            <a:schemeClr val="tx1"/>
                          </a:solidFill>
                          <a:latin typeface="+mn-ea"/>
                        </a:rPr>
                        <a:t> 약식 기소</a:t>
                      </a:r>
                      <a:endParaRPr lang="en-US" altLang="ko-KR" sz="1000" b="1" spc="-80" baseline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spc="-80" baseline="0">
                          <a:solidFill>
                            <a:schemeClr val="tx1"/>
                          </a:solidFill>
                          <a:latin typeface="+mn-ea"/>
                        </a:rPr>
                        <a:t>    </a:t>
                      </a:r>
                      <a:r>
                        <a:rPr lang="ko-KR" altLang="ko-KR" sz="1000" b="1" spc="-80" baseline="0">
                          <a:solidFill>
                            <a:schemeClr val="tx1"/>
                          </a:solidFill>
                          <a:latin typeface="+mn-ea"/>
                        </a:rPr>
                        <a:t>→</a:t>
                      </a:r>
                      <a:r>
                        <a:rPr lang="en-US" altLang="ko-KR" sz="1000" b="1" spc="-80" baseline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00" b="1" spc="-80" baseline="0">
                          <a:solidFill>
                            <a:schemeClr val="tx1"/>
                          </a:solidFill>
                          <a:latin typeface="+mn-ea"/>
                        </a:rPr>
                        <a:t>벌금 </a:t>
                      </a:r>
                      <a:r>
                        <a:rPr lang="en-US" altLang="ko-KR" sz="1000" b="1" spc="-80" baseline="0">
                          <a:solidFill>
                            <a:schemeClr val="tx1"/>
                          </a:solidFill>
                          <a:latin typeface="+mn-ea"/>
                        </a:rPr>
                        <a:t>150</a:t>
                      </a:r>
                      <a:r>
                        <a:rPr lang="ko-KR" altLang="en-US" sz="1000" b="1" spc="-80" baseline="0">
                          <a:solidFill>
                            <a:schemeClr val="tx1"/>
                          </a:solidFill>
                          <a:latin typeface="+mn-ea"/>
                        </a:rPr>
                        <a:t>만원</a:t>
                      </a:r>
                      <a:endParaRPr lang="en-US" altLang="ko-KR" sz="1000" b="1" spc="-8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727602"/>
                  </a:ext>
                </a:extLst>
              </a:tr>
              <a:tr h="84273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050" b="1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하도급법</a:t>
                      </a:r>
                      <a:endParaRPr lang="en-US" altLang="ko-KR" sz="105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05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(24.08.13)</a:t>
                      </a:r>
                      <a:endParaRPr lang="ko-KR" altLang="en-US" sz="105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(16~20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장려금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판촉비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등 부과 기준 위반</a:t>
                      </a:r>
                      <a:endParaRPr lang="en-US" altLang="ko-KR" sz="100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심 판결 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</a:rPr>
                        <a:t>김종수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</a:rPr>
                        <a:t>법인 무죄</a:t>
                      </a:r>
                      <a:endParaRPr lang="en-US" altLang="ko-KR" sz="1000" b="1" spc="-8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</a:t>
                      </a:r>
                      <a:r>
                        <a:rPr lang="ko-KR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</a:rPr>
                        <a:t>→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심 진행 중 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952613"/>
                  </a:ext>
                </a:extLst>
              </a:tr>
              <a:tr h="84273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05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형법</a:t>
                      </a:r>
                      <a:endParaRPr lang="en-US" altLang="ko-KR" sz="105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05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(25.12.25)</a:t>
                      </a:r>
                      <a:endParaRPr lang="ko-KR" altLang="en-US" sz="1050" b="1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(25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업무상 횡령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(160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백만원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72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spc="-80" baseline="0" dirty="0">
                          <a:solidFill>
                            <a:srgbClr val="1919E5"/>
                          </a:solidFill>
                          <a:latin typeface="+mn-ea"/>
                        </a:rPr>
                        <a:t>징계해고하고 형사고발</a:t>
                      </a:r>
                      <a:endParaRPr lang="en-US" altLang="ko-KR" sz="1000" b="1" spc="-80" baseline="0" dirty="0">
                        <a:solidFill>
                          <a:srgbClr val="1919E5"/>
                        </a:solidFill>
                        <a:latin typeface="+mn-ea"/>
                      </a:endParaRPr>
                    </a:p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</a:t>
                      </a:r>
                      <a:r>
                        <a:rPr lang="ko-KR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</a:rPr>
                        <a:t>→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약식 기소</a:t>
                      </a:r>
                      <a:endParaRPr lang="en-US" altLang="ko-KR" sz="1000" b="1" spc="-8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</a:t>
                      </a:r>
                      <a:r>
                        <a:rPr lang="ko-KR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</a:rPr>
                        <a:t>→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</a:rPr>
                        <a:t>벌금 </a:t>
                      </a:r>
                      <a:r>
                        <a:rPr lang="en-US" altLang="ko-KR" sz="1000" b="1" spc="-80" baseline="0" dirty="0">
                          <a:solidFill>
                            <a:schemeClr val="tx1"/>
                          </a:solidFill>
                          <a:latin typeface="+mn-ea"/>
                        </a:rPr>
                        <a:t>1,000</a:t>
                      </a:r>
                      <a:r>
                        <a:rPr lang="ko-KR" altLang="en-US" sz="1000" b="1" spc="-80" baseline="0" dirty="0">
                          <a:solidFill>
                            <a:schemeClr val="tx1"/>
                          </a:solidFill>
                          <a:latin typeface="+mn-ea"/>
                        </a:rPr>
                        <a:t>만원</a:t>
                      </a:r>
                      <a:endParaRPr lang="en-US" altLang="ko-KR" sz="1000" b="1" spc="-8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5852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F2D3B61-AE9D-EC87-59DA-C4F3B52E29B1}"/>
              </a:ext>
            </a:extLst>
          </p:cNvPr>
          <p:cNvSpPr txBox="1"/>
          <p:nvPr/>
        </p:nvSpPr>
        <p:spPr>
          <a:xfrm>
            <a:off x="7026769" y="692150"/>
            <a:ext cx="49045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+mn-ea"/>
              </a:rPr>
              <a:t>■</a:t>
            </a:r>
            <a:r>
              <a:rPr lang="en-US" altLang="ko-KR" sz="1200" b="1" dirty="0">
                <a:latin typeface="+mn-ea"/>
              </a:rPr>
              <a:t> (</a:t>
            </a:r>
            <a:r>
              <a:rPr lang="ko-KR" altLang="en-US" sz="1200" b="1" dirty="0">
                <a:latin typeface="+mn-ea"/>
              </a:rPr>
              <a:t>사업계획서 </a:t>
            </a:r>
            <a:r>
              <a:rPr lang="en-US" altLang="ko-KR" sz="1200" b="1" dirty="0">
                <a:latin typeface="+mn-ea"/>
              </a:rPr>
              <a:t>p.45)</a:t>
            </a:r>
            <a:r>
              <a:rPr lang="ko-KR" altLang="en-US" sz="1200" b="1" dirty="0">
                <a:latin typeface="+mn-ea"/>
              </a:rPr>
              <a:t>사업운영과 관련한 비리 등 임직원 범죄행위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2BEACE-8AFA-6E06-672F-63DB55520CE7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50/109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6341956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43615-B3E3-C6B6-8AA1-695FD4449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33FBA69-C671-AC71-1699-2C570784C2E0}"/>
              </a:ext>
            </a:extLst>
          </p:cNvPr>
          <p:cNvSpPr txBox="1"/>
          <p:nvPr/>
        </p:nvSpPr>
        <p:spPr>
          <a:xfrm>
            <a:off x="65067" y="17757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3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공정거래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FA901FF-93F6-85D0-74C6-6AEBC2A5566D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CFO</a:t>
            </a:r>
            <a:endParaRPr lang="ko-KR" altLang="en-US" sz="105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2C8EB8-FE95-9D9A-B202-4C23F5A849D0}"/>
              </a:ext>
            </a:extLst>
          </p:cNvPr>
          <p:cNvSpPr txBox="1"/>
          <p:nvPr/>
        </p:nvSpPr>
        <p:spPr>
          <a:xfrm>
            <a:off x="58232" y="309435"/>
            <a:ext cx="11010364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공정거래 제재 관련</a:t>
            </a:r>
            <a:endParaRPr lang="en-US" altLang="ko-KR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5A97AA6-3DD7-3738-A700-39EA1D2F03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0974"/>
              </p:ext>
            </p:extLst>
          </p:nvPr>
        </p:nvGraphicFramePr>
        <p:xfrm>
          <a:off x="287730" y="852431"/>
          <a:ext cx="11616540" cy="57801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18610">
                  <a:extLst>
                    <a:ext uri="{9D8B030D-6E8A-4147-A177-3AD203B41FA5}">
                      <a16:colId xmlns:a16="http://schemas.microsoft.com/office/drawing/2014/main" val="1650677874"/>
                    </a:ext>
                  </a:extLst>
                </a:gridCol>
                <a:gridCol w="6897930">
                  <a:extLst>
                    <a:ext uri="{9D8B030D-6E8A-4147-A177-3AD203B41FA5}">
                      <a16:colId xmlns:a16="http://schemas.microsoft.com/office/drawing/2014/main" val="2615130860"/>
                    </a:ext>
                  </a:extLst>
                </a:gridCol>
              </a:tblGrid>
              <a:tr h="2681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예상 질문</a:t>
                      </a:r>
                    </a:p>
                  </a:txBody>
                  <a:tcPr marL="48000" marR="48000" marT="48000" marB="4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답변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141071"/>
                  </a:ext>
                </a:extLst>
              </a:tr>
              <a:tr h="24892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Q.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제도 개선 등 다양한 활동을 하고 있지만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공정거래 제재가 많은데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여러 제도가 실효성 없는 것 아닌가요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</a:t>
                      </a:r>
                    </a:p>
                  </a:txBody>
                  <a:tcPr marL="46800" marR="48000" marT="48000" marB="4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latin typeface="+mn-ea"/>
                        </a:rPr>
                        <a:t>A. </a:t>
                      </a:r>
                      <a:r>
                        <a:rPr lang="ko-KR" altLang="en-US" sz="1100" b="1" kern="1200" dirty="0">
                          <a:solidFill>
                            <a:srgbClr val="1919E5"/>
                          </a:solidFill>
                          <a:latin typeface="+mn-ea"/>
                          <a:ea typeface="+mn-ea"/>
                          <a:cs typeface="+mn-cs"/>
                        </a:rPr>
                        <a:t>과거 일부 미흡한 부분이 있었음</a:t>
                      </a:r>
                      <a:endParaRPr lang="en-US" altLang="ko-KR" sz="1100" b="1" kern="1200" dirty="0"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   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다만 해당 제재는 대부분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2021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이전에 발생한 건으로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이후 제도 개선을 통해 현재까지 추가 발생 사례는 없었음</a:t>
                      </a:r>
                      <a:endParaRPr lang="en-US" altLang="ko-KR" sz="11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5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1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   공정거래와 정도경영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을 경영의 기본 원칙으로 인식하고 있으며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이를 </a:t>
                      </a:r>
                      <a:r>
                        <a:rPr lang="ko-KR" altLang="en-US" sz="1100" b="1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실질적으로 강화하기 위해 노력</a:t>
                      </a:r>
                      <a:endParaRPr lang="en-US" altLang="ko-KR" sz="1100" b="1" kern="1200" dirty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- (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조직 강화</a:t>
                      </a:r>
                      <a:r>
                        <a:rPr lang="en-US" altLang="ko-KR" sz="1100" b="1" u="non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b="1" u="non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경영진 중심의 </a:t>
                      </a:r>
                      <a:r>
                        <a:rPr lang="ko-KR" altLang="en-US" sz="1100" b="1" u="sng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컴플라이언스 운영협의회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를 신설하여 정기적으로 점검</a:t>
                      </a:r>
                      <a:endParaRPr lang="en-US" altLang="ko-KR" sz="11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- (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운영체계 개선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공정거래 활동을 </a:t>
                      </a:r>
                      <a:r>
                        <a:rPr lang="ko-KR" altLang="en-US" sz="1100" b="1" u="sng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국제표준</a:t>
                      </a:r>
                      <a:r>
                        <a:rPr lang="en-US" altLang="ko-KR" sz="1100" b="1" u="sng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(ISO 37301)</a:t>
                      </a:r>
                      <a:r>
                        <a:rPr lang="ko-KR" altLang="en-US" sz="1100" b="1" u="sng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 부합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하도록 체계화 했으며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(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외부기관 검증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공정거래위원회로부터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</a:rPr>
                        <a:t>공정거래자율준수프로그램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(CP)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우수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(AA) </a:t>
                      </a:r>
                      <a:r>
                        <a:rPr lang="ko-KR" altLang="en-US" sz="1100" dirty="0"/>
                        <a:t>등급을 획득하는 등 </a:t>
                      </a:r>
                      <a:endParaRPr lang="en-US" altLang="ko-KR" sz="11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                             </a:t>
                      </a:r>
                      <a:r>
                        <a:rPr lang="ko-KR" altLang="en-US" sz="1100" b="1" u="sng" dirty="0"/>
                        <a:t>개선 성과를 </a:t>
                      </a:r>
                      <a:r>
                        <a:rPr lang="ko-KR" altLang="en-US" sz="1100" b="1" u="sng"/>
                        <a:t>객관적으로 평가 받음</a:t>
                      </a:r>
                      <a:endParaRPr lang="en-US" altLang="ko-KR" sz="1100" b="1" u="sng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5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u="none" dirty="0">
                          <a:solidFill>
                            <a:schemeClr val="tx1"/>
                          </a:solidFill>
                          <a:latin typeface="+mn-ea"/>
                        </a:rPr>
                        <a:t>   </a:t>
                      </a:r>
                      <a:r>
                        <a:rPr lang="ko-KR" altLang="en-US" sz="1100" b="1" u="none">
                          <a:solidFill>
                            <a:schemeClr val="tx1"/>
                          </a:solidFill>
                          <a:latin typeface="+mn-ea"/>
                        </a:rPr>
                        <a:t>→ 협력사를 찾아가서 의견을 청취하는 제도</a:t>
                      </a:r>
                      <a:r>
                        <a:rPr lang="en-US" altLang="ko-KR" sz="1000" b="0" u="none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1000" b="0" u="none">
                          <a:solidFill>
                            <a:schemeClr val="tx1"/>
                          </a:solidFill>
                          <a:latin typeface="+mn-ea"/>
                        </a:rPr>
                        <a:t>파트너사 리스닝제도</a:t>
                      </a:r>
                      <a:r>
                        <a:rPr lang="en-US" altLang="ko-KR" sz="1000" b="0" u="none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  <a:r>
                        <a:rPr lang="ko-KR" altLang="en-US" sz="1100" b="0" u="none">
                          <a:solidFill>
                            <a:schemeClr val="tx1"/>
                          </a:solidFill>
                          <a:latin typeface="+mn-ea"/>
                        </a:rPr>
                        <a:t>를 활용해 </a:t>
                      </a:r>
                      <a:r>
                        <a:rPr lang="en-US" altLang="ko-KR" sz="1100" b="1" u="none">
                          <a:solidFill>
                            <a:srgbClr val="0000FF"/>
                          </a:solidFill>
                          <a:latin typeface="+mn-ea"/>
                        </a:rPr>
                        <a:t>①</a:t>
                      </a:r>
                      <a:r>
                        <a:rPr lang="ko-KR" altLang="en-US" sz="1100" b="1" u="none" dirty="0">
                          <a:solidFill>
                            <a:srgbClr val="0000FF"/>
                          </a:solidFill>
                          <a:latin typeface="+mn-ea"/>
                        </a:rPr>
                        <a:t>협력사 </a:t>
                      </a:r>
                      <a:r>
                        <a:rPr lang="ko-KR" altLang="en-US" sz="1100" b="1" u="none">
                          <a:solidFill>
                            <a:srgbClr val="0000FF"/>
                          </a:solidFill>
                          <a:latin typeface="+mn-ea"/>
                        </a:rPr>
                        <a:t>의견청취 확대</a:t>
                      </a:r>
                      <a:endParaRPr lang="en-US" altLang="ko-KR" sz="1100" b="1" u="none">
                        <a:solidFill>
                          <a:srgbClr val="0000FF"/>
                        </a:solidFill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u="none">
                          <a:solidFill>
                            <a:srgbClr val="0000FF"/>
                          </a:solidFill>
                          <a:latin typeface="+mn-ea"/>
                        </a:rPr>
                        <a:t>   </a:t>
                      </a:r>
                      <a:r>
                        <a:rPr lang="ko-KR" altLang="en-US" sz="1100" b="1" u="none">
                          <a:solidFill>
                            <a:schemeClr val="tx1"/>
                          </a:solidFill>
                          <a:latin typeface="+mn-ea"/>
                        </a:rPr>
                        <a:t>→</a:t>
                      </a:r>
                      <a:r>
                        <a:rPr lang="en-US" altLang="ko-KR" sz="1100" b="1" u="none">
                          <a:solidFill>
                            <a:srgbClr val="0000FF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100" b="1" u="none">
                          <a:solidFill>
                            <a:schemeClr val="tx1"/>
                          </a:solidFill>
                          <a:latin typeface="+mn-ea"/>
                        </a:rPr>
                        <a:t>내부 임직원에 대해서는 리더가 솔선수범해야 하기에</a:t>
                      </a:r>
                      <a:r>
                        <a:rPr lang="en-US" altLang="ko-KR" sz="1100" b="1" u="none">
                          <a:solidFill>
                            <a:schemeClr val="tx1"/>
                          </a:solidFill>
                          <a:latin typeface="+mn-ea"/>
                        </a:rPr>
                        <a:t>  </a:t>
                      </a:r>
                      <a:r>
                        <a:rPr lang="en-US" altLang="ko-KR" sz="1100" b="1" u="none">
                          <a:solidFill>
                            <a:srgbClr val="0000FF"/>
                          </a:solidFill>
                          <a:latin typeface="+mn-ea"/>
                        </a:rPr>
                        <a:t>②</a:t>
                      </a:r>
                      <a:r>
                        <a:rPr lang="ko-KR" altLang="en-US" sz="1100" b="1" u="none">
                          <a:solidFill>
                            <a:srgbClr val="0000FF"/>
                          </a:solidFill>
                          <a:latin typeface="+mn-ea"/>
                        </a:rPr>
                        <a:t>리더 공정거래와 정도경영 교육 집중</a:t>
                      </a:r>
                      <a:endParaRPr lang="en-US" altLang="ko-KR" sz="1100" b="1" u="none" dirty="0">
                        <a:solidFill>
                          <a:srgbClr val="0000FF"/>
                        </a:solidFill>
                        <a:latin typeface="+mn-ea"/>
                      </a:endParaRPr>
                    </a:p>
                  </a:txBody>
                  <a:tcPr marL="468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136880"/>
                  </a:ext>
                </a:extLst>
              </a:tr>
              <a:tr h="665255">
                <a:tc>
                  <a:txBody>
                    <a:bodyPr/>
                    <a:lstStyle/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Q.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공정거래 제재 발생 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임직원 징계를 하고 있나요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800" marR="48000" marT="48000" marB="4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latin typeface="+mn-ea"/>
                        </a:rPr>
                        <a:t>A. </a:t>
                      </a:r>
                      <a:r>
                        <a:rPr lang="ko-KR" altLang="en-US" sz="1100" b="1" u="none" dirty="0">
                          <a:latin typeface="+mn-ea"/>
                        </a:rPr>
                        <a:t>임직원 귀책 여부가 확인되면 </a:t>
                      </a:r>
                      <a:r>
                        <a:rPr lang="ko-KR" altLang="en-US" sz="1100" b="1" u="none" dirty="0">
                          <a:solidFill>
                            <a:srgbClr val="1919E5"/>
                          </a:solidFill>
                          <a:latin typeface="+mn-ea"/>
                        </a:rPr>
                        <a:t>인사 조치</a:t>
                      </a:r>
                      <a:r>
                        <a:rPr lang="en-US" altLang="ko-KR" sz="1100" b="1" u="none" dirty="0">
                          <a:solidFill>
                            <a:srgbClr val="1919E5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1100" b="1" u="none" dirty="0">
                          <a:latin typeface="+mn-ea"/>
                        </a:rPr>
                        <a:t>프로세스가 미흡한 경우 </a:t>
                      </a:r>
                      <a:r>
                        <a:rPr lang="ko-KR" altLang="en-US" sz="1100" b="1" u="none" dirty="0">
                          <a:solidFill>
                            <a:srgbClr val="1919E5"/>
                          </a:solidFill>
                          <a:latin typeface="+mn-ea"/>
                        </a:rPr>
                        <a:t>프로세스 개선</a:t>
                      </a:r>
                      <a:endParaRPr lang="en-US" altLang="ko-KR" sz="1100" b="1" u="none" dirty="0">
                        <a:solidFill>
                          <a:srgbClr val="1919E5"/>
                        </a:solidFill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</a:rPr>
                        <a:t>   </a:t>
                      </a:r>
                      <a:r>
                        <a:rPr lang="en-US" altLang="ko-KR" sz="1050" b="0" dirty="0">
                          <a:latin typeface="+mn-ea"/>
                        </a:rPr>
                        <a:t> ※ </a:t>
                      </a:r>
                      <a:r>
                        <a:rPr lang="en-US" altLang="ko-KR" sz="1000" b="0" dirty="0">
                          <a:latin typeface="+mn-ea"/>
                        </a:rPr>
                        <a:t>(</a:t>
                      </a:r>
                      <a:r>
                        <a:rPr lang="ko-KR" altLang="en-US" sz="1000" b="0" dirty="0" err="1">
                          <a:latin typeface="+mn-ea"/>
                        </a:rPr>
                        <a:t>공정위</a:t>
                      </a:r>
                      <a:r>
                        <a:rPr lang="ko-KR" altLang="en-US" sz="1000" b="0" dirty="0">
                          <a:latin typeface="+mn-ea"/>
                        </a:rPr>
                        <a:t> 제재</a:t>
                      </a:r>
                      <a:r>
                        <a:rPr lang="ko-KR" altLang="en-US" sz="1000" b="0" u="none" dirty="0">
                          <a:latin typeface="+mn-ea"/>
                        </a:rPr>
                        <a:t>는</a:t>
                      </a:r>
                      <a:r>
                        <a:rPr lang="ko-KR" altLang="en-US" sz="1000" b="0" dirty="0">
                          <a:latin typeface="+mn-ea"/>
                        </a:rPr>
                        <a:t> 아니지만</a:t>
                      </a:r>
                      <a:r>
                        <a:rPr lang="en-US" altLang="ko-KR" sz="1000" b="0" dirty="0">
                          <a:latin typeface="+mn-ea"/>
                        </a:rPr>
                        <a:t>, </a:t>
                      </a:r>
                      <a:r>
                        <a:rPr lang="ko-KR" altLang="en-US" sz="1000" b="0" dirty="0">
                          <a:latin typeface="+mn-ea"/>
                        </a:rPr>
                        <a:t>사업계획서 </a:t>
                      </a:r>
                      <a:r>
                        <a:rPr lang="en-US" altLang="ko-KR" sz="1000" b="0" dirty="0">
                          <a:latin typeface="+mn-ea"/>
                        </a:rPr>
                        <a:t>p45)</a:t>
                      </a:r>
                      <a:r>
                        <a:rPr lang="ko-KR" altLang="en-US" sz="1000" b="0" dirty="0">
                          <a:latin typeface="+mn-ea"/>
                        </a:rPr>
                        <a:t>편의점 횡령 </a:t>
                      </a:r>
                      <a:r>
                        <a:rPr lang="en-US" altLang="ko-KR" sz="1000" b="0" dirty="0">
                          <a:latin typeface="+mn-ea"/>
                        </a:rPr>
                        <a:t>2</a:t>
                      </a:r>
                      <a:r>
                        <a:rPr lang="ko-KR" altLang="en-US" sz="1000" b="0" dirty="0">
                          <a:latin typeface="+mn-ea"/>
                        </a:rPr>
                        <a:t>건 </a:t>
                      </a:r>
                      <a:r>
                        <a:rPr lang="ko-KR" altLang="en-US" sz="1000" b="0" u="sng" dirty="0">
                          <a:latin typeface="+mn-ea"/>
                        </a:rPr>
                        <a:t>징계해고</a:t>
                      </a:r>
                      <a:r>
                        <a:rPr lang="en-US" altLang="ko-KR" sz="1000" b="0" u="sng" dirty="0">
                          <a:latin typeface="+mn-ea"/>
                        </a:rPr>
                        <a:t>-</a:t>
                      </a:r>
                      <a:r>
                        <a:rPr lang="ko-KR" altLang="en-US" sz="1000" b="0" u="sng" dirty="0">
                          <a:latin typeface="+mn-ea"/>
                        </a:rPr>
                        <a:t>형사고발</a:t>
                      </a:r>
                      <a:endParaRPr lang="en-US" altLang="ko-KR" sz="1000" b="0" u="sng" dirty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</a:rPr>
                        <a:t>    ※ </a:t>
                      </a:r>
                      <a:r>
                        <a:rPr lang="en-US" altLang="ko-KR" sz="1000" b="0" u="sng" dirty="0">
                          <a:solidFill>
                            <a:schemeClr val="tx1"/>
                          </a:solidFill>
                          <a:latin typeface="+mn-ea"/>
                        </a:rPr>
                        <a:t>15</a:t>
                      </a:r>
                      <a:r>
                        <a:rPr lang="ko-KR" altLang="en-US" sz="1000" b="0" u="sng" dirty="0">
                          <a:solidFill>
                            <a:schemeClr val="tx1"/>
                          </a:solidFill>
                          <a:latin typeface="+mn-ea"/>
                        </a:rPr>
                        <a:t>년</a:t>
                      </a:r>
                      <a:r>
                        <a:rPr lang="en-US" altLang="ko-KR" sz="1000" b="0" u="sng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00" b="0" u="sng" dirty="0" err="1">
                          <a:solidFill>
                            <a:schemeClr val="tx1"/>
                          </a:solidFill>
                          <a:latin typeface="+mn-ea"/>
                        </a:rPr>
                        <a:t>공정위</a:t>
                      </a:r>
                      <a:r>
                        <a:rPr lang="ko-KR" altLang="en-US" sz="1000" b="0" u="sng" dirty="0">
                          <a:solidFill>
                            <a:schemeClr val="tx1"/>
                          </a:solidFill>
                          <a:latin typeface="+mn-ea"/>
                        </a:rPr>
                        <a:t> 처분 결과에 따라 </a:t>
                      </a:r>
                      <a:r>
                        <a:rPr lang="en-US" altLang="ko-KR" sz="1000" b="0" u="sng" dirty="0">
                          <a:solidFill>
                            <a:schemeClr val="tx1"/>
                          </a:solidFill>
                          <a:latin typeface="+mn-ea"/>
                        </a:rPr>
                        <a:t>16</a:t>
                      </a:r>
                      <a:r>
                        <a:rPr lang="ko-KR" altLang="en-US" sz="1000" b="0" u="sng" dirty="0">
                          <a:solidFill>
                            <a:schemeClr val="tx1"/>
                          </a:solidFill>
                          <a:latin typeface="+mn-ea"/>
                        </a:rPr>
                        <a:t>년 직원 징계</a:t>
                      </a:r>
                      <a:endParaRPr lang="en-US" altLang="ko-KR" sz="1000" b="0" u="sng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68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215538"/>
                  </a:ext>
                </a:extLst>
              </a:tr>
              <a:tr h="2357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Q.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(p.55)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불공정거래로 인한 피해 발생시 보상하는 규정이 있는데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공정거래 법위반에 대해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협력사에게 피해 보상 사례가 있었나요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800" marR="48000" marT="48000" marB="4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A.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피해 보상 제도는 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불공정거래로 협력사가 피해를 받았다고 제보하면 감사조직이 피해사실을 확인하여 보상하는 제도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→ 현재까지 사례 없음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공정위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제재는 </a:t>
                      </a:r>
                      <a:r>
                        <a:rPr lang="ko-KR" altLang="en-US" sz="1100" b="1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처분에 따라 충실히 이행 완료</a:t>
                      </a:r>
                      <a:endParaRPr lang="en-US" altLang="ko-KR" sz="1100" b="1" dirty="0">
                        <a:solidFill>
                          <a:srgbClr val="1919E5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1919E5"/>
                          </a:solidFill>
                          <a:latin typeface="+mn-ea"/>
                          <a:ea typeface="+mn-ea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보충설명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※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공정위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경고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'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제재였지만 당사가 자발적으로 피해 보상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- </a:t>
                      </a:r>
                      <a:r>
                        <a:rPr lang="ko-KR" altLang="en-US" sz="1000" b="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법원의 가압류 요청에 따라</a:t>
                      </a:r>
                      <a:r>
                        <a:rPr lang="en-US" altLang="ko-KR" sz="1000" b="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14</a:t>
                      </a:r>
                      <a:r>
                        <a:rPr lang="ko-KR" altLang="en-US" sz="1000" b="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협력사 대금</a:t>
                      </a:r>
                      <a:r>
                        <a:rPr lang="en-US" altLang="ko-KR" sz="1000" b="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지급 보류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→ 지</a:t>
                      </a:r>
                      <a:r>
                        <a:rPr lang="ko-KR" altLang="en-US" sz="1000" b="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연이자 </a:t>
                      </a:r>
                      <a:r>
                        <a:rPr lang="en-US" altLang="ko-KR" sz="1000" b="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000" b="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백만원 지급</a:t>
                      </a:r>
                      <a:endParaRPr lang="en-US" altLang="ko-KR" sz="1000" b="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※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불공정거래행위로 인한 협력사 피해 사례는 없었으나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동반성장 차원에서 적극적으로 지원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just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-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코로나로 중소기업 경영 환경이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어려울때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판매수수료 환급 증액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당초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 →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39.7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8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4799984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A2C3C0-B84A-BD8F-B052-6BB474FE8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780" y="4711338"/>
            <a:ext cx="3039290" cy="18637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26EAA0-7F36-2258-984D-5DCD5907A635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51/109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5327796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7F4B5-49B4-CD4F-D212-59683F308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C79C7A-76A1-932A-BFA3-C8D0A61D1DB3}"/>
              </a:ext>
            </a:extLst>
          </p:cNvPr>
          <p:cNvSpPr txBox="1"/>
          <p:nvPr/>
        </p:nvSpPr>
        <p:spPr>
          <a:xfrm>
            <a:off x="52254" y="73387"/>
            <a:ext cx="10337074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just" latinLnBrk="1">
              <a:lnSpc>
                <a:spcPct val="120000"/>
              </a:lnSpc>
              <a:spcAft>
                <a:spcPts val="0"/>
              </a:spcAf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컴플라이언스 운영협의회 안건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공정거래 방향성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047B71A-921F-C152-F001-8D634F480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994180"/>
              </p:ext>
            </p:extLst>
          </p:nvPr>
        </p:nvGraphicFramePr>
        <p:xfrm>
          <a:off x="327632" y="1525814"/>
          <a:ext cx="11536736" cy="4976587"/>
        </p:xfrm>
        <a:graphic>
          <a:graphicData uri="http://schemas.openxmlformats.org/drawingml/2006/table">
            <a:tbl>
              <a:tblPr firstRow="1" firstCol="1" bandRow="1"/>
              <a:tblGrid>
                <a:gridCol w="606912">
                  <a:extLst>
                    <a:ext uri="{9D8B030D-6E8A-4147-A177-3AD203B41FA5}">
                      <a16:colId xmlns:a16="http://schemas.microsoft.com/office/drawing/2014/main" val="211053510"/>
                    </a:ext>
                  </a:extLst>
                </a:gridCol>
                <a:gridCol w="2400839">
                  <a:extLst>
                    <a:ext uri="{9D8B030D-6E8A-4147-A177-3AD203B41FA5}">
                      <a16:colId xmlns:a16="http://schemas.microsoft.com/office/drawing/2014/main" val="324032121"/>
                    </a:ext>
                  </a:extLst>
                </a:gridCol>
                <a:gridCol w="4406537">
                  <a:extLst>
                    <a:ext uri="{9D8B030D-6E8A-4147-A177-3AD203B41FA5}">
                      <a16:colId xmlns:a16="http://schemas.microsoft.com/office/drawing/2014/main" val="2129753053"/>
                    </a:ext>
                  </a:extLst>
                </a:gridCol>
                <a:gridCol w="4122448">
                  <a:extLst>
                    <a:ext uri="{9D8B030D-6E8A-4147-A177-3AD203B41FA5}">
                      <a16:colId xmlns:a16="http://schemas.microsoft.com/office/drawing/2014/main" val="4223895482"/>
                    </a:ext>
                  </a:extLst>
                </a:gridCol>
              </a:tblGrid>
              <a:tr h="324731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200" b="1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회차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2635" marR="32635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200" b="1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안건명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2635" marR="3263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주요 주제 및 논의 내용</a:t>
                      </a:r>
                    </a:p>
                  </a:txBody>
                  <a:tcPr marL="32635" marR="3263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개선 과제 및 활동</a:t>
                      </a:r>
                    </a:p>
                  </a:txBody>
                  <a:tcPr marL="32635" marR="3263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572175"/>
                  </a:ext>
                </a:extLst>
              </a:tr>
              <a:tr h="955052">
                <a:tc rowSpan="2"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  <a:buNone/>
                      </a:pPr>
                      <a:r>
                        <a:rPr lang="ko-KR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굴림" panose="020B0600000101010101" pitchFamily="50" charset="-127"/>
                        </a:rPr>
                        <a:t>제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굴림" panose="020B0600000101010101" pitchFamily="50" charset="-127"/>
                        </a:rPr>
                        <a:t>1</a:t>
                      </a:r>
                      <a:r>
                        <a:rPr lang="ko-KR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굴림" panose="020B0600000101010101" pitchFamily="50" charset="-127"/>
                        </a:rPr>
                        <a:t>회</a:t>
                      </a:r>
                    </a:p>
                    <a:p>
                      <a:pPr algn="ctr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2635" marR="32635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24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준범점검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결과</a:t>
                      </a:r>
                      <a:endParaRPr lang="en-US" altLang="ko-KR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및</a:t>
                      </a: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'25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계획 보고</a:t>
                      </a:r>
                    </a:p>
                  </a:txBody>
                  <a:tcPr marL="32635" marR="3263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전사 </a:t>
                      </a:r>
                      <a:r>
                        <a:rPr lang="en-US" altLang="ko-KR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MD </a:t>
                      </a: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대상 자율점검 및 설문을 통해 준법 취약점 점검</a:t>
                      </a:r>
                      <a:endParaRPr lang="en-US" altLang="ko-KR" sz="1200" b="0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indent="-10800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SNS </a:t>
                      </a: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 주류 광고 집행</a:t>
                      </a:r>
                      <a:r>
                        <a:rPr lang="en-US" altLang="ko-KR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및 반품 증빙 등 점검 실시 </a:t>
                      </a:r>
                      <a:endParaRPr lang="en-US" altLang="ko-KR" sz="1200" b="0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indent="-10800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OFC </a:t>
                      </a: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직무별 준법 교육</a:t>
                      </a:r>
                      <a:r>
                        <a:rPr lang="en-US" altLang="ko-KR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및 캠페인 시행 추진</a:t>
                      </a:r>
                    </a:p>
                  </a:txBody>
                  <a:tcPr marL="32635" marR="3263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자율점검 반기 정례화 전환</a:t>
                      </a:r>
                      <a:endParaRPr lang="en-US" altLang="ko-KR" sz="1200" b="0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indent="-10800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1" u="sng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취약 항목 집중 점검</a:t>
                      </a:r>
                      <a:r>
                        <a:rPr lang="en-US" altLang="ko-KR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SNS </a:t>
                      </a: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광고 및 </a:t>
                      </a:r>
                      <a:r>
                        <a:rPr lang="ko-KR" altLang="en-US" sz="1200" b="1" u="sng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증빙 모니터링 강화</a:t>
                      </a:r>
                      <a:endParaRPr lang="en-US" altLang="ko-KR" sz="1200" b="1" u="sng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indent="-10800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공정거래 교육 콘텐츠 확대 및 </a:t>
                      </a:r>
                      <a:r>
                        <a:rPr lang="en-US" altLang="ko-KR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CP </a:t>
                      </a: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등급평가 계획 추진</a:t>
                      </a:r>
                    </a:p>
                  </a:txBody>
                  <a:tcPr marL="32635" marR="3263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991618"/>
                  </a:ext>
                </a:extLst>
              </a:tr>
              <a:tr h="130217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2635" marR="326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24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lang="ko-KR" altLang="en-US" sz="1200" b="1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자율준수프로그램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운영실적 및</a:t>
                      </a: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algn="ctr" latinLnBrk="0">
                        <a:lnSpc>
                          <a:spcPct val="150000"/>
                        </a:lnSpc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'25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계획 보고</a:t>
                      </a:r>
                    </a:p>
                  </a:txBody>
                  <a:tcPr marL="32635" marR="3263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CEO / BU</a:t>
                      </a: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장 </a:t>
                      </a:r>
                      <a:r>
                        <a:rPr lang="ko-KR" altLang="en-US" sz="1200" b="0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준법레터</a:t>
                      </a: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운영</a:t>
                      </a:r>
                      <a:endParaRPr lang="en-US" altLang="ko-KR" sz="1200" b="0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indent="-10800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컴플라이언스 운영기준 가이드 및 </a:t>
                      </a:r>
                      <a:r>
                        <a:rPr lang="ko-KR" altLang="en-US" sz="1200" b="0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자율준수편람</a:t>
                      </a: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재정 배포</a:t>
                      </a:r>
                      <a:endParaRPr lang="en-US" altLang="ko-KR" sz="1200" b="0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indent="-10800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전사 </a:t>
                      </a:r>
                      <a:r>
                        <a:rPr lang="en-US" altLang="ko-KR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MD </a:t>
                      </a: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자율점검</a:t>
                      </a:r>
                      <a:r>
                        <a:rPr lang="en-US" altLang="ko-KR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시행</a:t>
                      </a:r>
                      <a:endParaRPr lang="en-US" altLang="ko-KR" sz="1200" b="0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indent="-10800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SNS </a:t>
                      </a: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광고 모니터링을 통한 취약점 개선 활동</a:t>
                      </a:r>
                    </a:p>
                  </a:txBody>
                  <a:tcPr marL="32635" marR="3263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1" u="sng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컴플라이언스</a:t>
                      </a:r>
                      <a:r>
                        <a:rPr lang="en-US" altLang="ko-KR" sz="1200" b="1" u="sng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1" u="sng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핵심가치</a:t>
                      </a:r>
                      <a:r>
                        <a:rPr lang="en-US" altLang="ko-KR" sz="1200" b="1" u="sng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b="1" u="sng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선포식</a:t>
                      </a:r>
                      <a:r>
                        <a:rPr lang="ko-KR" altLang="en-US" sz="1200" b="1" u="sng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정례화</a:t>
                      </a:r>
                      <a:endParaRPr lang="en-US" altLang="ko-KR" sz="1200" b="1" u="sng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indent="-10800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b="1" u="sng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CEO/ BU</a:t>
                      </a:r>
                      <a:r>
                        <a:rPr lang="ko-KR" altLang="en-US" sz="1200" b="1" u="sng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장 </a:t>
                      </a:r>
                      <a:r>
                        <a:rPr lang="ko-KR" altLang="en-US" sz="1200" b="1" u="sng" kern="1200" spc="-8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준법레터</a:t>
                      </a:r>
                      <a:r>
                        <a:rPr lang="ko-KR" altLang="en-US" sz="1200" b="1" u="sng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운영 반기 확대</a:t>
                      </a:r>
                      <a:endParaRPr lang="en-US" altLang="ko-KR" sz="1200" b="1" u="sng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indent="-10800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CP </a:t>
                      </a: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가이드북 업데이트 및 교육 효과 측정 고도화</a:t>
                      </a:r>
                      <a:r>
                        <a:rPr lang="en-US" altLang="ko-KR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108000" indent="-10800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계열사 거래 프로세스 개선</a:t>
                      </a:r>
                    </a:p>
                  </a:txBody>
                  <a:tcPr marL="32635" marR="3263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8238691"/>
                  </a:ext>
                </a:extLst>
              </a:tr>
              <a:tr h="851902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  <a:buNone/>
                      </a:pPr>
                      <a:r>
                        <a:rPr lang="ko-KR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굴림" panose="020B0600000101010101" pitchFamily="50" charset="-127"/>
                        </a:rPr>
                        <a:t>제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굴림" panose="020B0600000101010101" pitchFamily="50" charset="-127"/>
                        </a:rPr>
                        <a:t>2</a:t>
                      </a:r>
                      <a:r>
                        <a:rPr lang="ko-KR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굴림" panose="020B0600000101010101" pitchFamily="50" charset="-127"/>
                        </a:rPr>
                        <a:t>회</a:t>
                      </a:r>
                      <a:endParaRPr lang="ko-KR" sz="1200" b="1" dirty="0">
                        <a:effectLst/>
                        <a:latin typeface="+mn-ea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32635" marR="32635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정보보안 강화 프로젝트</a:t>
                      </a:r>
                      <a:endParaRPr lang="en-US" altLang="ko-KR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최종 결과</a:t>
                      </a:r>
                    </a:p>
                  </a:txBody>
                  <a:tcPr marL="32635" marR="3263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전사 정보보안 규정 및 운영체계 점검</a:t>
                      </a:r>
                      <a:r>
                        <a:rPr lang="en-US" altLang="ko-KR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indent="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→ </a:t>
                      </a: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시스템 취약점 진단을 통해 현재 보안 수준 평가 및</a:t>
                      </a:r>
                      <a:endParaRPr lang="en-US" altLang="ko-KR" sz="1200" b="0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중장기 보안</a:t>
                      </a:r>
                      <a:r>
                        <a:rPr lang="en-US" altLang="ko-KR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방향 검토</a:t>
                      </a:r>
                    </a:p>
                  </a:txBody>
                  <a:tcPr marL="32635" marR="3263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정보보안 규정 및 운영체계 개편</a:t>
                      </a:r>
                      <a:r>
                        <a:rPr lang="en-US" altLang="ko-KR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및 보안 거버넌스 구축 </a:t>
                      </a:r>
                      <a:r>
                        <a:rPr lang="en-US" altLang="ko-KR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108000" indent="-10800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1" u="sng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시스템 취약점 개선</a:t>
                      </a: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 보안 로드맵 수립 및 단계적 실행</a:t>
                      </a:r>
                    </a:p>
                  </a:txBody>
                  <a:tcPr marL="32635" marR="3263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867818"/>
                  </a:ext>
                </a:extLst>
              </a:tr>
              <a:tr h="984473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  <a:buNone/>
                      </a:pPr>
                      <a:r>
                        <a:rPr lang="ko-KR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굴림" panose="020B0600000101010101" pitchFamily="50" charset="-127"/>
                        </a:rPr>
                        <a:t>제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굴림" panose="020B0600000101010101" pitchFamily="50" charset="-127"/>
                        </a:rPr>
                        <a:t>3</a:t>
                      </a:r>
                      <a:r>
                        <a:rPr lang="ko-KR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굴림" panose="020B0600000101010101" pitchFamily="50" charset="-127"/>
                        </a:rPr>
                        <a:t>회</a:t>
                      </a:r>
                      <a:endParaRPr lang="ko-KR" sz="1200" b="1" dirty="0">
                        <a:effectLst/>
                        <a:latin typeface="+mn-ea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32635" marR="32635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신정부 출범 이후 기업지배구조 규제개선 정책 및 </a:t>
                      </a:r>
                      <a:endParaRPr lang="en-US" altLang="ko-KR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기업의 유의사항</a:t>
                      </a:r>
                    </a:p>
                  </a:txBody>
                  <a:tcPr marL="32635" marR="3263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기업지배구조 규제 개선 정책 방향 및 추가 상법 개정 검토</a:t>
                      </a:r>
                      <a:r>
                        <a:rPr lang="en-US" altLang="ko-KR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108000" indent="-10800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기업 영향 및 대응 필요 사항 논의</a:t>
                      </a:r>
                    </a:p>
                  </a:txBody>
                  <a:tcPr marL="32635" marR="3263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상법</a:t>
                      </a:r>
                      <a:r>
                        <a:rPr lang="en-US" altLang="ko-KR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및 관련 제도 변화 지속 모니터링</a:t>
                      </a:r>
                      <a:r>
                        <a:rPr lang="en-US" altLang="ko-KR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108000" indent="-10800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1" u="sng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내부 규정 및 운영체계 사전 점검</a:t>
                      </a:r>
                      <a:r>
                        <a:rPr lang="en-US" altLang="ko-KR" sz="1200" b="1" u="sng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b="1" u="sng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정비</a:t>
                      </a:r>
                      <a:r>
                        <a:rPr lang="en-US" altLang="ko-KR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/ </a:t>
                      </a:r>
                    </a:p>
                    <a:p>
                      <a:pPr marL="0" indent="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주요 리스크 중심 대응 방안 마련</a:t>
                      </a:r>
                    </a:p>
                  </a:txBody>
                  <a:tcPr marL="32635" marR="3263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8309238"/>
                  </a:ext>
                </a:extLst>
              </a:tr>
              <a:tr h="558259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  <a:buNone/>
                      </a:pPr>
                      <a:r>
                        <a:rPr lang="ko-KR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굴림" panose="020B0600000101010101" pitchFamily="50" charset="-127"/>
                        </a:rPr>
                        <a:t>제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굴림" panose="020B0600000101010101" pitchFamily="50" charset="-127"/>
                        </a:rPr>
                        <a:t>4</a:t>
                      </a:r>
                      <a:r>
                        <a:rPr lang="ko-KR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굴림" panose="020B0600000101010101" pitchFamily="50" charset="-127"/>
                        </a:rPr>
                        <a:t>회</a:t>
                      </a:r>
                      <a:endParaRPr lang="ko-KR" sz="1200" b="1" dirty="0">
                        <a:effectLst/>
                        <a:latin typeface="+mn-ea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32635" marR="32635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새 정부의 공정거래 </a:t>
                      </a:r>
                      <a:endParaRPr lang="en-US" altLang="ko-KR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정책 동향 및</a:t>
                      </a: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시사점</a:t>
                      </a:r>
                    </a:p>
                  </a:txBody>
                  <a:tcPr marL="32635" marR="3263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공정거래 정책 방향 및 관련 법 집행</a:t>
                      </a:r>
                      <a:r>
                        <a:rPr lang="en-US" altLang="ko-KR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입법 동향 분석</a:t>
                      </a:r>
                      <a:endParaRPr lang="en-US" altLang="ko-KR" sz="1200" b="0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indent="-10800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기업 영향 검토</a:t>
                      </a:r>
                    </a:p>
                  </a:txBody>
                  <a:tcPr marL="32635" marR="3263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공정거래 정책 및 입법 동향 지속 점검</a:t>
                      </a:r>
                      <a:r>
                        <a:rPr lang="en-US" altLang="ko-KR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108000" indent="-10800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제도 변화 대비 내부 정책 및 업무 절차 점검</a:t>
                      </a:r>
                      <a:r>
                        <a:rPr lang="en-US" altLang="ko-KR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방안 마련</a:t>
                      </a:r>
                    </a:p>
                  </a:txBody>
                  <a:tcPr marL="32635" marR="3263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95811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E33F453-3830-8DEF-D385-C6C21E7AF38F}"/>
              </a:ext>
            </a:extLst>
          </p:cNvPr>
          <p:cNvSpPr txBox="1"/>
          <p:nvPr/>
        </p:nvSpPr>
        <p:spPr>
          <a:xfrm>
            <a:off x="278104" y="571719"/>
            <a:ext cx="11913896" cy="8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latin typeface="+mn-ea"/>
              </a:rPr>
              <a:t>■ 공정거래 문화 정착과 취약점 점검 </a:t>
            </a:r>
            <a:r>
              <a:rPr lang="en-US" altLang="ko-KR" sz="1200" b="1" dirty="0">
                <a:latin typeface="+mn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+mn-ea"/>
              </a:rPr>
              <a:t>    - 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공정거래 문화 정착</a:t>
            </a:r>
            <a:r>
              <a:rPr lang="en-US" altLang="ko-KR" sz="1200" b="1" dirty="0">
                <a:latin typeface="+mn-ea"/>
              </a:rPr>
              <a:t>) '</a:t>
            </a:r>
            <a:r>
              <a:rPr lang="ko-KR" altLang="en-US" sz="1200" b="1" dirty="0">
                <a:latin typeface="+mn-ea"/>
              </a:rPr>
              <a:t>공정거래</a:t>
            </a:r>
            <a:r>
              <a:rPr lang="en-US" altLang="ko-KR" sz="1200" b="1" dirty="0">
                <a:latin typeface="+mn-ea"/>
              </a:rPr>
              <a:t>'</a:t>
            </a:r>
            <a:r>
              <a:rPr lang="ko-KR" altLang="en-US" sz="1200" b="1" dirty="0">
                <a:latin typeface="+mn-ea"/>
              </a:rPr>
              <a:t>가 회사 운영 기본 방침임을 지속 알리고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 err="1">
                <a:latin typeface="+mn-ea"/>
              </a:rPr>
              <a:t>준법레터</a:t>
            </a:r>
            <a:r>
              <a:rPr lang="en-US" altLang="ko-KR" sz="1000" dirty="0">
                <a:latin typeface="+mn-ea"/>
              </a:rPr>
              <a:t>) </a:t>
            </a:r>
            <a:r>
              <a:rPr lang="ko-KR" altLang="en-US" sz="1200" b="1" dirty="0">
                <a:latin typeface="+mn-ea"/>
              </a:rPr>
              <a:t>리더 대상 교육 강화</a:t>
            </a:r>
            <a:r>
              <a:rPr lang="en-US" altLang="ko-KR" sz="1000" dirty="0">
                <a:latin typeface="+mn-ea"/>
              </a:rPr>
              <a:t>(25</a:t>
            </a:r>
            <a:r>
              <a:rPr lang="ko-KR" altLang="en-US" sz="1000" dirty="0">
                <a:latin typeface="+mn-ea"/>
              </a:rPr>
              <a:t>년부터 모든 리더 정도경영 교육 실시 중</a:t>
            </a:r>
            <a:r>
              <a:rPr lang="en-US" altLang="ko-KR" sz="100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+mn-ea"/>
              </a:rPr>
              <a:t>    - 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취약점 점검</a:t>
            </a:r>
            <a:r>
              <a:rPr lang="en-US" altLang="ko-KR" sz="1200" b="1" dirty="0">
                <a:latin typeface="+mn-ea"/>
              </a:rPr>
              <a:t>) (</a:t>
            </a:r>
            <a:r>
              <a:rPr lang="ko-KR" altLang="en-US" sz="1200" b="1" dirty="0">
                <a:latin typeface="+mn-ea"/>
              </a:rPr>
              <a:t>협력사와 거래가 빈번한 부서 위주로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프로세스 정기 점검</a:t>
            </a:r>
            <a:endParaRPr lang="ko-KR" altLang="en-US" sz="1200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65AC6B-9276-7756-91F5-60DB67B22EC1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52/109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20421397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A7758F-C260-FF12-1BF3-7C2E96DA0DCB}"/>
              </a:ext>
            </a:extLst>
          </p:cNvPr>
          <p:cNvSpPr txBox="1"/>
          <p:nvPr/>
        </p:nvSpPr>
        <p:spPr>
          <a:xfrm>
            <a:off x="60963" y="57505"/>
            <a:ext cx="9804826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b="1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예방</a:t>
            </a:r>
            <a:r>
              <a:rPr lang="en-US" altLang="ko-KR" b="1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-</a:t>
            </a:r>
            <a:r>
              <a:rPr lang="ko-KR" altLang="en-US" b="1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통제</a:t>
            </a:r>
            <a:r>
              <a:rPr lang="en-US" altLang="ko-KR" b="1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-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점검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-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제보</a:t>
            </a:r>
            <a:r>
              <a:rPr lang="en-US" altLang="ko-KR" b="1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-</a:t>
            </a:r>
            <a:r>
              <a:rPr lang="ko-KR" altLang="en-US" b="1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개선</a:t>
            </a:r>
            <a:endParaRPr lang="en-US" altLang="ko-KR" b="1" dirty="0">
              <a:solidFill>
                <a:schemeClr val="bg2">
                  <a:lumMod val="75000"/>
                </a:schemeClr>
              </a:solidFill>
              <a:latin typeface="+mn-ea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FEB081F-71C1-A8F6-3209-181BA62665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624109"/>
              </p:ext>
            </p:extLst>
          </p:nvPr>
        </p:nvGraphicFramePr>
        <p:xfrm>
          <a:off x="248194" y="719664"/>
          <a:ext cx="11695613" cy="5912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120">
                  <a:extLst>
                    <a:ext uri="{9D8B030D-6E8A-4147-A177-3AD203B41FA5}">
                      <a16:colId xmlns:a16="http://schemas.microsoft.com/office/drawing/2014/main" val="2229702227"/>
                    </a:ext>
                  </a:extLst>
                </a:gridCol>
                <a:gridCol w="2704747">
                  <a:extLst>
                    <a:ext uri="{9D8B030D-6E8A-4147-A177-3AD203B41FA5}">
                      <a16:colId xmlns:a16="http://schemas.microsoft.com/office/drawing/2014/main" val="1759282620"/>
                    </a:ext>
                  </a:extLst>
                </a:gridCol>
                <a:gridCol w="2704747">
                  <a:extLst>
                    <a:ext uri="{9D8B030D-6E8A-4147-A177-3AD203B41FA5}">
                      <a16:colId xmlns:a16="http://schemas.microsoft.com/office/drawing/2014/main" val="3777517204"/>
                    </a:ext>
                  </a:extLst>
                </a:gridCol>
                <a:gridCol w="5250999">
                  <a:extLst>
                    <a:ext uri="{9D8B030D-6E8A-4147-A177-3AD203B41FA5}">
                      <a16:colId xmlns:a16="http://schemas.microsoft.com/office/drawing/2014/main" val="3923175107"/>
                    </a:ext>
                  </a:extLst>
                </a:gridCol>
              </a:tblGrid>
              <a:tr h="3093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내부 자체 점검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객관적인 내부 의견 청취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외부제보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936681"/>
                  </a:ext>
                </a:extLst>
              </a:tr>
              <a:tr h="24917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점검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제보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714349"/>
                  </a:ext>
                </a:extLst>
              </a:tr>
              <a:tr h="14824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포상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440614"/>
                  </a:ext>
                </a:extLst>
              </a:tr>
              <a:tr h="16293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개선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징계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454813"/>
                  </a:ext>
                </a:extLst>
              </a:tr>
            </a:tbl>
          </a:graphicData>
        </a:graphic>
      </p:graphicFrame>
      <p:pic>
        <p:nvPicPr>
          <p:cNvPr id="5" name="그림 4" descr="텍스트, 스크린샷, 의류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BA46FD-7EC8-A7E3-98E8-3402B35978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836" b="54718"/>
          <a:stretch>
            <a:fillRect/>
          </a:stretch>
        </p:blipFill>
        <p:spPr>
          <a:xfrm>
            <a:off x="7000388" y="1634407"/>
            <a:ext cx="2263624" cy="65525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6" name="그림 5" descr="텍스트, 스크린샷, 의류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B979B9-73A1-98ED-96C0-A9D553F40E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882"/>
          <a:stretch>
            <a:fillRect/>
          </a:stretch>
        </p:blipFill>
        <p:spPr>
          <a:xfrm>
            <a:off x="9493979" y="1634407"/>
            <a:ext cx="2263625" cy="65525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7" name="그림 6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7C9BD7-4C80-2D99-BAC3-8F78A5165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036" y="2344060"/>
            <a:ext cx="4047474" cy="10982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BC72CA-909B-72DE-B6E0-E90F3673A83A}"/>
              </a:ext>
            </a:extLst>
          </p:cNvPr>
          <p:cNvSpPr txBox="1"/>
          <p:nvPr/>
        </p:nvSpPr>
        <p:spPr>
          <a:xfrm>
            <a:off x="7376160" y="1446975"/>
            <a:ext cx="15675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정도경영핫라인</a:t>
            </a:r>
            <a:endParaRPr lang="ko-KR" altLang="en-US" sz="1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FD98F6-BB9F-D6F0-8F51-49A713A21492}"/>
              </a:ext>
            </a:extLst>
          </p:cNvPr>
          <p:cNvSpPr txBox="1"/>
          <p:nvPr/>
        </p:nvSpPr>
        <p:spPr>
          <a:xfrm>
            <a:off x="9619998" y="1446975"/>
            <a:ext cx="2006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제</a:t>
            </a:r>
            <a:r>
              <a:rPr lang="en-US" altLang="ko-KR" sz="1000" b="1" dirty="0"/>
              <a:t>3</a:t>
            </a:r>
            <a:r>
              <a:rPr lang="ko-KR" altLang="en-US" sz="1000" b="1" dirty="0"/>
              <a:t>자 익명 </a:t>
            </a:r>
            <a:r>
              <a:rPr lang="ko-KR" altLang="en-US" sz="1000" b="1" dirty="0" err="1"/>
              <a:t>레드휘슬</a:t>
            </a:r>
            <a:endParaRPr lang="ko-KR" altLang="en-US" sz="1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4EC0DC-2D17-CD06-B2F7-FB59E0E37EC4}"/>
              </a:ext>
            </a:extLst>
          </p:cNvPr>
          <p:cNvSpPr txBox="1"/>
          <p:nvPr/>
        </p:nvSpPr>
        <p:spPr>
          <a:xfrm>
            <a:off x="7808866" y="2298158"/>
            <a:ext cx="7228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/>
              <a:t>(p.207)</a:t>
            </a:r>
            <a:endParaRPr lang="ko-KR" altLang="en-US" sz="1000" b="1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2B5235A-32EE-5A2D-1032-B53ED119A273}"/>
              </a:ext>
            </a:extLst>
          </p:cNvPr>
          <p:cNvSpPr/>
          <p:nvPr/>
        </p:nvSpPr>
        <p:spPr>
          <a:xfrm>
            <a:off x="1379882" y="3697169"/>
            <a:ext cx="2529318" cy="62727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u="sng" dirty="0">
                <a:solidFill>
                  <a:schemeClr val="tx1"/>
                </a:solidFill>
                <a:latin typeface="+mn-ea"/>
              </a:rPr>
              <a:t>교육포상</a:t>
            </a:r>
            <a:endParaRPr lang="en-US" altLang="ko-KR" sz="1100" b="1" u="sng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공정거래 및 윤리교육 우수자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연 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300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만원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B705446-7661-A889-2D72-68F58E7F57D9}"/>
              </a:ext>
            </a:extLst>
          </p:cNvPr>
          <p:cNvSpPr/>
          <p:nvPr/>
        </p:nvSpPr>
        <p:spPr>
          <a:xfrm>
            <a:off x="4033314" y="3697169"/>
            <a:ext cx="2529318" cy="62727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ko-KR" altLang="en-US" sz="1100" b="1" u="sng" dirty="0">
                <a:solidFill>
                  <a:schemeClr val="tx1"/>
                </a:solidFill>
                <a:latin typeface="+mn-ea"/>
              </a:rPr>
              <a:t>실천포상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(26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년부터 신설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공정거래 및 윤리 캠페인 참여자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연 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300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만원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1FB21E-FC31-2CE6-35C6-479C8F6AB70B}"/>
              </a:ext>
            </a:extLst>
          </p:cNvPr>
          <p:cNvSpPr/>
          <p:nvPr/>
        </p:nvSpPr>
        <p:spPr>
          <a:xfrm>
            <a:off x="6743700" y="3697168"/>
            <a:ext cx="2313215" cy="62727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u="sng" dirty="0">
                <a:solidFill>
                  <a:schemeClr val="tx1"/>
                </a:solidFill>
                <a:latin typeface="+mn-ea"/>
              </a:rPr>
              <a:t>제보포상</a:t>
            </a:r>
            <a:endParaRPr lang="en-US" altLang="ko-KR" sz="1100" b="1" u="sng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100" b="1" dirty="0" err="1">
                <a:solidFill>
                  <a:schemeClr val="tx1"/>
                </a:solidFill>
                <a:latin typeface="+mn-ea"/>
              </a:rPr>
              <a:t>금액환산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 불가능시 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50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만원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건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손실감소의 최대 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억원까지</a:t>
            </a:r>
          </a:p>
        </p:txBody>
      </p:sp>
      <p:pic>
        <p:nvPicPr>
          <p:cNvPr id="15" name="그림 14" descr="텍스트, 번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ABFBB6-0F50-78C3-F391-F4FBB3D8A6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4409" y="3567916"/>
            <a:ext cx="2745439" cy="96235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B5FF88E-9B6B-66D5-993D-437DF871395C}"/>
              </a:ext>
            </a:extLst>
          </p:cNvPr>
          <p:cNvSpPr txBox="1"/>
          <p:nvPr/>
        </p:nvSpPr>
        <p:spPr>
          <a:xfrm>
            <a:off x="6804133" y="4533673"/>
            <a:ext cx="4401054" cy="443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※ 24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년 포상 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: 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해외법인 윤리경영 위반 사실 제보자에게 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50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만원 지급 </a:t>
            </a:r>
            <a:endParaRPr lang="en-US" altLang="ko-KR" sz="10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    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→ 위반 임직원 징계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정직 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1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개월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), 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이후부터 주기적 해외법인 진단 중</a:t>
            </a:r>
            <a:endParaRPr lang="en-US" altLang="ko-KR" sz="10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3F0B8A96-B56F-8E70-99F9-7C55B341B350}"/>
              </a:ext>
            </a:extLst>
          </p:cNvPr>
          <p:cNvSpPr/>
          <p:nvPr/>
        </p:nvSpPr>
        <p:spPr>
          <a:xfrm>
            <a:off x="9743358" y="2853427"/>
            <a:ext cx="244862" cy="2252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B883D541-9BDB-FDF2-0C7C-A563F0DB4F7D}"/>
              </a:ext>
            </a:extLst>
          </p:cNvPr>
          <p:cNvSpPr/>
          <p:nvPr/>
        </p:nvSpPr>
        <p:spPr>
          <a:xfrm>
            <a:off x="10820827" y="4145064"/>
            <a:ext cx="244862" cy="2252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6DD2B43-BA10-0F46-0DBF-D10399F519FC}"/>
              </a:ext>
            </a:extLst>
          </p:cNvPr>
          <p:cNvCxnSpPr>
            <a:cxnSpLocks/>
            <a:stCxn id="20" idx="4"/>
            <a:endCxn id="21" idx="1"/>
          </p:cNvCxnSpPr>
          <p:nvPr/>
        </p:nvCxnSpPr>
        <p:spPr>
          <a:xfrm>
            <a:off x="9865789" y="3078722"/>
            <a:ext cx="990897" cy="1099336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43299C1A-F138-01B1-3521-724E534A3E97}"/>
              </a:ext>
            </a:extLst>
          </p:cNvPr>
          <p:cNvGraphicFramePr>
            <a:graphicFrameLocks noGrp="1"/>
          </p:cNvGraphicFramePr>
          <p:nvPr/>
        </p:nvGraphicFramePr>
        <p:xfrm>
          <a:off x="1364186" y="5067728"/>
          <a:ext cx="5569850" cy="13209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69850">
                  <a:extLst>
                    <a:ext uri="{9D8B030D-6E8A-4147-A177-3AD203B41FA5}">
                      <a16:colId xmlns:a16="http://schemas.microsoft.com/office/drawing/2014/main" val="26151308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latin typeface="+mn-ea"/>
                        </a:rPr>
                        <a:t>(</a:t>
                      </a:r>
                      <a:r>
                        <a:rPr lang="ko-KR" altLang="en-US" sz="1100" b="1" dirty="0" err="1">
                          <a:latin typeface="+mn-ea"/>
                        </a:rPr>
                        <a:t>리스닝투어</a:t>
                      </a:r>
                      <a:r>
                        <a:rPr lang="ko-KR" altLang="en-US" sz="1100" b="1" dirty="0">
                          <a:latin typeface="+mn-ea"/>
                        </a:rPr>
                        <a:t> 개선 사례</a:t>
                      </a:r>
                      <a:r>
                        <a:rPr lang="en-US" altLang="ko-KR" sz="1100" b="1" dirty="0">
                          <a:latin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latin typeface="+mn-ea"/>
                        </a:rPr>
                        <a:t>①</a:t>
                      </a:r>
                      <a:r>
                        <a:rPr lang="ko-KR" altLang="en-US" sz="1100" b="1" dirty="0">
                          <a:solidFill>
                            <a:srgbClr val="0000FF"/>
                          </a:solidFill>
                          <a:latin typeface="+mn-ea"/>
                        </a:rPr>
                        <a:t>고객분석</a:t>
                      </a:r>
                      <a:r>
                        <a:rPr lang="en-US" altLang="ko-KR" sz="1100" b="1" dirty="0">
                          <a:solidFill>
                            <a:srgbClr val="0000FF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0000FF"/>
                          </a:solidFill>
                          <a:latin typeface="+mn-ea"/>
                        </a:rPr>
                        <a:t>판매실적 분석에 대한 개선 요청</a:t>
                      </a:r>
                      <a:endParaRPr lang="en-US" altLang="ko-KR" sz="1100" b="1" dirty="0">
                        <a:solidFill>
                          <a:srgbClr val="0000FF"/>
                        </a:solidFill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100" b="1" dirty="0">
                          <a:latin typeface="+mn-ea"/>
                        </a:rPr>
                        <a:t>→</a:t>
                      </a:r>
                      <a:r>
                        <a:rPr lang="en-US" altLang="ko-KR" sz="1100" b="1" dirty="0">
                          <a:latin typeface="+mn-ea"/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</a:rPr>
                        <a:t>(p.90)</a:t>
                      </a:r>
                      <a:r>
                        <a:rPr lang="en-US" altLang="ko-KR" sz="1100" b="1" dirty="0">
                          <a:solidFill>
                            <a:srgbClr val="0000FF"/>
                          </a:solidFill>
                          <a:latin typeface="+mn-ea"/>
                        </a:rPr>
                        <a:t>14.9</a:t>
                      </a:r>
                      <a:r>
                        <a:rPr lang="ko-KR" altLang="en-US" sz="1100" b="1" dirty="0">
                          <a:solidFill>
                            <a:srgbClr val="0000FF"/>
                          </a:solidFill>
                          <a:latin typeface="+mn-ea"/>
                        </a:rPr>
                        <a:t>억원 투입하여 협력사와의 거래시스템</a:t>
                      </a:r>
                      <a:r>
                        <a:rPr lang="en-US" altLang="ko-KR" sz="1100" b="1" dirty="0">
                          <a:latin typeface="+mn-ea"/>
                        </a:rPr>
                        <a:t>(</a:t>
                      </a:r>
                      <a:r>
                        <a:rPr lang="ko-KR" altLang="en-US" sz="1100" b="1" dirty="0">
                          <a:latin typeface="+mn-ea"/>
                        </a:rPr>
                        <a:t>투명거래시스템</a:t>
                      </a:r>
                      <a:r>
                        <a:rPr lang="en-US" altLang="ko-KR" sz="1100" b="1" dirty="0">
                          <a:latin typeface="+mn-ea"/>
                        </a:rPr>
                        <a:t>, with-net) </a:t>
                      </a:r>
                      <a:r>
                        <a:rPr lang="ko-KR" altLang="en-US" sz="1100" b="1" dirty="0">
                          <a:latin typeface="+mn-ea"/>
                        </a:rPr>
                        <a:t>개편</a:t>
                      </a:r>
                      <a:r>
                        <a:rPr lang="en-US" altLang="ko-KR" sz="1100" b="1" dirty="0">
                          <a:latin typeface="+mn-ea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②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방송 협력사 진행 절차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용어 생소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100" b="1" dirty="0">
                          <a:solidFill>
                            <a:schemeClr val="tx1"/>
                          </a:solidFill>
                          <a:latin typeface="+mn-ea"/>
                        </a:rPr>
                        <a:t>→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</a:rPr>
                        <a:t> (p.93)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거래단계별 상세안내서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용어집 제작</a:t>
                      </a:r>
                      <a:endParaRPr lang="en-US" altLang="ko-KR" sz="1050" b="0" dirty="0">
                        <a:latin typeface="+mn-ea"/>
                      </a:endParaRPr>
                    </a:p>
                  </a:txBody>
                  <a:tcPr marL="46800" marR="48000" marT="48000" marB="4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8215538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CE44A0B1-8283-1B64-59F4-A776298A4F89}"/>
              </a:ext>
            </a:extLst>
          </p:cNvPr>
          <p:cNvSpPr txBox="1"/>
          <p:nvPr/>
        </p:nvSpPr>
        <p:spPr>
          <a:xfrm>
            <a:off x="6746746" y="6223644"/>
            <a:ext cx="4879489" cy="443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ko-KR" sz="1000" b="1" dirty="0">
                <a:solidFill>
                  <a:srgbClr val="1919E5"/>
                </a:solidFill>
                <a:latin typeface="+mn-ea"/>
              </a:rPr>
              <a:t>※</a:t>
            </a:r>
            <a:r>
              <a:rPr lang="ko-KR" altLang="en-US" sz="1000" b="1" dirty="0">
                <a:solidFill>
                  <a:srgbClr val="1919E5"/>
                </a:solidFill>
                <a:latin typeface="+mn-ea"/>
              </a:rPr>
              <a:t> </a:t>
            </a:r>
            <a:r>
              <a:rPr lang="ko-KR" altLang="en-US" sz="1000" b="1" dirty="0" err="1">
                <a:solidFill>
                  <a:srgbClr val="1919E5"/>
                </a:solidFill>
                <a:latin typeface="+mn-ea"/>
              </a:rPr>
              <a:t>공정위</a:t>
            </a:r>
            <a:r>
              <a:rPr lang="ko-KR" altLang="en-US" sz="1000" b="1" dirty="0">
                <a:solidFill>
                  <a:srgbClr val="1919E5"/>
                </a:solidFill>
                <a:latin typeface="+mn-ea"/>
              </a:rPr>
              <a:t> 처분은 아니지만</a:t>
            </a:r>
            <a:r>
              <a:rPr lang="en-US" altLang="ko-KR" sz="1000" b="1" dirty="0">
                <a:solidFill>
                  <a:srgbClr val="1919E5"/>
                </a:solidFill>
                <a:latin typeface="+mn-ea"/>
              </a:rPr>
              <a:t>, </a:t>
            </a:r>
            <a:r>
              <a:rPr lang="ko-KR" altLang="en-US" sz="1000" b="1" dirty="0">
                <a:solidFill>
                  <a:srgbClr val="1919E5"/>
                </a:solidFill>
                <a:latin typeface="+mn-ea"/>
              </a:rPr>
              <a:t>사업계획서 </a:t>
            </a:r>
            <a:r>
              <a:rPr lang="en-US" altLang="ko-KR" sz="1000" b="1" dirty="0">
                <a:solidFill>
                  <a:srgbClr val="1919E5"/>
                </a:solidFill>
                <a:latin typeface="+mn-ea"/>
              </a:rPr>
              <a:t>p45)</a:t>
            </a:r>
            <a:r>
              <a:rPr lang="ko-KR" altLang="en-US" sz="1000" b="1" dirty="0">
                <a:solidFill>
                  <a:srgbClr val="1919E5"/>
                </a:solidFill>
                <a:latin typeface="+mn-ea"/>
              </a:rPr>
              <a:t>편의점 횡령 </a:t>
            </a:r>
            <a:r>
              <a:rPr lang="en-US" altLang="ko-KR" sz="1000" b="1" dirty="0">
                <a:solidFill>
                  <a:srgbClr val="1919E5"/>
                </a:solidFill>
                <a:latin typeface="+mn-ea"/>
              </a:rPr>
              <a:t>2</a:t>
            </a:r>
            <a:r>
              <a:rPr lang="ko-KR" altLang="en-US" sz="1000" b="1" dirty="0">
                <a:solidFill>
                  <a:srgbClr val="1919E5"/>
                </a:solidFill>
                <a:latin typeface="+mn-ea"/>
              </a:rPr>
              <a:t>건 징계해고</a:t>
            </a:r>
            <a:r>
              <a:rPr lang="en-US" altLang="ko-KR" sz="1000" b="1" dirty="0">
                <a:solidFill>
                  <a:srgbClr val="1919E5"/>
                </a:solidFill>
                <a:latin typeface="+mn-ea"/>
              </a:rPr>
              <a:t>-</a:t>
            </a:r>
            <a:r>
              <a:rPr lang="ko-KR" altLang="en-US" sz="1000" b="1" dirty="0">
                <a:solidFill>
                  <a:srgbClr val="1919E5"/>
                </a:solidFill>
                <a:latin typeface="+mn-ea"/>
              </a:rPr>
              <a:t>형사고발</a:t>
            </a:r>
            <a:endParaRPr lang="en-US" altLang="ko-KR" sz="1000" b="1" dirty="0">
              <a:solidFill>
                <a:srgbClr val="1919E5"/>
              </a:solidFill>
              <a:latin typeface="+mn-ea"/>
            </a:endParaRPr>
          </a:p>
          <a:p>
            <a:pPr lvl="0">
              <a:lnSpc>
                <a:spcPct val="120000"/>
              </a:lnSpc>
              <a:defRPr/>
            </a:pPr>
            <a:r>
              <a:rPr lang="en-US" altLang="ko-KR" sz="1000" b="1" dirty="0">
                <a:solidFill>
                  <a:srgbClr val="1919E5"/>
                </a:solidFill>
                <a:latin typeface="+mn-ea"/>
              </a:rPr>
              <a:t>※ 15</a:t>
            </a:r>
            <a:r>
              <a:rPr lang="ko-KR" altLang="en-US" sz="1000" b="1" dirty="0">
                <a:solidFill>
                  <a:srgbClr val="1919E5"/>
                </a:solidFill>
                <a:latin typeface="+mn-ea"/>
              </a:rPr>
              <a:t>년</a:t>
            </a:r>
            <a:r>
              <a:rPr lang="en-US" altLang="ko-KR" sz="1000" b="1" dirty="0">
                <a:solidFill>
                  <a:srgbClr val="1919E5"/>
                </a:solidFill>
                <a:latin typeface="+mn-ea"/>
              </a:rPr>
              <a:t> </a:t>
            </a:r>
            <a:r>
              <a:rPr lang="ko-KR" altLang="en-US" sz="1000" b="1" dirty="0" err="1">
                <a:solidFill>
                  <a:srgbClr val="1919E5"/>
                </a:solidFill>
                <a:latin typeface="+mn-ea"/>
              </a:rPr>
              <a:t>공정위</a:t>
            </a:r>
            <a:r>
              <a:rPr lang="ko-KR" altLang="en-US" sz="1000" b="1" dirty="0">
                <a:solidFill>
                  <a:srgbClr val="1919E5"/>
                </a:solidFill>
                <a:latin typeface="+mn-ea"/>
              </a:rPr>
              <a:t> 처분 결과에 따라 </a:t>
            </a:r>
            <a:r>
              <a:rPr lang="en-US" altLang="ko-KR" sz="1000" b="1" dirty="0">
                <a:solidFill>
                  <a:srgbClr val="1919E5"/>
                </a:solidFill>
                <a:latin typeface="+mn-ea"/>
              </a:rPr>
              <a:t>16</a:t>
            </a:r>
            <a:r>
              <a:rPr lang="ko-KR" altLang="en-US" sz="1000" b="1" dirty="0">
                <a:solidFill>
                  <a:srgbClr val="1919E5"/>
                </a:solidFill>
                <a:latin typeface="+mn-ea"/>
              </a:rPr>
              <a:t>년 직원 징계</a:t>
            </a:r>
            <a:endParaRPr lang="en-US" altLang="ko-KR" sz="1000" b="1" dirty="0">
              <a:solidFill>
                <a:srgbClr val="1919E5"/>
              </a:solidFill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1E8E58-D80C-68E9-C4CF-C27E167AB63A}"/>
              </a:ext>
            </a:extLst>
          </p:cNvPr>
          <p:cNvSpPr txBox="1"/>
          <p:nvPr/>
        </p:nvSpPr>
        <p:spPr>
          <a:xfrm>
            <a:off x="7929455" y="5043452"/>
            <a:ext cx="5389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(p.65)</a:t>
            </a:r>
            <a:endParaRPr lang="ko-KR" altLang="en-US" sz="10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93C8CD-014D-29B9-2B21-D3B56A76DEDA}"/>
              </a:ext>
            </a:extLst>
          </p:cNvPr>
          <p:cNvSpPr txBox="1"/>
          <p:nvPr/>
        </p:nvSpPr>
        <p:spPr>
          <a:xfrm>
            <a:off x="9743358" y="3511877"/>
            <a:ext cx="5389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/>
              <a:t>(p.64)</a:t>
            </a:r>
            <a:endParaRPr lang="ko-KR" altLang="en-US" sz="1000" b="1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3DBC769-8C02-4A08-CC5D-4C43725881FE}"/>
              </a:ext>
            </a:extLst>
          </p:cNvPr>
          <p:cNvSpPr/>
          <p:nvPr/>
        </p:nvSpPr>
        <p:spPr>
          <a:xfrm>
            <a:off x="1379882" y="1110667"/>
            <a:ext cx="2529318" cy="6376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자가점검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100" b="1" dirty="0" err="1">
                <a:solidFill>
                  <a:schemeClr val="tx1"/>
                </a:solidFill>
                <a:latin typeface="+mn-ea"/>
              </a:rPr>
              <a:t>컴플라이언스시스템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100" b="1" u="sng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b="1" u="sng" dirty="0">
                <a:solidFill>
                  <a:schemeClr val="tx1"/>
                </a:solidFill>
                <a:latin typeface="+mn-ea"/>
              </a:rPr>
              <a:t>집중점검</a:t>
            </a:r>
            <a:r>
              <a:rPr lang="en-US" altLang="ko-KR" sz="1100" b="1" u="sng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100" b="1" u="sng" dirty="0">
                <a:solidFill>
                  <a:schemeClr val="tx1"/>
                </a:solidFill>
                <a:latin typeface="+mn-ea"/>
              </a:rPr>
              <a:t>반기별 및 이사회 보고</a:t>
            </a:r>
            <a:endParaRPr lang="en-US" altLang="ko-KR" sz="1100" b="1" u="sng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b="1" dirty="0" err="1">
                <a:solidFill>
                  <a:schemeClr val="tx1"/>
                </a:solidFill>
                <a:latin typeface="+mn-ea"/>
              </a:rPr>
              <a:t>컴플라이언스팀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87A24B4-7D22-7CA2-F1EF-F109FA6CD343}"/>
              </a:ext>
            </a:extLst>
          </p:cNvPr>
          <p:cNvSpPr/>
          <p:nvPr/>
        </p:nvSpPr>
        <p:spPr>
          <a:xfrm>
            <a:off x="4093764" y="1110667"/>
            <a:ext cx="2529318" cy="62727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>
                <a:solidFill>
                  <a:schemeClr val="tx1"/>
                </a:solidFill>
                <a:latin typeface="+mn-ea"/>
              </a:rPr>
              <a:t>리스닝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 제도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100" b="1" u="sng" dirty="0">
                <a:solidFill>
                  <a:schemeClr val="tx1"/>
                </a:solidFill>
                <a:latin typeface="+mn-ea"/>
              </a:rPr>
              <a:t>연 </a:t>
            </a:r>
            <a:r>
              <a:rPr lang="en-US" altLang="ko-KR" sz="1100" b="1" u="sng" dirty="0">
                <a:solidFill>
                  <a:schemeClr val="tx1"/>
                </a:solidFill>
                <a:latin typeface="+mn-ea"/>
              </a:rPr>
              <a:t>40</a:t>
            </a:r>
            <a:r>
              <a:rPr lang="ko-KR" altLang="en-US" sz="1100" b="1" u="sng" dirty="0">
                <a:solidFill>
                  <a:schemeClr val="tx1"/>
                </a:solidFill>
                <a:latin typeface="+mn-ea"/>
              </a:rPr>
              <a:t>개 → </a:t>
            </a:r>
            <a:r>
              <a:rPr lang="en-US" altLang="ko-KR" sz="1100" b="1" u="sng" dirty="0">
                <a:solidFill>
                  <a:schemeClr val="tx1"/>
                </a:solidFill>
                <a:latin typeface="+mn-ea"/>
              </a:rPr>
              <a:t>26</a:t>
            </a:r>
            <a:r>
              <a:rPr lang="ko-KR" altLang="en-US" sz="1100" b="1" u="sng" dirty="0">
                <a:solidFill>
                  <a:schemeClr val="tx1"/>
                </a:solidFill>
                <a:latin typeface="+mn-ea"/>
              </a:rPr>
              <a:t>년부터 </a:t>
            </a:r>
            <a:r>
              <a:rPr lang="en-US" altLang="ko-KR" sz="1100" b="1" u="sng" dirty="0">
                <a:solidFill>
                  <a:schemeClr val="tx1"/>
                </a:solidFill>
                <a:latin typeface="+mn-ea"/>
              </a:rPr>
              <a:t>50</a:t>
            </a:r>
            <a:r>
              <a:rPr lang="ko-KR" altLang="en-US" sz="1100" b="1" u="sng" dirty="0">
                <a:solidFill>
                  <a:schemeClr val="tx1"/>
                </a:solidFill>
                <a:latin typeface="+mn-ea"/>
              </a:rPr>
              <a:t>개로 확대 </a:t>
            </a:r>
            <a:endParaRPr lang="en-US" altLang="ko-KR" sz="1100" b="1" u="sng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(CEO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직속 경영진단팀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51651AD-AA09-C8E3-5129-02E8B0457F27}"/>
              </a:ext>
            </a:extLst>
          </p:cNvPr>
          <p:cNvSpPr/>
          <p:nvPr/>
        </p:nvSpPr>
        <p:spPr>
          <a:xfrm>
            <a:off x="6856880" y="1100853"/>
            <a:ext cx="4982967" cy="3317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홈페이지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)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외부 제보 채널 운영</a:t>
            </a:r>
            <a:endParaRPr lang="ko-KR" altLang="en-US" sz="1100" b="1" u="sng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8" name="그림 27" descr="텍스트, 폰트, 번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1531F25-EF70-EB11-595C-F4F6630A4E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2513" y="5030297"/>
            <a:ext cx="4023681" cy="1182605"/>
          </a:xfrm>
          <a:prstGeom prst="rect">
            <a:avLst/>
          </a:prstGeom>
        </p:spPr>
      </p:pic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70CE2AB-7208-2F91-FF8D-2A4B09D5391F}"/>
              </a:ext>
            </a:extLst>
          </p:cNvPr>
          <p:cNvCxnSpPr/>
          <p:nvPr/>
        </p:nvCxnSpPr>
        <p:spPr>
          <a:xfrm>
            <a:off x="6943471" y="5984244"/>
            <a:ext cx="395739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663FA132-4FD9-A9CD-F49B-BD5AED2DE775}"/>
              </a:ext>
            </a:extLst>
          </p:cNvPr>
          <p:cNvCxnSpPr/>
          <p:nvPr/>
        </p:nvCxnSpPr>
        <p:spPr>
          <a:xfrm>
            <a:off x="6945452" y="6181034"/>
            <a:ext cx="395739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4F954CD-B656-E32E-ABDF-0410FEC88249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53/109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74699110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4485F67-1A20-A069-9EED-10DF80CADB6C}"/>
              </a:ext>
            </a:extLst>
          </p:cNvPr>
          <p:cNvSpPr txBox="1"/>
          <p:nvPr/>
        </p:nvSpPr>
        <p:spPr>
          <a:xfrm>
            <a:off x="60963" y="57505"/>
            <a:ext cx="9804826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b="1" dirty="0" err="1">
                <a:solidFill>
                  <a:schemeClr val="bg1"/>
                </a:solidFill>
                <a:latin typeface="+mn-ea"/>
              </a:rPr>
              <a:t>리스닝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제도 개요</a:t>
            </a:r>
            <a:endParaRPr lang="en-US" altLang="ko-KR" b="1" dirty="0">
              <a:solidFill>
                <a:schemeClr val="bg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4C462E-A1C4-0BB8-7D49-A4A46FF6EAC9}"/>
              </a:ext>
            </a:extLst>
          </p:cNvPr>
          <p:cNvSpPr txBox="1"/>
          <p:nvPr/>
        </p:nvSpPr>
        <p:spPr>
          <a:xfrm>
            <a:off x="6240463" y="708101"/>
            <a:ext cx="4496213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■ 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실적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홈쇼핑 평균 </a:t>
            </a:r>
            <a:r>
              <a:rPr lang="en-US" altLang="ko-KR" sz="1200" b="1" dirty="0">
                <a:latin typeface="+mn-ea"/>
              </a:rPr>
              <a:t>40</a:t>
            </a:r>
            <a:r>
              <a:rPr lang="ko-KR" altLang="en-US" sz="1200" b="1" dirty="0">
                <a:latin typeface="+mn-ea"/>
              </a:rPr>
              <a:t>여개 </a:t>
            </a:r>
            <a:r>
              <a:rPr lang="en-US" altLang="ko-KR" sz="1200" b="1" dirty="0">
                <a:latin typeface="+mn-ea"/>
              </a:rPr>
              <a:t>+ </a:t>
            </a:r>
            <a:r>
              <a:rPr lang="ko-KR" altLang="en-US" sz="1200" b="1" dirty="0">
                <a:solidFill>
                  <a:srgbClr val="1919E5"/>
                </a:solidFill>
                <a:latin typeface="+mn-ea"/>
              </a:rPr>
              <a:t>편의점</a:t>
            </a:r>
            <a:r>
              <a:rPr lang="en-US" altLang="ko-KR" sz="1200" b="1" dirty="0">
                <a:solidFill>
                  <a:srgbClr val="1919E5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1919E5"/>
                </a:solidFill>
                <a:latin typeface="+mn-ea"/>
              </a:rPr>
              <a:t>수퍼도 별도 진행</a:t>
            </a:r>
            <a:r>
              <a:rPr lang="en-US" altLang="ko-KR" sz="1200" b="1" dirty="0">
                <a:solidFill>
                  <a:srgbClr val="1919E5"/>
                </a:solidFill>
                <a:latin typeface="+mn-ea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8623A2-E9ED-4A0A-01FD-47D9BE4B2DA4}"/>
              </a:ext>
            </a:extLst>
          </p:cNvPr>
          <p:cNvSpPr txBox="1"/>
          <p:nvPr/>
        </p:nvSpPr>
        <p:spPr>
          <a:xfrm>
            <a:off x="332063" y="3912349"/>
            <a:ext cx="2722905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■ 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의견</a:t>
            </a:r>
            <a:r>
              <a:rPr lang="en-US" altLang="ko-KR" sz="1200" b="1" dirty="0">
                <a:latin typeface="+mn-ea"/>
              </a:rPr>
              <a:t>)25</a:t>
            </a:r>
            <a:r>
              <a:rPr lang="ko-KR" altLang="en-US" sz="1200" b="1" dirty="0">
                <a:latin typeface="+mn-ea"/>
              </a:rPr>
              <a:t>년 홈쇼핑 협력사 의견</a:t>
            </a:r>
            <a:endParaRPr lang="en-US" altLang="ko-KR" sz="1200" b="1" dirty="0">
              <a:latin typeface="+mn-ea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07CE5BC-C07D-820B-FC52-DC6E91854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029763"/>
              </p:ext>
            </p:extLst>
          </p:nvPr>
        </p:nvGraphicFramePr>
        <p:xfrm>
          <a:off x="533421" y="4317210"/>
          <a:ext cx="10065500" cy="2157456"/>
        </p:xfrm>
        <a:graphic>
          <a:graphicData uri="http://schemas.openxmlformats.org/drawingml/2006/table">
            <a:tbl>
              <a:tblPr/>
              <a:tblGrid>
                <a:gridCol w="706351">
                  <a:extLst>
                    <a:ext uri="{9D8B030D-6E8A-4147-A177-3AD203B41FA5}">
                      <a16:colId xmlns:a16="http://schemas.microsoft.com/office/drawing/2014/main" val="713013760"/>
                    </a:ext>
                  </a:extLst>
                </a:gridCol>
                <a:gridCol w="706351">
                  <a:extLst>
                    <a:ext uri="{9D8B030D-6E8A-4147-A177-3AD203B41FA5}">
                      <a16:colId xmlns:a16="http://schemas.microsoft.com/office/drawing/2014/main" val="4268901131"/>
                    </a:ext>
                  </a:extLst>
                </a:gridCol>
                <a:gridCol w="529763">
                  <a:extLst>
                    <a:ext uri="{9D8B030D-6E8A-4147-A177-3AD203B41FA5}">
                      <a16:colId xmlns:a16="http://schemas.microsoft.com/office/drawing/2014/main" val="3676713555"/>
                    </a:ext>
                  </a:extLst>
                </a:gridCol>
                <a:gridCol w="5440648">
                  <a:extLst>
                    <a:ext uri="{9D8B030D-6E8A-4147-A177-3AD203B41FA5}">
                      <a16:colId xmlns:a16="http://schemas.microsoft.com/office/drawing/2014/main" val="1613665955"/>
                    </a:ext>
                  </a:extLst>
                </a:gridCol>
                <a:gridCol w="2682387">
                  <a:extLst>
                    <a:ext uri="{9D8B030D-6E8A-4147-A177-3AD203B41FA5}">
                      <a16:colId xmlns:a16="http://schemas.microsoft.com/office/drawing/2014/main" val="3761511070"/>
                    </a:ext>
                  </a:extLst>
                </a:gridCol>
              </a:tblGrid>
              <a:tr h="245517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조직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키워드</a:t>
                      </a:r>
                    </a:p>
                  </a:txBody>
                  <a:tcPr marL="9411" marR="9411" marT="941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의견 요약</a:t>
                      </a:r>
                    </a:p>
                  </a:txBody>
                  <a:tcPr marL="9411" marR="9411" marT="941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F/up</a:t>
                      </a:r>
                    </a:p>
                  </a:txBody>
                  <a:tcPr marL="9411" marR="9411" marT="941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390669"/>
                  </a:ext>
                </a:extLst>
              </a:tr>
              <a:tr h="2455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건수</a:t>
                      </a:r>
                    </a:p>
                  </a:txBody>
                  <a:tcPr marL="9411" marR="9411" marT="941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975488"/>
                  </a:ext>
                </a:extLst>
              </a:tr>
              <a:tr h="477985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홈쇼핑</a:t>
                      </a:r>
                    </a:p>
                  </a:txBody>
                  <a:tcPr marL="9411" marR="9411" marT="941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물류</a:t>
                      </a:r>
                    </a:p>
                  </a:txBody>
                  <a:tcPr marL="9411" marR="9411" marT="941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411" marR="9411" marT="941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홈쇼핑 센터 입고에 대한 가이드가 업데이트 되지 않아 실무상 어려움</a:t>
                      </a:r>
                    </a:p>
                  </a:txBody>
                  <a:tcPr marL="72000" marR="9411" marT="941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 예정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위드넷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입고가이드 보완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411" marR="9411" marT="941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964727"/>
                  </a:ext>
                </a:extLst>
              </a:tr>
              <a:tr h="4779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방송</a:t>
                      </a:r>
                    </a:p>
                  </a:txBody>
                  <a:tcPr marL="9411" marR="9411" marT="941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411" marR="9411" marT="941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라이브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모니터링룸의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실적을 직관적으로 알아볼 수 있게 개선 요청</a:t>
                      </a:r>
                    </a:p>
                  </a:txBody>
                  <a:tcPr marL="72000" marR="9411" marT="941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사업부 검토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유관부서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간 협의 중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411" marR="9411" marT="941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5050012"/>
                  </a:ext>
                </a:extLst>
              </a:tr>
              <a:tr h="3552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위드넷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1" marR="9411" marT="941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411" marR="9411" marT="941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위드넷</a:t>
                      </a:r>
                      <a:r>
                        <a:rPr lang="ko-KR" altLang="en-US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내 상품 조회 시 조회 기간이 짧아서 불편함</a:t>
                      </a:r>
                      <a:r>
                        <a:rPr lang="en-US" altLang="ko-KR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다수</a:t>
                      </a:r>
                      <a:r>
                        <a:rPr lang="en-US" altLang="ko-KR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2000" marR="9411" marT="941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 중</a:t>
                      </a:r>
                      <a:b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('25.12.17 1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완료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b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(‘26.03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개선 예정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411" marR="9411" marT="941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3763040"/>
                  </a:ext>
                </a:extLst>
              </a:tr>
              <a:tr h="3552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위드넷에서</a:t>
                      </a:r>
                      <a:r>
                        <a:rPr lang="ko-KR" altLang="en-US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매출 확인 시 적립금</a:t>
                      </a:r>
                      <a:r>
                        <a:rPr lang="en-US" altLang="ko-KR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쿠폰 등 할인금액으로 표시되어 불편함</a:t>
                      </a:r>
                    </a:p>
                  </a:txBody>
                  <a:tcPr marL="72000" marR="9411" marT="941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6913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4CC56D8-4A94-B399-9040-4B9DEBA89256}"/>
              </a:ext>
            </a:extLst>
          </p:cNvPr>
          <p:cNvSpPr txBox="1"/>
          <p:nvPr/>
        </p:nvSpPr>
        <p:spPr>
          <a:xfrm>
            <a:off x="332063" y="708101"/>
            <a:ext cx="4496213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■ 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선정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거래 </a:t>
            </a:r>
            <a:r>
              <a:rPr lang="ko-KR" altLang="en-US" sz="1200" b="1" dirty="0">
                <a:solidFill>
                  <a:srgbClr val="1919E5"/>
                </a:solidFill>
                <a:latin typeface="+mn-ea"/>
              </a:rPr>
              <a:t>규모</a:t>
            </a:r>
            <a:r>
              <a:rPr lang="en-US" altLang="ko-KR" sz="1200" b="1" dirty="0">
                <a:solidFill>
                  <a:srgbClr val="1919E5"/>
                </a:solidFill>
                <a:latin typeface="+mn-ea"/>
              </a:rPr>
              <a:t>∙</a:t>
            </a:r>
            <a:r>
              <a:rPr lang="ko-KR" altLang="en-US" sz="1200" b="1" dirty="0">
                <a:solidFill>
                  <a:srgbClr val="1919E5"/>
                </a:solidFill>
                <a:latin typeface="+mn-ea"/>
              </a:rPr>
              <a:t>기간</a:t>
            </a:r>
            <a:r>
              <a:rPr lang="en-US" altLang="ko-KR" sz="1200" b="1" dirty="0">
                <a:solidFill>
                  <a:srgbClr val="1919E5"/>
                </a:solidFill>
                <a:latin typeface="+mn-ea"/>
              </a:rPr>
              <a:t>∙</a:t>
            </a:r>
            <a:r>
              <a:rPr lang="ko-KR" altLang="en-US" sz="1200" b="1" dirty="0">
                <a:solidFill>
                  <a:srgbClr val="1919E5"/>
                </a:solidFill>
                <a:latin typeface="+mn-ea"/>
              </a:rPr>
              <a:t>방식별로</a:t>
            </a:r>
            <a:r>
              <a:rPr lang="ko-KR" altLang="en-US" sz="1200" b="1" dirty="0">
                <a:latin typeface="+mn-ea"/>
              </a:rPr>
              <a:t> 추출</a:t>
            </a:r>
            <a:endParaRPr lang="en-US" altLang="ko-KR" sz="1200" b="1" dirty="0">
              <a:latin typeface="+mn-ea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D99033F-6A0B-53ED-6F26-6746466F369C}"/>
              </a:ext>
            </a:extLst>
          </p:cNvPr>
          <p:cNvGraphicFramePr>
            <a:graphicFrameLocks noGrp="1"/>
          </p:cNvGraphicFramePr>
          <p:nvPr/>
        </p:nvGraphicFramePr>
        <p:xfrm>
          <a:off x="572068" y="1099104"/>
          <a:ext cx="5280092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783">
                  <a:extLst>
                    <a:ext uri="{9D8B030D-6E8A-4147-A177-3AD203B41FA5}">
                      <a16:colId xmlns:a16="http://schemas.microsoft.com/office/drawing/2014/main" val="147673075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57480887"/>
                    </a:ext>
                  </a:extLst>
                </a:gridCol>
                <a:gridCol w="1837509">
                  <a:extLst>
                    <a:ext uri="{9D8B030D-6E8A-4147-A177-3AD203B41FA5}">
                      <a16:colId xmlns:a16="http://schemas.microsoft.com/office/drawing/2014/main" val="368374586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37037726"/>
                    </a:ext>
                  </a:extLst>
                </a:gridCol>
              </a:tblGrid>
              <a:tr h="22857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조직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선정기준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비중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636708"/>
                  </a:ext>
                </a:extLst>
              </a:tr>
              <a:tr h="228576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Level 1</a:t>
                      </a:r>
                      <a:endParaRPr lang="ko-KR" altLang="en-US" sz="1100" b="1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/>
                        <a:t>Level 2</a:t>
                      </a:r>
                      <a:endParaRPr lang="ko-KR" altLang="en-US" sz="1100" b="1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287038"/>
                  </a:ext>
                </a:extLst>
              </a:tr>
              <a:tr h="228576"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PBU/HBU</a:t>
                      </a:r>
                      <a:endParaRPr lang="ko-KR" altLang="en-US" sz="1100" dirty="0"/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거래 규모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거래액 상위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10%</a:t>
                      </a:r>
                      <a:endParaRPr lang="ko-KR" altLang="en-US" sz="11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636089"/>
                  </a:ext>
                </a:extLst>
              </a:tr>
              <a:tr h="228576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거래액 급감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30%</a:t>
                      </a:r>
                      <a:endParaRPr lang="ko-KR" altLang="en-US" sz="11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218050"/>
                  </a:ext>
                </a:extLst>
              </a:tr>
              <a:tr h="228576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거래액 하위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10%</a:t>
                      </a:r>
                      <a:endParaRPr lang="ko-KR" altLang="en-US" sz="11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721875"/>
                  </a:ext>
                </a:extLst>
              </a:tr>
              <a:tr h="228576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거래 지속성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거래기간 장기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10%</a:t>
                      </a:r>
                      <a:endParaRPr lang="ko-KR" altLang="en-US" sz="11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0075498"/>
                  </a:ext>
                </a:extLst>
              </a:tr>
              <a:tr h="228576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거래기간 신규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10%</a:t>
                      </a:r>
                      <a:endParaRPr lang="ko-KR" altLang="en-US" sz="11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120303"/>
                  </a:ext>
                </a:extLst>
              </a:tr>
              <a:tr h="228576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거래기간 중단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10%</a:t>
                      </a:r>
                      <a:endParaRPr lang="ko-KR" altLang="en-US" sz="11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3588519"/>
                  </a:ext>
                </a:extLst>
              </a:tr>
              <a:tr h="228576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사업운영 특성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하도급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위탁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용역 등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10%</a:t>
                      </a:r>
                      <a:endParaRPr lang="ko-KR" altLang="en-US" sz="11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818805"/>
                  </a:ext>
                </a:extLst>
              </a:tr>
              <a:tr h="2285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AX</a:t>
                      </a:r>
                      <a:r>
                        <a:rPr lang="ko-KR" altLang="en-US" sz="1100" dirty="0"/>
                        <a:t>본부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개발사업부문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리스크 노출도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/>
                        <a:t>컴플레인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조사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제보 이력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10%</a:t>
                      </a:r>
                      <a:endParaRPr lang="ko-KR" altLang="en-US" sz="11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614604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FF7612D-5F32-94C0-8EFD-138EA4F922F5}"/>
              </a:ext>
            </a:extLst>
          </p:cNvPr>
          <p:cNvGraphicFramePr>
            <a:graphicFrameLocks noGrp="1"/>
          </p:cNvGraphicFramePr>
          <p:nvPr/>
        </p:nvGraphicFramePr>
        <p:xfrm>
          <a:off x="6470469" y="1099104"/>
          <a:ext cx="528009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497">
                  <a:extLst>
                    <a:ext uri="{9D8B030D-6E8A-4147-A177-3AD203B41FA5}">
                      <a16:colId xmlns:a16="http://schemas.microsoft.com/office/drawing/2014/main" val="1476730751"/>
                    </a:ext>
                  </a:extLst>
                </a:gridCol>
                <a:gridCol w="810883">
                  <a:extLst>
                    <a:ext uri="{9D8B030D-6E8A-4147-A177-3AD203B41FA5}">
                      <a16:colId xmlns:a16="http://schemas.microsoft.com/office/drawing/2014/main" val="3857480887"/>
                    </a:ext>
                  </a:extLst>
                </a:gridCol>
                <a:gridCol w="810883">
                  <a:extLst>
                    <a:ext uri="{9D8B030D-6E8A-4147-A177-3AD203B41FA5}">
                      <a16:colId xmlns:a16="http://schemas.microsoft.com/office/drawing/2014/main" val="3683745864"/>
                    </a:ext>
                  </a:extLst>
                </a:gridCol>
                <a:gridCol w="2238829">
                  <a:extLst>
                    <a:ext uri="{9D8B030D-6E8A-4147-A177-3AD203B41FA5}">
                      <a16:colId xmlns:a16="http://schemas.microsoft.com/office/drawing/2014/main" val="1537037726"/>
                    </a:ext>
                  </a:extLst>
                </a:gridCol>
              </a:tblGrid>
              <a:tr h="22857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조직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인터뷰 업체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비고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636708"/>
                  </a:ext>
                </a:extLst>
              </a:tr>
              <a:tr h="228576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24</a:t>
                      </a:r>
                      <a:r>
                        <a:rPr lang="ko-KR" altLang="en-US" sz="1100" b="1" dirty="0"/>
                        <a:t>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/>
                        <a:t>25</a:t>
                      </a:r>
                      <a:r>
                        <a:rPr lang="ko-KR" altLang="en-US" sz="1100" b="1" dirty="0"/>
                        <a:t>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287038"/>
                  </a:ext>
                </a:extLst>
              </a:tr>
              <a:tr h="2285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PBU</a:t>
                      </a:r>
                      <a:endParaRPr lang="ko-KR" altLang="en-US" sz="1100" dirty="0"/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/>
                        <a:t>164</a:t>
                      </a:r>
                      <a:endParaRPr lang="ko-KR" altLang="en-US" sz="11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/>
                        <a:t>99</a:t>
                      </a:r>
                      <a:endParaRPr lang="ko-KR" altLang="en-US" sz="11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조직별 확인된 파트너사의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en-US" altLang="ko-KR" sz="1100" dirty="0"/>
                        <a:t>5% </a:t>
                      </a:r>
                      <a:r>
                        <a:rPr lang="ko-KR" altLang="en-US" sz="1100" dirty="0"/>
                        <a:t>수준으로 인터뷰 진행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홈쇼핑</a:t>
                      </a:r>
                      <a:r>
                        <a:rPr lang="en-US" altLang="ko-KR" sz="1100" dirty="0"/>
                        <a:t>BU Only</a:t>
                      </a:r>
                      <a:r>
                        <a:rPr lang="ko-KR" altLang="en-US" sz="1100" dirty="0"/>
                        <a:t>디지털 제외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636089"/>
                  </a:ext>
                </a:extLst>
              </a:tr>
              <a:tr h="2285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HBU</a:t>
                      </a:r>
                      <a:endParaRPr lang="ko-KR" altLang="en-US" sz="1100" dirty="0"/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/>
                        <a:t>40</a:t>
                      </a:r>
                      <a:endParaRPr lang="ko-KR" altLang="en-US" sz="11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/>
                        <a:t>112</a:t>
                      </a:r>
                      <a:endParaRPr lang="ko-KR" altLang="en-US" sz="11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218050"/>
                  </a:ext>
                </a:extLst>
              </a:tr>
              <a:tr h="2285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AX</a:t>
                      </a:r>
                      <a:r>
                        <a:rPr lang="ko-KR" altLang="en-US" sz="1100" dirty="0"/>
                        <a:t>본부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-</a:t>
                      </a:r>
                      <a:endParaRPr lang="ko-KR" altLang="en-US" sz="11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/>
                        <a:t>14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721875"/>
                  </a:ext>
                </a:extLst>
              </a:tr>
              <a:tr h="2285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개발사업부문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-</a:t>
                      </a:r>
                      <a:endParaRPr lang="ko-KR" altLang="en-US" sz="11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100" dirty="0"/>
                        <a:t>10</a:t>
                      </a:r>
                      <a:endParaRPr lang="ko-KR" altLang="en-US" sz="11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0075498"/>
                  </a:ext>
                </a:extLst>
              </a:tr>
            </a:tbl>
          </a:graphicData>
        </a:graphic>
      </p:graphicFrame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4CA4A53-7312-3FA7-FD0A-780F465D77B7}"/>
              </a:ext>
            </a:extLst>
          </p:cNvPr>
          <p:cNvCxnSpPr>
            <a:cxnSpLocks/>
          </p:cNvCxnSpPr>
          <p:nvPr/>
        </p:nvCxnSpPr>
        <p:spPr>
          <a:xfrm>
            <a:off x="2255776" y="2120889"/>
            <a:ext cx="64878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D8193BE-3C50-4A9B-8F28-D1083B14EDDC}"/>
              </a:ext>
            </a:extLst>
          </p:cNvPr>
          <p:cNvCxnSpPr>
            <a:cxnSpLocks/>
          </p:cNvCxnSpPr>
          <p:nvPr/>
        </p:nvCxnSpPr>
        <p:spPr>
          <a:xfrm>
            <a:off x="2246811" y="2918748"/>
            <a:ext cx="84680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29AFB34-9085-4AC0-0426-9E5A7E9CE866}"/>
              </a:ext>
            </a:extLst>
          </p:cNvPr>
          <p:cNvCxnSpPr>
            <a:cxnSpLocks/>
          </p:cNvCxnSpPr>
          <p:nvPr/>
        </p:nvCxnSpPr>
        <p:spPr>
          <a:xfrm>
            <a:off x="3493514" y="3420035"/>
            <a:ext cx="113227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B857C71-A2C8-C80F-207D-0E90991105C6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54/109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0844032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9EA26-D881-0DB4-4043-AE2493D99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DFD9FD-767C-415D-1111-569BAF51A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28" y="1106312"/>
            <a:ext cx="4138937" cy="53658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988A79-7D06-CC65-8CFA-B6E7B53C35A5}"/>
              </a:ext>
            </a:extLst>
          </p:cNvPr>
          <p:cNvSpPr txBox="1"/>
          <p:nvPr/>
        </p:nvSpPr>
        <p:spPr>
          <a:xfrm>
            <a:off x="60963" y="692150"/>
            <a:ext cx="3919233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(p.90)</a:t>
            </a:r>
            <a:r>
              <a:rPr lang="ko-KR" altLang="en-US" sz="1100" b="1" dirty="0">
                <a:latin typeface="+mn-ea"/>
              </a:rPr>
              <a:t>고객분석</a:t>
            </a:r>
            <a:r>
              <a:rPr lang="en-US" altLang="ko-KR" sz="1100" b="1" dirty="0">
                <a:latin typeface="+mn-ea"/>
              </a:rPr>
              <a:t>, </a:t>
            </a:r>
            <a:r>
              <a:rPr lang="ko-KR" altLang="en-US" sz="1100" b="1" dirty="0">
                <a:latin typeface="+mn-ea"/>
              </a:rPr>
              <a:t>판매실적 분석에 대한 개선</a:t>
            </a:r>
            <a:endParaRPr lang="en-US" altLang="ko-KR" sz="1100" b="1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CA62C8-8EB1-1015-43B2-442791B7ADDB}"/>
              </a:ext>
            </a:extLst>
          </p:cNvPr>
          <p:cNvSpPr txBox="1"/>
          <p:nvPr/>
        </p:nvSpPr>
        <p:spPr>
          <a:xfrm>
            <a:off x="60963" y="57505"/>
            <a:ext cx="9804826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b="1" dirty="0" err="1">
                <a:solidFill>
                  <a:schemeClr val="bg1"/>
                </a:solidFill>
                <a:latin typeface="+mn-ea"/>
              </a:rPr>
              <a:t>리스닝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제도 개선 사례 </a:t>
            </a:r>
            <a:endParaRPr lang="en-US" altLang="ko-KR" b="1" dirty="0">
              <a:solidFill>
                <a:schemeClr val="bg2">
                  <a:lumMod val="75000"/>
                </a:schemeClr>
              </a:solidFill>
              <a:latin typeface="+mn-ea"/>
            </a:endParaRPr>
          </a:p>
        </p:txBody>
      </p:sp>
      <p:pic>
        <p:nvPicPr>
          <p:cNvPr id="9" name="그림 8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D03C3D-587E-C5EB-5CDE-3D5056A3AD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1052"/>
          <a:stretch>
            <a:fillRect/>
          </a:stretch>
        </p:blipFill>
        <p:spPr>
          <a:xfrm>
            <a:off x="4227465" y="1122669"/>
            <a:ext cx="4160746" cy="4183410"/>
          </a:xfrm>
          <a:prstGeom prst="rect">
            <a:avLst/>
          </a:prstGeom>
        </p:spPr>
      </p:pic>
      <p:pic>
        <p:nvPicPr>
          <p:cNvPr id="10" name="그림 9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7E786F-5498-E185-5792-E797A33CD0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308"/>
          <a:stretch>
            <a:fillRect/>
          </a:stretch>
        </p:blipFill>
        <p:spPr>
          <a:xfrm>
            <a:off x="8366402" y="1106313"/>
            <a:ext cx="3634009" cy="24602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636B0A2-B6C2-2710-DD1B-32B1B8947E0D}"/>
              </a:ext>
            </a:extLst>
          </p:cNvPr>
          <p:cNvSpPr txBox="1"/>
          <p:nvPr/>
        </p:nvSpPr>
        <p:spPr>
          <a:xfrm>
            <a:off x="4227465" y="701301"/>
            <a:ext cx="3919233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>
                <a:latin typeface="+mn-ea"/>
              </a:rPr>
              <a:t>■ </a:t>
            </a:r>
            <a:r>
              <a:rPr lang="en-US" altLang="ko-KR" sz="1100" b="1">
                <a:latin typeface="+mn-ea"/>
              </a:rPr>
              <a:t>(p.93)</a:t>
            </a:r>
            <a:r>
              <a:rPr lang="ko-KR" altLang="en-US" sz="1100" b="1">
                <a:latin typeface="+mn-ea"/>
              </a:rPr>
              <a:t>신규 </a:t>
            </a:r>
            <a:r>
              <a:rPr lang="ko-KR" altLang="en-US" sz="1100" b="1" dirty="0">
                <a:latin typeface="+mn-ea"/>
              </a:rPr>
              <a:t>협력사 절자</a:t>
            </a:r>
            <a:r>
              <a:rPr lang="en-US" altLang="ko-KR" sz="1100" b="1" dirty="0">
                <a:latin typeface="+mn-ea"/>
              </a:rPr>
              <a:t>, </a:t>
            </a:r>
            <a:r>
              <a:rPr lang="ko-KR" altLang="en-US" sz="1100" b="1" dirty="0">
                <a:latin typeface="+mn-ea"/>
              </a:rPr>
              <a:t>용어 등의 어려움 개선</a:t>
            </a:r>
            <a:endParaRPr lang="en-US" altLang="ko-KR" sz="1100" b="1" dirty="0">
              <a:latin typeface="+mn-ea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69ABBD7-99FF-DBD7-25AD-91EEC66CFF8B}"/>
              </a:ext>
            </a:extLst>
          </p:cNvPr>
          <p:cNvCxnSpPr/>
          <p:nvPr/>
        </p:nvCxnSpPr>
        <p:spPr>
          <a:xfrm>
            <a:off x="1027611" y="2603863"/>
            <a:ext cx="120178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089D86C-7623-CC02-7D35-CC8880278360}"/>
              </a:ext>
            </a:extLst>
          </p:cNvPr>
          <p:cNvCxnSpPr/>
          <p:nvPr/>
        </p:nvCxnSpPr>
        <p:spPr>
          <a:xfrm>
            <a:off x="4288971" y="2286000"/>
            <a:ext cx="120178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8173432-5FC1-AD10-D6C4-34DAA71BD08A}"/>
              </a:ext>
            </a:extLst>
          </p:cNvPr>
          <p:cNvCxnSpPr/>
          <p:nvPr/>
        </p:nvCxnSpPr>
        <p:spPr>
          <a:xfrm>
            <a:off x="8560525" y="1314994"/>
            <a:ext cx="120178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8D1C8C3-73B7-E0F9-A74E-CCD5852DC845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55/109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16243176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2EB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4000" b="1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4000" b="1" dirty="0">
                <a:solidFill>
                  <a:schemeClr val="tx1"/>
                </a:solidFill>
                <a:latin typeface="+mn-ea"/>
              </a:rPr>
              <a:t>장</a:t>
            </a:r>
            <a:r>
              <a:rPr lang="en-US" altLang="ko-KR" sz="4000" b="1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4000" b="1" dirty="0">
                <a:solidFill>
                  <a:schemeClr val="tx1"/>
                </a:solidFill>
                <a:latin typeface="+mn-ea"/>
              </a:rPr>
              <a:t>공정거래 정착</a:t>
            </a:r>
            <a:r>
              <a:rPr lang="en-US" altLang="ko-KR" sz="4000" b="1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4000" b="1" dirty="0">
                <a:solidFill>
                  <a:schemeClr val="tx1"/>
                </a:solidFill>
                <a:latin typeface="+mn-ea"/>
              </a:rPr>
              <a:t>중소기업 지원 등</a:t>
            </a:r>
            <a:endParaRPr lang="en-US" altLang="ko-KR" sz="40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3500" dirty="0">
                <a:solidFill>
                  <a:schemeClr val="tx1"/>
                </a:solidFill>
                <a:latin typeface="+mn-ea"/>
              </a:rPr>
              <a:t>(2) </a:t>
            </a:r>
            <a:r>
              <a:rPr lang="ko-KR" altLang="en-US" sz="3500" dirty="0">
                <a:solidFill>
                  <a:schemeClr val="tx1"/>
                </a:solidFill>
                <a:latin typeface="+mn-ea"/>
              </a:rPr>
              <a:t>중소기업 지원</a:t>
            </a:r>
            <a:endParaRPr lang="en-US" altLang="ko-KR" sz="35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6074607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147D1-4D4C-66B8-7619-030AAC33A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84CF6A-3C5D-F1C7-5C9C-97E33EC8A94D}"/>
              </a:ext>
            </a:extLst>
          </p:cNvPr>
          <p:cNvSpPr txBox="1"/>
          <p:nvPr/>
        </p:nvSpPr>
        <p:spPr>
          <a:xfrm>
            <a:off x="60963" y="336968"/>
            <a:ext cx="8819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(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종합답변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)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중소기업 지원 방안에 대해 설명해주세요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  <p:pic>
        <p:nvPicPr>
          <p:cNvPr id="26" name="그림 2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3F82B3-256C-B20E-EB64-1671CFA11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718" y="1126584"/>
            <a:ext cx="4075151" cy="56488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AD4AEB-2BD6-9A39-C8C5-0B96D9F75D46}"/>
              </a:ext>
            </a:extLst>
          </p:cNvPr>
          <p:cNvSpPr txBox="1"/>
          <p:nvPr/>
        </p:nvSpPr>
        <p:spPr>
          <a:xfrm>
            <a:off x="5843588" y="1124275"/>
            <a:ext cx="5976937" cy="4892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40000"/>
              </a:lnSpc>
            </a:pPr>
            <a:r>
              <a:rPr lang="ko-KR" altLang="en-US" sz="1200" b="1" spc="-50" dirty="0">
                <a:latin typeface="+mn-ea"/>
              </a:rPr>
              <a:t>중소기업 편성 늘리는 것</a:t>
            </a:r>
            <a:r>
              <a:rPr lang="en-US" altLang="ko-KR" sz="1200" b="1" spc="-50" dirty="0">
                <a:latin typeface="+mn-ea"/>
              </a:rPr>
              <a:t>, </a:t>
            </a:r>
            <a:r>
              <a:rPr lang="ko-KR" altLang="en-US" sz="1200" b="1" spc="-50" dirty="0">
                <a:latin typeface="+mn-ea"/>
              </a:rPr>
              <a:t>중소기업 수를 늘리는 것도 중요하지만</a:t>
            </a:r>
            <a:r>
              <a:rPr lang="en-US" altLang="ko-KR" sz="1200" b="1" spc="-50" dirty="0">
                <a:latin typeface="+mn-ea"/>
              </a:rPr>
              <a:t>,</a:t>
            </a:r>
          </a:p>
          <a:p>
            <a:pPr fontAlgn="base">
              <a:lnSpc>
                <a:spcPct val="140000"/>
              </a:lnSpc>
            </a:pPr>
            <a:r>
              <a:rPr lang="ko-KR" altLang="en-US" sz="1200" b="1" spc="-50" dirty="0">
                <a:latin typeface="+mn-ea"/>
              </a:rPr>
              <a:t>실질적인 지원과 육성도 중요</a:t>
            </a:r>
            <a:endParaRPr lang="en-US" altLang="ko-KR" sz="1200" b="1" spc="-50" dirty="0">
              <a:latin typeface="+mn-ea"/>
            </a:endParaRPr>
          </a:p>
          <a:p>
            <a:pPr fontAlgn="base">
              <a:lnSpc>
                <a:spcPct val="140000"/>
              </a:lnSpc>
            </a:pPr>
            <a:endParaRPr lang="en-US" altLang="ko-KR" sz="1000" b="1" u="sng" spc="-50" dirty="0">
              <a:latin typeface="+mn-ea"/>
            </a:endParaRPr>
          </a:p>
          <a:p>
            <a:pPr fontAlgn="base">
              <a:lnSpc>
                <a:spcPct val="140000"/>
              </a:lnSpc>
            </a:pPr>
            <a:r>
              <a:rPr lang="ko-KR" altLang="en-US" sz="1200" b="1" spc="-50" dirty="0">
                <a:latin typeface="+mn-ea"/>
              </a:rPr>
              <a:t>①</a:t>
            </a:r>
            <a:r>
              <a:rPr lang="ko-KR" altLang="en-US" sz="1200" b="1" dirty="0">
                <a:latin typeface="+mn-ea"/>
              </a:rPr>
              <a:t> </a:t>
            </a:r>
            <a:r>
              <a:rPr lang="ko-KR" altLang="en-US" sz="1200" b="1" u="sng" dirty="0">
                <a:latin typeface="+mn-ea"/>
              </a:rPr>
              <a:t>신규 영세 중소기업은 경험이 없고 자금력이 약하기에</a:t>
            </a:r>
            <a:endParaRPr lang="en-US" altLang="ko-KR" sz="1200" b="1" u="sng" dirty="0">
              <a:latin typeface="+mn-ea"/>
            </a:endParaRPr>
          </a:p>
          <a:p>
            <a:pPr fontAlgn="base">
              <a:lnSpc>
                <a:spcPct val="140000"/>
              </a:lnSpc>
            </a:pPr>
            <a:r>
              <a:rPr lang="en-US" altLang="ko-KR" sz="1200" b="1" spc="-50" dirty="0">
                <a:latin typeface="+mn-ea"/>
              </a:rPr>
              <a:t>  - </a:t>
            </a:r>
            <a:r>
              <a:rPr lang="ko-KR" altLang="en-US" sz="1200" b="1" spc="-50" dirty="0">
                <a:latin typeface="+mn-ea"/>
              </a:rPr>
              <a:t>수수료 부담이 없는</a:t>
            </a:r>
            <a:r>
              <a:rPr lang="en-US" altLang="ko-KR" sz="1200" b="1" spc="-50" dirty="0">
                <a:latin typeface="+mn-ea"/>
              </a:rPr>
              <a:t>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무료 판매 방송 </a:t>
            </a:r>
            <a:r>
              <a:rPr lang="ko-KR" altLang="en-US" sz="1200" b="1" spc="-50" dirty="0">
                <a:latin typeface="+mn-ea"/>
              </a:rPr>
              <a:t>월 </a:t>
            </a:r>
            <a:r>
              <a:rPr lang="en-US" altLang="ko-KR" sz="1200" b="1" spc="-50" dirty="0">
                <a:latin typeface="+mn-ea"/>
              </a:rPr>
              <a:t>8</a:t>
            </a:r>
            <a:r>
              <a:rPr lang="ko-KR" altLang="en-US" sz="1200" b="1" spc="-50" dirty="0">
                <a:latin typeface="+mn-ea"/>
              </a:rPr>
              <a:t>회 지원 </a:t>
            </a:r>
            <a:r>
              <a:rPr lang="en-US" altLang="ko-KR" sz="1000" spc="-50" dirty="0">
                <a:latin typeface="+mn-ea"/>
              </a:rPr>
              <a:t>(1</a:t>
            </a:r>
            <a:r>
              <a:rPr lang="ko-KR" altLang="en-US" sz="1000" spc="-50" dirty="0">
                <a:latin typeface="+mn-ea"/>
              </a:rPr>
              <a:t>개사당 </a:t>
            </a:r>
            <a:r>
              <a:rPr lang="en-US" altLang="ko-KR" sz="1000" spc="-50" dirty="0">
                <a:latin typeface="+mn-ea"/>
              </a:rPr>
              <a:t>5</a:t>
            </a:r>
            <a:r>
              <a:rPr lang="ko-KR" altLang="en-US" sz="1000" spc="-50" dirty="0">
                <a:latin typeface="+mn-ea"/>
              </a:rPr>
              <a:t>회 편성 보장</a:t>
            </a:r>
            <a:r>
              <a:rPr lang="en-US" altLang="ko-KR" sz="1000" spc="-50" dirty="0">
                <a:latin typeface="+mn-ea"/>
              </a:rPr>
              <a:t>)</a:t>
            </a:r>
          </a:p>
          <a:p>
            <a:pPr fontAlgn="base">
              <a:lnSpc>
                <a:spcPct val="140000"/>
              </a:lnSpc>
            </a:pPr>
            <a:r>
              <a:rPr lang="en-US" altLang="ko-KR" sz="1000" b="1" spc="-50" dirty="0">
                <a:solidFill>
                  <a:prstClr val="black"/>
                </a:solidFill>
                <a:latin typeface="맑은 고딕" panose="020B0503020000020004" pitchFamily="50" charset="-127"/>
              </a:rPr>
              <a:t>      </a:t>
            </a:r>
            <a:r>
              <a:rPr lang="en-US" altLang="ko-KR" sz="1000" spc="-50" dirty="0">
                <a:solidFill>
                  <a:prstClr val="black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1000" spc="-50" dirty="0">
                <a:solidFill>
                  <a:prstClr val="black"/>
                </a:solidFill>
                <a:latin typeface="맑은 고딕" panose="020B0503020000020004" pitchFamily="50" charset="-127"/>
              </a:rPr>
              <a:t>무료 판매 방송을 위한 전담</a:t>
            </a:r>
            <a:r>
              <a:rPr lang="en-US" altLang="ko-KR" sz="1000" spc="-50" dirty="0">
                <a:solidFill>
                  <a:prstClr val="black"/>
                </a:solidFill>
                <a:latin typeface="맑은 고딕" panose="020B0503020000020004" pitchFamily="50" charset="-127"/>
              </a:rPr>
              <a:t>MD</a:t>
            </a:r>
            <a:r>
              <a:rPr lang="ko-KR" altLang="en-US" sz="1000" spc="-50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000" spc="-50" dirty="0">
                <a:solidFill>
                  <a:prstClr val="black"/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1000" spc="-50" dirty="0">
                <a:solidFill>
                  <a:prstClr val="black"/>
                </a:solidFill>
                <a:latin typeface="맑은 고딕" panose="020B0503020000020004" pitchFamily="50" charset="-127"/>
              </a:rPr>
              <a:t>명 선정해서 지원 중 </a:t>
            </a:r>
            <a:endParaRPr lang="en-US" altLang="ko-KR" sz="1000" spc="-5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fontAlgn="base">
              <a:lnSpc>
                <a:spcPct val="140000"/>
              </a:lnSpc>
            </a:pPr>
            <a:r>
              <a:rPr lang="en-US" altLang="ko-KR" sz="1000" spc="-50" dirty="0">
                <a:solidFill>
                  <a:prstClr val="black"/>
                </a:solidFill>
                <a:latin typeface="맑은 고딕" panose="020B0503020000020004" pitchFamily="50" charset="-127"/>
              </a:rPr>
              <a:t>      *</a:t>
            </a:r>
            <a:r>
              <a:rPr lang="ko-KR" altLang="en-US" sz="1000" spc="-50" dirty="0">
                <a:solidFill>
                  <a:prstClr val="black"/>
                </a:solidFill>
                <a:latin typeface="맑은 고딕" panose="020B0503020000020004" pitchFamily="50" charset="-127"/>
              </a:rPr>
              <a:t>판매수수료는 없지만</a:t>
            </a:r>
            <a:r>
              <a:rPr lang="en-US" altLang="ko-KR" sz="1000" spc="-50" dirty="0"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 spc="-50" dirty="0">
                <a:solidFill>
                  <a:prstClr val="black"/>
                </a:solidFill>
                <a:latin typeface="맑은 고딕" panose="020B0503020000020004" pitchFamily="50" charset="-127"/>
              </a:rPr>
              <a:t>콜센터비용과 </a:t>
            </a:r>
            <a:r>
              <a:rPr lang="ko-KR" altLang="en-US" sz="1000" spc="-50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택배비</a:t>
            </a:r>
            <a:r>
              <a:rPr lang="ko-KR" altLang="en-US" sz="1000" spc="-50" dirty="0">
                <a:solidFill>
                  <a:prstClr val="black"/>
                </a:solidFill>
                <a:latin typeface="맑은 고딕" panose="020B0503020000020004" pitchFamily="50" charset="-127"/>
              </a:rPr>
              <a:t> 등 실비는 부담</a:t>
            </a:r>
            <a:endParaRPr lang="en-US" altLang="ko-KR" sz="1000" b="1" u="sng" dirty="0">
              <a:latin typeface="+mn-ea"/>
            </a:endParaRPr>
          </a:p>
          <a:p>
            <a:pPr fontAlgn="base">
              <a:lnSpc>
                <a:spcPct val="140000"/>
              </a:lnSpc>
            </a:pPr>
            <a:r>
              <a:rPr lang="ko-KR" altLang="en-US" sz="1200" b="1" spc="-50" dirty="0">
                <a:latin typeface="+mn-ea"/>
              </a:rPr>
              <a:t>  </a:t>
            </a:r>
            <a:r>
              <a:rPr lang="en-US" altLang="ko-KR" sz="1200" b="1" spc="-50" dirty="0">
                <a:latin typeface="+mn-ea"/>
              </a:rPr>
              <a:t>- </a:t>
            </a:r>
            <a:r>
              <a:rPr lang="ko-KR" altLang="en-US" sz="1200" b="1" dirty="0"/>
              <a:t>콘텐츠 제작 여건이 부족한 중소기업에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영상 제작비를 제공하여 </a:t>
            </a:r>
            <a:endParaRPr lang="en-US" altLang="ko-KR" sz="1200" b="1" spc="-50" dirty="0">
              <a:solidFill>
                <a:srgbClr val="0000FF"/>
              </a:solidFill>
              <a:latin typeface="+mn-ea"/>
            </a:endParaRPr>
          </a:p>
          <a:p>
            <a:pPr fontAlgn="base">
              <a:lnSpc>
                <a:spcPct val="140000"/>
              </a:lnSpc>
            </a:pPr>
            <a:r>
              <a:rPr lang="en-US" altLang="ko-KR" sz="1200" b="1" spc="-50" dirty="0">
                <a:solidFill>
                  <a:srgbClr val="0000FF"/>
                </a:solidFill>
                <a:latin typeface="+mn-ea"/>
              </a:rPr>
              <a:t>     </a:t>
            </a:r>
            <a:r>
              <a:rPr lang="ko-KR" altLang="en-US" sz="1200" b="1" dirty="0"/>
              <a:t>효과적인 상품 홍보가 가능하도록 지원 </a:t>
            </a:r>
            <a:r>
              <a:rPr lang="en-US" altLang="ko-KR" sz="1000" spc="-50" dirty="0">
                <a:latin typeface="+mn-ea"/>
              </a:rPr>
              <a:t>(1</a:t>
            </a:r>
            <a:r>
              <a:rPr lang="ko-KR" altLang="en-US" sz="1000" spc="-50" dirty="0">
                <a:latin typeface="+mn-ea"/>
              </a:rPr>
              <a:t>개사 당 </a:t>
            </a:r>
            <a:r>
              <a:rPr lang="en-US" altLang="ko-KR" sz="1000" spc="-50" dirty="0">
                <a:latin typeface="+mn-ea"/>
              </a:rPr>
              <a:t>7</a:t>
            </a:r>
            <a:r>
              <a:rPr lang="ko-KR" altLang="en-US" sz="1000" spc="-50" dirty="0">
                <a:latin typeface="+mn-ea"/>
              </a:rPr>
              <a:t>백만원 실비 지원</a:t>
            </a:r>
            <a:r>
              <a:rPr lang="en-US" altLang="ko-KR" sz="1000" spc="-50" dirty="0">
                <a:latin typeface="+mn-ea"/>
              </a:rPr>
              <a:t>)</a:t>
            </a:r>
          </a:p>
          <a:p>
            <a:pPr fontAlgn="base">
              <a:lnSpc>
                <a:spcPct val="140000"/>
              </a:lnSpc>
            </a:pPr>
            <a:r>
              <a:rPr lang="en-US" altLang="ko-KR" sz="1000" b="1" spc="-50" dirty="0">
                <a:latin typeface="+mn-ea"/>
              </a:rPr>
              <a:t>      </a:t>
            </a:r>
            <a:r>
              <a:rPr lang="en-US" altLang="ko-KR" sz="1000" spc="-50" dirty="0">
                <a:latin typeface="+mn-ea"/>
              </a:rPr>
              <a:t>*TV</a:t>
            </a:r>
            <a:r>
              <a:rPr lang="ko-KR" altLang="en-US" sz="1000" spc="-50" dirty="0">
                <a:latin typeface="+mn-ea"/>
              </a:rPr>
              <a:t>홈쇼핑과 데이터홈쇼핑 중소기업 대상 연 </a:t>
            </a:r>
            <a:r>
              <a:rPr lang="en-US" altLang="ko-KR" sz="1000" spc="-50" dirty="0">
                <a:latin typeface="+mn-ea"/>
              </a:rPr>
              <a:t>1</a:t>
            </a:r>
            <a:r>
              <a:rPr lang="ko-KR" altLang="en-US" sz="1000" spc="-50" dirty="0">
                <a:latin typeface="+mn-ea"/>
              </a:rPr>
              <a:t>억원 내</a:t>
            </a:r>
            <a:endParaRPr lang="en-US" altLang="ko-KR" sz="1000" spc="-50" dirty="0">
              <a:latin typeface="+mn-ea"/>
            </a:endParaRPr>
          </a:p>
          <a:p>
            <a:pPr fontAlgn="base">
              <a:lnSpc>
                <a:spcPct val="140000"/>
              </a:lnSpc>
            </a:pPr>
            <a:r>
              <a:rPr lang="en-US" altLang="ko-KR" sz="1200" b="1" spc="-50" dirty="0">
                <a:latin typeface="+mn-ea"/>
              </a:rPr>
              <a:t>  - 20</a:t>
            </a:r>
            <a:r>
              <a:rPr lang="ko-KR" altLang="en-US" sz="1200" b="1" spc="-50" dirty="0">
                <a:latin typeface="+mn-ea"/>
              </a:rPr>
              <a:t>명 규모의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전담 지원 조직</a:t>
            </a:r>
            <a:r>
              <a:rPr lang="ko-KR" altLang="en-US" sz="1200" b="1" spc="-50" dirty="0">
                <a:latin typeface="+mn-ea"/>
              </a:rPr>
              <a:t>을 통해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방송준비 지원</a:t>
            </a:r>
            <a:r>
              <a:rPr lang="en-US" altLang="ko-KR" sz="1000" b="1" spc="-50" dirty="0">
                <a:solidFill>
                  <a:srgbClr val="0000FF"/>
                </a:solidFill>
                <a:latin typeface="+mn-ea"/>
              </a:rPr>
              <a:t>      </a:t>
            </a:r>
          </a:p>
          <a:p>
            <a:pPr fontAlgn="base">
              <a:lnSpc>
                <a:spcPct val="140000"/>
              </a:lnSpc>
            </a:pPr>
            <a:r>
              <a:rPr lang="en-US" altLang="ko-KR" sz="1000" b="1" spc="-50" dirty="0">
                <a:solidFill>
                  <a:srgbClr val="0000FF"/>
                </a:solidFill>
                <a:latin typeface="+mn-ea"/>
              </a:rPr>
              <a:t>     </a:t>
            </a:r>
            <a:r>
              <a:rPr lang="en-US" altLang="ko-KR" sz="1000" spc="-50" dirty="0">
                <a:solidFill>
                  <a:prstClr val="black"/>
                </a:solidFill>
                <a:latin typeface="맑은 고딕" panose="020B0503020000020004" pitchFamily="50" charset="-127"/>
              </a:rPr>
              <a:t>*</a:t>
            </a:r>
            <a:r>
              <a:rPr lang="en-US" altLang="ko-KR" sz="1000" spc="-50" dirty="0">
                <a:latin typeface="+mn-ea"/>
              </a:rPr>
              <a:t> TV</a:t>
            </a:r>
            <a:r>
              <a:rPr lang="ko-KR" altLang="en-US" sz="1000" spc="-50" dirty="0">
                <a:latin typeface="+mn-ea"/>
              </a:rPr>
              <a:t>홈쇼핑 생방송</a:t>
            </a:r>
            <a:r>
              <a:rPr lang="en-US" altLang="ko-KR" sz="1000" spc="-50" dirty="0">
                <a:latin typeface="+mn-ea"/>
              </a:rPr>
              <a:t>, </a:t>
            </a:r>
            <a:r>
              <a:rPr lang="ko-KR" altLang="en-US" sz="1000" spc="-50" dirty="0">
                <a:latin typeface="+mn-ea"/>
              </a:rPr>
              <a:t>데이터홈쇼핑 녹화 준비 </a:t>
            </a:r>
            <a:r>
              <a:rPr lang="ko-KR" altLang="en-US" sz="1000" spc="-50" dirty="0">
                <a:solidFill>
                  <a:prstClr val="black"/>
                </a:solidFill>
                <a:latin typeface="맑은 고딕" panose="020B0503020000020004" pitchFamily="50" charset="-127"/>
              </a:rPr>
              <a:t>외주 인력 </a:t>
            </a:r>
            <a:r>
              <a:rPr lang="en-US" altLang="ko-KR" sz="1000" spc="-50" dirty="0"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000" spc="-50" dirty="0">
                <a:solidFill>
                  <a:prstClr val="black"/>
                </a:solidFill>
                <a:latin typeface="맑은 고딕" panose="020B0503020000020004" pitchFamily="50" charset="-127"/>
              </a:rPr>
              <a:t>연 </a:t>
            </a:r>
            <a:r>
              <a:rPr lang="en-US" altLang="ko-KR" sz="1000" spc="-50" dirty="0">
                <a:solidFill>
                  <a:prstClr val="black"/>
                </a:solidFill>
                <a:latin typeface="맑은 고딕" panose="020B0503020000020004" pitchFamily="50" charset="-127"/>
              </a:rPr>
              <a:t>9</a:t>
            </a:r>
            <a:r>
              <a:rPr lang="ko-KR" altLang="en-US" sz="1000" spc="-50" dirty="0">
                <a:solidFill>
                  <a:prstClr val="black"/>
                </a:solidFill>
                <a:latin typeface="맑은 고딕" panose="020B0503020000020004" pitchFamily="50" charset="-127"/>
              </a:rPr>
              <a:t>억원 내외 외주용역비 지출</a:t>
            </a:r>
            <a:endParaRPr lang="en-US" altLang="ko-KR" sz="1000" spc="-5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fontAlgn="base">
              <a:lnSpc>
                <a:spcPct val="140000"/>
              </a:lnSpc>
            </a:pPr>
            <a:r>
              <a:rPr lang="en-US" altLang="ko-KR" sz="1200" b="1" spc="-50" dirty="0">
                <a:latin typeface="+mn-ea"/>
              </a:rPr>
              <a:t>  - </a:t>
            </a:r>
            <a:r>
              <a:rPr lang="ko-KR" altLang="en-US" sz="1200" b="1" spc="-50" dirty="0">
                <a:latin typeface="+mn-ea"/>
              </a:rPr>
              <a:t>운전자금이 필요한 중소기업에 </a:t>
            </a:r>
            <a:r>
              <a:rPr lang="en-US" altLang="ko-KR" sz="1200" b="1" spc="-50" dirty="0">
                <a:solidFill>
                  <a:srgbClr val="0000FF"/>
                </a:solidFill>
                <a:latin typeface="+mn-ea"/>
              </a:rPr>
              <a:t>1,380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억원의 상생펀드</a:t>
            </a:r>
            <a:r>
              <a:rPr lang="ko-KR" altLang="en-US" sz="1200" b="1" spc="-50" dirty="0">
                <a:latin typeface="+mn-ea"/>
              </a:rPr>
              <a:t> 지원</a:t>
            </a:r>
            <a:endParaRPr lang="en-US" altLang="ko-KR" sz="1200" b="1" spc="-50" dirty="0">
              <a:latin typeface="+mn-ea"/>
            </a:endParaRPr>
          </a:p>
          <a:p>
            <a:pPr fontAlgn="base">
              <a:lnSpc>
                <a:spcPct val="140000"/>
              </a:lnSpc>
            </a:pPr>
            <a:r>
              <a:rPr lang="en-US" altLang="ko-KR" sz="1000" b="1" spc="-50" dirty="0">
                <a:latin typeface="+mn-ea"/>
              </a:rPr>
              <a:t> </a:t>
            </a:r>
          </a:p>
          <a:p>
            <a:pPr fontAlgn="base">
              <a:lnSpc>
                <a:spcPct val="140000"/>
              </a:lnSpc>
            </a:pPr>
            <a:r>
              <a:rPr lang="en-US" altLang="ko-KR" sz="1200" b="1" spc="-50" dirty="0">
                <a:latin typeface="+mn-ea"/>
              </a:rPr>
              <a:t>② </a:t>
            </a:r>
            <a:r>
              <a:rPr lang="ko-KR" altLang="en-US" sz="1200" b="1" u="sng" spc="-50" dirty="0">
                <a:latin typeface="+mn-ea"/>
              </a:rPr>
              <a:t>기존 중소기업의 브랜드와 상품 인지도를 높이기 위해</a:t>
            </a:r>
            <a:endParaRPr lang="en-US" altLang="ko-KR" sz="1200" b="1" u="sng" spc="-50" dirty="0">
              <a:latin typeface="+mn-ea"/>
            </a:endParaRPr>
          </a:p>
          <a:p>
            <a:pPr fontAlgn="base">
              <a:lnSpc>
                <a:spcPct val="140000"/>
              </a:lnSpc>
            </a:pPr>
            <a:r>
              <a:rPr lang="ko-KR" altLang="en-US" sz="1200" b="1" dirty="0">
                <a:latin typeface="+mn-ea"/>
              </a:rPr>
              <a:t>  </a:t>
            </a:r>
            <a:r>
              <a:rPr lang="en-US" altLang="ko-KR" sz="1200" b="1" dirty="0">
                <a:latin typeface="+mn-ea"/>
              </a:rPr>
              <a:t>- </a:t>
            </a:r>
            <a:r>
              <a:rPr lang="ko-KR" altLang="en-US" sz="1200" b="1" dirty="0">
                <a:solidFill>
                  <a:srgbClr val="1919E5"/>
                </a:solidFill>
                <a:latin typeface="+mn-ea"/>
              </a:rPr>
              <a:t>신상품 육성시간 제공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평일 </a:t>
            </a:r>
            <a:r>
              <a:rPr lang="en-US" altLang="ko-KR" sz="1000" dirty="0">
                <a:latin typeface="+mn-ea"/>
              </a:rPr>
              <a:t>13~15</a:t>
            </a:r>
            <a:r>
              <a:rPr lang="ko-KR" altLang="en-US" sz="1000" dirty="0">
                <a:latin typeface="+mn-ea"/>
              </a:rPr>
              <a:t>시</a:t>
            </a:r>
            <a:r>
              <a:rPr lang="en-US" altLang="ko-KR" sz="1000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 </a:t>
            </a:r>
            <a:r>
              <a:rPr lang="en-US" altLang="ko-KR" sz="1200" b="1" dirty="0">
                <a:latin typeface="+mn-ea"/>
              </a:rPr>
              <a:t>: </a:t>
            </a:r>
            <a:r>
              <a:rPr lang="ko-KR" altLang="en-US" sz="1200" b="1" dirty="0">
                <a:latin typeface="+mn-ea"/>
              </a:rPr>
              <a:t>매출 확대보다 신상품과 브랜드 소개 집중</a:t>
            </a:r>
            <a:endParaRPr lang="en-US" altLang="ko-KR" sz="1000" b="1" dirty="0">
              <a:latin typeface="+mn-ea"/>
            </a:endParaRPr>
          </a:p>
          <a:p>
            <a:pPr fontAlgn="base">
              <a:lnSpc>
                <a:spcPct val="140000"/>
              </a:lnSpc>
            </a:pPr>
            <a:r>
              <a:rPr lang="en-US" altLang="ko-KR" sz="1000" dirty="0">
                <a:latin typeface="+mn-ea"/>
              </a:rPr>
              <a:t>     </a:t>
            </a:r>
            <a:r>
              <a:rPr lang="ko-KR" altLang="en-US" sz="1000" dirty="0">
                <a:latin typeface="+mn-ea"/>
              </a:rPr>
              <a:t>예</a:t>
            </a:r>
            <a:r>
              <a:rPr lang="en-US" altLang="ko-KR" sz="1000" dirty="0">
                <a:latin typeface="+mn-ea"/>
              </a:rPr>
              <a:t>)</a:t>
            </a:r>
            <a:r>
              <a:rPr lang="ko-KR" altLang="en-US" sz="1000" dirty="0">
                <a:latin typeface="+mn-ea"/>
              </a:rPr>
              <a:t>애견 배변매트</a:t>
            </a:r>
            <a:r>
              <a:rPr lang="en-US" altLang="ko-KR" sz="1000" dirty="0">
                <a:latin typeface="+mn-ea"/>
              </a:rPr>
              <a:t>, 1</a:t>
            </a:r>
            <a:r>
              <a:rPr lang="ko-KR" altLang="en-US" sz="1000" dirty="0">
                <a:latin typeface="+mn-ea"/>
              </a:rPr>
              <a:t>인 압력솥밥</a:t>
            </a:r>
            <a:endParaRPr lang="en-US" altLang="ko-KR" sz="1000" dirty="0">
              <a:latin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latin typeface="+mn-ea"/>
              </a:rPr>
              <a:t>  -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판로와 </a:t>
            </a:r>
            <a:r>
              <a:rPr kumimoji="0" lang="ko-KR" altLang="en-US" sz="1200" b="1" i="0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마케팅 패키지 지원 </a:t>
            </a:r>
            <a:endParaRPr kumimoji="0" lang="en-US" altLang="ko-KR" sz="100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  <a:p>
            <a:pPr lvl="0">
              <a:lnSpc>
                <a:spcPct val="140000"/>
              </a:lnSpc>
              <a:defRPr/>
            </a:pPr>
            <a:r>
              <a:rPr lang="en-US" altLang="ko-KR" sz="1000" dirty="0">
                <a:latin typeface="맑은 고딕" panose="02110004020202020204"/>
                <a:ea typeface="맑은 고딕" panose="020B0503020000020004" pitchFamily="50" charset="-127"/>
              </a:rPr>
              <a:t>    </a:t>
            </a:r>
            <a:r>
              <a:rPr kumimoji="0" lang="en-US" altLang="ko-KR" sz="100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: </a:t>
            </a:r>
            <a:r>
              <a:rPr lang="ko-KR" altLang="en-US" sz="1200" b="1" spc="-50" dirty="0">
                <a:latin typeface="+mn-ea"/>
              </a:rPr>
              <a:t>방송 </a:t>
            </a:r>
            <a:r>
              <a:rPr lang="en-US" altLang="ko-KR" sz="1200" b="1" spc="-50" dirty="0">
                <a:latin typeface="+mn-ea"/>
              </a:rPr>
              <a:t>– </a:t>
            </a:r>
            <a:r>
              <a:rPr lang="ko-KR" altLang="en-US" sz="1200" b="1" spc="-50" dirty="0">
                <a:latin typeface="+mn-ea"/>
              </a:rPr>
              <a:t>데이터영역 </a:t>
            </a:r>
            <a:r>
              <a:rPr lang="en-US" altLang="ko-KR" sz="1200" b="1" spc="-50" dirty="0">
                <a:latin typeface="+mn-ea"/>
              </a:rPr>
              <a:t>– </a:t>
            </a:r>
            <a:r>
              <a:rPr lang="ko-KR" altLang="en-US" sz="1200" b="1" spc="-50" dirty="0">
                <a:latin typeface="+mn-ea"/>
              </a:rPr>
              <a:t>모바일 </a:t>
            </a:r>
            <a:r>
              <a:rPr lang="en-US" altLang="ko-KR" sz="1200" b="1" spc="-50" dirty="0">
                <a:latin typeface="+mn-ea"/>
              </a:rPr>
              <a:t>– </a:t>
            </a:r>
            <a:r>
              <a:rPr lang="ko-KR" altLang="en-US" sz="1200" b="1" spc="-50" dirty="0" err="1">
                <a:latin typeface="+mn-ea"/>
              </a:rPr>
              <a:t>라이브커머스</a:t>
            </a:r>
            <a:r>
              <a:rPr lang="ko-KR" altLang="en-US" sz="1200" b="1" spc="-50" dirty="0">
                <a:latin typeface="+mn-ea"/>
              </a:rPr>
              <a:t> </a:t>
            </a:r>
            <a:r>
              <a:rPr lang="en-US" altLang="ko-KR" sz="1200" b="1" spc="-50" dirty="0">
                <a:latin typeface="+mn-ea"/>
              </a:rPr>
              <a:t>– N</a:t>
            </a:r>
            <a:r>
              <a:rPr lang="ko-KR" altLang="en-US" sz="1200" b="1" spc="-50" dirty="0">
                <a:latin typeface="+mn-ea"/>
              </a:rPr>
              <a:t>스크린 통합 판매 및 마케팅</a:t>
            </a:r>
            <a:endParaRPr lang="ko-KR" altLang="en-US" sz="1000" b="1" spc="-50" dirty="0">
              <a:latin typeface="+mn-ea"/>
            </a:endParaRPr>
          </a:p>
          <a:p>
            <a:pPr>
              <a:lnSpc>
                <a:spcPct val="140000"/>
              </a:lnSpc>
            </a:pPr>
            <a:r>
              <a:rPr lang="ko-KR" altLang="en-US" sz="1000" b="1" spc="-50" dirty="0">
                <a:latin typeface="+mn-ea"/>
              </a:rPr>
              <a:t>      </a:t>
            </a:r>
            <a:r>
              <a:rPr lang="ko-KR" altLang="en-US" sz="1000" spc="-50" dirty="0"/>
              <a:t>예</a:t>
            </a:r>
            <a:r>
              <a:rPr lang="en-US" altLang="ko-KR" sz="1000" spc="-50" dirty="0"/>
              <a:t>) </a:t>
            </a:r>
            <a:r>
              <a:rPr lang="ko-KR" altLang="en-US" sz="1000" spc="-50" dirty="0" err="1"/>
              <a:t>올인패키지</a:t>
            </a:r>
            <a:r>
              <a:rPr lang="ko-KR" altLang="en-US" sz="1000" spc="-50" dirty="0"/>
              <a:t> </a:t>
            </a:r>
            <a:r>
              <a:rPr lang="en-US" altLang="ko-KR" sz="1000" spc="-50" dirty="0"/>
              <a:t>: </a:t>
            </a:r>
            <a:r>
              <a:rPr lang="ko-KR" altLang="en-US" sz="1000" spc="-50" dirty="0" err="1"/>
              <a:t>디엔코스메틱</a:t>
            </a:r>
            <a:r>
              <a:rPr lang="ko-KR" altLang="en-US" sz="1000" spc="-50" dirty="0"/>
              <a:t> </a:t>
            </a:r>
            <a:r>
              <a:rPr lang="ko-KR" altLang="en-US" sz="1000" spc="-50" dirty="0" err="1"/>
              <a:t>이지듀</a:t>
            </a:r>
            <a:r>
              <a:rPr lang="ko-KR" altLang="en-US" sz="1000" spc="-50" dirty="0"/>
              <a:t> </a:t>
            </a:r>
            <a:r>
              <a:rPr lang="en-US" altLang="ko-KR" sz="1000" spc="-50" dirty="0"/>
              <a:t>(25</a:t>
            </a:r>
            <a:r>
              <a:rPr lang="ko-KR" altLang="en-US" sz="1000" spc="-50" dirty="0"/>
              <a:t>년 </a:t>
            </a:r>
            <a:r>
              <a:rPr lang="en-US" altLang="ko-KR" sz="1000" spc="-50" dirty="0"/>
              <a:t>2</a:t>
            </a:r>
            <a:r>
              <a:rPr lang="ko-KR" altLang="en-US" sz="1000" spc="-50" dirty="0"/>
              <a:t>월 </a:t>
            </a:r>
            <a:r>
              <a:rPr lang="ko-KR" altLang="en-US" sz="1000" spc="-50" dirty="0" err="1"/>
              <a:t>마이샵런칭</a:t>
            </a:r>
            <a:r>
              <a:rPr lang="en-US" altLang="ko-KR" sz="1000" spc="-50" dirty="0"/>
              <a:t>, </a:t>
            </a:r>
            <a:r>
              <a:rPr lang="ko-KR" altLang="en-US" sz="1000" spc="-50" dirty="0"/>
              <a:t>총 </a:t>
            </a:r>
            <a:r>
              <a:rPr lang="en-US" altLang="ko-KR" sz="1000" spc="-50" dirty="0"/>
              <a:t>53</a:t>
            </a:r>
            <a:r>
              <a:rPr lang="ko-KR" altLang="en-US" sz="1000" spc="-50" dirty="0"/>
              <a:t>회 편성</a:t>
            </a:r>
            <a:r>
              <a:rPr lang="en-US" altLang="ko-KR" sz="1000" spc="-50" dirty="0"/>
              <a:t>, </a:t>
            </a:r>
            <a:r>
              <a:rPr lang="ko-KR" altLang="en-US" sz="1000" spc="-50" dirty="0" err="1"/>
              <a:t>취급액</a:t>
            </a:r>
            <a:r>
              <a:rPr lang="ko-KR" altLang="en-US" sz="1000" spc="-50" dirty="0"/>
              <a:t> </a:t>
            </a:r>
            <a:r>
              <a:rPr lang="en-US" altLang="ko-KR" sz="1000" spc="-50" dirty="0"/>
              <a:t>35.4</a:t>
            </a:r>
            <a:r>
              <a:rPr lang="ko-KR" altLang="en-US" sz="1000" spc="-50" dirty="0"/>
              <a:t>억원</a:t>
            </a:r>
            <a:r>
              <a:rPr lang="en-US" altLang="ko-KR" sz="1000" spc="-50" dirty="0"/>
              <a:t>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6BEFE17-FF22-F338-BEF4-9964660FE995}"/>
              </a:ext>
            </a:extLst>
          </p:cNvPr>
          <p:cNvSpPr/>
          <p:nvPr/>
        </p:nvSpPr>
        <p:spPr>
          <a:xfrm>
            <a:off x="5843588" y="981075"/>
            <a:ext cx="5976938" cy="553995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838CA28-147F-EA91-1ECE-5686ED9FCEA7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편성책임자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9B3EB4-6764-73F5-7F03-47AFFFED01B3}"/>
              </a:ext>
            </a:extLst>
          </p:cNvPr>
          <p:cNvSpPr txBox="1"/>
          <p:nvPr/>
        </p:nvSpPr>
        <p:spPr>
          <a:xfrm>
            <a:off x="65067" y="19001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3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중소기업 지원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36A0E1-C9D8-4027-4466-D4CFC360D3C9}"/>
              </a:ext>
            </a:extLst>
          </p:cNvPr>
          <p:cNvSpPr txBox="1"/>
          <p:nvPr/>
        </p:nvSpPr>
        <p:spPr>
          <a:xfrm>
            <a:off x="124810" y="848815"/>
            <a:ext cx="5502601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ko-KR" altLang="en-US" sz="1100" b="1" dirty="0">
                <a:latin typeface="+mn-ea"/>
              </a:rPr>
              <a:t>사업계획서 </a:t>
            </a:r>
            <a:r>
              <a:rPr lang="en-US" altLang="ko-KR" sz="1100" b="1" dirty="0">
                <a:latin typeface="+mn-ea"/>
              </a:rPr>
              <a:t>p.95~102)</a:t>
            </a:r>
            <a:r>
              <a:rPr lang="ko-KR" altLang="en-US" sz="1100" b="1" dirty="0">
                <a:latin typeface="+mn-ea"/>
              </a:rPr>
              <a:t>중소기업 판로 지원 실적 및 계획</a:t>
            </a:r>
            <a:endParaRPr lang="en-US" altLang="ko-KR" sz="1100" b="1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F5CB5F-098C-F621-6E10-FAAC604503E6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56/109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79892075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5ABBB-ED65-6FBD-47E4-362B86595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20EB4FB9-25C1-22D5-598B-8EE9D2E317C3}"/>
              </a:ext>
            </a:extLst>
          </p:cNvPr>
          <p:cNvGraphicFramePr>
            <a:graphicFrameLocks noGrp="1"/>
          </p:cNvGraphicFramePr>
          <p:nvPr/>
        </p:nvGraphicFramePr>
        <p:xfrm>
          <a:off x="323448" y="710127"/>
          <a:ext cx="11545105" cy="3004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5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5593">
                  <a:extLst>
                    <a:ext uri="{9D8B030D-6E8A-4147-A177-3AD203B41FA5}">
                      <a16:colId xmlns:a16="http://schemas.microsoft.com/office/drawing/2014/main" val="711921477"/>
                    </a:ext>
                  </a:extLst>
                </a:gridCol>
                <a:gridCol w="2329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74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27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796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401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명칭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1200" spc="-3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1200" spc="-3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편성 내용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1200" spc="-3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시행 시기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34">
                <a:tc rowSpan="2" gridSpan="2"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en-US" altLang="ko-KR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TV</a:t>
                      </a:r>
                      <a:r>
                        <a:rPr lang="ko-KR" altLang="en-US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홈쇼핑</a:t>
                      </a:r>
                    </a:p>
                  </a:txBody>
                  <a:tcPr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en-US" altLang="ko-KR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 Love </a:t>
                      </a:r>
                      <a:r>
                        <a:rPr lang="ko-KR" altLang="en-US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중소기업</a:t>
                      </a:r>
                    </a:p>
                  </a:txBody>
                  <a:tcPr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3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신규 영세</a:t>
                      </a:r>
                      <a:r>
                        <a:rPr lang="en-US" altLang="ko-KR" sz="1100" b="0" kern="1200" spc="-3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b="0" kern="1200" spc="-3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중소기업 제품</a:t>
                      </a: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</a:t>
                      </a:r>
                      <a:r>
                        <a:rPr lang="en-US" altLang="ko-KR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~</a:t>
                      </a:r>
                      <a:r>
                        <a:rPr lang="ko-KR" altLang="en-US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금 평일</a:t>
                      </a:r>
                      <a:r>
                        <a:rPr lang="en-US" altLang="ko-KR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매일 </a:t>
                      </a:r>
                      <a:r>
                        <a:rPr lang="en-US" altLang="ko-KR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 혹은 </a:t>
                      </a:r>
                      <a:r>
                        <a:rPr lang="en-US" altLang="ko-KR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</a:t>
                      </a:r>
                      <a:r>
                        <a:rPr lang="en-US" altLang="ko-KR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</a:t>
                      </a:r>
                      <a:r>
                        <a:rPr lang="en-US" altLang="ko-KR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30</a:t>
                      </a:r>
                      <a:r>
                        <a:rPr lang="ko-KR" altLang="en-US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 편성</a:t>
                      </a:r>
                    </a:p>
                  </a:txBody>
                  <a:tcPr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spc="-3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‘12</a:t>
                      </a:r>
                      <a:r>
                        <a:rPr lang="ko-KR" altLang="en-US" sz="1100" b="0" kern="1200" spc="-3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100" b="0" kern="1200" spc="-3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b="0" kern="1200" spc="-3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월부터</a:t>
                      </a:r>
                    </a:p>
                  </a:txBody>
                  <a:tcPr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34">
                <a:tc gridSpan="2" vMerge="1"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endParaRPr lang="ko-KR" altLang="en-US" sz="1100" b="1" kern="1200" spc="-3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36000" marB="36000"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전국 중소기업 특별전</a:t>
                      </a:r>
                    </a:p>
                  </a:txBody>
                  <a:tcPr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수도권 제외 지역</a:t>
                      </a:r>
                      <a:endParaRPr lang="en-US" altLang="ko-KR" sz="1100" b="0" kern="1200" spc="-3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중소기업 공산품</a:t>
                      </a:r>
                      <a:r>
                        <a:rPr lang="en-US" altLang="ko-KR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특산물</a:t>
                      </a: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토요일</a:t>
                      </a:r>
                      <a:r>
                        <a:rPr lang="en-US" altLang="ko-KR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일요일 </a:t>
                      </a:r>
                      <a:r>
                        <a:rPr lang="en-US" altLang="ko-KR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 혹은 </a:t>
                      </a:r>
                      <a:r>
                        <a:rPr lang="en-US" altLang="ko-KR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</a:t>
                      </a:r>
                      <a:r>
                        <a:rPr lang="en-US" altLang="ko-KR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</a:t>
                      </a:r>
                      <a:r>
                        <a:rPr lang="en-US" altLang="ko-KR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30</a:t>
                      </a:r>
                      <a:r>
                        <a:rPr lang="ko-KR" altLang="en-US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 편성</a:t>
                      </a:r>
                    </a:p>
                  </a:txBody>
                  <a:tcPr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‘19</a:t>
                      </a:r>
                      <a:r>
                        <a:rPr lang="ko-KR" altLang="en-US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b="0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월부터</a:t>
                      </a:r>
                    </a:p>
                  </a:txBody>
                  <a:tcPr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34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데이터</a:t>
                      </a:r>
                      <a:endParaRPr lang="en-US" altLang="ko-KR" sz="1100" b="1" kern="1200" spc="-3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홈쇼핑</a:t>
                      </a:r>
                    </a:p>
                  </a:txBody>
                  <a:tcPr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영상영역</a:t>
                      </a:r>
                    </a:p>
                  </a:txBody>
                  <a:tcPr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꿈꾸는 가게</a:t>
                      </a:r>
                    </a:p>
                  </a:txBody>
                  <a:tcPr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3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신규 영세 중소기업</a:t>
                      </a:r>
                      <a:endParaRPr lang="en-US" altLang="ko-KR" sz="1100" b="1" kern="1200" spc="-30" baseline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3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소상공인</a:t>
                      </a:r>
                      <a:r>
                        <a:rPr lang="en-US" altLang="ko-KR" sz="1100" b="1" kern="1200" spc="-3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 spc="-3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사회적기업</a:t>
                      </a:r>
                      <a:endParaRPr lang="en-US" altLang="ko-KR" sz="1100" b="1" kern="1200" spc="-30" baseline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주 </a:t>
                      </a:r>
                      <a:r>
                        <a:rPr lang="en-US" altLang="ko-KR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회 새벽</a:t>
                      </a:r>
                      <a:r>
                        <a:rPr lang="en-US" altLang="ko-KR" sz="1100" b="1" kern="1200" spc="-3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b="1" kern="1200" spc="-3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낮시간대</a:t>
                      </a:r>
                      <a:endParaRPr lang="en-US" altLang="ko-KR" sz="1100" b="1" kern="1200" spc="-30" baseline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00" b="1" kern="1200" spc="-3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ko-KR" sz="1100" b="1" kern="1200" spc="-3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1" u="sng" kern="1200" spc="-3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중소기업 </a:t>
                      </a:r>
                      <a:r>
                        <a:rPr lang="en-US" altLang="ko-KR" sz="1100" b="1" u="sng" kern="1200" spc="-3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Capa </a:t>
                      </a:r>
                      <a:r>
                        <a:rPr lang="ko-KR" altLang="en-US" sz="1100" b="1" u="sng" kern="1200" spc="-3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고려</a:t>
                      </a:r>
                      <a:endParaRPr lang="ko-KR" altLang="en-US" sz="1100" b="1" u="sng" kern="1200" spc="-3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‘16</a:t>
                      </a: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월부터</a:t>
                      </a:r>
                    </a:p>
                  </a:txBody>
                  <a:tcPr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034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100" b="1" kern="1200" spc="-3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36000" marB="36000"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데이터영역</a:t>
                      </a:r>
                    </a:p>
                  </a:txBody>
                  <a:tcPr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지역 특산물관</a:t>
                      </a:r>
                    </a:p>
                  </a:txBody>
                  <a:tcPr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우수 지역 특산물</a:t>
                      </a: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상시 운영</a:t>
                      </a:r>
                    </a:p>
                  </a:txBody>
                  <a:tcPr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en-US" altLang="ko-KR" sz="1100" b="1" kern="1200" spc="-3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‘16</a:t>
                      </a:r>
                      <a:r>
                        <a:rPr lang="ko-KR" altLang="en-US" sz="1100" b="1" kern="1200" spc="-30" baseline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년부터</a:t>
                      </a:r>
                    </a:p>
                  </a:txBody>
                  <a:tcPr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03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endParaRPr lang="ko-KR" altLang="en-US" sz="1100" b="1" kern="1200" spc="-3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rgbClr val="1919E5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중소기업 전용관 </a:t>
                      </a:r>
                      <a:r>
                        <a:rPr lang="en-US" altLang="ko-KR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(Top20 </a:t>
                      </a: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특별관</a:t>
                      </a:r>
                      <a:r>
                        <a:rPr lang="en-US" altLang="ko-KR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kern="1200" spc="-3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우수 중소기업 제품</a:t>
                      </a: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상시 운영</a:t>
                      </a:r>
                    </a:p>
                  </a:txBody>
                  <a:tcPr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en-US" altLang="ko-KR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‘20</a:t>
                      </a: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월부터</a:t>
                      </a:r>
                    </a:p>
                  </a:txBody>
                  <a:tcPr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03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온라인쇼핑몰</a:t>
                      </a:r>
                    </a:p>
                  </a:txBody>
                  <a:tcPr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중소기업 전용관 </a:t>
                      </a:r>
                      <a:r>
                        <a:rPr lang="en-US" altLang="ko-KR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상생마켓</a:t>
                      </a:r>
                      <a:r>
                        <a:rPr lang="en-US" altLang="ko-KR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kern="1200" spc="-3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우수 중소기업 제품</a:t>
                      </a: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상시 운영</a:t>
                      </a:r>
                    </a:p>
                  </a:txBody>
                  <a:tcPr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en-US" altLang="ko-KR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‘12</a:t>
                      </a: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년부터</a:t>
                      </a:r>
                    </a:p>
                  </a:txBody>
                  <a:tcPr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03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모바일</a:t>
                      </a:r>
                      <a:r>
                        <a:rPr lang="en-US" altLang="ko-KR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App</a:t>
                      </a:r>
                      <a:endParaRPr lang="ko-KR" altLang="en-US" sz="1100" b="1" kern="1200" spc="-3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중소기업 전용관 </a:t>
                      </a:r>
                      <a:r>
                        <a:rPr lang="en-US" altLang="ko-KR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상생마켓</a:t>
                      </a:r>
                      <a:r>
                        <a:rPr lang="en-US" altLang="ko-KR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kern="1200" spc="-3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우수 중소기업 제품</a:t>
                      </a: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상시 운영</a:t>
                      </a:r>
                    </a:p>
                  </a:txBody>
                  <a:tcPr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en-US" altLang="ko-KR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‘21</a:t>
                      </a: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년부터</a:t>
                      </a:r>
                    </a:p>
                  </a:txBody>
                  <a:tcPr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03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</a:t>
                      </a: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스크린</a:t>
                      </a:r>
                    </a:p>
                  </a:txBody>
                  <a:tcPr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방송 외 </a:t>
                      </a:r>
                      <a:r>
                        <a:rPr lang="en-US" altLang="ko-KR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21</a:t>
                      </a: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 매체에서 데이터홈쇼핑</a:t>
                      </a:r>
                      <a:r>
                        <a:rPr lang="en-US" altLang="ko-KR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시청 및 상품 구매 가능</a:t>
                      </a:r>
                    </a:p>
                  </a:txBody>
                  <a:tcPr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kern="1200" spc="-3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kern="1200" spc="-3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endParaRPr lang="ko-KR" altLang="en-US" sz="1100" b="1" kern="1200" spc="-30" baseline="0" dirty="0">
                        <a:ln>
                          <a:solidFill>
                            <a:schemeClr val="bg1">
                              <a:lumMod val="50000"/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532983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C720B9E6-2173-C36C-26EB-F527A3A9BFD4}"/>
              </a:ext>
            </a:extLst>
          </p:cNvPr>
          <p:cNvSpPr txBox="1"/>
          <p:nvPr/>
        </p:nvSpPr>
        <p:spPr>
          <a:xfrm>
            <a:off x="289708" y="3956515"/>
            <a:ext cx="35884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en-US" altLang="ko-KR" sz="105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05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데이터영역 </a:t>
            </a:r>
            <a:r>
              <a:rPr lang="en-US" altLang="ko-KR" sz="105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- </a:t>
            </a:r>
            <a:r>
              <a:rPr lang="ko-KR" altLang="en-US" sz="105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지역 특산물관</a:t>
            </a:r>
            <a:r>
              <a:rPr lang="en-US" altLang="ko-KR" sz="105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,</a:t>
            </a:r>
            <a:r>
              <a:rPr lang="ko-KR" altLang="en-US" sz="105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 중소기업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특별관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)</a:t>
            </a:r>
            <a:endParaRPr lang="ko-KR" altLang="en-US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BD937B-17A9-DEF8-606B-58EFFA7D21B4}"/>
              </a:ext>
            </a:extLst>
          </p:cNvPr>
          <p:cNvSpPr txBox="1"/>
          <p:nvPr/>
        </p:nvSpPr>
        <p:spPr>
          <a:xfrm>
            <a:off x="4354846" y="3956515"/>
            <a:ext cx="327453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온라인쇼핑몰 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–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중소기업 전용관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)</a:t>
            </a:r>
            <a:endParaRPr lang="ko-KR" altLang="en-US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8EAEEB-6C95-2C9D-B8B1-17498064DC26}"/>
              </a:ext>
            </a:extLst>
          </p:cNvPr>
          <p:cNvSpPr txBox="1"/>
          <p:nvPr/>
        </p:nvSpPr>
        <p:spPr>
          <a:xfrm>
            <a:off x="7509262" y="3956515"/>
            <a:ext cx="327453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(N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스크린 매체 현황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)</a:t>
            </a:r>
            <a:endParaRPr lang="ko-KR" altLang="en-US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E759F3-1D1D-AF9D-29F2-F0949B1263A1}"/>
              </a:ext>
            </a:extLst>
          </p:cNvPr>
          <p:cNvSpPr txBox="1"/>
          <p:nvPr/>
        </p:nvSpPr>
        <p:spPr>
          <a:xfrm>
            <a:off x="60964" y="82147"/>
            <a:ext cx="783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채널별 중소기업 판로지원 프로그램</a:t>
            </a:r>
            <a:endParaRPr lang="en-US" altLang="ko-KR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1" name="그림 10" descr="텍스트, 스크린샷, 웹사이트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9AC9A4-82A6-4877-D625-5518CFED4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372" y="4264076"/>
            <a:ext cx="2945698" cy="214647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26" name="그림 25" descr="텍스트, 스크린샷, 웹사이트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785AF5-BB99-B5BB-F24F-8CE88B0C4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94" y="4264076"/>
            <a:ext cx="3888914" cy="2146478"/>
          </a:xfrm>
          <a:prstGeom prst="rect">
            <a:avLst/>
          </a:prstGeom>
        </p:spPr>
      </p:pic>
      <p:pic>
        <p:nvPicPr>
          <p:cNvPr id="28" name="그림 27" descr="텍스트, 폰트, 번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A75021-AB4C-030A-906E-5A836D7F9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382" y="4210431"/>
            <a:ext cx="4273054" cy="140579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66F5ED0-71D4-526A-85FD-67B58FAEDF5C}"/>
              </a:ext>
            </a:extLst>
          </p:cNvPr>
          <p:cNvSpPr/>
          <p:nvPr/>
        </p:nvSpPr>
        <p:spPr>
          <a:xfrm>
            <a:off x="323447" y="1724298"/>
            <a:ext cx="11545105" cy="199016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BB291B-6257-8289-23F1-3FB8DC3BD9F2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57/109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87836295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FEB32-5AA9-278C-49F7-517D715D1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42955D-39A8-6868-295E-D3589D644B91}"/>
              </a:ext>
            </a:extLst>
          </p:cNvPr>
          <p:cNvSpPr txBox="1"/>
          <p:nvPr/>
        </p:nvSpPr>
        <p:spPr>
          <a:xfrm>
            <a:off x="60963" y="83316"/>
            <a:ext cx="8819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중소기업 지원 활동</a:t>
            </a:r>
            <a:endParaRPr lang="en-US" altLang="ko-KR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FC300C7-6254-E8CE-C4B5-924B41155D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664643"/>
              </p:ext>
            </p:extLst>
          </p:nvPr>
        </p:nvGraphicFramePr>
        <p:xfrm>
          <a:off x="428625" y="804072"/>
          <a:ext cx="11391899" cy="5659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4182">
                  <a:extLst>
                    <a:ext uri="{9D8B030D-6E8A-4147-A177-3AD203B41FA5}">
                      <a16:colId xmlns:a16="http://schemas.microsoft.com/office/drawing/2014/main" val="711921477"/>
                    </a:ext>
                  </a:extLst>
                </a:gridCol>
                <a:gridCol w="1414623">
                  <a:extLst>
                    <a:ext uri="{9D8B030D-6E8A-4147-A177-3AD203B41FA5}">
                      <a16:colId xmlns:a16="http://schemas.microsoft.com/office/drawing/2014/main" val="241454948"/>
                    </a:ext>
                  </a:extLst>
                </a:gridCol>
                <a:gridCol w="6760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320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예산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1200" spc="-30" baseline="0" dirty="0">
                          <a:ln>
                            <a:solidFill>
                              <a:schemeClr val="bg1">
                                <a:lumMod val="50000"/>
                                <a:alpha val="2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12"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판로지원</a:t>
                      </a:r>
                      <a:endParaRPr lang="en-US" altLang="ko-KR" sz="1200" b="1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ko-KR" sz="12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200" b="1" dirty="0"/>
                        <a:t>p.95~102)</a:t>
                      </a:r>
                      <a:endParaRPr lang="ko-KR" altLang="en-US" sz="1200" b="1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1" kern="1200" spc="-8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무료 판매 방송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200" b="0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ko-KR" sz="10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기회비용 </a:t>
                      </a:r>
                      <a:r>
                        <a:rPr lang="en-US" altLang="ko-KR" sz="10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7</a:t>
                      </a:r>
                      <a:r>
                        <a:rPr lang="ko-KR" altLang="en-US" sz="10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억</a:t>
                      </a:r>
                      <a:r>
                        <a:rPr lang="en-US" altLang="ko-KR" sz="10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신규 중소기업을 위한 </a:t>
                      </a:r>
                      <a:r>
                        <a:rPr lang="ko-KR" alt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수수료 무료 방송 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운영 </a:t>
                      </a:r>
                      <a:r>
                        <a:rPr lang="en-US" altLang="ko-KR" sz="11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1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 새벽 및 낮시간대</a:t>
                      </a:r>
                      <a:r>
                        <a:rPr lang="en-US" altLang="ko-KR" sz="11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  *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콜센터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택배비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등 실비는 수취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1" kern="1200" spc="-8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인서트영상 제작 지원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억원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TV 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및 데이터 </a:t>
                      </a:r>
                      <a:r>
                        <a:rPr lang="ko-KR" alt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인서트영상 제작비 지원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협력사당 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700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만원 한도 지원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1" kern="1200" spc="-8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방송준비 지원조직 운영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  <a:r>
                        <a:rPr lang="ko-KR" altLang="en-US" sz="12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억원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 스타일링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소모품 제작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디스플레이 등 지원   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*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TV+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 준비 지원 외주 인력 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외주용역비 지출 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277550"/>
                  </a:ext>
                </a:extLst>
              </a:tr>
              <a:tr h="450012">
                <a:tc row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품질 지원</a:t>
                      </a:r>
                      <a:endParaRPr lang="en-US" altLang="ko-KR" sz="1200" b="1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ko-KR" sz="1200" b="1" dirty="0"/>
                        <a:t>(p.106~109)</a:t>
                      </a:r>
                      <a:endParaRPr lang="ko-KR" altLang="en-US" sz="1200" b="1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1" kern="1200" spc="-8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생산 현장 품질 지원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ko-KR" altLang="en-US" sz="1200" b="1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 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1,500</a:t>
                      </a:r>
                      <a:r>
                        <a:rPr lang="ko-KR" altLang="en-US" sz="1100" b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여회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품질 전문가가 </a:t>
                      </a:r>
                      <a:r>
                        <a:rPr lang="ko-KR" alt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제조 공장 방문 컨설팅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171118"/>
                  </a:ext>
                </a:extLst>
              </a:tr>
              <a:tr h="4500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1" kern="1200" spc="-8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설비 공정 개선 지원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억원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경영 혁신 컨설팅 및 </a:t>
                      </a:r>
                      <a:r>
                        <a:rPr lang="ko-KR" alt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설비 지원</a:t>
                      </a:r>
                      <a:r>
                        <a:rPr lang="en-US" altLang="ko-KR" sz="11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연계 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한국생산성본부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643586"/>
                  </a:ext>
                </a:extLst>
              </a:tr>
              <a:tr h="4500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1" kern="1200" spc="-8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식품 품질 개선 지원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1.5</a:t>
                      </a:r>
                      <a:r>
                        <a:rPr lang="ko-KR" altLang="en-US" sz="12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억원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식품 협력사 대상 컨설팅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진단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위생교육 등 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연계 </a:t>
                      </a:r>
                      <a:r>
                        <a:rPr lang="en-US" altLang="ko-KR" sz="11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한국식품과학연구원 연계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3642510"/>
                  </a:ext>
                </a:extLst>
              </a:tr>
              <a:tr h="4500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검사 비용 감면 지원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감면지원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개 공인 기관 </a:t>
                      </a:r>
                      <a:r>
                        <a:rPr lang="ko-KR" alt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검사 비용 </a:t>
                      </a:r>
                      <a:r>
                        <a:rPr lang="en-US" altLang="ko-KR" sz="11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30% </a:t>
                      </a:r>
                      <a:r>
                        <a:rPr lang="ko-KR" alt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감면 지원</a:t>
                      </a:r>
                      <a:endParaRPr lang="en-US" altLang="ko-KR" sz="1100" b="1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12">
                <a:tc row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자금지원</a:t>
                      </a:r>
                      <a:endParaRPr lang="en-US" altLang="ko-KR" sz="1200" b="1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(p.110~113)</a:t>
                      </a:r>
                      <a:endParaRPr lang="ko-KR" altLang="en-US" sz="1200" b="1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신상품 개발 무이자 자금지원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신청에 따라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신상품 개발 등 경쟁력 강화를 </a:t>
                      </a:r>
                      <a:r>
                        <a:rPr lang="ko-KR" alt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위한 무이자 자금 지원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0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수매자금지원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1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신청에 따라</a:t>
                      </a:r>
                      <a:endParaRPr lang="ko-KR" altLang="en-US" sz="1200" b="1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농수산물 수매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 </a:t>
                      </a:r>
                      <a:r>
                        <a:rPr lang="ko-KR" alt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원물 구매 무이자 자금 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지원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00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1" kern="1200" spc="-8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1" kern="1200" spc="-8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1,380</a:t>
                      </a:r>
                      <a:r>
                        <a:rPr lang="ko-KR" altLang="en-US" sz="1200" b="1" kern="1200" spc="-8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억원 상생펀드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1,380</a:t>
                      </a:r>
                      <a:r>
                        <a:rPr lang="ko-KR" altLang="en-US" sz="12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억원</a:t>
                      </a:r>
                      <a:endParaRPr lang="en-US" altLang="ko-KR" sz="1200" b="1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지원효과 </a:t>
                      </a:r>
                      <a:r>
                        <a:rPr lang="en-US" altLang="ko-KR" sz="10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7.5</a:t>
                      </a:r>
                      <a:r>
                        <a:rPr lang="ko-KR" altLang="en-US" sz="10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억</a:t>
                      </a:r>
                      <a:r>
                        <a:rPr lang="en-US" altLang="ko-KR" sz="1000" b="0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중소기업 협력사 이자 일부 감면하면서 운전자금 지원</a:t>
                      </a:r>
                      <a:endParaRPr lang="en-US" altLang="ko-KR" sz="1100" b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대출잔액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793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억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*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이자지원율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0.95%)</a:t>
                      </a: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0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1" kern="1200" spc="-8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판매수수료 환급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1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1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억원</a:t>
                      </a:r>
                      <a:endParaRPr lang="en-US" altLang="ko-KR" sz="1200" b="1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ko-KR" sz="1000" b="0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(TV, </a:t>
                      </a:r>
                      <a:r>
                        <a:rPr lang="ko-KR" altLang="en-US" sz="1000" b="0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</a:t>
                      </a:r>
                      <a:r>
                        <a:rPr lang="en-US" altLang="ko-KR" sz="1000" b="0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b="0" kern="1200" spc="-8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정액방송 </a:t>
                      </a:r>
                      <a:r>
                        <a:rPr lang="ko-KR" altLang="en-US" sz="1100" b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목표달성률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30% 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미만 협력사의 </a:t>
                      </a:r>
                      <a:r>
                        <a:rPr lang="ko-KR" alt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정액수수료의 </a:t>
                      </a:r>
                      <a:r>
                        <a:rPr lang="en-US" altLang="ko-KR" sz="11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10% </a:t>
                      </a:r>
                      <a:r>
                        <a:rPr lang="ko-KR" alt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환급 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정량적 기준에 따라</a:t>
                      </a:r>
                      <a:r>
                        <a:rPr lang="en-US" altLang="ko-KR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00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창조경제혁신펀드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r>
                        <a:rPr lang="ko-KR" altLang="en-US" sz="1200" b="1" kern="1200" spc="-8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억원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전남 지역 스타트업 장기 투자 지원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532983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9AEA13E-FBE7-6CFE-79E3-6C7243877DB8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58/109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58891340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2743C-8F3E-0443-FC27-A18C97BC6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DC4284-C35B-CECF-FBE9-E3C7F111BC2F}"/>
              </a:ext>
            </a:extLst>
          </p:cNvPr>
          <p:cNvSpPr txBox="1"/>
          <p:nvPr/>
        </p:nvSpPr>
        <p:spPr>
          <a:xfrm>
            <a:off x="60962" y="329939"/>
            <a:ext cx="9953625" cy="724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중소기업 편성 비중 계획이 과거 실적 대비 낮은데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상향할 계획은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</a:t>
            </a:r>
          </a:p>
          <a:p>
            <a:pPr algn="just">
              <a:lnSpc>
                <a:spcPct val="120000"/>
              </a:lnSpc>
            </a:pP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   중견기업 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5%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를 추가한 이유는 무엇인가요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913DF7E-E6A5-CD99-3EB2-9D7606E695FC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>
                <a:solidFill>
                  <a:schemeClr val="tx2">
                    <a:lumMod val="75000"/>
                  </a:schemeClr>
                </a:solidFill>
                <a:latin typeface="+mn-ea"/>
              </a:rPr>
              <a:t>편성책임자</a:t>
            </a:r>
            <a:endParaRPr lang="ko-KR" altLang="en-US" sz="105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CA45CE-719D-FA3A-F260-5681F8C12AAF}"/>
              </a:ext>
            </a:extLst>
          </p:cNvPr>
          <p:cNvSpPr txBox="1"/>
          <p:nvPr/>
        </p:nvSpPr>
        <p:spPr>
          <a:xfrm>
            <a:off x="65067" y="19001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3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중소기업 지원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pic>
        <p:nvPicPr>
          <p:cNvPr id="4" name="그림 3" descr="텍스트, 스크린샷, 번호, 폰트이(가) 표시된 사진">
            <a:extLst>
              <a:ext uri="{FF2B5EF4-FFF2-40B4-BE49-F238E27FC236}">
                <a16:creationId xmlns:a16="http://schemas.microsoft.com/office/drawing/2014/main" id="{CCA04001-0007-4D8A-131C-F002318959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914"/>
          <a:stretch>
            <a:fillRect/>
          </a:stretch>
        </p:blipFill>
        <p:spPr>
          <a:xfrm>
            <a:off x="223785" y="4724400"/>
            <a:ext cx="5397200" cy="1725858"/>
          </a:xfrm>
          <a:prstGeom prst="rect">
            <a:avLst/>
          </a:prstGeom>
        </p:spPr>
      </p:pic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2A0543-6BA0-999D-5C8A-A1091E85F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53" y="1545048"/>
            <a:ext cx="5445747" cy="145384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3E982A9-D171-A8DB-0486-EA9840BF17FA}"/>
              </a:ext>
            </a:extLst>
          </p:cNvPr>
          <p:cNvSpPr txBox="1"/>
          <p:nvPr/>
        </p:nvSpPr>
        <p:spPr>
          <a:xfrm>
            <a:off x="118384" y="1173513"/>
            <a:ext cx="5502601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ko-KR" altLang="en-US" sz="1100" b="1" dirty="0">
                <a:latin typeface="+mn-ea"/>
              </a:rPr>
              <a:t>사업계획서 </a:t>
            </a:r>
            <a:r>
              <a:rPr lang="en-US" altLang="ko-KR" sz="1100" b="1" dirty="0">
                <a:latin typeface="+mn-ea"/>
              </a:rPr>
              <a:t>p.75)</a:t>
            </a:r>
            <a:r>
              <a:rPr lang="ko-KR" altLang="en-US" sz="1100" b="1" dirty="0">
                <a:latin typeface="+mn-ea"/>
              </a:rPr>
              <a:t>중소기업 편성비중 실적 및 계획</a:t>
            </a:r>
            <a:endParaRPr lang="en-US" altLang="ko-KR" sz="1100" b="1" dirty="0"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6C1B5A9-8A73-0EF3-86A4-7155911067B6}"/>
              </a:ext>
            </a:extLst>
          </p:cNvPr>
          <p:cNvSpPr/>
          <p:nvPr/>
        </p:nvSpPr>
        <p:spPr>
          <a:xfrm>
            <a:off x="5828298" y="1242270"/>
            <a:ext cx="6116052" cy="539360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B68222-1ED7-7BAE-CC8D-6DABB6642C26}"/>
              </a:ext>
            </a:extLst>
          </p:cNvPr>
          <p:cNvSpPr txBox="1"/>
          <p:nvPr/>
        </p:nvSpPr>
        <p:spPr>
          <a:xfrm>
            <a:off x="5832812" y="1293455"/>
            <a:ext cx="6158935" cy="5369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편성비중 축소 논리</a:t>
            </a:r>
            <a:r>
              <a:rPr lang="en-US" altLang="ko-KR" sz="1000" dirty="0">
                <a:latin typeface="+mn-ea"/>
              </a:rPr>
              <a:t>)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①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고객 중심의 상품과 중소기업 편성 간 균형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   </a:t>
            </a:r>
            <a:r>
              <a:rPr lang="en-US" altLang="ko-KR" sz="1200" b="1" dirty="0">
                <a:latin typeface="+mn-ea"/>
              </a:rPr>
              <a:t>- </a:t>
            </a:r>
            <a:r>
              <a:rPr lang="ko-KR" altLang="en-US" sz="1200" b="1" dirty="0">
                <a:latin typeface="+mn-ea"/>
              </a:rPr>
              <a:t>시청률 하락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 err="1">
                <a:latin typeface="+mn-ea"/>
              </a:rPr>
              <a:t>모바일커머스와의</a:t>
            </a:r>
            <a:r>
              <a:rPr lang="ko-KR" altLang="en-US" sz="1200" b="1" dirty="0">
                <a:latin typeface="+mn-ea"/>
              </a:rPr>
              <a:t> 경쟁 심화로 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 </a:t>
            </a:r>
            <a:r>
              <a:rPr lang="ko-KR" altLang="en-US" sz="1200" b="1" u="sng" dirty="0">
                <a:latin typeface="+mn-ea"/>
              </a:rPr>
              <a:t>고객 선호 상품의 개발 및 확대가 </a:t>
            </a:r>
            <a:r>
              <a:rPr lang="ko-KR" altLang="en-US" sz="1200" b="1" dirty="0">
                <a:latin typeface="+mn-ea"/>
              </a:rPr>
              <a:t>무엇보다 중요한 시점임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     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중소기업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수입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대기업 여부를 떠나서</a:t>
            </a:r>
            <a:r>
              <a:rPr lang="en-US" altLang="ko-KR" sz="1200" b="1" dirty="0">
                <a:latin typeface="+mn-ea"/>
              </a:rPr>
              <a:t>)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   </a:t>
            </a:r>
            <a:r>
              <a:rPr lang="en-US" altLang="ko-KR" sz="1200" b="1" dirty="0">
                <a:latin typeface="+mn-ea"/>
              </a:rPr>
              <a:t>-</a:t>
            </a:r>
            <a:r>
              <a:rPr lang="ko-KR" altLang="en-US" sz="1200" b="1" dirty="0">
                <a:latin typeface="+mn-ea"/>
              </a:rPr>
              <a:t> </a:t>
            </a:r>
            <a:r>
              <a:rPr lang="ko-KR" altLang="en-US" sz="1200" b="1" u="sng" dirty="0">
                <a:solidFill>
                  <a:srgbClr val="0000FF"/>
                </a:solidFill>
                <a:latin typeface="+mn-ea"/>
              </a:rPr>
              <a:t>고객이 관심을 가지는 </a:t>
            </a:r>
            <a:r>
              <a:rPr lang="ko-KR" altLang="en-US" sz="1200" b="1" u="sng" dirty="0">
                <a:latin typeface="+mn-ea"/>
              </a:rPr>
              <a:t>트렌드 상품이나 브랜드를</a:t>
            </a:r>
            <a:r>
              <a:rPr lang="ko-KR" altLang="en-US" sz="1200" b="1" dirty="0">
                <a:latin typeface="+mn-ea"/>
              </a:rPr>
              <a:t> </a:t>
            </a:r>
            <a:r>
              <a:rPr lang="ko-KR" altLang="en-US" sz="1200" b="1" dirty="0" err="1">
                <a:latin typeface="+mn-ea"/>
              </a:rPr>
              <a:t>소싱해야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 </a:t>
            </a:r>
            <a:r>
              <a:rPr lang="ko-KR" altLang="en-US" sz="1200" b="1" u="sng" dirty="0">
                <a:latin typeface="+mn-ea"/>
              </a:rPr>
              <a:t>시청 고객 유입 → 채널에 고객이 체류하면서</a:t>
            </a:r>
            <a:r>
              <a:rPr lang="en-US" altLang="ko-KR" sz="1200" b="1" u="sng" dirty="0">
                <a:latin typeface="+mn-ea"/>
              </a:rPr>
              <a:t> </a:t>
            </a:r>
            <a:r>
              <a:rPr lang="ko-KR" altLang="en-US" sz="1200" b="1" u="sng" dirty="0">
                <a:latin typeface="+mn-ea"/>
              </a:rPr>
              <a:t>→ 전체 판매 증가 → 중기 판매 증가</a:t>
            </a:r>
            <a:r>
              <a:rPr lang="ko-KR" altLang="en-US" sz="1200" b="1" dirty="0">
                <a:latin typeface="+mn-ea"/>
              </a:rPr>
              <a:t>  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 → </a:t>
            </a:r>
            <a:r>
              <a:rPr lang="ko-KR" altLang="en-US" sz="1200" b="1" dirty="0">
                <a:latin typeface="+mn-ea"/>
              </a:rPr>
              <a:t>중소기업 </a:t>
            </a:r>
            <a:r>
              <a:rPr lang="en-US" altLang="ko-KR" sz="1200" b="1" dirty="0">
                <a:latin typeface="+mn-ea"/>
              </a:rPr>
              <a:t>60% </a:t>
            </a:r>
            <a:r>
              <a:rPr lang="ko-KR" altLang="en-US" sz="1200" b="1" dirty="0">
                <a:latin typeface="+mn-ea"/>
              </a:rPr>
              <a:t>이상 편성하면서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     </a:t>
            </a:r>
            <a:r>
              <a:rPr lang="ko-KR" altLang="en-US" sz="1200" b="1" dirty="0">
                <a:latin typeface="+mn-ea"/>
              </a:rPr>
              <a:t>다양한 상품 </a:t>
            </a:r>
            <a:r>
              <a:rPr lang="en-US" altLang="ko-KR" sz="1200" b="1" dirty="0">
                <a:latin typeface="+mn-ea"/>
              </a:rPr>
              <a:t>Mix</a:t>
            </a:r>
            <a:r>
              <a:rPr lang="ko-KR" altLang="en-US" sz="1200" b="1" dirty="0">
                <a:latin typeface="+mn-ea"/>
              </a:rPr>
              <a:t> 통해 중소기업 제품도 판매가 증가하는 선순환 구조 마련</a:t>
            </a:r>
            <a:r>
              <a:rPr lang="en-US" altLang="ko-KR" sz="1200" b="1" dirty="0">
                <a:latin typeface="+mn-ea"/>
              </a:rPr>
              <a:t>   </a:t>
            </a:r>
            <a:endParaRPr lang="en-US" altLang="ko-KR" sz="1200" b="1" u="sng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7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7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② 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편성비중 축소 대신</a:t>
            </a:r>
            <a:r>
              <a:rPr lang="en-US" altLang="ko-KR" sz="1000" dirty="0">
                <a:latin typeface="+mn-ea"/>
              </a:rPr>
              <a:t>)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 중소기업 지원 대안 제시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   </a:t>
            </a:r>
            <a:r>
              <a:rPr lang="en-US" altLang="ko-KR" sz="1200" b="1" dirty="0">
                <a:latin typeface="+mn-ea"/>
              </a:rPr>
              <a:t>- </a:t>
            </a:r>
            <a:r>
              <a:rPr lang="ko-KR" altLang="en-US" sz="1200" b="1" dirty="0">
                <a:latin typeface="+mn-ea"/>
              </a:rPr>
              <a:t>단순 노출시간 확대보다 </a:t>
            </a:r>
            <a:r>
              <a:rPr lang="ko-KR" altLang="en-US" sz="1200" b="1" dirty="0">
                <a:solidFill>
                  <a:srgbClr val="1919E5"/>
                </a:solidFill>
                <a:latin typeface="+mn-ea"/>
              </a:rPr>
              <a:t>실질적인 매출과 성장에 도움</a:t>
            </a:r>
            <a:r>
              <a:rPr lang="ko-KR" altLang="en-US" sz="1200" b="1" dirty="0">
                <a:latin typeface="+mn-ea"/>
              </a:rPr>
              <a:t>이 되는 방향으로 지원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   </a:t>
            </a:r>
            <a:r>
              <a:rPr lang="en-US" altLang="ko-KR" sz="1200" b="1" dirty="0">
                <a:latin typeface="+mn-ea"/>
              </a:rPr>
              <a:t>→ </a:t>
            </a:r>
            <a:r>
              <a:rPr lang="ko-KR" altLang="en-US" sz="1200" b="1" u="sng" dirty="0">
                <a:latin typeface="+mn-ea"/>
              </a:rPr>
              <a:t>주시청시간대 집중 편성 </a:t>
            </a:r>
            <a:r>
              <a:rPr lang="en-US" altLang="ko-KR" sz="1000" dirty="0">
                <a:latin typeface="+mn-ea"/>
              </a:rPr>
              <a:t> (25</a:t>
            </a:r>
            <a:r>
              <a:rPr lang="ko-KR" altLang="en-US" sz="1000" dirty="0">
                <a:latin typeface="+mn-ea"/>
              </a:rPr>
              <a:t>년 주시청시간대 계획 대비 </a:t>
            </a:r>
            <a:r>
              <a:rPr lang="en-US" altLang="ko-KR" sz="1000" dirty="0">
                <a:latin typeface="+mn-ea"/>
              </a:rPr>
              <a:t>10% </a:t>
            </a:r>
            <a:r>
              <a:rPr lang="ko-KR" altLang="en-US" sz="1000" dirty="0">
                <a:latin typeface="+mn-ea"/>
              </a:rPr>
              <a:t>이상 초과 편성</a:t>
            </a:r>
            <a:r>
              <a:rPr lang="en-US" altLang="ko-KR" sz="1000" dirty="0">
                <a:latin typeface="+mn-ea"/>
              </a:rPr>
              <a:t>)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</a:t>
            </a:r>
            <a:r>
              <a:rPr lang="ko-KR" altLang="en-US" sz="1200" b="1" dirty="0">
                <a:latin typeface="+mn-ea"/>
              </a:rPr>
              <a:t>→ </a:t>
            </a:r>
            <a:r>
              <a:rPr lang="en-US" altLang="ko-KR" sz="1200" b="1" u="sng" dirty="0">
                <a:latin typeface="+mn-ea"/>
              </a:rPr>
              <a:t>(</a:t>
            </a:r>
            <a:r>
              <a:rPr lang="ko-KR" altLang="en-US" sz="1200" b="1" u="sng" dirty="0">
                <a:latin typeface="+mn-ea"/>
              </a:rPr>
              <a:t>신규</a:t>
            </a:r>
            <a:r>
              <a:rPr lang="en-US" altLang="ko-KR" sz="1200" b="1" u="sng" dirty="0">
                <a:latin typeface="+mn-ea"/>
              </a:rPr>
              <a:t>)</a:t>
            </a:r>
            <a:r>
              <a:rPr lang="ko-KR" altLang="en-US" sz="1200" b="1" u="sng" dirty="0">
                <a:latin typeface="+mn-ea"/>
              </a:rPr>
              <a:t>무료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>
                <a:latin typeface="+mn-ea"/>
              </a:rPr>
              <a:t>인서트영상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>
                <a:latin typeface="+mn-ea"/>
              </a:rPr>
              <a:t>방송준비지원 </a:t>
            </a:r>
            <a:r>
              <a:rPr lang="en-US" altLang="ko-KR" sz="1200" b="1" u="sng" dirty="0">
                <a:latin typeface="+mn-ea"/>
              </a:rPr>
              <a:t>/ (</a:t>
            </a:r>
            <a:r>
              <a:rPr lang="ko-KR" altLang="en-US" sz="1200" b="1" u="sng" dirty="0">
                <a:latin typeface="+mn-ea"/>
              </a:rPr>
              <a:t>기존</a:t>
            </a:r>
            <a:r>
              <a:rPr lang="en-US" altLang="ko-KR" sz="1200" b="1" u="sng" dirty="0">
                <a:latin typeface="+mn-ea"/>
              </a:rPr>
              <a:t>)</a:t>
            </a:r>
            <a:r>
              <a:rPr lang="ko-KR" altLang="en-US" sz="1200" b="1" u="sng" dirty="0">
                <a:latin typeface="+mn-ea"/>
              </a:rPr>
              <a:t>신상품 육성시간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>
                <a:latin typeface="+mn-ea"/>
              </a:rPr>
              <a:t>판로와 마케팅</a:t>
            </a:r>
            <a:endParaRPr lang="en-US" altLang="ko-KR" sz="1200" b="1" u="sng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7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③ 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편성비중 축소 대신</a:t>
            </a:r>
            <a:r>
              <a:rPr lang="en-US" altLang="ko-KR" sz="1000" dirty="0">
                <a:latin typeface="+mn-ea"/>
              </a:rPr>
              <a:t>)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 중견기업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5%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편성 대안 제시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    중소기업이 성장하여 중견기업으로 전환되는 경우</a:t>
            </a:r>
            <a:r>
              <a:rPr lang="en-US" altLang="ko-KR" sz="1200" b="1" dirty="0">
                <a:latin typeface="+mn-ea"/>
              </a:rPr>
              <a:t>, 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</a:t>
            </a:r>
            <a:r>
              <a:rPr lang="ko-KR" altLang="en-US" sz="1200" b="1" u="sng" dirty="0">
                <a:latin typeface="+mn-ea"/>
              </a:rPr>
              <a:t>중소기업 지원에서 제외되어 급격히 실적이 하락</a:t>
            </a:r>
            <a:r>
              <a:rPr lang="ko-KR" altLang="en-US" sz="1200" b="1" dirty="0">
                <a:latin typeface="+mn-ea"/>
              </a:rPr>
              <a:t>되는 경우가 있음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    → </a:t>
            </a:r>
            <a:r>
              <a:rPr lang="ko-KR" altLang="en-US" sz="1200" b="1" u="sng" dirty="0">
                <a:latin typeface="+mn-ea"/>
              </a:rPr>
              <a:t>중견기업 안착까지 일정 기간 지원 필요</a:t>
            </a:r>
            <a:endParaRPr lang="en-US" altLang="ko-KR" sz="1200" b="1" u="sng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000" dirty="0">
                <a:latin typeface="+mn-ea"/>
              </a:rPr>
              <a:t>     *</a:t>
            </a:r>
            <a:r>
              <a:rPr lang="ko-KR" altLang="en-US" sz="1000" dirty="0">
                <a:latin typeface="+mn-ea"/>
              </a:rPr>
              <a:t>중소기업기본법 </a:t>
            </a:r>
            <a:r>
              <a:rPr lang="en-US" altLang="ko-KR" sz="1000" dirty="0">
                <a:latin typeface="+mn-ea"/>
              </a:rPr>
              <a:t>: (</a:t>
            </a:r>
            <a:r>
              <a:rPr lang="ko-KR" altLang="en-US" sz="1000" dirty="0">
                <a:latin typeface="+mn-ea"/>
              </a:rPr>
              <a:t>업종별 상이</a:t>
            </a:r>
            <a:r>
              <a:rPr lang="en-US" altLang="ko-KR" sz="1000" dirty="0">
                <a:latin typeface="+mn-ea"/>
              </a:rPr>
              <a:t>)1,800</a:t>
            </a:r>
            <a:r>
              <a:rPr lang="ko-KR" altLang="en-US" sz="1000" dirty="0">
                <a:latin typeface="+mn-ea"/>
              </a:rPr>
              <a:t>억원 매출</a:t>
            </a:r>
            <a:r>
              <a:rPr lang="en-US" altLang="ko-KR" sz="1000" dirty="0">
                <a:latin typeface="+mn-ea"/>
              </a:rPr>
              <a:t>-</a:t>
            </a:r>
            <a:r>
              <a:rPr lang="ko-KR" altLang="en-US" sz="1000" dirty="0">
                <a:latin typeface="+mn-ea"/>
              </a:rPr>
              <a:t>초과시 </a:t>
            </a:r>
            <a:r>
              <a:rPr lang="en-US" altLang="ko-KR" sz="1000" u="sng" dirty="0">
                <a:latin typeface="+mn-ea"/>
              </a:rPr>
              <a:t>5</a:t>
            </a:r>
            <a:r>
              <a:rPr lang="ko-KR" altLang="en-US" sz="1000" u="sng" dirty="0">
                <a:latin typeface="+mn-ea"/>
              </a:rPr>
              <a:t>년 유예</a:t>
            </a:r>
            <a:r>
              <a:rPr lang="en-US" altLang="ko-KR" sz="1000" u="sng" dirty="0">
                <a:latin typeface="+mn-ea"/>
              </a:rPr>
              <a:t>-(</a:t>
            </a:r>
            <a:r>
              <a:rPr lang="ko-KR" altLang="en-US" sz="1000" u="sng" dirty="0">
                <a:latin typeface="+mn-ea"/>
              </a:rPr>
              <a:t>홈쇼핑업계</a:t>
            </a:r>
            <a:r>
              <a:rPr lang="en-US" altLang="ko-KR" sz="1000" u="sng" dirty="0">
                <a:latin typeface="+mn-ea"/>
              </a:rPr>
              <a:t>)</a:t>
            </a:r>
            <a:r>
              <a:rPr lang="ko-KR" altLang="en-US" sz="1000" u="sng" dirty="0">
                <a:latin typeface="+mn-ea"/>
              </a:rPr>
              <a:t>추가 </a:t>
            </a:r>
            <a:r>
              <a:rPr lang="en-US" altLang="ko-KR" sz="1000" u="sng" dirty="0">
                <a:latin typeface="+mn-ea"/>
              </a:rPr>
              <a:t>5</a:t>
            </a:r>
            <a:r>
              <a:rPr lang="ko-KR" altLang="en-US" sz="1000" u="sng" dirty="0">
                <a:latin typeface="+mn-ea"/>
              </a:rPr>
              <a:t>년 유예 요청 </a:t>
            </a:r>
            <a:endParaRPr lang="en-US" altLang="ko-KR" sz="1000" u="sng" dirty="0">
              <a:latin typeface="+mn-ea"/>
            </a:endParaRPr>
          </a:p>
          <a:p>
            <a:endParaRPr lang="en-US" altLang="ko-KR" sz="500" dirty="0">
              <a:latin typeface="+mn-ea"/>
            </a:endParaRPr>
          </a:p>
          <a:p>
            <a:endParaRPr lang="en-US" altLang="ko-KR" sz="500" dirty="0">
              <a:latin typeface="+mn-ea"/>
            </a:endParaRPr>
          </a:p>
          <a:p>
            <a:r>
              <a:rPr lang="en-US" altLang="ko-KR" sz="1000" b="1" dirty="0">
                <a:latin typeface="+mn-ea"/>
              </a:rPr>
              <a:t>&lt;</a:t>
            </a:r>
            <a:r>
              <a:rPr lang="ko-KR" altLang="en-US" sz="1000" b="1" dirty="0" err="1">
                <a:latin typeface="+mn-ea"/>
              </a:rPr>
              <a:t>해피콜의</a:t>
            </a:r>
            <a:r>
              <a:rPr lang="ko-KR" altLang="en-US" sz="1000" b="1" dirty="0">
                <a:latin typeface="+mn-ea"/>
              </a:rPr>
              <a:t> 사례</a:t>
            </a:r>
            <a:r>
              <a:rPr lang="en-US" altLang="ko-KR" sz="1000" b="1" dirty="0">
                <a:latin typeface="+mn-ea"/>
              </a:rPr>
              <a:t>&gt;</a:t>
            </a:r>
            <a:endParaRPr lang="ko-KR" altLang="en-US" sz="1000" b="1" dirty="0">
              <a:latin typeface="+mn-ea"/>
            </a:endParaRPr>
          </a:p>
          <a:p>
            <a:r>
              <a:rPr lang="ko-KR" altLang="en-US" sz="1000" dirty="0">
                <a:latin typeface="+mn-ea"/>
              </a:rPr>
              <a:t>  프라이팬 판매신화를 썼던 ‘</a:t>
            </a:r>
            <a:r>
              <a:rPr lang="ko-KR" altLang="en-US" sz="1000" dirty="0" err="1">
                <a:latin typeface="+mn-ea"/>
              </a:rPr>
              <a:t>해피콜</a:t>
            </a:r>
            <a:r>
              <a:rPr lang="en-US" altLang="ko-KR" sz="1000" dirty="0">
                <a:latin typeface="+mn-ea"/>
              </a:rPr>
              <a:t>'</a:t>
            </a:r>
            <a:r>
              <a:rPr lang="ko-KR" altLang="en-US" sz="1000" dirty="0">
                <a:latin typeface="+mn-ea"/>
              </a:rPr>
              <a:t>은 홈쇼핑 통해 성장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매출 </a:t>
            </a:r>
            <a:r>
              <a:rPr lang="en-US" altLang="ko-KR" sz="1000" dirty="0">
                <a:latin typeface="+mn-ea"/>
              </a:rPr>
              <a:t>2,000</a:t>
            </a:r>
            <a:r>
              <a:rPr lang="ko-KR" altLang="en-US" sz="1000" dirty="0" err="1">
                <a:latin typeface="+mn-ea"/>
              </a:rPr>
              <a:t>억원대</a:t>
            </a:r>
            <a:r>
              <a:rPr lang="en-US" altLang="ko-KR" sz="1000" dirty="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  <a:p>
            <a:r>
              <a:rPr lang="ko-KR" altLang="en-US" sz="1000" dirty="0">
                <a:latin typeface="+mn-ea"/>
              </a:rPr>
              <a:t>  그러나 중견기업 승격 이후 </a:t>
            </a:r>
            <a:r>
              <a:rPr lang="en-US" altLang="ko-KR" sz="1000" dirty="0">
                <a:latin typeface="+mn-ea"/>
              </a:rPr>
              <a:t>(2020</a:t>
            </a:r>
            <a:r>
              <a:rPr lang="ko-KR" altLang="en-US" sz="1000" dirty="0">
                <a:latin typeface="+mn-ea"/>
              </a:rPr>
              <a:t>년</a:t>
            </a:r>
            <a:r>
              <a:rPr lang="en-US" altLang="ko-KR" sz="1000" dirty="0">
                <a:latin typeface="+mn-ea"/>
              </a:rPr>
              <a:t>) </a:t>
            </a:r>
            <a:r>
              <a:rPr lang="ko-KR" altLang="en-US" sz="1000" dirty="0">
                <a:latin typeface="+mn-ea"/>
              </a:rPr>
              <a:t>판로가 막히면서 중소기업으로 회귀</a:t>
            </a:r>
            <a:r>
              <a:rPr lang="en-US" altLang="ko-KR" sz="1000" dirty="0">
                <a:latin typeface="+mn-ea"/>
              </a:rPr>
              <a:t>(2024</a:t>
            </a:r>
            <a:r>
              <a:rPr lang="ko-KR" altLang="en-US" sz="1000" dirty="0">
                <a:latin typeface="+mn-ea"/>
              </a:rPr>
              <a:t>년</a:t>
            </a:r>
            <a:r>
              <a:rPr lang="en-US" altLang="ko-KR" sz="1000" dirty="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FA181D-773E-2BED-E981-F41F399557D8}"/>
              </a:ext>
            </a:extLst>
          </p:cNvPr>
          <p:cNvSpPr txBox="1"/>
          <p:nvPr/>
        </p:nvSpPr>
        <p:spPr>
          <a:xfrm>
            <a:off x="247650" y="1484101"/>
            <a:ext cx="952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- </a:t>
            </a:r>
            <a:r>
              <a:rPr lang="ko-KR" altLang="en-US" sz="1000" b="1" dirty="0"/>
              <a:t>실적</a:t>
            </a:r>
          </a:p>
        </p:txBody>
      </p:sp>
      <p:pic>
        <p:nvPicPr>
          <p:cNvPr id="23" name="그림 2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F86FD6-0D9D-F45D-C745-B32D9C837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253" y="3081162"/>
            <a:ext cx="5445747" cy="120686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5EE8136-D770-408D-7C5F-8F467E624D1F}"/>
              </a:ext>
            </a:extLst>
          </p:cNvPr>
          <p:cNvSpPr txBox="1"/>
          <p:nvPr/>
        </p:nvSpPr>
        <p:spPr>
          <a:xfrm>
            <a:off x="247650" y="3019904"/>
            <a:ext cx="952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- </a:t>
            </a:r>
            <a:r>
              <a:rPr lang="ko-KR" altLang="en-US" sz="1000" b="1" dirty="0"/>
              <a:t>계획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18AB45-99C7-4C26-E865-C2AC759E685C}"/>
              </a:ext>
            </a:extLst>
          </p:cNvPr>
          <p:cNvSpPr txBox="1"/>
          <p:nvPr/>
        </p:nvSpPr>
        <p:spPr>
          <a:xfrm>
            <a:off x="118384" y="4424640"/>
            <a:ext cx="5502601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중소기업 제품 편성 비율 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ko-KR" altLang="en-US" sz="1100" b="1" dirty="0">
                <a:latin typeface="+mn-ea"/>
              </a:rPr>
              <a:t>전체시간대 </a:t>
            </a:r>
            <a:r>
              <a:rPr lang="en-US" altLang="ko-KR" sz="1100" b="1" dirty="0">
                <a:latin typeface="+mn-ea"/>
              </a:rPr>
              <a:t>8</a:t>
            </a:r>
            <a:r>
              <a:rPr lang="ko-KR" altLang="en-US" sz="1100" b="1" dirty="0">
                <a:latin typeface="+mn-ea"/>
              </a:rPr>
              <a:t>위</a:t>
            </a:r>
            <a:r>
              <a:rPr lang="en-US" altLang="ko-KR" sz="1100" b="1" dirty="0">
                <a:latin typeface="+mn-ea"/>
              </a:rPr>
              <a:t>, </a:t>
            </a:r>
            <a:r>
              <a:rPr lang="ko-KR" altLang="en-US" sz="1100" b="1" dirty="0">
                <a:latin typeface="+mn-ea"/>
              </a:rPr>
              <a:t>주시청시간대 </a:t>
            </a:r>
            <a:r>
              <a:rPr lang="en-US" altLang="ko-KR" sz="1100" b="1" dirty="0">
                <a:latin typeface="+mn-ea"/>
              </a:rPr>
              <a:t>9</a:t>
            </a:r>
            <a:r>
              <a:rPr lang="ko-KR" altLang="en-US" sz="1100" b="1" dirty="0">
                <a:latin typeface="+mn-ea"/>
              </a:rPr>
              <a:t>위</a:t>
            </a:r>
            <a:r>
              <a:rPr lang="en-US" altLang="ko-KR" sz="1100" b="1" dirty="0">
                <a:latin typeface="+mn-ea"/>
              </a:rPr>
              <a:t>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9760BAF-6E9A-292C-628D-8A39A61D4E1E}"/>
              </a:ext>
            </a:extLst>
          </p:cNvPr>
          <p:cNvSpPr/>
          <p:nvPr/>
        </p:nvSpPr>
        <p:spPr>
          <a:xfrm>
            <a:off x="4728753" y="2299063"/>
            <a:ext cx="866105" cy="3457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253E541-7517-5FCC-7116-656D82A195DD}"/>
              </a:ext>
            </a:extLst>
          </p:cNvPr>
          <p:cNvSpPr/>
          <p:nvPr/>
        </p:nvSpPr>
        <p:spPr>
          <a:xfrm>
            <a:off x="718037" y="3837742"/>
            <a:ext cx="684043" cy="4502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ACAA799-A7FD-A6B9-B3B7-A8DCC8D3CE60}"/>
              </a:ext>
            </a:extLst>
          </p:cNvPr>
          <p:cNvCxnSpPr>
            <a:endCxn id="5" idx="0"/>
          </p:cNvCxnSpPr>
          <p:nvPr/>
        </p:nvCxnSpPr>
        <p:spPr>
          <a:xfrm flipH="1">
            <a:off x="1060059" y="2644792"/>
            <a:ext cx="4121541" cy="11929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D3423ADB-EC2D-4D74-9CAF-7C4A2B97BA8E}"/>
              </a:ext>
            </a:extLst>
          </p:cNvPr>
          <p:cNvCxnSpPr>
            <a:cxnSpLocks/>
          </p:cNvCxnSpPr>
          <p:nvPr/>
        </p:nvCxnSpPr>
        <p:spPr>
          <a:xfrm flipH="1">
            <a:off x="5529945" y="2471928"/>
            <a:ext cx="99749" cy="332232"/>
          </a:xfrm>
          <a:prstGeom prst="bentConnector4">
            <a:avLst>
              <a:gd name="adj1" fmla="val -89488"/>
              <a:gd name="adj2" fmla="val 94364"/>
            </a:avLst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6EFDF41-39C5-A617-F362-BDAE3E00BD9C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59/109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48407552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A7783-11B6-3FAC-530B-C2ED5ADF7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723E9A-A512-0A56-384E-9BDB0936369B}"/>
              </a:ext>
            </a:extLst>
          </p:cNvPr>
          <p:cNvSpPr txBox="1"/>
          <p:nvPr/>
        </p:nvSpPr>
        <p:spPr>
          <a:xfrm>
            <a:off x="50879" y="58182"/>
            <a:ext cx="9953625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데이터홈쇼핑 지표 관련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 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DB3F693-0536-9D3E-494A-540C09304D07}"/>
              </a:ext>
            </a:extLst>
          </p:cNvPr>
          <p:cNvGraphicFramePr>
            <a:graphicFrameLocks noGrp="1"/>
          </p:cNvGraphicFramePr>
          <p:nvPr/>
        </p:nvGraphicFramePr>
        <p:xfrm>
          <a:off x="375962" y="861710"/>
          <a:ext cx="11440077" cy="2732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164">
                  <a:extLst>
                    <a:ext uri="{9D8B030D-6E8A-4147-A177-3AD203B41FA5}">
                      <a16:colId xmlns:a16="http://schemas.microsoft.com/office/drawing/2014/main" val="2104778950"/>
                    </a:ext>
                  </a:extLst>
                </a:gridCol>
                <a:gridCol w="2913971">
                  <a:extLst>
                    <a:ext uri="{9D8B030D-6E8A-4147-A177-3AD203B41FA5}">
                      <a16:colId xmlns:a16="http://schemas.microsoft.com/office/drawing/2014/main" val="540878447"/>
                    </a:ext>
                  </a:extLst>
                </a:gridCol>
                <a:gridCol w="2913971">
                  <a:extLst>
                    <a:ext uri="{9D8B030D-6E8A-4147-A177-3AD203B41FA5}">
                      <a16:colId xmlns:a16="http://schemas.microsoft.com/office/drawing/2014/main" val="1529927355"/>
                    </a:ext>
                  </a:extLst>
                </a:gridCol>
                <a:gridCol w="2913971">
                  <a:extLst>
                    <a:ext uri="{9D8B030D-6E8A-4147-A177-3AD203B41FA5}">
                      <a16:colId xmlns:a16="http://schemas.microsoft.com/office/drawing/2014/main" val="1241509564"/>
                    </a:ext>
                  </a:extLst>
                </a:gridCol>
              </a:tblGrid>
              <a:tr h="28389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구 분</a:t>
                      </a:r>
                    </a:p>
                  </a:txBody>
                  <a:tcPr marL="0" marR="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</a:p>
                  </a:txBody>
                  <a:tcPr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ko-KR" sz="12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2024</a:t>
                      </a:r>
                      <a:r>
                        <a:rPr lang="ko-KR" altLang="en-US" sz="12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ko-KR" sz="12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2025</a:t>
                      </a:r>
                      <a:r>
                        <a:rPr lang="ko-KR" altLang="en-US" sz="12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8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데이터홈쇼핑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취급액</a:t>
                      </a:r>
                      <a:r>
                        <a:rPr lang="en-US" altLang="ko-KR" sz="1200" b="1" baseline="30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증감율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4,288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억원</a:t>
                      </a:r>
                      <a:b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(-4.0%)</a:t>
                      </a:r>
                    </a:p>
                  </a:txBody>
                  <a:tcPr marL="0" marR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3,797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억원</a:t>
                      </a:r>
                      <a:b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(-11.5%)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3,845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억원</a:t>
                      </a:r>
                      <a:b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(+1.3%)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2517293"/>
                  </a:ext>
                </a:extLst>
              </a:tr>
              <a:tr h="5948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데이터홈쇼핑 송출수수료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증감율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632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억원</a:t>
                      </a:r>
                      <a:b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(+2.5%)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652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억원</a:t>
                      </a:r>
                      <a:b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(+3.2%)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658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억원</a:t>
                      </a:r>
                      <a:b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(+0.8%)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5480118"/>
                  </a:ext>
                </a:extLst>
              </a:tr>
              <a:tr h="5948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데이터홈쇼핑 마케팅비용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증감율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83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억원</a:t>
                      </a:r>
                      <a:endParaRPr lang="en-US" altLang="ko-KR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(-26%)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104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억원</a:t>
                      </a:r>
                      <a:endParaRPr lang="en-US" altLang="ko-KR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(+27%)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92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억원</a:t>
                      </a:r>
                      <a:endParaRPr lang="en-US" altLang="ko-KR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(-11%)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874191"/>
                  </a:ext>
                </a:extLst>
              </a:tr>
              <a:tr h="6640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데이터홈쇼핑 연도별 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중소기업 히트상품 </a:t>
                      </a:r>
                      <a:b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취급액</a:t>
                      </a:r>
                      <a:r>
                        <a:rPr lang="en-US" altLang="ko-KR" sz="1200" b="0" baseline="30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2)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ko-KR" altLang="en-US" sz="1200" b="1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에버콜라겐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건강기능식품 </a:t>
                      </a:r>
                      <a:endParaRPr lang="en-US" altLang="ko-KR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(75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억원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b="0" kern="12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ko-KR" altLang="en-US" sz="1200" b="1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홀베리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레몬즙</a:t>
                      </a:r>
                      <a:endParaRPr lang="en-US" altLang="ko-KR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(88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억원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b="0" kern="12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브루마스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운동화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(65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억원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1200" b="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66317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F0B153E-80F1-27D1-59F1-ACEA725FF515}"/>
              </a:ext>
            </a:extLst>
          </p:cNvPr>
          <p:cNvSpPr txBox="1"/>
          <p:nvPr/>
        </p:nvSpPr>
        <p:spPr>
          <a:xfrm>
            <a:off x="375962" y="3691536"/>
            <a:ext cx="26349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spc="-50" dirty="0">
                <a:latin typeface="+mn-ea"/>
              </a:rPr>
              <a:t>1) </a:t>
            </a:r>
            <a:r>
              <a:rPr lang="ko-KR" altLang="en-US" sz="1100" dirty="0">
                <a:latin typeface="+mn-ea"/>
              </a:rPr>
              <a:t>전화</a:t>
            </a:r>
            <a:r>
              <a:rPr lang="en-US" altLang="ko-KR" sz="1100" dirty="0">
                <a:latin typeface="+mn-ea"/>
              </a:rPr>
              <a:t>, ARS </a:t>
            </a:r>
            <a:r>
              <a:rPr lang="ko-KR" altLang="en-US" sz="1100" dirty="0">
                <a:latin typeface="+mn-ea"/>
              </a:rPr>
              <a:t>주문 기준 </a:t>
            </a:r>
            <a:r>
              <a:rPr lang="ko-KR" altLang="en-US" sz="1100" dirty="0" err="1">
                <a:latin typeface="+mn-ea"/>
              </a:rPr>
              <a:t>취급액</a:t>
            </a:r>
            <a:r>
              <a:rPr lang="ko-KR" altLang="en-US" sz="1100" dirty="0">
                <a:latin typeface="+mn-ea"/>
              </a:rPr>
              <a:t> </a:t>
            </a:r>
            <a:endParaRPr lang="en-US" altLang="ko-KR" sz="1100" dirty="0">
              <a:latin typeface="+mn-ea"/>
            </a:endParaRPr>
          </a:p>
          <a:p>
            <a:r>
              <a:rPr lang="en-US" altLang="ko-KR" sz="1100" dirty="0">
                <a:latin typeface="+mn-ea"/>
              </a:rPr>
              <a:t>2) </a:t>
            </a:r>
            <a:r>
              <a:rPr lang="ko-KR" altLang="en-US" sz="1100" dirty="0">
                <a:latin typeface="+mn-ea"/>
              </a:rPr>
              <a:t>모바일 주문 포함한 연간 </a:t>
            </a:r>
            <a:r>
              <a:rPr lang="ko-KR" altLang="en-US" sz="1100" dirty="0" err="1">
                <a:latin typeface="+mn-ea"/>
              </a:rPr>
              <a:t>취급액</a:t>
            </a:r>
            <a:endParaRPr lang="ko-KR" altLang="en-US" sz="1100" dirty="0"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8776E38-838A-A950-233A-96EB78F4538E}"/>
              </a:ext>
            </a:extLst>
          </p:cNvPr>
          <p:cNvGraphicFramePr>
            <a:graphicFrameLocks noGrp="1"/>
          </p:cNvGraphicFramePr>
          <p:nvPr/>
        </p:nvGraphicFramePr>
        <p:xfrm>
          <a:off x="375960" y="4581525"/>
          <a:ext cx="11440079" cy="1762566"/>
        </p:xfrm>
        <a:graphic>
          <a:graphicData uri="http://schemas.openxmlformats.org/drawingml/2006/table">
            <a:tbl>
              <a:tblPr/>
              <a:tblGrid>
                <a:gridCol w="1480549">
                  <a:extLst>
                    <a:ext uri="{9D8B030D-6E8A-4147-A177-3AD203B41FA5}">
                      <a16:colId xmlns:a16="http://schemas.microsoft.com/office/drawing/2014/main" val="1142155162"/>
                    </a:ext>
                  </a:extLst>
                </a:gridCol>
                <a:gridCol w="995953">
                  <a:extLst>
                    <a:ext uri="{9D8B030D-6E8A-4147-A177-3AD203B41FA5}">
                      <a16:colId xmlns:a16="http://schemas.microsoft.com/office/drawing/2014/main" val="3816758658"/>
                    </a:ext>
                  </a:extLst>
                </a:gridCol>
                <a:gridCol w="995953">
                  <a:extLst>
                    <a:ext uri="{9D8B030D-6E8A-4147-A177-3AD203B41FA5}">
                      <a16:colId xmlns:a16="http://schemas.microsoft.com/office/drawing/2014/main" val="2941009177"/>
                    </a:ext>
                  </a:extLst>
                </a:gridCol>
                <a:gridCol w="995953">
                  <a:extLst>
                    <a:ext uri="{9D8B030D-6E8A-4147-A177-3AD203B41FA5}">
                      <a16:colId xmlns:a16="http://schemas.microsoft.com/office/drawing/2014/main" val="938089056"/>
                    </a:ext>
                  </a:extLst>
                </a:gridCol>
                <a:gridCol w="995953">
                  <a:extLst>
                    <a:ext uri="{9D8B030D-6E8A-4147-A177-3AD203B41FA5}">
                      <a16:colId xmlns:a16="http://schemas.microsoft.com/office/drawing/2014/main" val="2051584528"/>
                    </a:ext>
                  </a:extLst>
                </a:gridCol>
                <a:gridCol w="995953">
                  <a:extLst>
                    <a:ext uri="{9D8B030D-6E8A-4147-A177-3AD203B41FA5}">
                      <a16:colId xmlns:a16="http://schemas.microsoft.com/office/drawing/2014/main" val="865042481"/>
                    </a:ext>
                  </a:extLst>
                </a:gridCol>
                <a:gridCol w="995953">
                  <a:extLst>
                    <a:ext uri="{9D8B030D-6E8A-4147-A177-3AD203B41FA5}">
                      <a16:colId xmlns:a16="http://schemas.microsoft.com/office/drawing/2014/main" val="2899742551"/>
                    </a:ext>
                  </a:extLst>
                </a:gridCol>
                <a:gridCol w="995953">
                  <a:extLst>
                    <a:ext uri="{9D8B030D-6E8A-4147-A177-3AD203B41FA5}">
                      <a16:colId xmlns:a16="http://schemas.microsoft.com/office/drawing/2014/main" val="2995670734"/>
                    </a:ext>
                  </a:extLst>
                </a:gridCol>
                <a:gridCol w="995953">
                  <a:extLst>
                    <a:ext uri="{9D8B030D-6E8A-4147-A177-3AD203B41FA5}">
                      <a16:colId xmlns:a16="http://schemas.microsoft.com/office/drawing/2014/main" val="2848670884"/>
                    </a:ext>
                  </a:extLst>
                </a:gridCol>
                <a:gridCol w="995953">
                  <a:extLst>
                    <a:ext uri="{9D8B030D-6E8A-4147-A177-3AD203B41FA5}">
                      <a16:colId xmlns:a16="http://schemas.microsoft.com/office/drawing/2014/main" val="683490460"/>
                    </a:ext>
                  </a:extLst>
                </a:gridCol>
                <a:gridCol w="995953">
                  <a:extLst>
                    <a:ext uri="{9D8B030D-6E8A-4147-A177-3AD203B41FA5}">
                      <a16:colId xmlns:a16="http://schemas.microsoft.com/office/drawing/2014/main" val="3477368616"/>
                    </a:ext>
                  </a:extLst>
                </a:gridCol>
              </a:tblGrid>
              <a:tr h="2030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백만원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969026"/>
                  </a:ext>
                </a:extLst>
              </a:tr>
              <a:tr h="2599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            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496768"/>
                  </a:ext>
                </a:extLst>
              </a:tr>
              <a:tr h="2599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Ⅰ. 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취급액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4,193,447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4,051,374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3,785,157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3,767,634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3,731,480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3,695,860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3,660,764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3,630,029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3,606,086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3,589,873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443525"/>
                  </a:ext>
                </a:extLst>
              </a:tr>
              <a:tr h="2599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1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성장율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-9.7%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1" u="none" strike="noStrike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-3.4%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1" u="none" strike="noStrike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-6.6%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-0.5%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-1.0%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1" u="none" strike="noStrike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-1.0%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1" u="none" strike="noStrike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-0.9%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-0.8%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-0.7%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-0.4%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922187"/>
                  </a:ext>
                </a:extLst>
              </a:tr>
              <a:tr h="2599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TV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홈쇼핑사업취급액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1,102,772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1,059,133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946,420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938,514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893,278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854,049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819,883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790,010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763,799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740,726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906382"/>
                  </a:ext>
                </a:extLst>
              </a:tr>
              <a:tr h="2599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1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성장율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-10.2%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-4.0%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-10.6%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-0.8%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1" u="none" strike="noStrike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-4.8%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-4.4%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-4.0%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1" u="none" strike="noStrike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-3.6%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1" u="none" strike="noStrike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-3.3%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1" u="none" strike="noStrike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-3.0%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83178"/>
                  </a:ext>
                </a:extLst>
              </a:tr>
              <a:tr h="2599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데이터홈쇼핑사업취급액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428,832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379,746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384,490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359,034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341,800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335,141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332,513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331,556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330,760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330,098 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59815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7D39A44-0090-2335-8649-31E47F3D82B5}"/>
              </a:ext>
            </a:extLst>
          </p:cNvPr>
          <p:cNvSpPr txBox="1"/>
          <p:nvPr/>
        </p:nvSpPr>
        <p:spPr>
          <a:xfrm>
            <a:off x="292833" y="4443025"/>
            <a:ext cx="45323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+mn-ea"/>
              </a:rPr>
              <a:t>※ </a:t>
            </a:r>
            <a:r>
              <a:rPr lang="ko-KR" altLang="en-US" sz="1200" b="1" dirty="0">
                <a:latin typeface="+mn-ea"/>
              </a:rPr>
              <a:t>홈쇼핑 </a:t>
            </a:r>
            <a:r>
              <a:rPr lang="ko-KR" altLang="en-US" sz="1200" b="1" dirty="0" err="1">
                <a:latin typeface="+mn-ea"/>
              </a:rPr>
              <a:t>취급액</a:t>
            </a:r>
            <a:r>
              <a:rPr lang="ko-KR" altLang="en-US" sz="1200" b="1" dirty="0">
                <a:latin typeface="+mn-ea"/>
              </a:rPr>
              <a:t> 구분 </a:t>
            </a:r>
            <a:r>
              <a:rPr lang="en-US" altLang="ko-KR" sz="1200" b="1" dirty="0">
                <a:latin typeface="+mn-ea"/>
              </a:rPr>
              <a:t>: </a:t>
            </a:r>
            <a:r>
              <a:rPr lang="ko-KR" altLang="en-US" sz="1200" b="1" dirty="0">
                <a:latin typeface="+mn-ea"/>
              </a:rPr>
              <a:t>전화</a:t>
            </a:r>
            <a:r>
              <a:rPr lang="en-US" altLang="ko-KR" sz="1200" b="1" dirty="0">
                <a:latin typeface="+mn-ea"/>
              </a:rPr>
              <a:t>, ARS</a:t>
            </a:r>
            <a:r>
              <a:rPr lang="ko-KR" altLang="en-US" sz="1200" b="1" dirty="0">
                <a:latin typeface="+mn-ea"/>
              </a:rPr>
              <a:t> 주문 기준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543446-0699-6E06-D418-FE23361090E2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60/109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71620384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C67F61-4633-DF51-334B-64B7936F62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946"/>
          <a:stretch>
            <a:fillRect/>
          </a:stretch>
        </p:blipFill>
        <p:spPr>
          <a:xfrm>
            <a:off x="274541" y="4670120"/>
            <a:ext cx="5832131" cy="16699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527DEB-740F-77E7-AF16-A84413BCC79B}"/>
              </a:ext>
            </a:extLst>
          </p:cNvPr>
          <p:cNvSpPr txBox="1"/>
          <p:nvPr/>
        </p:nvSpPr>
        <p:spPr>
          <a:xfrm>
            <a:off x="60963" y="331143"/>
            <a:ext cx="10715625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</a:t>
            </a:r>
            <a:r>
              <a:rPr lang="ko-KR" altLang="en-US" b="1" dirty="0" err="1">
                <a:solidFill>
                  <a:schemeClr val="bg1"/>
                </a:solidFill>
                <a:latin typeface="+mn-ea"/>
              </a:rPr>
              <a:t>직매입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규모가 실적 대비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타사 대비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매출액 대비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계획이 낮은데 이유는 무엇인가요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 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0E96DEF-1677-85BF-E4D2-411DD93FC0F3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>
                <a:solidFill>
                  <a:schemeClr val="tx2">
                    <a:lumMod val="75000"/>
                  </a:schemeClr>
                </a:solidFill>
                <a:latin typeface="+mn-ea"/>
              </a:rPr>
              <a:t>편성책임자</a:t>
            </a:r>
            <a:endParaRPr lang="ko-KR" altLang="en-US" sz="105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1EA31E-224E-97E8-8255-DA7F9AB3279B}"/>
              </a:ext>
            </a:extLst>
          </p:cNvPr>
          <p:cNvSpPr txBox="1"/>
          <p:nvPr/>
        </p:nvSpPr>
        <p:spPr>
          <a:xfrm>
            <a:off x="65067" y="19389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3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중소기업 지원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F7334A-BD5B-CCD0-C0FD-F776C61E28C3}"/>
              </a:ext>
            </a:extLst>
          </p:cNvPr>
          <p:cNvSpPr txBox="1"/>
          <p:nvPr/>
        </p:nvSpPr>
        <p:spPr>
          <a:xfrm>
            <a:off x="129776" y="912049"/>
            <a:ext cx="5502601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ko-KR" altLang="en-US" sz="1100" b="1" dirty="0">
                <a:latin typeface="+mn-ea"/>
              </a:rPr>
              <a:t>사업계획서 </a:t>
            </a:r>
            <a:r>
              <a:rPr lang="en-US" altLang="ko-KR" sz="1100" b="1" dirty="0">
                <a:latin typeface="+mn-ea"/>
              </a:rPr>
              <a:t>p.78)</a:t>
            </a:r>
            <a:r>
              <a:rPr lang="ko-KR" altLang="en-US" sz="1100" b="1" dirty="0">
                <a:latin typeface="+mn-ea"/>
              </a:rPr>
              <a:t>중소기업 </a:t>
            </a:r>
            <a:r>
              <a:rPr lang="ko-KR" altLang="en-US" sz="1100" b="1" dirty="0" err="1">
                <a:latin typeface="+mn-ea"/>
              </a:rPr>
              <a:t>직매입</a:t>
            </a:r>
            <a:r>
              <a:rPr lang="ko-KR" altLang="en-US" sz="1100" b="1" dirty="0">
                <a:latin typeface="+mn-ea"/>
              </a:rPr>
              <a:t> 실적 및 계획</a:t>
            </a:r>
            <a:endParaRPr lang="en-US" altLang="ko-KR" sz="1100" b="1" dirty="0">
              <a:latin typeface="+mn-ea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40823492-BDB3-CA8D-7177-B2A11FF73D52}"/>
              </a:ext>
            </a:extLst>
          </p:cNvPr>
          <p:cNvGraphicFramePr>
            <a:graphicFrameLocks noGrp="1"/>
          </p:cNvGraphicFramePr>
          <p:nvPr/>
        </p:nvGraphicFramePr>
        <p:xfrm>
          <a:off x="4987006" y="1519031"/>
          <a:ext cx="1059706" cy="1491129"/>
        </p:xfrm>
        <a:graphic>
          <a:graphicData uri="http://schemas.openxmlformats.org/drawingml/2006/table">
            <a:tbl>
              <a:tblPr/>
              <a:tblGrid>
                <a:gridCol w="529853">
                  <a:extLst>
                    <a:ext uri="{9D8B030D-6E8A-4147-A177-3AD203B41FA5}">
                      <a16:colId xmlns:a16="http://schemas.microsoft.com/office/drawing/2014/main" val="176247885"/>
                    </a:ext>
                  </a:extLst>
                </a:gridCol>
                <a:gridCol w="529853">
                  <a:extLst>
                    <a:ext uri="{9D8B030D-6E8A-4147-A177-3AD203B41FA5}">
                      <a16:colId xmlns:a16="http://schemas.microsoft.com/office/drawing/2014/main" val="1354788955"/>
                    </a:ext>
                  </a:extLst>
                </a:gridCol>
              </a:tblGrid>
              <a:tr h="1875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상품군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매입비중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977437"/>
                  </a:ext>
                </a:extLst>
              </a:tr>
              <a:tr h="1875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패션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92.4%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02679"/>
                  </a:ext>
                </a:extLst>
              </a:tr>
              <a:tr h="1786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잡화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481277"/>
                  </a:ext>
                </a:extLst>
              </a:tr>
              <a:tr h="1875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생활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548188"/>
                  </a:ext>
                </a:extLst>
              </a:tr>
              <a:tr h="1875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이미용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376018"/>
                  </a:ext>
                </a:extLst>
              </a:tr>
              <a:tr h="1875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침구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34949"/>
                  </a:ext>
                </a:extLst>
              </a:tr>
              <a:tr h="1875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534268"/>
                  </a:ext>
                </a:extLst>
              </a:tr>
              <a:tr h="1875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가전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02547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03D0E8C-70BD-7AB4-17CE-2F5CEAF5A69F}"/>
              </a:ext>
            </a:extLst>
          </p:cNvPr>
          <p:cNvSpPr txBox="1"/>
          <p:nvPr/>
        </p:nvSpPr>
        <p:spPr>
          <a:xfrm>
            <a:off x="4880132" y="1270275"/>
            <a:ext cx="1431106" cy="225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en-US" altLang="ko-KR" sz="800" dirty="0" err="1">
                <a:latin typeface="+mn-ea"/>
              </a:rPr>
              <a:t>cf</a:t>
            </a:r>
            <a:r>
              <a:rPr lang="en-US" altLang="ko-KR" sz="800" dirty="0">
                <a:latin typeface="+mn-ea"/>
              </a:rPr>
              <a:t>)</a:t>
            </a:r>
            <a:r>
              <a:rPr lang="ko-KR" altLang="en-US" sz="800" dirty="0">
                <a:latin typeface="+mn-ea"/>
              </a:rPr>
              <a:t> </a:t>
            </a:r>
            <a:r>
              <a:rPr lang="en-US" altLang="ko-KR" sz="800" dirty="0">
                <a:latin typeface="+mn-ea"/>
              </a:rPr>
              <a:t>'25</a:t>
            </a:r>
            <a:r>
              <a:rPr lang="ko-KR" altLang="en-US" sz="800" dirty="0">
                <a:latin typeface="+mn-ea"/>
              </a:rPr>
              <a:t>년 </a:t>
            </a:r>
            <a:r>
              <a:rPr lang="ko-KR" altLang="en-US" sz="800" dirty="0" err="1">
                <a:latin typeface="+mn-ea"/>
              </a:rPr>
              <a:t>직매입</a:t>
            </a:r>
            <a:r>
              <a:rPr lang="ko-KR" altLang="en-US" sz="800" dirty="0">
                <a:latin typeface="+mn-ea"/>
              </a:rPr>
              <a:t> 비중 </a:t>
            </a:r>
            <a:r>
              <a:rPr lang="en-US" altLang="ko-KR" sz="800" dirty="0">
                <a:latin typeface="+mn-ea"/>
              </a:rPr>
              <a:t>(</a:t>
            </a:r>
            <a:r>
              <a:rPr lang="ko-KR" altLang="en-US" sz="800" dirty="0">
                <a:latin typeface="+mn-ea"/>
              </a:rPr>
              <a:t>전체</a:t>
            </a:r>
            <a:r>
              <a:rPr lang="en-US" altLang="ko-KR" sz="800" dirty="0">
                <a:latin typeface="+mn-ea"/>
              </a:rPr>
              <a:t>)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06876C4-B547-6A35-FC90-8D90017E4AEA}"/>
              </a:ext>
            </a:extLst>
          </p:cNvPr>
          <p:cNvSpPr/>
          <p:nvPr/>
        </p:nvSpPr>
        <p:spPr>
          <a:xfrm>
            <a:off x="6296300" y="964303"/>
            <a:ext cx="5551887" cy="546841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95A7FA-DD58-E13E-60CB-B90F5235909D}"/>
              </a:ext>
            </a:extLst>
          </p:cNvPr>
          <p:cNvSpPr txBox="1"/>
          <p:nvPr/>
        </p:nvSpPr>
        <p:spPr>
          <a:xfrm>
            <a:off x="6320309" y="1056683"/>
            <a:ext cx="5527878" cy="3186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spc="-50" dirty="0">
                <a:latin typeface="+mn-ea"/>
              </a:rPr>
              <a:t>(</a:t>
            </a:r>
            <a:r>
              <a:rPr lang="ko-KR" altLang="en-US" sz="1200" b="1" spc="-50" dirty="0" err="1">
                <a:latin typeface="+mn-ea"/>
              </a:rPr>
              <a:t>직매입</a:t>
            </a:r>
            <a:r>
              <a:rPr lang="ko-KR" altLang="en-US" sz="1200" b="1" spc="-50" dirty="0">
                <a:latin typeface="+mn-ea"/>
              </a:rPr>
              <a:t> 현황</a:t>
            </a:r>
            <a:r>
              <a:rPr lang="en-US" altLang="ko-KR" sz="1200" b="1" spc="-50" dirty="0">
                <a:latin typeface="+mn-ea"/>
              </a:rPr>
              <a:t>)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spc="-50" dirty="0">
                <a:latin typeface="+mn-ea"/>
              </a:rPr>
              <a:t>패션 카테고리의 중소기업 중심으로 </a:t>
            </a:r>
            <a:r>
              <a:rPr lang="ko-KR" altLang="en-US" sz="1200" b="1" spc="-50" dirty="0" err="1">
                <a:latin typeface="+mn-ea"/>
              </a:rPr>
              <a:t>직매입</a:t>
            </a:r>
            <a:r>
              <a:rPr lang="ko-KR" altLang="en-US" sz="1200" b="1" spc="-50" dirty="0">
                <a:latin typeface="+mn-ea"/>
              </a:rPr>
              <a:t> 운영하고 있음</a:t>
            </a:r>
            <a:endParaRPr lang="en-US" altLang="ko-KR" sz="1200" b="1" spc="-5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1200" b="1" spc="-5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spc="-50" dirty="0">
                <a:latin typeface="+mn-ea"/>
              </a:rPr>
              <a:t>(</a:t>
            </a:r>
            <a:r>
              <a:rPr lang="ko-KR" altLang="en-US" sz="1200" b="1" spc="-50" dirty="0">
                <a:latin typeface="+mn-ea"/>
              </a:rPr>
              <a:t>고객 트렌드의 변화</a:t>
            </a:r>
            <a:r>
              <a:rPr lang="en-US" altLang="ko-KR" sz="1200" b="1" spc="-50" dirty="0">
                <a:latin typeface="+mn-ea"/>
              </a:rPr>
              <a:t>)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solidFill>
                  <a:srgbClr val="0000FF"/>
                </a:solidFill>
              </a:rPr>
              <a:t>고객 트렌드가 빠르게 변화</a:t>
            </a:r>
            <a:r>
              <a:rPr lang="ko-KR" altLang="en-US" sz="1200" b="1" dirty="0"/>
              <a:t>하는 환경에서</a:t>
            </a:r>
            <a:r>
              <a:rPr lang="en-US" altLang="ko-KR" sz="1200" b="1" dirty="0"/>
              <a:t>,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/>
              <a:t>대량 매입 후 시즌 내내 판매하는 방식이 </a:t>
            </a:r>
            <a:endParaRPr lang="en-US" altLang="ko-KR" sz="1200" b="1" dirty="0"/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/>
              <a:t>적절한지에 대한 고민이 있음</a:t>
            </a:r>
            <a:endParaRPr lang="en-US" altLang="ko-KR" sz="1200" b="1" dirty="0"/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1200" dirty="0"/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spc="-50" dirty="0">
                <a:latin typeface="+mn-ea"/>
              </a:rPr>
              <a:t>(</a:t>
            </a:r>
            <a:r>
              <a:rPr lang="ko-KR" altLang="en-US" sz="1200" b="1" spc="-50" dirty="0">
                <a:latin typeface="+mn-ea"/>
              </a:rPr>
              <a:t>향후 </a:t>
            </a:r>
            <a:r>
              <a:rPr lang="ko-KR" altLang="en-US" sz="1200" b="1" spc="-50" dirty="0" err="1">
                <a:latin typeface="+mn-ea"/>
              </a:rPr>
              <a:t>직매입</a:t>
            </a:r>
            <a:r>
              <a:rPr lang="ko-KR" altLang="en-US" sz="1200" b="1" spc="-50" dirty="0">
                <a:latin typeface="+mn-ea"/>
              </a:rPr>
              <a:t> 확대 계획</a:t>
            </a:r>
            <a:r>
              <a:rPr lang="en-US" altLang="ko-KR" sz="1200" b="1" spc="-50" dirty="0">
                <a:latin typeface="+mn-ea"/>
              </a:rPr>
              <a:t>)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spc="-50" dirty="0">
                <a:solidFill>
                  <a:srgbClr val="1919E5"/>
                </a:solidFill>
                <a:latin typeface="+mn-ea"/>
              </a:rPr>
              <a:t>의류 상품이 직매입의 대부분을 차지 하는데</a:t>
            </a:r>
            <a:r>
              <a:rPr lang="en-US" altLang="ko-KR" sz="1200" b="1" spc="-50" dirty="0">
                <a:solidFill>
                  <a:srgbClr val="1919E5"/>
                </a:solidFill>
                <a:latin typeface="+mn-ea"/>
              </a:rPr>
              <a:t>,</a:t>
            </a:r>
            <a:endParaRPr lang="en-US" altLang="ko-KR" sz="1200" b="1" spc="-5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spc="-50" dirty="0">
                <a:latin typeface="+mn-ea"/>
              </a:rPr>
              <a:t>신규 브랜드를 런칭하고 다양한 상품 라인업으로 강화할 예정이며</a:t>
            </a:r>
            <a:endParaRPr lang="en-US" altLang="ko-KR" sz="1200" b="1" spc="-5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spc="-50" dirty="0">
                <a:latin typeface="+mn-ea"/>
              </a:rPr>
              <a:t>→ 자연스럽게 직매입이 확대될 것으로 예상</a:t>
            </a:r>
            <a:endParaRPr lang="en-US" altLang="ko-KR" sz="1200" b="1" spc="-5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dirty="0">
                <a:latin typeface="+mn-ea"/>
              </a:rPr>
              <a:t>  </a:t>
            </a:r>
            <a:r>
              <a:rPr lang="en-US" altLang="ko-KR" sz="1000" dirty="0">
                <a:latin typeface="+mn-ea"/>
              </a:rPr>
              <a:t>※ </a:t>
            </a:r>
            <a:r>
              <a:rPr lang="ko-KR" altLang="en-US" sz="1000" dirty="0">
                <a:latin typeface="+mn-ea"/>
              </a:rPr>
              <a:t>패션 편성 비중 </a:t>
            </a:r>
            <a:r>
              <a:rPr lang="en-US" altLang="ko-KR" sz="1000" dirty="0">
                <a:latin typeface="+mn-ea"/>
              </a:rPr>
              <a:t>: 21</a:t>
            </a:r>
            <a:r>
              <a:rPr lang="ko-KR" altLang="en-US" sz="1000" dirty="0">
                <a:latin typeface="+mn-ea"/>
              </a:rPr>
              <a:t>년</a:t>
            </a:r>
            <a:r>
              <a:rPr lang="en-US" altLang="ko-KR" sz="1000" dirty="0">
                <a:latin typeface="+mn-ea"/>
              </a:rPr>
              <a:t> 23.7% </a:t>
            </a:r>
            <a:r>
              <a:rPr lang="ko-KR" altLang="en-US" sz="1000" dirty="0">
                <a:latin typeface="+mn-ea"/>
              </a:rPr>
              <a:t>→</a:t>
            </a:r>
            <a:r>
              <a:rPr lang="en-US" altLang="ko-KR" sz="1000" dirty="0">
                <a:latin typeface="+mn-ea"/>
              </a:rPr>
              <a:t> 25</a:t>
            </a:r>
            <a:r>
              <a:rPr lang="ko-KR" altLang="en-US" sz="1000" dirty="0">
                <a:latin typeface="+mn-ea"/>
              </a:rPr>
              <a:t>년 </a:t>
            </a:r>
            <a:r>
              <a:rPr lang="en-US" altLang="ko-KR" sz="1000" dirty="0">
                <a:latin typeface="+mn-ea"/>
              </a:rPr>
              <a:t>29.4%</a:t>
            </a:r>
            <a:endParaRPr lang="en-US" altLang="ko-KR" sz="1200" b="1" spc="-50" dirty="0">
              <a:solidFill>
                <a:srgbClr val="1919E5"/>
              </a:solidFill>
              <a:latin typeface="+mn-ea"/>
            </a:endParaRPr>
          </a:p>
        </p:txBody>
      </p:sp>
      <p:pic>
        <p:nvPicPr>
          <p:cNvPr id="19" name="그림 1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C872A6-80DB-01BF-1867-3303D9BA2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42" y="1377872"/>
            <a:ext cx="4620368" cy="12112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B2977E-2CF3-B08B-7604-5898A02442F6}"/>
              </a:ext>
            </a:extLst>
          </p:cNvPr>
          <p:cNvSpPr txBox="1"/>
          <p:nvPr/>
        </p:nvSpPr>
        <p:spPr>
          <a:xfrm>
            <a:off x="265364" y="1270275"/>
            <a:ext cx="5502601" cy="25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en-US" altLang="ko-KR" sz="1000" b="1" dirty="0">
                <a:latin typeface="+mn-ea"/>
              </a:rPr>
              <a:t>- </a:t>
            </a:r>
            <a:r>
              <a:rPr lang="ko-KR" altLang="en-US" sz="1000" b="1" dirty="0">
                <a:latin typeface="+mn-ea"/>
              </a:rPr>
              <a:t>실적</a:t>
            </a:r>
            <a:endParaRPr lang="en-US" altLang="ko-KR" sz="1000" b="1" dirty="0">
              <a:latin typeface="+mn-ea"/>
            </a:endParaRPr>
          </a:p>
        </p:txBody>
      </p:sp>
      <p:pic>
        <p:nvPicPr>
          <p:cNvPr id="22" name="그림 2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65B4BB-AAA6-13E4-90F9-11A1A5293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541" y="3103338"/>
            <a:ext cx="5593044" cy="11125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2BE39F-EA6C-7F86-F515-8958904F9CBF}"/>
              </a:ext>
            </a:extLst>
          </p:cNvPr>
          <p:cNvSpPr txBox="1"/>
          <p:nvPr/>
        </p:nvSpPr>
        <p:spPr>
          <a:xfrm>
            <a:off x="265364" y="3019059"/>
            <a:ext cx="5502601" cy="25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en-US" altLang="ko-KR" sz="1000" b="1" dirty="0">
                <a:latin typeface="+mn-ea"/>
              </a:rPr>
              <a:t>- </a:t>
            </a:r>
            <a:r>
              <a:rPr lang="ko-KR" altLang="en-US" sz="1000" b="1" dirty="0">
                <a:latin typeface="+mn-ea"/>
              </a:rPr>
              <a:t>계획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5FBC44-62EF-7827-55AC-338A6E32CDE5}"/>
              </a:ext>
            </a:extLst>
          </p:cNvPr>
          <p:cNvSpPr txBox="1"/>
          <p:nvPr/>
        </p:nvSpPr>
        <p:spPr>
          <a:xfrm>
            <a:off x="129776" y="4364412"/>
            <a:ext cx="5502601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중소기업 제품 </a:t>
            </a:r>
            <a:r>
              <a:rPr lang="ko-KR" altLang="en-US" sz="1100" b="1" dirty="0" err="1">
                <a:latin typeface="+mn-ea"/>
              </a:rPr>
              <a:t>직매입</a:t>
            </a:r>
            <a:r>
              <a:rPr lang="ko-KR" altLang="en-US" sz="1100" b="1" dirty="0">
                <a:latin typeface="+mn-ea"/>
              </a:rPr>
              <a:t> </a:t>
            </a:r>
            <a:r>
              <a:rPr lang="en-US" altLang="ko-KR" sz="1100" b="1" dirty="0">
                <a:latin typeface="+mn-ea"/>
              </a:rPr>
              <a:t>(8</a:t>
            </a:r>
            <a:r>
              <a:rPr lang="ko-KR" altLang="en-US" sz="1100" b="1" dirty="0">
                <a:latin typeface="+mn-ea"/>
              </a:rPr>
              <a:t>위</a:t>
            </a:r>
            <a:r>
              <a:rPr lang="en-US" altLang="ko-KR" sz="1100" b="1" dirty="0">
                <a:latin typeface="+mn-ea"/>
              </a:rPr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D1AE71-1272-304F-1FFD-A5B42D8BC9F9}"/>
              </a:ext>
            </a:extLst>
          </p:cNvPr>
          <p:cNvSpPr txBox="1"/>
          <p:nvPr/>
        </p:nvSpPr>
        <p:spPr>
          <a:xfrm>
            <a:off x="5267374" y="4506581"/>
            <a:ext cx="9717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(</a:t>
            </a:r>
            <a:r>
              <a:rPr lang="ko-KR" altLang="en-US" sz="800" dirty="0"/>
              <a:t>단위</a:t>
            </a:r>
            <a:r>
              <a:rPr lang="en-US" altLang="ko-KR" sz="800" dirty="0"/>
              <a:t>: </a:t>
            </a:r>
            <a:r>
              <a:rPr lang="ko-KR" altLang="en-US" sz="800" dirty="0"/>
              <a:t>억원</a:t>
            </a:r>
            <a:r>
              <a:rPr lang="en-US" altLang="ko-KR" sz="800" dirty="0"/>
              <a:t>, </a:t>
            </a:r>
            <a:r>
              <a:rPr lang="ko-KR" altLang="en-US" sz="800" dirty="0"/>
              <a:t>개</a:t>
            </a:r>
            <a:r>
              <a:rPr lang="en-US" altLang="ko-KR" sz="800" dirty="0"/>
              <a:t>)</a:t>
            </a:r>
            <a:endParaRPr lang="ko-KR" altLang="en-US" sz="800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5439D43-AD9D-17A6-E86A-51BAFE332999}"/>
              </a:ext>
            </a:extLst>
          </p:cNvPr>
          <p:cNvSpPr/>
          <p:nvPr/>
        </p:nvSpPr>
        <p:spPr>
          <a:xfrm>
            <a:off x="4496368" y="1983514"/>
            <a:ext cx="414892" cy="34262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011FBC9-B9F2-4546-A4B0-84F8615750A3}"/>
              </a:ext>
            </a:extLst>
          </p:cNvPr>
          <p:cNvSpPr/>
          <p:nvPr/>
        </p:nvSpPr>
        <p:spPr>
          <a:xfrm>
            <a:off x="1574369" y="3488309"/>
            <a:ext cx="414892" cy="34262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1624CDE-F08E-738E-2786-F50A1DE06B68}"/>
              </a:ext>
            </a:extLst>
          </p:cNvPr>
          <p:cNvCxnSpPr>
            <a:stCxn id="7" idx="4"/>
            <a:endCxn id="9" idx="0"/>
          </p:cNvCxnSpPr>
          <p:nvPr/>
        </p:nvCxnSpPr>
        <p:spPr>
          <a:xfrm flipH="1">
            <a:off x="1781815" y="2326140"/>
            <a:ext cx="2921999" cy="11621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95A0D38F-82BF-9261-D40E-48D47FC881F3}"/>
              </a:ext>
            </a:extLst>
          </p:cNvPr>
          <p:cNvCxnSpPr>
            <a:cxnSpLocks/>
          </p:cNvCxnSpPr>
          <p:nvPr/>
        </p:nvCxnSpPr>
        <p:spPr>
          <a:xfrm>
            <a:off x="1022713" y="5580564"/>
            <a:ext cx="221197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4C1F527-966B-090A-D4F7-3E51F440E0EB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61/109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82082197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254" y="337784"/>
            <a:ext cx="8819151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신규 중소기업 수가 실적 대비 향후 계획이 적은 이유는 무엇인가요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</a:t>
            </a:r>
          </a:p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   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신규 중소기업 수를 확대하기 위한 노력은 무엇인가요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4997A5F-44CE-15C5-D4D4-1170417B9C44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>
                <a:solidFill>
                  <a:schemeClr val="tx2">
                    <a:lumMod val="75000"/>
                  </a:schemeClr>
                </a:solidFill>
                <a:latin typeface="+mn-ea"/>
              </a:rPr>
              <a:t>편성책임자</a:t>
            </a:r>
            <a:endParaRPr lang="ko-KR" altLang="en-US" sz="105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85A437-50ED-0635-6EC9-CCC7E4C98F74}"/>
              </a:ext>
            </a:extLst>
          </p:cNvPr>
          <p:cNvSpPr txBox="1"/>
          <p:nvPr/>
        </p:nvSpPr>
        <p:spPr>
          <a:xfrm>
            <a:off x="65067" y="19389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3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중소기업 지원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C501C0-2818-F9BA-2E26-5D67405CF56D}"/>
              </a:ext>
            </a:extLst>
          </p:cNvPr>
          <p:cNvSpPr txBox="1"/>
          <p:nvPr/>
        </p:nvSpPr>
        <p:spPr>
          <a:xfrm>
            <a:off x="349378" y="6103139"/>
            <a:ext cx="5746622" cy="612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en-US" altLang="ko-KR" sz="900" b="1" spc="-50" dirty="0">
                <a:latin typeface="+mn-ea"/>
              </a:rPr>
              <a:t>[</a:t>
            </a:r>
            <a:r>
              <a:rPr lang="ko-KR" altLang="en-US" sz="900" b="1" spc="-50" dirty="0">
                <a:latin typeface="+mn-ea"/>
              </a:rPr>
              <a:t>신규 중소기업 기준</a:t>
            </a:r>
            <a:r>
              <a:rPr lang="en-US" altLang="ko-KR" sz="900" b="1" spc="-50" dirty="0">
                <a:latin typeface="+mn-ea"/>
              </a:rPr>
              <a:t>]</a:t>
            </a:r>
          </a:p>
          <a:p>
            <a:pPr fontAlgn="base">
              <a:lnSpc>
                <a:spcPct val="130000"/>
              </a:lnSpc>
            </a:pPr>
            <a:r>
              <a:rPr lang="en-US" altLang="ko-KR" sz="900" spc="-50" dirty="0">
                <a:latin typeface="+mn-ea"/>
              </a:rPr>
              <a:t>(</a:t>
            </a:r>
            <a:r>
              <a:rPr lang="ko-KR" altLang="en-US" sz="900" spc="-50" dirty="0">
                <a:latin typeface="+mn-ea"/>
              </a:rPr>
              <a:t>실적</a:t>
            </a:r>
            <a:r>
              <a:rPr lang="en-US" altLang="ko-KR" sz="900" spc="-50" dirty="0">
                <a:latin typeface="+mn-ea"/>
              </a:rPr>
              <a:t>) 2021</a:t>
            </a:r>
            <a:r>
              <a:rPr lang="ko-KR" altLang="en-US" sz="900" spc="-50" dirty="0">
                <a:latin typeface="+mn-ea"/>
              </a:rPr>
              <a:t>년 재승인 사업계획 기준에 따라</a:t>
            </a:r>
            <a:r>
              <a:rPr lang="en-US" altLang="ko-KR" sz="900" spc="-50" dirty="0">
                <a:latin typeface="+mn-ea"/>
              </a:rPr>
              <a:t>, </a:t>
            </a:r>
            <a:r>
              <a:rPr lang="ko-KR" altLang="en-US" sz="900" spc="-50" dirty="0">
                <a:latin typeface="+mn-ea"/>
              </a:rPr>
              <a:t>직전 연도 데이터홈쇼핑 편성 이력이 없는 중소기업 수</a:t>
            </a:r>
          </a:p>
          <a:p>
            <a:pPr fontAlgn="base">
              <a:lnSpc>
                <a:spcPct val="130000"/>
              </a:lnSpc>
            </a:pPr>
            <a:r>
              <a:rPr lang="en-US" altLang="ko-KR" sz="900" spc="-50" dirty="0">
                <a:latin typeface="+mn-ea"/>
              </a:rPr>
              <a:t>(</a:t>
            </a:r>
            <a:r>
              <a:rPr lang="ko-KR" altLang="en-US" sz="900" spc="-50" dirty="0">
                <a:latin typeface="+mn-ea"/>
              </a:rPr>
              <a:t>계획</a:t>
            </a:r>
            <a:r>
              <a:rPr lang="en-US" altLang="ko-KR" sz="900" spc="-50" dirty="0">
                <a:latin typeface="+mn-ea"/>
              </a:rPr>
              <a:t>) </a:t>
            </a:r>
            <a:r>
              <a:rPr lang="ko-KR" altLang="en-US" sz="900" spc="-50" dirty="0">
                <a:latin typeface="+mn-ea"/>
              </a:rPr>
              <a:t>방송미디어통신위원회 재승인 신청 안내에 따라</a:t>
            </a:r>
            <a:r>
              <a:rPr lang="en-US" altLang="ko-KR" sz="900" spc="-50" dirty="0">
                <a:latin typeface="+mn-ea"/>
              </a:rPr>
              <a:t>, </a:t>
            </a:r>
            <a:r>
              <a:rPr lang="ko-KR" altLang="en-US" sz="900" spc="-50" dirty="0">
                <a:latin typeface="+mn-ea"/>
              </a:rPr>
              <a:t>직전 </a:t>
            </a:r>
            <a:r>
              <a:rPr lang="en-US" altLang="ko-KR" sz="900" spc="-50" dirty="0">
                <a:latin typeface="+mn-ea"/>
              </a:rPr>
              <a:t>3</a:t>
            </a:r>
            <a:r>
              <a:rPr lang="ko-KR" altLang="en-US" sz="900" spc="-50" dirty="0">
                <a:latin typeface="+mn-ea"/>
              </a:rPr>
              <a:t>개 연도 데이터홈쇼핑 편성 이력이 없는 중소기업 수</a:t>
            </a:r>
          </a:p>
        </p:txBody>
      </p:sp>
      <p:pic>
        <p:nvPicPr>
          <p:cNvPr id="11" name="그림 10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2A5396-C743-6908-473C-D9FD756E0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88" y="1615372"/>
            <a:ext cx="5331988" cy="277644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7D3F98D-8B99-585C-715F-BA64BF8547E4}"/>
              </a:ext>
            </a:extLst>
          </p:cNvPr>
          <p:cNvSpPr txBox="1"/>
          <p:nvPr/>
        </p:nvSpPr>
        <p:spPr>
          <a:xfrm>
            <a:off x="127156" y="1168319"/>
            <a:ext cx="3919233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ko-KR" altLang="en-US" sz="1100" b="1" dirty="0">
                <a:latin typeface="+mn-ea"/>
              </a:rPr>
              <a:t>사업계획서 </a:t>
            </a:r>
            <a:r>
              <a:rPr lang="en-US" altLang="ko-KR" sz="1100" b="1" dirty="0">
                <a:latin typeface="+mn-ea"/>
              </a:rPr>
              <a:t>p.85)</a:t>
            </a:r>
            <a:r>
              <a:rPr lang="ko-KR" altLang="en-US" sz="1100" b="1" dirty="0">
                <a:latin typeface="+mn-ea"/>
              </a:rPr>
              <a:t>신규 중소기업 편성 실적 및 계획</a:t>
            </a:r>
            <a:endParaRPr lang="en-US" altLang="ko-KR" sz="1100" b="1" dirty="0">
              <a:latin typeface="+mn-ea"/>
            </a:endParaRPr>
          </a:p>
        </p:txBody>
      </p:sp>
      <p:pic>
        <p:nvPicPr>
          <p:cNvPr id="19" name="그림 1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807AF8-78E4-9E94-7EA9-43C60D713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93" y="4716644"/>
            <a:ext cx="5483899" cy="13864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626436-849F-E0A2-8486-F521D1F8D506}"/>
              </a:ext>
            </a:extLst>
          </p:cNvPr>
          <p:cNvSpPr txBox="1"/>
          <p:nvPr/>
        </p:nvSpPr>
        <p:spPr>
          <a:xfrm>
            <a:off x="6045580" y="1382450"/>
            <a:ext cx="6066322" cy="4096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en-US" altLang="ko-KR" sz="1200" b="1" spc="-50" dirty="0">
                <a:latin typeface="+mn-ea"/>
              </a:rPr>
              <a:t>(</a:t>
            </a:r>
            <a:r>
              <a:rPr lang="ko-KR" altLang="en-US" sz="1200" b="1" spc="-50" dirty="0">
                <a:latin typeface="+mn-ea"/>
              </a:rPr>
              <a:t>계획이 적은 이유</a:t>
            </a:r>
            <a:r>
              <a:rPr lang="en-US" altLang="ko-KR" sz="1200" b="1" spc="-50" dirty="0">
                <a:latin typeface="+mn-ea"/>
              </a:rPr>
              <a:t>)</a:t>
            </a:r>
          </a:p>
          <a:p>
            <a:pPr fontAlgn="base">
              <a:lnSpc>
                <a:spcPct val="130000"/>
              </a:lnSpc>
            </a:pPr>
            <a:r>
              <a:rPr lang="ko-KR" altLang="en-US" sz="1200" b="1" spc="-50" dirty="0">
                <a:latin typeface="+mn-ea"/>
              </a:rPr>
              <a:t>①</a:t>
            </a:r>
            <a:r>
              <a:rPr lang="en-US" altLang="ko-KR" sz="1200" b="1" spc="-50" dirty="0">
                <a:latin typeface="+mn-ea"/>
              </a:rPr>
              <a:t> </a:t>
            </a:r>
            <a:r>
              <a:rPr lang="ko-KR" altLang="en-US" sz="1200" b="1" u="sng" spc="-50" dirty="0">
                <a:solidFill>
                  <a:srgbClr val="0000FF"/>
                </a:solidFill>
                <a:latin typeface="+mn-ea"/>
              </a:rPr>
              <a:t>작성 기준 변경 </a:t>
            </a:r>
            <a:r>
              <a:rPr lang="en-US" altLang="ko-KR" sz="1200" b="1" u="sng" spc="-50" dirty="0">
                <a:latin typeface="+mn-ea"/>
              </a:rPr>
              <a:t>(</a:t>
            </a:r>
            <a:r>
              <a:rPr lang="ko-KR" altLang="en-US" sz="1200" b="1" u="sng" spc="-50" dirty="0">
                <a:latin typeface="+mn-ea"/>
              </a:rPr>
              <a:t>신규 중소기업 정의 </a:t>
            </a:r>
            <a:r>
              <a:rPr lang="en-US" altLang="ko-KR" sz="1200" b="1" u="sng" spc="-50" dirty="0">
                <a:latin typeface="+mn-ea"/>
              </a:rPr>
              <a:t>: 1</a:t>
            </a:r>
            <a:r>
              <a:rPr lang="ko-KR" altLang="en-US" sz="1200" b="1" u="sng" spc="-50" dirty="0">
                <a:latin typeface="+mn-ea"/>
              </a:rPr>
              <a:t>년간</a:t>
            </a:r>
            <a:r>
              <a:rPr lang="ko-KR" altLang="en-US" sz="1200" b="1" u="sng" dirty="0"/>
              <a:t> 방송하지 않은 중소기업 → </a:t>
            </a:r>
            <a:r>
              <a:rPr lang="en-US" altLang="ko-KR" sz="1200" b="1" u="sng" dirty="0"/>
              <a:t>3</a:t>
            </a:r>
            <a:r>
              <a:rPr lang="ko-KR" altLang="en-US" sz="1200" b="1" u="sng" dirty="0"/>
              <a:t>년간</a:t>
            </a:r>
            <a:r>
              <a:rPr lang="en-US" altLang="ko-KR" sz="1200" b="1" u="sng" dirty="0"/>
              <a:t>)</a:t>
            </a:r>
          </a:p>
          <a:p>
            <a:pPr fontAlgn="base">
              <a:lnSpc>
                <a:spcPct val="130000"/>
              </a:lnSpc>
            </a:pPr>
            <a:r>
              <a:rPr lang="ko-KR" altLang="en-US" sz="1200" b="1" spc="-50" dirty="0">
                <a:latin typeface="+mn-ea"/>
              </a:rPr>
              <a:t>② </a:t>
            </a:r>
            <a:r>
              <a:rPr lang="ko-KR" altLang="en-US" sz="1200" b="1" dirty="0"/>
              <a:t>방송은 </a:t>
            </a:r>
            <a:r>
              <a:rPr lang="en-US" altLang="ko-KR" sz="1200" b="1" dirty="0"/>
              <a:t>24</a:t>
            </a:r>
            <a:r>
              <a:rPr lang="ko-KR" altLang="en-US" sz="1200" b="1" dirty="0"/>
              <a:t>시간 편성이라는 물리적 한계가 있어 </a:t>
            </a:r>
            <a:endParaRPr lang="en-US" altLang="ko-KR" sz="1200" b="1" dirty="0"/>
          </a:p>
          <a:p>
            <a:pPr fontAlgn="base">
              <a:lnSpc>
                <a:spcPct val="130000"/>
              </a:lnSpc>
            </a:pPr>
            <a:r>
              <a:rPr lang="ko-KR" altLang="en-US" sz="1200" b="1" dirty="0"/>
              <a:t>    신규 중소기업이 늘어날수록 </a:t>
            </a:r>
            <a:r>
              <a:rPr lang="ko-KR" altLang="en-US" sz="1200" b="1" dirty="0">
                <a:solidFill>
                  <a:srgbClr val="0000FF"/>
                </a:solidFill>
              </a:rPr>
              <a:t>기존 중소기업의 편성 기회 감소</a:t>
            </a:r>
            <a:br>
              <a:rPr lang="en-US" altLang="ko-KR" sz="1200" b="1" dirty="0"/>
            </a:br>
            <a:r>
              <a:rPr lang="en-US" altLang="ko-KR" sz="1200" b="1" dirty="0"/>
              <a:t>     </a:t>
            </a:r>
            <a:r>
              <a:rPr lang="ko-KR" altLang="en-US" sz="1200" b="1" dirty="0"/>
              <a:t>→ </a:t>
            </a:r>
            <a:r>
              <a:rPr lang="ko-KR" altLang="en-US" sz="1200" b="1" u="sng" dirty="0"/>
              <a:t>신규 중소기업 확대와 기존 중소기업 간 적절한 균형 필요</a:t>
            </a:r>
            <a:endParaRPr lang="en-US" altLang="ko-KR" sz="1200" b="1" u="sng" spc="-50" dirty="0">
              <a:latin typeface="+mn-ea"/>
            </a:endParaRPr>
          </a:p>
          <a:p>
            <a:pPr fontAlgn="base">
              <a:lnSpc>
                <a:spcPct val="130000"/>
              </a:lnSpc>
            </a:pPr>
            <a:br>
              <a:rPr lang="en-US" altLang="ko-KR" sz="1200" b="1" spc="-50" dirty="0">
                <a:latin typeface="+mn-ea"/>
              </a:rPr>
            </a:br>
            <a:r>
              <a:rPr lang="en-US" altLang="ko-KR" sz="1200" b="1" spc="-50" dirty="0">
                <a:latin typeface="+mn-ea"/>
              </a:rPr>
              <a:t>(</a:t>
            </a:r>
            <a:r>
              <a:rPr lang="ko-KR" altLang="en-US" sz="1200" b="1" spc="-50" dirty="0">
                <a:latin typeface="+mn-ea"/>
              </a:rPr>
              <a:t>확대하기 위한 노력</a:t>
            </a:r>
            <a:r>
              <a:rPr lang="en-US" altLang="ko-KR" sz="1200" b="1" spc="-50" dirty="0">
                <a:latin typeface="+mn-ea"/>
              </a:rPr>
              <a:t>)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 b="1" spc="-50" dirty="0">
                <a:latin typeface="+mn-ea"/>
              </a:rPr>
              <a:t>③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모바일 상품 육성</a:t>
            </a:r>
            <a:endParaRPr lang="en-US" altLang="ko-KR" sz="1200" b="1" spc="-50" dirty="0">
              <a:latin typeface="+mn-ea"/>
            </a:endParaRPr>
          </a:p>
          <a:p>
            <a:pPr lvl="0" fontAlgn="base">
              <a:lnSpc>
                <a:spcPct val="120000"/>
              </a:lnSpc>
              <a:defRPr/>
            </a:pPr>
            <a:r>
              <a:rPr lang="ko-KR" altLang="en-US" sz="1200" b="1" spc="-50" dirty="0">
                <a:latin typeface="+mn-ea"/>
              </a:rPr>
              <a:t>    당사의 강점인 모바일채널</a:t>
            </a:r>
            <a:r>
              <a:rPr lang="en-US" altLang="ko-KR" sz="1200" b="1" spc="-50" dirty="0">
                <a:latin typeface="+mn-ea"/>
              </a:rPr>
              <a:t>(GS SHOP)</a:t>
            </a:r>
            <a:r>
              <a:rPr lang="ko-KR" altLang="en-US" sz="1200" b="1" spc="-50" dirty="0">
                <a:latin typeface="+mn-ea"/>
              </a:rPr>
              <a:t>의 중소기업들을 데이터홈쇼핑에</a:t>
            </a:r>
            <a:endParaRPr lang="en-US" altLang="ko-KR" sz="1200" b="1" spc="-50" dirty="0">
              <a:latin typeface="+mn-ea"/>
            </a:endParaRPr>
          </a:p>
          <a:p>
            <a:pPr lvl="0" fontAlgn="base">
              <a:lnSpc>
                <a:spcPct val="120000"/>
              </a:lnSpc>
              <a:defRPr/>
            </a:pPr>
            <a:r>
              <a:rPr lang="ko-KR" altLang="en-US" sz="1200" b="1" spc="-50" dirty="0">
                <a:latin typeface="+mn-ea"/>
              </a:rPr>
              <a:t>    판로를 확장할 수 있도록 지원함으로써 경쟁사 대비 상품경쟁력을 확보해 가고자 함</a:t>
            </a:r>
            <a:endParaRPr lang="en-US" altLang="ko-KR" sz="1200" b="1" spc="-50" dirty="0">
              <a:latin typeface="+mn-ea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 b="1" spc="-50" dirty="0">
                <a:latin typeface="+mn-ea"/>
              </a:rPr>
              <a:t>  </a:t>
            </a:r>
            <a:r>
              <a:rPr lang="en-US" altLang="ko-KR" sz="1200" dirty="0"/>
              <a:t>  </a:t>
            </a:r>
            <a:r>
              <a:rPr lang="en-US" altLang="ko-KR" sz="1000" dirty="0"/>
              <a:t>※ </a:t>
            </a:r>
            <a:r>
              <a:rPr lang="ko-KR" altLang="en-US" sz="1000" spc="-50" dirty="0">
                <a:latin typeface="+mn-ea"/>
              </a:rPr>
              <a:t>모바일 </a:t>
            </a:r>
            <a:r>
              <a:rPr lang="en-US" altLang="ko-KR" sz="1000" spc="-50" dirty="0">
                <a:latin typeface="+mn-ea"/>
              </a:rPr>
              <a:t>9</a:t>
            </a:r>
            <a:r>
              <a:rPr lang="ko-KR" altLang="en-US" sz="1000" spc="-50" dirty="0">
                <a:latin typeface="+mn-ea"/>
              </a:rPr>
              <a:t>천개 협력사 </a:t>
            </a:r>
            <a:r>
              <a:rPr lang="en-US" altLang="ko-KR" sz="1000" spc="-50" dirty="0">
                <a:latin typeface="+mn-ea"/>
              </a:rPr>
              <a:t>1,800</a:t>
            </a:r>
            <a:r>
              <a:rPr lang="ko-KR" altLang="en-US" sz="1000" spc="-50" dirty="0">
                <a:latin typeface="+mn-ea"/>
              </a:rPr>
              <a:t>만개 제품 </a:t>
            </a:r>
            <a:r>
              <a:rPr lang="en-US" altLang="ko-KR" sz="1000" spc="-50" dirty="0">
                <a:latin typeface="+mn-ea"/>
              </a:rPr>
              <a:t>(p.155)</a:t>
            </a:r>
          </a:p>
          <a:p>
            <a:pPr lvl="0" fontAlgn="base">
              <a:defRPr/>
            </a:pPr>
            <a:r>
              <a:rPr lang="en-US" altLang="ko-KR" sz="1000" b="1" spc="-50" dirty="0">
                <a:latin typeface="+mn-ea"/>
              </a:rPr>
              <a:t>     </a:t>
            </a:r>
            <a:r>
              <a:rPr lang="en-US" altLang="ko-KR" sz="1000" spc="-50" dirty="0">
                <a:latin typeface="맑은 고딕" panose="020B0503020000020004" pitchFamily="50" charset="-127"/>
              </a:rPr>
              <a:t>※ 25</a:t>
            </a:r>
            <a:r>
              <a:rPr lang="ko-KR" altLang="en-US" sz="1000" spc="-50" dirty="0">
                <a:latin typeface="맑은 고딕" panose="020B0503020000020004" pitchFamily="50" charset="-127"/>
              </a:rPr>
              <a:t>년 기준 </a:t>
            </a:r>
            <a:r>
              <a:rPr lang="en-US" altLang="ko-KR" sz="1000" spc="-50" dirty="0">
                <a:latin typeface="맑은 고딕" panose="020B0503020000020004" pitchFamily="50" charset="-127"/>
              </a:rPr>
              <a:t>: </a:t>
            </a:r>
            <a:r>
              <a:rPr lang="ko-KR" altLang="en-US" sz="1000" spc="-50" dirty="0">
                <a:latin typeface="맑은 고딕" panose="020B0503020000020004" pitchFamily="50" charset="-127"/>
              </a:rPr>
              <a:t>모바일 입점 후 데이터홈쇼핑 방송한 신규 중소기업 수 </a:t>
            </a:r>
            <a:r>
              <a:rPr lang="en-US" altLang="ko-KR" sz="1000" spc="-50" dirty="0">
                <a:latin typeface="맑은 고딕" panose="020B0503020000020004" pitchFamily="50" charset="-127"/>
              </a:rPr>
              <a:t>47</a:t>
            </a:r>
            <a:r>
              <a:rPr lang="ko-KR" altLang="en-US" sz="1000" spc="-50" dirty="0">
                <a:latin typeface="맑은 고딕" panose="020B0503020000020004" pitchFamily="50" charset="-127"/>
              </a:rPr>
              <a:t>개사</a:t>
            </a:r>
            <a:r>
              <a:rPr lang="en-US" altLang="ko-KR" sz="1000" spc="-50" dirty="0">
                <a:latin typeface="맑은 고딕" panose="020B0503020000020004" pitchFamily="50" charset="-127"/>
              </a:rPr>
              <a:t>, </a:t>
            </a:r>
            <a:r>
              <a:rPr lang="ko-KR" altLang="en-US" sz="1000" spc="-50" dirty="0">
                <a:latin typeface="맑은 고딕" panose="020B0503020000020004" pitchFamily="50" charset="-127"/>
              </a:rPr>
              <a:t>제품 수 </a:t>
            </a:r>
            <a:r>
              <a:rPr lang="en-US" altLang="ko-KR" sz="1000" spc="-50" dirty="0">
                <a:latin typeface="맑은 고딕" panose="020B0503020000020004" pitchFamily="50" charset="-127"/>
              </a:rPr>
              <a:t>102</a:t>
            </a:r>
            <a:r>
              <a:rPr lang="ko-KR" altLang="en-US" sz="1000" spc="-50" dirty="0">
                <a:latin typeface="맑은 고딕" panose="020B0503020000020004" pitchFamily="50" charset="-127"/>
              </a:rPr>
              <a:t>개</a:t>
            </a:r>
            <a:endParaRPr lang="en-US" altLang="ko-KR" sz="1000" spc="-50" dirty="0">
              <a:latin typeface="맑은 고딕" panose="020B0503020000020004" pitchFamily="50" charset="-127"/>
            </a:endParaRPr>
          </a:p>
          <a:p>
            <a:pPr lvl="0" fontAlgn="base">
              <a:defRPr/>
            </a:pPr>
            <a:endParaRPr lang="en-US" altLang="ko-KR" sz="500" b="1" spc="-50" dirty="0">
              <a:latin typeface="+mn-ea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 b="1" spc="-50" dirty="0">
                <a:latin typeface="+mn-ea"/>
              </a:rPr>
              <a:t>④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신규 중소기업 발굴</a:t>
            </a:r>
            <a:endParaRPr lang="en-US" altLang="ko-KR" sz="1200" b="1" spc="-50" dirty="0">
              <a:solidFill>
                <a:srgbClr val="0000FF"/>
              </a:solidFill>
              <a:latin typeface="+mn-ea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 b="1" spc="-50" dirty="0">
                <a:latin typeface="+mn-ea"/>
              </a:rPr>
              <a:t>    AI Tool(</a:t>
            </a:r>
            <a:r>
              <a:rPr lang="ko-KR" altLang="en-US" sz="1200" b="1" spc="-50" dirty="0">
                <a:latin typeface="+mn-ea"/>
              </a:rPr>
              <a:t>브랜드 비교 분석 시스템</a:t>
            </a:r>
            <a:r>
              <a:rPr lang="en-US" altLang="ko-KR" sz="1200" b="1" spc="-50" dirty="0">
                <a:latin typeface="+mn-ea"/>
              </a:rPr>
              <a:t>)</a:t>
            </a:r>
            <a:r>
              <a:rPr lang="ko-KR" altLang="en-US" sz="1200" b="1" spc="-50" dirty="0">
                <a:latin typeface="+mn-ea"/>
              </a:rPr>
              <a:t>을 활용하여 국내 경쟁력 있는 중소기업</a:t>
            </a:r>
            <a:endParaRPr lang="en-US" altLang="ko-KR" sz="1200" b="1" spc="-50" dirty="0">
              <a:latin typeface="+mn-ea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 b="1" spc="-50" dirty="0">
                <a:latin typeface="+mn-ea"/>
              </a:rPr>
              <a:t>    </a:t>
            </a:r>
            <a:r>
              <a:rPr lang="ko-KR" altLang="en-US" sz="1200" b="1" spc="-50" dirty="0">
                <a:latin typeface="+mn-ea"/>
              </a:rPr>
              <a:t>브랜드를 발굴하여 육성하고자 함</a:t>
            </a:r>
            <a:r>
              <a:rPr lang="en-US" altLang="ko-KR" sz="1200" b="1" spc="-50" dirty="0">
                <a:latin typeface="+mn-ea"/>
              </a:rPr>
              <a:t> </a:t>
            </a:r>
          </a:p>
          <a:p>
            <a:pPr fontAlgn="base">
              <a:lnSpc>
                <a:spcPct val="130000"/>
              </a:lnSpc>
            </a:pPr>
            <a:r>
              <a:rPr lang="en-US" altLang="ko-KR" sz="1000" spc="-50" dirty="0">
                <a:latin typeface="+mn-ea"/>
              </a:rPr>
              <a:t>     ※ </a:t>
            </a:r>
            <a:r>
              <a:rPr lang="ko-KR" altLang="en-US" sz="1000" spc="-50" dirty="0">
                <a:latin typeface="+mn-ea"/>
              </a:rPr>
              <a:t>뷰티 브랜드 약 </a:t>
            </a:r>
            <a:r>
              <a:rPr lang="en-US" altLang="ko-KR" sz="1000" spc="-50" dirty="0">
                <a:latin typeface="+mn-ea"/>
              </a:rPr>
              <a:t>4,500</a:t>
            </a:r>
            <a:r>
              <a:rPr lang="ko-KR" altLang="en-US" sz="1000" spc="-50" dirty="0">
                <a:latin typeface="+mn-ea"/>
              </a:rPr>
              <a:t>여개 데이터 비교 분석을 통해</a:t>
            </a:r>
            <a:r>
              <a:rPr lang="en-US" altLang="ko-KR" sz="1000" spc="-50" dirty="0">
                <a:latin typeface="+mn-ea"/>
              </a:rPr>
              <a:t> </a:t>
            </a:r>
            <a:r>
              <a:rPr lang="ko-KR" altLang="en-US" sz="1000" spc="-50" dirty="0">
                <a:latin typeface="+mn-ea"/>
              </a:rPr>
              <a:t>고객이 원하는 중소기업 브랜드 빠르게 발굴 </a:t>
            </a:r>
            <a:endParaRPr lang="en-US" altLang="ko-KR" sz="1000" spc="-5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800" b="1" spc="-50" dirty="0">
              <a:latin typeface="+mn-ea"/>
            </a:endParaRPr>
          </a:p>
          <a:p>
            <a:pPr fontAlgn="base">
              <a:lnSpc>
                <a:spcPct val="130000"/>
              </a:lnSpc>
            </a:pPr>
            <a:endParaRPr lang="en-US" altLang="ko-KR" sz="500" b="1" spc="-50" dirty="0">
              <a:latin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EBCAB24-35F6-5416-0B55-72906F36CEEC}"/>
              </a:ext>
            </a:extLst>
          </p:cNvPr>
          <p:cNvSpPr/>
          <p:nvPr/>
        </p:nvSpPr>
        <p:spPr>
          <a:xfrm>
            <a:off x="6009256" y="1293149"/>
            <a:ext cx="5833366" cy="529053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3B6E1789-D4C1-2A5C-DAED-D8E299552E28}"/>
              </a:ext>
            </a:extLst>
          </p:cNvPr>
          <p:cNvSpPr/>
          <p:nvPr/>
        </p:nvSpPr>
        <p:spPr>
          <a:xfrm>
            <a:off x="5233851" y="3944987"/>
            <a:ext cx="383177" cy="3570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882AE89-972D-82AE-348B-3425B80FB31D}"/>
              </a:ext>
            </a:extLst>
          </p:cNvPr>
          <p:cNvSpPr/>
          <p:nvPr/>
        </p:nvSpPr>
        <p:spPr>
          <a:xfrm>
            <a:off x="1846112" y="5384056"/>
            <a:ext cx="383177" cy="3570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B8BC090-A641-ECC5-92E3-2F99F76F8E8F}"/>
              </a:ext>
            </a:extLst>
          </p:cNvPr>
          <p:cNvCxnSpPr>
            <a:cxnSpLocks/>
            <a:stCxn id="3" idx="2"/>
            <a:endCxn id="6" idx="6"/>
          </p:cNvCxnSpPr>
          <p:nvPr/>
        </p:nvCxnSpPr>
        <p:spPr>
          <a:xfrm flipH="1">
            <a:off x="2229289" y="4123513"/>
            <a:ext cx="3004562" cy="14390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52CB907A-DE15-387D-CB53-11648EFCE770}"/>
              </a:ext>
            </a:extLst>
          </p:cNvPr>
          <p:cNvCxnSpPr>
            <a:cxnSpLocks/>
          </p:cNvCxnSpPr>
          <p:nvPr/>
        </p:nvCxnSpPr>
        <p:spPr>
          <a:xfrm>
            <a:off x="2560320" y="6479183"/>
            <a:ext cx="26735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7C3EC577-A747-8DE4-98C7-C458F8901747}"/>
              </a:ext>
            </a:extLst>
          </p:cNvPr>
          <p:cNvCxnSpPr>
            <a:cxnSpLocks/>
          </p:cNvCxnSpPr>
          <p:nvPr/>
        </p:nvCxnSpPr>
        <p:spPr>
          <a:xfrm>
            <a:off x="3073982" y="6649001"/>
            <a:ext cx="282461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타원 24">
            <a:extLst>
              <a:ext uri="{FF2B5EF4-FFF2-40B4-BE49-F238E27FC236}">
                <a16:creationId xmlns:a16="http://schemas.microsoft.com/office/drawing/2014/main" id="{042E67AF-E9BB-4BE6-AFAC-0F21DBB8B189}"/>
              </a:ext>
            </a:extLst>
          </p:cNvPr>
          <p:cNvSpPr/>
          <p:nvPr/>
        </p:nvSpPr>
        <p:spPr>
          <a:xfrm>
            <a:off x="5233730" y="2064944"/>
            <a:ext cx="383177" cy="3570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19E34E-3E72-BA20-B0B3-4615B5A289DD}"/>
              </a:ext>
            </a:extLst>
          </p:cNvPr>
          <p:cNvSpPr txBox="1"/>
          <p:nvPr/>
        </p:nvSpPr>
        <p:spPr>
          <a:xfrm>
            <a:off x="349378" y="1479368"/>
            <a:ext cx="952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- </a:t>
            </a:r>
            <a:r>
              <a:rPr lang="ko-KR" altLang="en-US" sz="1000" b="1" dirty="0"/>
              <a:t>실적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3D036D-88D3-ED9B-5F61-518A044B6331}"/>
              </a:ext>
            </a:extLst>
          </p:cNvPr>
          <p:cNvSpPr txBox="1"/>
          <p:nvPr/>
        </p:nvSpPr>
        <p:spPr>
          <a:xfrm>
            <a:off x="369465" y="4527825"/>
            <a:ext cx="952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- </a:t>
            </a:r>
            <a:r>
              <a:rPr lang="ko-KR" altLang="en-US" sz="1000" b="1" dirty="0"/>
              <a:t>계획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72D2B0-38A0-49A2-5A24-1BAF92257ADE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62/109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69994613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F37330-9EE0-3E19-D91A-E0644B42A737}"/>
              </a:ext>
            </a:extLst>
          </p:cNvPr>
          <p:cNvSpPr txBox="1"/>
          <p:nvPr/>
        </p:nvSpPr>
        <p:spPr>
          <a:xfrm>
            <a:off x="60963" y="83316"/>
            <a:ext cx="8819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b="1" dirty="0">
                <a:solidFill>
                  <a:schemeClr val="bg1"/>
                </a:solidFill>
                <a:latin typeface="+mj-lt"/>
              </a:rPr>
              <a:t>신규 중소기업 발굴 및 육성 노력</a:t>
            </a:r>
            <a:endParaRPr lang="ko-KR" altLang="en-US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E383F7A-50FB-D010-5521-8D3427F49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892" y="1002068"/>
            <a:ext cx="3558388" cy="307315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453CCE7-40FC-B645-25FD-5DCF46DA9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604" y="1002068"/>
            <a:ext cx="3869435" cy="58388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36434D-F040-B8B2-B350-2C050C2386B6}"/>
              </a:ext>
            </a:extLst>
          </p:cNvPr>
          <p:cNvSpPr txBox="1"/>
          <p:nvPr/>
        </p:nvSpPr>
        <p:spPr>
          <a:xfrm>
            <a:off x="8032604" y="666535"/>
            <a:ext cx="3919233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(p.90)</a:t>
            </a:r>
            <a:r>
              <a:rPr lang="ko-KR" altLang="en-US" sz="1100" b="1" dirty="0">
                <a:latin typeface="+mn-ea"/>
              </a:rPr>
              <a:t>지자체</a:t>
            </a:r>
            <a:r>
              <a:rPr lang="en-US" altLang="ko-KR" sz="1100" b="1" dirty="0">
                <a:latin typeface="+mn-ea"/>
              </a:rPr>
              <a:t>·</a:t>
            </a:r>
            <a:r>
              <a:rPr lang="ko-KR" altLang="en-US" sz="1100" b="1" dirty="0">
                <a:latin typeface="+mn-ea"/>
              </a:rPr>
              <a:t>공공기관 연계 발굴</a:t>
            </a:r>
            <a:endParaRPr lang="en-US" altLang="ko-KR" sz="1100" b="1" dirty="0">
              <a:latin typeface="+mn-ea"/>
            </a:endParaRPr>
          </a:p>
        </p:txBody>
      </p:sp>
      <p:pic>
        <p:nvPicPr>
          <p:cNvPr id="12" name="그림 1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0DBC58-6C6D-4F93-4001-5FE28C06D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44" y="1116447"/>
            <a:ext cx="3729788" cy="19169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54B3D8-F6A9-69D4-ED6E-A183F1059381}"/>
              </a:ext>
            </a:extLst>
          </p:cNvPr>
          <p:cNvSpPr txBox="1"/>
          <p:nvPr/>
        </p:nvSpPr>
        <p:spPr>
          <a:xfrm>
            <a:off x="132681" y="666535"/>
            <a:ext cx="521158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i="0" u="none" strike="noStrike" baseline="0" dirty="0">
                <a:solidFill>
                  <a:srgbClr val="000000"/>
                </a:solidFill>
              </a:rPr>
              <a:t>■ </a:t>
            </a:r>
            <a:r>
              <a:rPr lang="en-US" altLang="ko-KR" sz="1100" b="1" i="0" u="none" strike="noStrike" baseline="0" dirty="0">
                <a:solidFill>
                  <a:srgbClr val="000000"/>
                </a:solidFill>
              </a:rPr>
              <a:t>(p.158)</a:t>
            </a:r>
            <a:r>
              <a:rPr lang="ko-KR" altLang="en-US" sz="1100" b="1" i="0" u="none" strike="noStrike" baseline="0" dirty="0">
                <a:solidFill>
                  <a:srgbClr val="000000"/>
                </a:solidFill>
              </a:rPr>
              <a:t>브랜드 발굴 시스템 	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7CC68DB-B88F-4C67-D863-52835D22CA1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9155"/>
          <a:stretch>
            <a:fillRect/>
          </a:stretch>
        </p:blipFill>
        <p:spPr>
          <a:xfrm>
            <a:off x="209954" y="3296127"/>
            <a:ext cx="3949444" cy="29108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C605C4-220E-4D28-8D09-B500D52041C2}"/>
              </a:ext>
            </a:extLst>
          </p:cNvPr>
          <p:cNvSpPr txBox="1"/>
          <p:nvPr/>
        </p:nvSpPr>
        <p:spPr>
          <a:xfrm>
            <a:off x="4074001" y="666535"/>
            <a:ext cx="3919233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(p.155)</a:t>
            </a:r>
            <a:r>
              <a:rPr lang="ko-KR" altLang="en-US" sz="1100" b="1" dirty="0">
                <a:latin typeface="+mn-ea"/>
              </a:rPr>
              <a:t>모바일</a:t>
            </a:r>
            <a:r>
              <a:rPr lang="en-US" altLang="ko-KR" sz="1100" b="1" dirty="0">
                <a:latin typeface="+mn-ea"/>
              </a:rPr>
              <a:t>·</a:t>
            </a:r>
            <a:r>
              <a:rPr lang="ko-KR" altLang="en-US" sz="1100" b="1" dirty="0">
                <a:latin typeface="+mn-ea"/>
              </a:rPr>
              <a:t>온라인 우수 상품 데이터홈쇼핑으로 육성</a:t>
            </a:r>
            <a:endParaRPr lang="en-US" altLang="ko-KR" sz="1100" b="1" dirty="0">
              <a:latin typeface="+mn-ea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5EDAA59-86C7-068C-1FD6-253DB1667EBB}"/>
              </a:ext>
            </a:extLst>
          </p:cNvPr>
          <p:cNvCxnSpPr/>
          <p:nvPr/>
        </p:nvCxnSpPr>
        <p:spPr>
          <a:xfrm>
            <a:off x="5007429" y="3446418"/>
            <a:ext cx="90569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A7CF493-8DA4-05E7-9792-927E9061E4A1}"/>
              </a:ext>
            </a:extLst>
          </p:cNvPr>
          <p:cNvCxnSpPr>
            <a:cxnSpLocks/>
          </p:cNvCxnSpPr>
          <p:nvPr/>
        </p:nvCxnSpPr>
        <p:spPr>
          <a:xfrm>
            <a:off x="5011779" y="3590109"/>
            <a:ext cx="158061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DF5DC16-C805-5B43-A36A-29880C16EDE4}"/>
              </a:ext>
            </a:extLst>
          </p:cNvPr>
          <p:cNvCxnSpPr>
            <a:cxnSpLocks/>
          </p:cNvCxnSpPr>
          <p:nvPr/>
        </p:nvCxnSpPr>
        <p:spPr>
          <a:xfrm>
            <a:off x="5042255" y="3733800"/>
            <a:ext cx="199427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3F4F16C-CD9D-2931-FD1C-B3628F81DFD4}"/>
              </a:ext>
            </a:extLst>
          </p:cNvPr>
          <p:cNvCxnSpPr>
            <a:cxnSpLocks/>
          </p:cNvCxnSpPr>
          <p:nvPr/>
        </p:nvCxnSpPr>
        <p:spPr>
          <a:xfrm>
            <a:off x="5151110" y="4008125"/>
            <a:ext cx="171995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B25B941-FE5F-50EA-E97A-ECCB20360AEC}"/>
              </a:ext>
            </a:extLst>
          </p:cNvPr>
          <p:cNvCxnSpPr>
            <a:cxnSpLocks/>
          </p:cNvCxnSpPr>
          <p:nvPr/>
        </p:nvCxnSpPr>
        <p:spPr>
          <a:xfrm>
            <a:off x="8888823" y="4787541"/>
            <a:ext cx="151792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8F990D1C-03CE-DF56-B304-78F772ADEF28}"/>
              </a:ext>
            </a:extLst>
          </p:cNvPr>
          <p:cNvCxnSpPr>
            <a:cxnSpLocks/>
          </p:cNvCxnSpPr>
          <p:nvPr/>
        </p:nvCxnSpPr>
        <p:spPr>
          <a:xfrm>
            <a:off x="9006387" y="5236038"/>
            <a:ext cx="128714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3783FBF9-F8C3-A8D8-99CE-35EB210081F5}"/>
              </a:ext>
            </a:extLst>
          </p:cNvPr>
          <p:cNvCxnSpPr>
            <a:cxnSpLocks/>
          </p:cNvCxnSpPr>
          <p:nvPr/>
        </p:nvCxnSpPr>
        <p:spPr>
          <a:xfrm>
            <a:off x="9036861" y="5527778"/>
            <a:ext cx="82124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DBE9FCF-5A01-3409-4483-64DB1E1383EA}"/>
              </a:ext>
            </a:extLst>
          </p:cNvPr>
          <p:cNvCxnSpPr>
            <a:cxnSpLocks/>
          </p:cNvCxnSpPr>
          <p:nvPr/>
        </p:nvCxnSpPr>
        <p:spPr>
          <a:xfrm>
            <a:off x="9145716" y="5697596"/>
            <a:ext cx="126102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DD95748-12C1-F0F4-36B3-D1C119BDBFC9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63/109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90656884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461A8-9610-B5FC-376A-1D3E7872C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94C0FA-5B9E-21B6-C0CA-187660DDB8F0}"/>
              </a:ext>
            </a:extLst>
          </p:cNvPr>
          <p:cNvSpPr txBox="1"/>
          <p:nvPr/>
        </p:nvSpPr>
        <p:spPr>
          <a:xfrm>
            <a:off x="60963" y="336968"/>
            <a:ext cx="8819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자금 지원 관련 기타 질문</a:t>
            </a:r>
            <a:endParaRPr lang="en-US" altLang="ko-KR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FF4D3C-C197-7F57-1B6A-D9E5C40B9602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>
                <a:solidFill>
                  <a:schemeClr val="tx2">
                    <a:lumMod val="75000"/>
                  </a:schemeClr>
                </a:solidFill>
                <a:latin typeface="+mn-ea"/>
              </a:rPr>
              <a:t>편성책임자</a:t>
            </a:r>
            <a:endParaRPr lang="ko-KR" altLang="en-US" sz="105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C29F3B-B07D-B254-A8F4-BEF3EE8E7B8F}"/>
              </a:ext>
            </a:extLst>
          </p:cNvPr>
          <p:cNvSpPr txBox="1"/>
          <p:nvPr/>
        </p:nvSpPr>
        <p:spPr>
          <a:xfrm>
            <a:off x="65067" y="19389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3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중소기업 지원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D09CCD3-DA74-3231-4605-9DF659BBE093}"/>
              </a:ext>
            </a:extLst>
          </p:cNvPr>
          <p:cNvGraphicFramePr>
            <a:graphicFrameLocks noGrp="1"/>
          </p:cNvGraphicFramePr>
          <p:nvPr/>
        </p:nvGraphicFramePr>
        <p:xfrm>
          <a:off x="287730" y="913394"/>
          <a:ext cx="11616540" cy="49332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85415">
                  <a:extLst>
                    <a:ext uri="{9D8B030D-6E8A-4147-A177-3AD203B41FA5}">
                      <a16:colId xmlns:a16="http://schemas.microsoft.com/office/drawing/2014/main" val="1650677874"/>
                    </a:ext>
                  </a:extLst>
                </a:gridCol>
                <a:gridCol w="6631125">
                  <a:extLst>
                    <a:ext uri="{9D8B030D-6E8A-4147-A177-3AD203B41FA5}">
                      <a16:colId xmlns:a16="http://schemas.microsoft.com/office/drawing/2014/main" val="2615130860"/>
                    </a:ext>
                  </a:extLst>
                </a:gridCol>
              </a:tblGrid>
              <a:tr h="1892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예상 질문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답변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141071"/>
                  </a:ext>
                </a:extLst>
              </a:tr>
              <a:tr h="21942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Q.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(p.110)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신상품 무이자 자금 지원이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2021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년도만 협력사 수가 많은데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800" marR="48000" marT="48000" marB="48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30000"/>
                        </a:lnSpc>
                      </a:pPr>
                      <a:r>
                        <a:rPr lang="en-US" altLang="ko-KR" sz="1100" b="1" spc="-50" dirty="0">
                          <a:latin typeface="+mn-ea"/>
                        </a:rPr>
                        <a:t>A. 2020~2021</a:t>
                      </a:r>
                      <a:r>
                        <a:rPr lang="ko-KR" altLang="en-US" sz="1100" b="1" spc="-50" dirty="0">
                          <a:latin typeface="+mn-ea"/>
                        </a:rPr>
                        <a:t>년 코로나로 인해 중소기업 협력사</a:t>
                      </a:r>
                      <a:r>
                        <a:rPr lang="en-US" altLang="ko-KR" sz="1100" b="1" spc="-50" dirty="0">
                          <a:latin typeface="+mn-ea"/>
                        </a:rPr>
                        <a:t>(</a:t>
                      </a:r>
                      <a:r>
                        <a:rPr lang="ko-KR" altLang="en-US" sz="1100" b="1" spc="-50" dirty="0">
                          <a:latin typeface="+mn-ea"/>
                        </a:rPr>
                        <a:t>외출복</a:t>
                      </a:r>
                      <a:r>
                        <a:rPr lang="en-US" altLang="ko-KR" sz="1100" b="1" spc="-50" dirty="0">
                          <a:latin typeface="+mn-ea"/>
                        </a:rPr>
                        <a:t>, </a:t>
                      </a:r>
                      <a:r>
                        <a:rPr lang="ko-KR" altLang="en-US" sz="1100" b="1" spc="-50" dirty="0">
                          <a:latin typeface="+mn-ea"/>
                        </a:rPr>
                        <a:t>뷰티</a:t>
                      </a:r>
                      <a:r>
                        <a:rPr lang="en-US" altLang="ko-KR" sz="1100" b="1" spc="-50" dirty="0">
                          <a:latin typeface="+mn-ea"/>
                        </a:rPr>
                        <a:t>)</a:t>
                      </a:r>
                      <a:r>
                        <a:rPr lang="ko-KR" altLang="en-US" sz="1100" b="1" spc="-50" dirty="0">
                          <a:latin typeface="+mn-ea"/>
                        </a:rPr>
                        <a:t>가 매우 어려워서</a:t>
                      </a:r>
                      <a:endParaRPr lang="en-US" altLang="ko-KR" sz="1100" b="1" spc="-50" dirty="0">
                        <a:latin typeface="+mn-ea"/>
                      </a:endParaRPr>
                    </a:p>
                    <a:p>
                      <a:pPr fontAlgn="base">
                        <a:lnSpc>
                          <a:spcPct val="130000"/>
                        </a:lnSpc>
                      </a:pPr>
                      <a:r>
                        <a:rPr lang="en-US" altLang="ko-KR" sz="1100" b="1" spc="-50" dirty="0">
                          <a:latin typeface="+mn-ea"/>
                        </a:rPr>
                        <a:t>   </a:t>
                      </a:r>
                      <a:r>
                        <a:rPr lang="ko-KR" altLang="en-US" sz="1100" b="1" u="sng" spc="-50" dirty="0">
                          <a:latin typeface="+mn-ea"/>
                        </a:rPr>
                        <a:t>신상품 무이자 자금 확대 </a:t>
                      </a:r>
                      <a:r>
                        <a:rPr lang="en-US" altLang="ko-KR" sz="1100" b="1" spc="-50" dirty="0">
                          <a:latin typeface="+mn-ea"/>
                        </a:rPr>
                        <a:t>: </a:t>
                      </a:r>
                      <a:r>
                        <a:rPr lang="ko-KR" altLang="en-US" sz="1100" b="1" spc="-50" dirty="0">
                          <a:latin typeface="+mn-ea"/>
                        </a:rPr>
                        <a:t>평소 </a:t>
                      </a:r>
                      <a:r>
                        <a:rPr lang="en-US" altLang="ko-KR" sz="1100" b="1" spc="-50" dirty="0">
                          <a:latin typeface="+mn-ea"/>
                        </a:rPr>
                        <a:t>30</a:t>
                      </a:r>
                      <a:r>
                        <a:rPr lang="ko-KR" altLang="en-US" sz="1100" b="1" spc="-50" dirty="0">
                          <a:latin typeface="+mn-ea"/>
                        </a:rPr>
                        <a:t>억원 → </a:t>
                      </a:r>
                      <a:r>
                        <a:rPr lang="en-US" altLang="ko-KR" sz="1100" b="1" spc="-50" dirty="0">
                          <a:latin typeface="+mn-ea"/>
                        </a:rPr>
                        <a:t>80</a:t>
                      </a:r>
                      <a:r>
                        <a:rPr lang="ko-KR" altLang="en-US" sz="1100" b="1" spc="-50" dirty="0">
                          <a:latin typeface="+mn-ea"/>
                        </a:rPr>
                        <a:t>억원으로 증액하여 지원 </a:t>
                      </a:r>
                      <a:endParaRPr lang="en-US" altLang="ko-KR" sz="1100" b="1" spc="-50" dirty="0">
                        <a:latin typeface="+mn-ea"/>
                      </a:endParaRPr>
                    </a:p>
                    <a:p>
                      <a:pPr fontAlgn="base">
                        <a:lnSpc>
                          <a:spcPct val="130000"/>
                        </a:lnSpc>
                      </a:pPr>
                      <a:r>
                        <a:rPr lang="ko-KR" altLang="en-US" sz="1100" b="1" spc="-50" dirty="0">
                          <a:latin typeface="+mn-ea"/>
                        </a:rPr>
                        <a:t>  </a:t>
                      </a:r>
                      <a:endParaRPr lang="en-US" altLang="ko-KR" sz="1100" b="1" spc="-50" dirty="0">
                        <a:latin typeface="+mn-ea"/>
                      </a:endParaRPr>
                    </a:p>
                    <a:p>
                      <a:pPr fontAlgn="base">
                        <a:lnSpc>
                          <a:spcPct val="130000"/>
                        </a:lnSpc>
                      </a:pPr>
                      <a:r>
                        <a:rPr lang="en-US" altLang="ko-KR" sz="1100" b="1" spc="-50" dirty="0">
                          <a:latin typeface="+mn-ea"/>
                        </a:rPr>
                        <a:t>  *</a:t>
                      </a:r>
                      <a:r>
                        <a:rPr lang="ko-KR" altLang="en-US" sz="1100" b="1" spc="-50" dirty="0">
                          <a:latin typeface="+mn-ea"/>
                        </a:rPr>
                        <a:t>상기 외에도 코로나 시기에</a:t>
                      </a:r>
                      <a:endParaRPr lang="en-US" altLang="ko-KR" sz="1100" b="1" spc="-50" dirty="0">
                        <a:latin typeface="+mn-ea"/>
                      </a:endParaRPr>
                    </a:p>
                    <a:p>
                      <a:pPr fontAlgn="base">
                        <a:lnSpc>
                          <a:spcPct val="130000"/>
                        </a:lnSpc>
                      </a:pPr>
                      <a:r>
                        <a:rPr lang="ko-KR" altLang="en-US" sz="1100" b="1" spc="-50" dirty="0">
                          <a:latin typeface="+mn-ea"/>
                        </a:rPr>
                        <a:t>   </a:t>
                      </a:r>
                      <a:r>
                        <a:rPr lang="en-US" altLang="ko-KR" sz="1100" b="1" spc="-50" dirty="0">
                          <a:latin typeface="+mn-ea"/>
                        </a:rPr>
                        <a:t>-</a:t>
                      </a:r>
                      <a:r>
                        <a:rPr lang="ko-KR" altLang="en-US" sz="1100" b="1" spc="-50" dirty="0">
                          <a:latin typeface="+mn-ea"/>
                        </a:rPr>
                        <a:t> </a:t>
                      </a:r>
                      <a:r>
                        <a:rPr lang="ko-KR" altLang="en-US" sz="1100" b="1" u="sng" spc="-50" dirty="0">
                          <a:latin typeface="+mn-ea"/>
                        </a:rPr>
                        <a:t>판매수수료 환급 확대 </a:t>
                      </a:r>
                      <a:r>
                        <a:rPr lang="en-US" altLang="ko-KR" sz="1100" b="1" spc="-50" dirty="0">
                          <a:latin typeface="+mn-ea"/>
                        </a:rPr>
                        <a:t>(p.56)</a:t>
                      </a:r>
                      <a:r>
                        <a:rPr lang="ko-KR" altLang="en-US" sz="1100" b="1" spc="-50" dirty="0">
                          <a:latin typeface="+mn-ea"/>
                        </a:rPr>
                        <a:t> </a:t>
                      </a:r>
                      <a:r>
                        <a:rPr lang="en-US" altLang="ko-KR" sz="1100" b="1" spc="-50" dirty="0">
                          <a:latin typeface="+mn-ea"/>
                        </a:rPr>
                        <a:t>: </a:t>
                      </a:r>
                      <a:r>
                        <a:rPr lang="ko-KR" altLang="en-US" sz="1100" b="1" spc="-50" dirty="0">
                          <a:latin typeface="+mn-ea"/>
                        </a:rPr>
                        <a:t>평소 </a:t>
                      </a:r>
                      <a:r>
                        <a:rPr lang="en-US" altLang="ko-KR" sz="1100" b="1" spc="-50" dirty="0">
                          <a:latin typeface="+mn-ea"/>
                        </a:rPr>
                        <a:t>6</a:t>
                      </a:r>
                      <a:r>
                        <a:rPr lang="ko-KR" altLang="en-US" sz="1100" b="1" spc="-50" dirty="0">
                          <a:latin typeface="+mn-ea"/>
                        </a:rPr>
                        <a:t>억원 → </a:t>
                      </a:r>
                      <a:r>
                        <a:rPr lang="en-US" altLang="ko-KR" sz="1100" b="1" spc="-50" dirty="0">
                          <a:latin typeface="+mn-ea"/>
                        </a:rPr>
                        <a:t>40</a:t>
                      </a:r>
                      <a:r>
                        <a:rPr lang="ko-KR" altLang="en-US" sz="1100" b="1" spc="-50" dirty="0">
                          <a:latin typeface="+mn-ea"/>
                        </a:rPr>
                        <a:t>억원 </a:t>
                      </a:r>
                      <a:r>
                        <a:rPr lang="en-US" altLang="ko-KR" sz="1100" b="1" spc="-50" dirty="0">
                          <a:latin typeface="+mn-ea"/>
                        </a:rPr>
                        <a:t> </a:t>
                      </a:r>
                    </a:p>
                    <a:p>
                      <a:pPr fontAlgn="base">
                        <a:lnSpc>
                          <a:spcPct val="130000"/>
                        </a:lnSpc>
                      </a:pPr>
                      <a:r>
                        <a:rPr lang="en-US" altLang="ko-KR" sz="1100" b="1" spc="-50" dirty="0">
                          <a:latin typeface="+mn-ea"/>
                        </a:rPr>
                        <a:t>   - </a:t>
                      </a:r>
                      <a:r>
                        <a:rPr lang="ko-KR" altLang="en-US" sz="1100" b="1" u="sng" spc="-50" dirty="0">
                          <a:latin typeface="+mn-ea"/>
                        </a:rPr>
                        <a:t>상생펀드 증액</a:t>
                      </a:r>
                      <a:r>
                        <a:rPr lang="ko-KR" altLang="en-US" sz="1100" b="1" spc="-50" dirty="0">
                          <a:latin typeface="+mn-ea"/>
                        </a:rPr>
                        <a:t> </a:t>
                      </a:r>
                      <a:r>
                        <a:rPr lang="en-US" altLang="ko-KR" sz="1100" b="1" spc="-50" dirty="0">
                          <a:latin typeface="+mn-ea"/>
                        </a:rPr>
                        <a:t>(p.111) : 10</a:t>
                      </a:r>
                      <a:r>
                        <a:rPr lang="ko-KR" altLang="en-US" sz="1100" b="1" spc="-50" dirty="0">
                          <a:latin typeface="+mn-ea"/>
                        </a:rPr>
                        <a:t>년 </a:t>
                      </a:r>
                      <a:r>
                        <a:rPr lang="en-US" altLang="ko-KR" sz="1100" b="1" spc="-50" dirty="0">
                          <a:latin typeface="+mn-ea"/>
                        </a:rPr>
                        <a:t>200</a:t>
                      </a:r>
                      <a:r>
                        <a:rPr lang="ko-KR" altLang="en-US" sz="1100" b="1" spc="-50" dirty="0">
                          <a:latin typeface="+mn-ea"/>
                        </a:rPr>
                        <a:t>억원 최초 조성</a:t>
                      </a:r>
                      <a:r>
                        <a:rPr lang="en-US" altLang="ko-KR" sz="1100" b="1" spc="-50" dirty="0">
                          <a:latin typeface="+mn-ea"/>
                        </a:rPr>
                        <a:t> </a:t>
                      </a:r>
                      <a:r>
                        <a:rPr lang="ko-KR" altLang="en-US" sz="1100" b="1" spc="-50" dirty="0">
                          <a:latin typeface="+mn-ea"/>
                        </a:rPr>
                        <a:t>→</a:t>
                      </a:r>
                      <a:r>
                        <a:rPr lang="en-US" altLang="ko-KR" sz="1100" b="1" spc="-50" dirty="0">
                          <a:latin typeface="+mn-ea"/>
                        </a:rPr>
                        <a:t>  </a:t>
                      </a:r>
                      <a:r>
                        <a:rPr lang="en-US" altLang="ko-KR" sz="1100" b="1" u="sng" spc="-50" dirty="0">
                          <a:latin typeface="+mn-ea"/>
                        </a:rPr>
                        <a:t>20</a:t>
                      </a:r>
                      <a:r>
                        <a:rPr lang="ko-KR" altLang="en-US" sz="1100" b="1" u="sng" spc="-50" dirty="0">
                          <a:latin typeface="+mn-ea"/>
                        </a:rPr>
                        <a:t>년 </a:t>
                      </a:r>
                      <a:r>
                        <a:rPr lang="en-US" altLang="ko-KR" sz="1100" b="1" u="sng" spc="-50" dirty="0">
                          <a:latin typeface="+mn-ea"/>
                        </a:rPr>
                        <a:t>900</a:t>
                      </a:r>
                      <a:r>
                        <a:rPr lang="ko-KR" altLang="en-US" sz="1100" b="1" u="sng" spc="-50" dirty="0">
                          <a:latin typeface="+mn-ea"/>
                        </a:rPr>
                        <a:t>억원</a:t>
                      </a:r>
                      <a:r>
                        <a:rPr lang="en-US" altLang="ko-KR" sz="1100" b="1" u="sng" spc="-50" dirty="0">
                          <a:latin typeface="+mn-ea"/>
                        </a:rPr>
                        <a:t>, 22</a:t>
                      </a:r>
                      <a:r>
                        <a:rPr lang="ko-KR" altLang="en-US" sz="1100" b="1" u="sng" spc="-50" dirty="0">
                          <a:latin typeface="+mn-ea"/>
                        </a:rPr>
                        <a:t>년 </a:t>
                      </a:r>
                      <a:r>
                        <a:rPr lang="en-US" altLang="ko-KR" sz="1100" b="1" u="sng" spc="-50" dirty="0">
                          <a:latin typeface="+mn-ea"/>
                        </a:rPr>
                        <a:t>1,380</a:t>
                      </a:r>
                      <a:r>
                        <a:rPr lang="ko-KR" altLang="en-US" sz="1100" b="1" u="sng" spc="-50" dirty="0">
                          <a:latin typeface="+mn-ea"/>
                        </a:rPr>
                        <a:t>억원</a:t>
                      </a:r>
                      <a:endParaRPr lang="en-US" altLang="ko-KR" sz="1100" b="1" u="sng" spc="-50" dirty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100" b="1" u="sng" dirty="0">
                        <a:latin typeface="+mn-ea"/>
                      </a:endParaRPr>
                    </a:p>
                  </a:txBody>
                  <a:tcPr marL="468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136880"/>
                  </a:ext>
                </a:extLst>
              </a:tr>
              <a:tr h="2475345">
                <a:tc>
                  <a:txBody>
                    <a:bodyPr/>
                    <a:lstStyle/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Q.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(p.110)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수매 자금 지원 업체 수가 적은 이유가 무엇인가요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800" marR="48000" marT="48000" marB="48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fontAlgn="base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1100" b="1" dirty="0"/>
                        <a:t>A. ‘</a:t>
                      </a:r>
                      <a:r>
                        <a:rPr lang="ko-KR" altLang="en-US" sz="1100" b="1" dirty="0"/>
                        <a:t>농수산물 수매 상품 원물구매 무이자 자금지원</a:t>
                      </a:r>
                      <a:r>
                        <a:rPr lang="en-US" altLang="ko-KR" sz="1100" b="1" dirty="0"/>
                        <a:t>’ </a:t>
                      </a:r>
                      <a:r>
                        <a:rPr lang="ko-KR" altLang="en-US" sz="1100" b="1" dirty="0"/>
                        <a:t>사업은 원물을 취급하는 농가가 직접 지원대상이며</a:t>
                      </a:r>
                      <a:r>
                        <a:rPr lang="en-US" altLang="ko-KR" sz="1100" b="1" dirty="0"/>
                        <a:t>,</a:t>
                      </a:r>
                    </a:p>
                    <a:p>
                      <a:pPr marL="0" indent="0" fontAlgn="base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1100" b="1" dirty="0"/>
                        <a:t>    </a:t>
                      </a:r>
                      <a:r>
                        <a:rPr lang="ko-KR" altLang="en-US" sz="1100" b="1" dirty="0"/>
                        <a:t>관련 상품 판매 협력사가 적음</a:t>
                      </a:r>
                      <a:endParaRPr lang="en-US" altLang="ko-KR" sz="1100" b="1" dirty="0"/>
                    </a:p>
                    <a:p>
                      <a:pPr marL="0" indent="0" fontAlgn="base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1100" b="1" dirty="0"/>
                        <a:t>    </a:t>
                      </a:r>
                      <a:r>
                        <a:rPr lang="ko-KR" altLang="en-US" sz="1100" b="1" dirty="0"/>
                        <a:t>사업지원 대상은 희망하는 모든 협력사에 기회가 열려 있으며</a:t>
                      </a:r>
                      <a:r>
                        <a:rPr lang="en-US" altLang="ko-KR" sz="1100" b="1" dirty="0"/>
                        <a:t>, </a:t>
                      </a:r>
                    </a:p>
                    <a:p>
                      <a:pPr marL="0" indent="0" fontAlgn="base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1100" b="1" dirty="0"/>
                        <a:t>    </a:t>
                      </a:r>
                      <a:r>
                        <a:rPr lang="ko-KR" altLang="en-US" sz="1100" b="1" dirty="0"/>
                        <a:t>내부 절차를 통해 공정하게 선정하여</a:t>
                      </a:r>
                      <a:r>
                        <a:rPr lang="en-US" altLang="ko-KR" sz="1100" b="1" dirty="0"/>
                        <a:t> </a:t>
                      </a:r>
                      <a:r>
                        <a:rPr lang="ko-KR" altLang="en-US" sz="1100" b="1" dirty="0"/>
                        <a:t>진행하고 있음</a:t>
                      </a:r>
                      <a:r>
                        <a:rPr lang="en-US" altLang="ko-KR" sz="1100" b="1" dirty="0"/>
                        <a:t>   </a:t>
                      </a:r>
                    </a:p>
                  </a:txBody>
                  <a:tcPr marL="468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215538"/>
                  </a:ext>
                </a:extLst>
              </a:tr>
            </a:tbl>
          </a:graphicData>
        </a:graphic>
      </p:graphicFrame>
      <p:pic>
        <p:nvPicPr>
          <p:cNvPr id="13" name="그림 1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64DC8F0-7079-0E9C-063D-001C8EB3F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38" y="1485830"/>
            <a:ext cx="3912071" cy="1657559"/>
          </a:xfrm>
          <a:prstGeom prst="rect">
            <a:avLst/>
          </a:prstGeom>
        </p:spPr>
      </p:pic>
      <p:pic>
        <p:nvPicPr>
          <p:cNvPr id="15" name="그림 1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F252FF-A7C4-97B1-2183-E321E3D22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238" y="3794199"/>
            <a:ext cx="3773526" cy="192065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4BCBEB8-9150-0F6F-D282-B74D42E4EE0C}"/>
              </a:ext>
            </a:extLst>
          </p:cNvPr>
          <p:cNvSpPr/>
          <p:nvPr/>
        </p:nvSpPr>
        <p:spPr>
          <a:xfrm>
            <a:off x="1480457" y="2464527"/>
            <a:ext cx="513806" cy="6183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95B1D77-4B0B-5FF4-E256-8805E78DB3B3}"/>
              </a:ext>
            </a:extLst>
          </p:cNvPr>
          <p:cNvSpPr/>
          <p:nvPr/>
        </p:nvSpPr>
        <p:spPr>
          <a:xfrm>
            <a:off x="2451860" y="5018555"/>
            <a:ext cx="1528353" cy="6183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88BB91-9755-C83D-7DAE-744AE22C4E4F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64/109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06231239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4AEC7-927B-8E9B-D25F-F9C28C5A4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604D58-C881-7E3F-C80D-B918C3390FB9}"/>
              </a:ext>
            </a:extLst>
          </p:cNvPr>
          <p:cNvSpPr txBox="1"/>
          <p:nvPr/>
        </p:nvSpPr>
        <p:spPr>
          <a:xfrm>
            <a:off x="61779" y="327443"/>
            <a:ext cx="11428712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just" latinLnBrk="1">
              <a:lnSpc>
                <a:spcPct val="120000"/>
              </a:lnSpc>
              <a:spcAft>
                <a:spcPts val="0"/>
              </a:spcAf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과거 실적 대비 중소기업 </a:t>
            </a:r>
            <a:r>
              <a:rPr lang="ko-KR" altLang="en-US" b="1" dirty="0" err="1">
                <a:solidFill>
                  <a:schemeClr val="bg1"/>
                </a:solidFill>
                <a:latin typeface="+mn-ea"/>
              </a:rPr>
              <a:t>판매수수료율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계획이 높은데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이유는 무엇인가요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8B8A4C-2933-8EC0-1EBC-3F6C9583BED8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>
                <a:solidFill>
                  <a:schemeClr val="tx2">
                    <a:lumMod val="75000"/>
                  </a:schemeClr>
                </a:solidFill>
                <a:latin typeface="+mn-ea"/>
              </a:rPr>
              <a:t>편성책임자</a:t>
            </a:r>
            <a:endParaRPr lang="ko-KR" altLang="en-US" sz="105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C7DC13-018F-B864-9539-9E8E17E9DD63}"/>
              </a:ext>
            </a:extLst>
          </p:cNvPr>
          <p:cNvSpPr txBox="1"/>
          <p:nvPr/>
        </p:nvSpPr>
        <p:spPr>
          <a:xfrm>
            <a:off x="65067" y="9864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3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중소기업 지원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pic>
        <p:nvPicPr>
          <p:cNvPr id="14" name="그림 13" descr="텍스트, 스크린샷, 번호, 폰트이(가) 표시된 사진">
            <a:extLst>
              <a:ext uri="{FF2B5EF4-FFF2-40B4-BE49-F238E27FC236}">
                <a16:creationId xmlns:a16="http://schemas.microsoft.com/office/drawing/2014/main" id="{06960D26-32A4-E07A-9A6D-098EE5AF2A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88"/>
          <a:stretch>
            <a:fillRect/>
          </a:stretch>
        </p:blipFill>
        <p:spPr>
          <a:xfrm>
            <a:off x="250022" y="4183012"/>
            <a:ext cx="5422952" cy="1743955"/>
          </a:xfrm>
          <a:prstGeom prst="rect">
            <a:avLst/>
          </a:prstGeom>
        </p:spPr>
      </p:pic>
      <p:pic>
        <p:nvPicPr>
          <p:cNvPr id="9" name="그림 8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554937-D865-3AD7-5F3C-6CDE8B936F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6699"/>
          <a:stretch>
            <a:fillRect/>
          </a:stretch>
        </p:blipFill>
        <p:spPr>
          <a:xfrm>
            <a:off x="253717" y="1326983"/>
            <a:ext cx="5419257" cy="126719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9A5C418-83B8-6B25-A5DE-CE62CA7C1FC2}"/>
              </a:ext>
            </a:extLst>
          </p:cNvPr>
          <p:cNvSpPr txBox="1"/>
          <p:nvPr/>
        </p:nvSpPr>
        <p:spPr>
          <a:xfrm>
            <a:off x="127373" y="908912"/>
            <a:ext cx="5502601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ko-KR" altLang="en-US" sz="1100" b="1" dirty="0">
                <a:latin typeface="+mn-ea"/>
              </a:rPr>
              <a:t>사업계획서 </a:t>
            </a:r>
            <a:r>
              <a:rPr lang="en-US" altLang="ko-KR" sz="1100" b="1" dirty="0">
                <a:latin typeface="+mn-ea"/>
              </a:rPr>
              <a:t>p.123)</a:t>
            </a:r>
            <a:r>
              <a:rPr lang="ko-KR" altLang="en-US" sz="1100" b="1" dirty="0">
                <a:latin typeface="+mn-ea"/>
              </a:rPr>
              <a:t>중소기업 </a:t>
            </a:r>
            <a:r>
              <a:rPr lang="ko-KR" altLang="en-US" sz="1100" b="1" dirty="0" err="1">
                <a:latin typeface="+mn-ea"/>
              </a:rPr>
              <a:t>판매수수료율</a:t>
            </a:r>
            <a:r>
              <a:rPr lang="ko-KR" altLang="en-US" sz="1100" b="1" dirty="0">
                <a:latin typeface="+mn-ea"/>
              </a:rPr>
              <a:t> 실적 및 계획</a:t>
            </a:r>
            <a:endParaRPr lang="en-US" altLang="ko-KR" sz="1100" b="1" dirty="0">
              <a:latin typeface="+mn-ea"/>
            </a:endParaRPr>
          </a:p>
        </p:txBody>
      </p:sp>
      <p:pic>
        <p:nvPicPr>
          <p:cNvPr id="12" name="그림 11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7CF97A-7451-A5D9-1E2D-A3BFE403D2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022" y="2659084"/>
            <a:ext cx="5414788" cy="8668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6754F5F-0E23-96D0-696C-4A6E37BAC9B7}"/>
              </a:ext>
            </a:extLst>
          </p:cNvPr>
          <p:cNvSpPr txBox="1"/>
          <p:nvPr/>
        </p:nvSpPr>
        <p:spPr>
          <a:xfrm>
            <a:off x="227013" y="1249908"/>
            <a:ext cx="952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- </a:t>
            </a:r>
            <a:r>
              <a:rPr lang="ko-KR" altLang="en-US" sz="1000" b="1" dirty="0"/>
              <a:t>실적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AA5E5F-F6D0-35A1-43AB-4E978D922A1D}"/>
              </a:ext>
            </a:extLst>
          </p:cNvPr>
          <p:cNvSpPr txBox="1"/>
          <p:nvPr/>
        </p:nvSpPr>
        <p:spPr>
          <a:xfrm>
            <a:off x="227013" y="2594182"/>
            <a:ext cx="952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- </a:t>
            </a:r>
            <a:r>
              <a:rPr lang="ko-KR" altLang="en-US" sz="1000" b="1" dirty="0"/>
              <a:t>계획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A5A6FF-2F0E-999D-5197-6A87F19B1F3E}"/>
              </a:ext>
            </a:extLst>
          </p:cNvPr>
          <p:cNvSpPr txBox="1"/>
          <p:nvPr/>
        </p:nvSpPr>
        <p:spPr>
          <a:xfrm>
            <a:off x="126828" y="3740166"/>
            <a:ext cx="5502601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실질 </a:t>
            </a:r>
            <a:r>
              <a:rPr lang="ko-KR" altLang="en-US" sz="1100" b="1" dirty="0" err="1">
                <a:latin typeface="+mn-ea"/>
              </a:rPr>
              <a:t>판매수수료율</a:t>
            </a:r>
            <a:r>
              <a:rPr lang="ko-KR" altLang="en-US" sz="1100" b="1" dirty="0">
                <a:latin typeface="+mn-ea"/>
              </a:rPr>
              <a:t> </a:t>
            </a:r>
            <a:r>
              <a:rPr lang="en-US" altLang="ko-KR" sz="1100" b="1" dirty="0">
                <a:latin typeface="+mn-ea"/>
              </a:rPr>
              <a:t>(5</a:t>
            </a:r>
            <a:r>
              <a:rPr lang="ko-KR" altLang="en-US" sz="1100" b="1" dirty="0">
                <a:latin typeface="+mn-ea"/>
              </a:rPr>
              <a:t>위</a:t>
            </a:r>
            <a:r>
              <a:rPr lang="en-US" altLang="ko-KR" sz="1100" b="1" dirty="0">
                <a:latin typeface="+mn-ea"/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871890-DA0E-FF0B-07BA-36BC4D12068E}"/>
              </a:ext>
            </a:extLst>
          </p:cNvPr>
          <p:cNvSpPr txBox="1"/>
          <p:nvPr/>
        </p:nvSpPr>
        <p:spPr>
          <a:xfrm>
            <a:off x="5142159" y="3972137"/>
            <a:ext cx="6973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(</a:t>
            </a:r>
            <a:r>
              <a:rPr lang="ko-KR" altLang="en-US" sz="800" dirty="0"/>
              <a:t>단위</a:t>
            </a:r>
            <a:r>
              <a:rPr lang="en-US" altLang="ko-KR" sz="800" dirty="0"/>
              <a:t>: %)</a:t>
            </a:r>
            <a:endParaRPr lang="ko-KR" altLang="en-US" sz="8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50D88AC-AB63-3B5B-BBDF-4AAA720268DA}"/>
              </a:ext>
            </a:extLst>
          </p:cNvPr>
          <p:cNvSpPr/>
          <p:nvPr/>
        </p:nvSpPr>
        <p:spPr>
          <a:xfrm>
            <a:off x="5843588" y="982661"/>
            <a:ext cx="6003621" cy="554789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FF8133-BCF7-9733-B6D7-2E913EF11EC7}"/>
              </a:ext>
            </a:extLst>
          </p:cNvPr>
          <p:cNvSpPr txBox="1"/>
          <p:nvPr/>
        </p:nvSpPr>
        <p:spPr>
          <a:xfrm>
            <a:off x="5851752" y="1046642"/>
            <a:ext cx="5779876" cy="450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b="1" spc="-50" dirty="0">
                <a:latin typeface="+mn-ea"/>
              </a:rPr>
              <a:t>(</a:t>
            </a:r>
            <a:r>
              <a:rPr lang="ko-KR" altLang="en-US" sz="1200" b="1" spc="-50" dirty="0" err="1">
                <a:latin typeface="+mn-ea"/>
              </a:rPr>
              <a:t>판매수수료율</a:t>
            </a:r>
            <a:r>
              <a:rPr lang="ko-KR" altLang="en-US" sz="1200" b="1" spc="-50" dirty="0">
                <a:latin typeface="+mn-ea"/>
              </a:rPr>
              <a:t> 계획이 높아진 이유</a:t>
            </a:r>
            <a:r>
              <a:rPr lang="en-US" altLang="ko-KR" sz="1200" b="1" spc="-50" dirty="0">
                <a:latin typeface="+mn-ea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ko-KR" altLang="en-US" sz="1200" b="1" spc="-50" dirty="0">
                <a:latin typeface="+mn-ea"/>
              </a:rPr>
              <a:t>①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패션</a:t>
            </a:r>
            <a:r>
              <a:rPr lang="en-US" altLang="ko-KR" sz="1200" b="1" spc="-5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건강식품</a:t>
            </a:r>
            <a:r>
              <a:rPr lang="en-US" altLang="ko-KR" sz="1200" b="1" spc="-5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뷰티에 대한 고객 선호가 높아짐</a:t>
            </a:r>
            <a:endParaRPr lang="en-US" altLang="ko-KR" sz="1200" b="1" spc="-50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200" b="1" spc="-50" dirty="0">
                <a:latin typeface="+mn-ea"/>
              </a:rPr>
              <a:t>   - </a:t>
            </a:r>
            <a:r>
              <a:rPr lang="ko-KR" altLang="en-US" sz="1200" b="1" spc="-50" dirty="0">
                <a:latin typeface="+mn-ea"/>
              </a:rPr>
              <a:t>데이터홈쇼핑은 다양한 상품군의 상품을 판매하며</a:t>
            </a:r>
            <a:r>
              <a:rPr lang="en-US" altLang="ko-KR" sz="1200" b="1" spc="-50" dirty="0">
                <a:latin typeface="+mn-ea"/>
              </a:rPr>
              <a:t>, </a:t>
            </a:r>
          </a:p>
          <a:p>
            <a:pPr>
              <a:lnSpc>
                <a:spcPct val="130000"/>
              </a:lnSpc>
            </a:pPr>
            <a:r>
              <a:rPr lang="en-US" altLang="ko-KR" sz="1200" b="1" spc="-50" dirty="0">
                <a:latin typeface="+mn-ea"/>
              </a:rPr>
              <a:t>     </a:t>
            </a:r>
            <a:r>
              <a:rPr lang="ko-KR" altLang="en-US" sz="1200" b="1" spc="-50" dirty="0">
                <a:latin typeface="+mn-ea"/>
              </a:rPr>
              <a:t>각 </a:t>
            </a:r>
            <a:r>
              <a:rPr lang="ko-KR" altLang="en-US" sz="1200" b="1" u="sng" spc="-50" dirty="0">
                <a:latin typeface="+mn-ea"/>
              </a:rPr>
              <a:t>상품군마다</a:t>
            </a:r>
            <a:r>
              <a:rPr lang="en-US" altLang="ko-KR" sz="1200" b="1" u="sng" spc="-50" dirty="0">
                <a:latin typeface="+mn-ea"/>
              </a:rPr>
              <a:t> </a:t>
            </a:r>
            <a:r>
              <a:rPr lang="ko-KR" altLang="en-US" sz="1200" b="1" u="sng" spc="-50" dirty="0">
                <a:latin typeface="+mn-ea"/>
              </a:rPr>
              <a:t>원가</a:t>
            </a:r>
            <a:r>
              <a:rPr lang="en-US" altLang="ko-KR" sz="1200" b="1" u="sng" spc="-50" dirty="0">
                <a:latin typeface="+mn-ea"/>
              </a:rPr>
              <a:t>(</a:t>
            </a:r>
            <a:r>
              <a:rPr lang="ko-KR" altLang="en-US" sz="1200" b="1" u="sng" spc="-50" dirty="0">
                <a:latin typeface="+mn-ea"/>
              </a:rPr>
              <a:t>판매수수료</a:t>
            </a:r>
            <a:r>
              <a:rPr lang="en-US" altLang="ko-KR" sz="1200" b="1" u="sng" spc="-50" dirty="0">
                <a:latin typeface="+mn-ea"/>
              </a:rPr>
              <a:t>)</a:t>
            </a:r>
            <a:r>
              <a:rPr lang="ko-KR" altLang="en-US" sz="1200" b="1" u="sng" spc="-50" dirty="0">
                <a:latin typeface="+mn-ea"/>
              </a:rPr>
              <a:t> 구조가 다름</a:t>
            </a:r>
            <a:endParaRPr lang="en-US" altLang="ko-KR" sz="1200" b="1" u="sng" spc="-50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200" b="1" spc="-50" dirty="0">
                <a:latin typeface="+mn-ea"/>
              </a:rPr>
              <a:t>    - </a:t>
            </a:r>
            <a:r>
              <a:rPr lang="ko-KR" altLang="en-US" sz="1200" b="1" spc="-50" dirty="0">
                <a:latin typeface="+mn-ea"/>
              </a:rPr>
              <a:t>따라서 중소기업 제품 </a:t>
            </a:r>
            <a:r>
              <a:rPr lang="ko-KR" altLang="en-US" sz="1200" b="1" spc="-50" dirty="0" err="1">
                <a:latin typeface="+mn-ea"/>
              </a:rPr>
              <a:t>판매수수료율은</a:t>
            </a:r>
            <a:r>
              <a:rPr lang="ko-KR" altLang="en-US" sz="1200" b="1" spc="-50" dirty="0">
                <a:latin typeface="+mn-ea"/>
              </a:rPr>
              <a:t> </a:t>
            </a:r>
            <a:r>
              <a:rPr lang="ko-KR" altLang="en-US" sz="1200" b="1" u="sng" spc="-50" dirty="0">
                <a:latin typeface="+mn-ea"/>
              </a:rPr>
              <a:t>상품군별 편성 비중 변화</a:t>
            </a:r>
            <a:r>
              <a:rPr lang="ko-KR" altLang="en-US" sz="1200" b="1" spc="-50" dirty="0">
                <a:latin typeface="+mn-ea"/>
              </a:rPr>
              <a:t>에 따라 </a:t>
            </a:r>
            <a:endParaRPr lang="en-US" altLang="ko-KR" sz="1200" b="1" spc="-50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200" b="1" spc="-50" dirty="0">
                <a:latin typeface="+mn-ea"/>
              </a:rPr>
              <a:t>      </a:t>
            </a:r>
            <a:r>
              <a:rPr lang="ko-KR" altLang="en-US" sz="1200" b="1" spc="-50" dirty="0">
                <a:latin typeface="+mn-ea"/>
              </a:rPr>
              <a:t>달라지는 구조임</a:t>
            </a:r>
            <a:endParaRPr lang="en-US" altLang="ko-KR" sz="1200" b="1" spc="-50" dirty="0">
              <a:latin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    (</a:t>
            </a: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개별 상품별 </a:t>
            </a:r>
            <a:r>
              <a:rPr kumimoji="0" lang="ko-KR" altLang="en-US" sz="1000" b="0" i="0" u="none" strike="noStrike" kern="120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판매수수료율을</a:t>
            </a: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인상하겠다는 의미가 아니라</a:t>
            </a:r>
            <a:r>
              <a:rPr kumimoji="0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en-US" altLang="ko-KR" sz="1200" b="1" spc="-50" dirty="0">
                <a:latin typeface="+mn-ea"/>
              </a:rPr>
              <a:t>    - </a:t>
            </a:r>
            <a:r>
              <a:rPr lang="ko-KR" altLang="en-US" sz="1200" b="1" spc="-50" dirty="0">
                <a:latin typeface="+mn-ea"/>
              </a:rPr>
              <a:t>데이터홈쇼핑에서는 상대적으로 </a:t>
            </a:r>
            <a:r>
              <a:rPr lang="ko-KR" altLang="en-US" sz="1200" b="1" u="sng" spc="-50" dirty="0" err="1">
                <a:latin typeface="+mn-ea"/>
              </a:rPr>
              <a:t>판매수수료율이</a:t>
            </a:r>
            <a:r>
              <a:rPr lang="ko-KR" altLang="en-US" sz="1200" b="1" u="sng" spc="-50" dirty="0">
                <a:latin typeface="+mn-ea"/>
              </a:rPr>
              <a:t> 높은 패션</a:t>
            </a:r>
            <a:r>
              <a:rPr lang="en-US" altLang="ko-KR" sz="1200" b="1" u="sng" spc="-50" dirty="0">
                <a:latin typeface="+mn-ea"/>
              </a:rPr>
              <a:t>, </a:t>
            </a:r>
            <a:r>
              <a:rPr lang="ko-KR" altLang="en-US" sz="1200" b="1" u="sng" spc="-50" dirty="0">
                <a:latin typeface="+mn-ea"/>
              </a:rPr>
              <a:t>건강식품</a:t>
            </a:r>
            <a:r>
              <a:rPr lang="en-US" altLang="ko-KR" sz="1200" b="1" u="sng" spc="-50" dirty="0">
                <a:latin typeface="+mn-ea"/>
              </a:rPr>
              <a:t>, </a:t>
            </a:r>
            <a:r>
              <a:rPr lang="ko-KR" altLang="en-US" sz="1200" b="1" u="sng" spc="-50" dirty="0">
                <a:latin typeface="+mn-ea"/>
              </a:rPr>
              <a:t>뷰티</a:t>
            </a:r>
            <a:r>
              <a:rPr lang="en-US" altLang="ko-KR" sz="1200" b="1" u="sng" spc="-50" dirty="0">
                <a:latin typeface="+mn-ea"/>
              </a:rPr>
              <a:t> </a:t>
            </a:r>
          </a:p>
          <a:p>
            <a:pPr>
              <a:lnSpc>
                <a:spcPct val="130000"/>
              </a:lnSpc>
            </a:pPr>
            <a:r>
              <a:rPr lang="en-US" altLang="ko-KR" sz="1200" b="1" spc="-50" dirty="0">
                <a:latin typeface="+mn-ea"/>
              </a:rPr>
              <a:t>      </a:t>
            </a:r>
            <a:r>
              <a:rPr lang="ko-KR" altLang="en-US" sz="1200" b="1" u="sng" spc="-50" dirty="0">
                <a:latin typeface="+mn-ea"/>
              </a:rPr>
              <a:t>상품군의 고객 선호가 높아지는</a:t>
            </a:r>
            <a:r>
              <a:rPr lang="ko-KR" altLang="en-US" sz="1200" b="1" spc="-50" dirty="0">
                <a:latin typeface="+mn-ea"/>
              </a:rPr>
              <a:t> 추세이기에 이를 반영함</a:t>
            </a:r>
            <a:r>
              <a:rPr lang="en-US" altLang="ko-KR" sz="1200" b="1" spc="-50" dirty="0">
                <a:latin typeface="+mn-ea"/>
              </a:rPr>
              <a:t> </a:t>
            </a:r>
            <a:r>
              <a:rPr lang="ko-KR" altLang="en-US" sz="1200" b="1" spc="-50" dirty="0">
                <a:latin typeface="+mn-ea"/>
              </a:rPr>
              <a:t> </a:t>
            </a:r>
            <a:endParaRPr lang="en-US" altLang="ko-KR" sz="1200" b="1" spc="-50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000" spc="-50" dirty="0">
                <a:latin typeface="+mn-ea"/>
              </a:rPr>
              <a:t>        ※ </a:t>
            </a:r>
            <a:r>
              <a:rPr lang="ko-KR" altLang="en-US" sz="1000" spc="-50" dirty="0">
                <a:latin typeface="+mn-ea"/>
              </a:rPr>
              <a:t>편성 비중 변화 </a:t>
            </a:r>
            <a:r>
              <a:rPr lang="en-US" altLang="ko-KR" sz="1000" spc="-50" dirty="0">
                <a:latin typeface="+mn-ea"/>
              </a:rPr>
              <a:t>: (</a:t>
            </a:r>
            <a:r>
              <a:rPr lang="ko-KR" altLang="en-US" sz="1000" spc="-50" dirty="0">
                <a:latin typeface="+mn-ea"/>
              </a:rPr>
              <a:t>패션</a:t>
            </a:r>
            <a:r>
              <a:rPr lang="en-US" altLang="ko-KR" sz="1000" spc="-50" dirty="0">
                <a:latin typeface="+mn-ea"/>
              </a:rPr>
              <a:t>) 21</a:t>
            </a:r>
            <a:r>
              <a:rPr lang="ko-KR" altLang="en-US" sz="1000" spc="-50" dirty="0">
                <a:latin typeface="+mn-ea"/>
              </a:rPr>
              <a:t>년</a:t>
            </a:r>
            <a:r>
              <a:rPr lang="en-US" altLang="ko-KR" sz="1000" spc="-50" dirty="0">
                <a:latin typeface="+mn-ea"/>
              </a:rPr>
              <a:t> : 23.7% </a:t>
            </a:r>
            <a:r>
              <a:rPr lang="ko-KR" altLang="en-US" sz="1000" spc="-50" dirty="0">
                <a:latin typeface="+mn-ea"/>
              </a:rPr>
              <a:t>→</a:t>
            </a:r>
            <a:r>
              <a:rPr lang="en-US" altLang="ko-KR" sz="1000" spc="-50" dirty="0">
                <a:latin typeface="+mn-ea"/>
              </a:rPr>
              <a:t> 25</a:t>
            </a:r>
            <a:r>
              <a:rPr lang="ko-KR" altLang="en-US" sz="1000" spc="-50" dirty="0">
                <a:latin typeface="+mn-ea"/>
              </a:rPr>
              <a:t>년 </a:t>
            </a:r>
            <a:r>
              <a:rPr lang="en-US" altLang="ko-KR" sz="1000" spc="-50" dirty="0">
                <a:latin typeface="+mn-ea"/>
              </a:rPr>
              <a:t>: 29.4%  (</a:t>
            </a:r>
            <a:r>
              <a:rPr lang="ko-KR" altLang="en-US" sz="1000" spc="-50" dirty="0">
                <a:latin typeface="+mn-ea"/>
              </a:rPr>
              <a:t>건강식품</a:t>
            </a:r>
            <a:r>
              <a:rPr lang="en-US" altLang="ko-KR" sz="1000" spc="-50" dirty="0">
                <a:latin typeface="+mn-ea"/>
              </a:rPr>
              <a:t>) 21</a:t>
            </a:r>
            <a:r>
              <a:rPr lang="ko-KR" altLang="en-US" sz="1000" spc="-50" dirty="0">
                <a:latin typeface="+mn-ea"/>
              </a:rPr>
              <a:t>년 </a:t>
            </a:r>
            <a:r>
              <a:rPr lang="en-US" altLang="ko-KR" sz="1000" spc="-50" dirty="0">
                <a:latin typeface="+mn-ea"/>
              </a:rPr>
              <a:t>: 6.4% </a:t>
            </a:r>
            <a:r>
              <a:rPr lang="ko-KR" altLang="en-US" sz="1000" spc="-50" dirty="0">
                <a:latin typeface="+mn-ea"/>
              </a:rPr>
              <a:t>→ </a:t>
            </a:r>
            <a:r>
              <a:rPr lang="en-US" altLang="ko-KR" sz="1000" spc="-50" dirty="0">
                <a:latin typeface="+mn-ea"/>
              </a:rPr>
              <a:t>24</a:t>
            </a:r>
            <a:r>
              <a:rPr lang="ko-KR" altLang="en-US" sz="1000" spc="-50" dirty="0">
                <a:latin typeface="+mn-ea"/>
              </a:rPr>
              <a:t>년 </a:t>
            </a:r>
            <a:r>
              <a:rPr lang="en-US" altLang="ko-KR" sz="1000" spc="-50" dirty="0">
                <a:latin typeface="+mn-ea"/>
              </a:rPr>
              <a:t>: 8.7%</a:t>
            </a:r>
          </a:p>
          <a:p>
            <a:pPr>
              <a:lnSpc>
                <a:spcPct val="130000"/>
              </a:lnSpc>
            </a:pPr>
            <a:endParaRPr lang="en-US" altLang="ko-KR" sz="500" b="1" spc="-50" dirty="0">
              <a:latin typeface="+mn-ea"/>
            </a:endParaRPr>
          </a:p>
          <a:p>
            <a:pPr>
              <a:lnSpc>
                <a:spcPct val="130000"/>
              </a:lnSpc>
            </a:pPr>
            <a:endParaRPr lang="en-US" altLang="ko-KR" sz="500" b="1" spc="-50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200" b="1" spc="-50" dirty="0">
                <a:latin typeface="+mn-ea"/>
              </a:rPr>
              <a:t>(</a:t>
            </a:r>
            <a:r>
              <a:rPr lang="ko-KR" altLang="en-US" sz="1200" b="1" spc="-50" dirty="0">
                <a:latin typeface="+mn-ea"/>
              </a:rPr>
              <a:t>보충설명</a:t>
            </a:r>
            <a:r>
              <a:rPr lang="en-US" altLang="ko-KR" sz="1200" b="1" spc="-50" dirty="0">
                <a:latin typeface="+mn-ea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ko-KR" altLang="en-US" sz="1200" b="1" spc="-50" dirty="0">
                <a:latin typeface="+mn-ea"/>
              </a:rPr>
              <a:t>②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우수한 중소기업을 </a:t>
            </a:r>
            <a:r>
              <a:rPr lang="ko-KR" altLang="en-US" sz="1200" b="1" spc="-50" dirty="0" err="1">
                <a:solidFill>
                  <a:srgbClr val="0000FF"/>
                </a:solidFill>
                <a:latin typeface="+mn-ea"/>
              </a:rPr>
              <a:t>소싱하기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 위해 </a:t>
            </a:r>
            <a:r>
              <a:rPr lang="en-US" altLang="ko-KR" sz="1200" b="1" spc="-50" dirty="0">
                <a:solidFill>
                  <a:srgbClr val="0000FF"/>
                </a:solidFill>
                <a:latin typeface="+mn-ea"/>
              </a:rPr>
              <a:t>10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개 채널간 경쟁</a:t>
            </a:r>
            <a:endParaRPr lang="en-US" altLang="ko-KR" sz="1200" b="1" spc="-50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200" b="1" spc="-50" dirty="0">
                <a:latin typeface="+mn-ea"/>
              </a:rPr>
              <a:t>    -  </a:t>
            </a:r>
            <a:r>
              <a:rPr lang="ko-KR" altLang="en-US" sz="1200" b="1" dirty="0">
                <a:latin typeface="+mn-ea"/>
              </a:rPr>
              <a:t>데이터홈쇼핑 </a:t>
            </a:r>
            <a:r>
              <a:rPr lang="en-US" altLang="ko-KR" sz="1200" b="1" dirty="0">
                <a:latin typeface="+mn-ea"/>
              </a:rPr>
              <a:t>10</a:t>
            </a:r>
            <a:r>
              <a:rPr lang="ko-KR" altLang="en-US" sz="1200" b="1" dirty="0">
                <a:latin typeface="+mn-ea"/>
              </a:rPr>
              <a:t>개사가 경쟁하기에 </a:t>
            </a:r>
            <a:r>
              <a:rPr lang="ko-KR" altLang="en-US" sz="1200" b="1" u="sng" dirty="0">
                <a:latin typeface="+mn-ea"/>
              </a:rPr>
              <a:t>거래조건 비교 선택 가능</a:t>
            </a:r>
            <a:endParaRPr lang="en-US" altLang="ko-KR" sz="1200" b="1" spc="-50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ko-KR" altLang="en-US" sz="1200" b="1" dirty="0">
                <a:latin typeface="+mn-ea"/>
              </a:rPr>
              <a:t>      </a:t>
            </a:r>
            <a:r>
              <a:rPr lang="ko-KR" altLang="en-US" sz="1200" b="1" dirty="0" err="1">
                <a:latin typeface="+mn-ea"/>
              </a:rPr>
              <a:t>판매수수료율은</a:t>
            </a:r>
            <a:r>
              <a:rPr lang="ko-KR" altLang="en-US" sz="1200" b="1" dirty="0">
                <a:latin typeface="+mn-ea"/>
              </a:rPr>
              <a:t> 시장내에서 합리적으로 결정되는 구조임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</a:pPr>
            <a:endParaRPr lang="en-US" altLang="ko-KR" sz="1200" b="1" spc="-50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200" b="1" spc="-50" dirty="0">
                <a:latin typeface="+mn-ea"/>
              </a:rPr>
              <a:t>(</a:t>
            </a:r>
            <a:r>
              <a:rPr lang="ko-KR" altLang="en-US" sz="1200" b="1" spc="-50" dirty="0" err="1">
                <a:latin typeface="+mn-ea"/>
              </a:rPr>
              <a:t>판매수수료율</a:t>
            </a:r>
            <a:r>
              <a:rPr lang="ko-KR" altLang="en-US" sz="1200" b="1" spc="-50" dirty="0">
                <a:latin typeface="+mn-ea"/>
              </a:rPr>
              <a:t> 인하 요구에 대한 대응 논리</a:t>
            </a:r>
            <a:r>
              <a:rPr lang="en-US" altLang="ko-KR" sz="1200" b="1" spc="-50" dirty="0">
                <a:latin typeface="+mn-ea"/>
              </a:rPr>
              <a:t>)   </a:t>
            </a:r>
          </a:p>
          <a:p>
            <a:pPr>
              <a:lnSpc>
                <a:spcPct val="130000"/>
              </a:lnSpc>
            </a:pPr>
            <a:r>
              <a:rPr lang="ko-KR" altLang="en-US" sz="1200" b="1" spc="-50" dirty="0">
                <a:latin typeface="+mn-ea"/>
              </a:rPr>
              <a:t>③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중소기업 부담 완화와</a:t>
            </a:r>
            <a:r>
              <a:rPr lang="en-US" altLang="ko-KR" sz="1200" b="1" spc="-50" dirty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성장</a:t>
            </a:r>
            <a:r>
              <a:rPr lang="ko-KR" altLang="en-US" sz="1200" b="1" spc="-50" dirty="0">
                <a:latin typeface="+mn-ea"/>
              </a:rPr>
              <a:t>을 위한 지원 프로그램 지속하겠음</a:t>
            </a:r>
            <a:endParaRPr lang="en-US" altLang="ko-KR" sz="1200" b="1" spc="-50" dirty="0">
              <a:latin typeface="+mn-ea"/>
            </a:endParaRPr>
          </a:p>
          <a:p>
            <a:pPr lvl="0">
              <a:lnSpc>
                <a:spcPct val="130000"/>
              </a:lnSpc>
              <a:defRPr/>
            </a:pPr>
            <a:r>
              <a:rPr lang="en-US" altLang="ko-KR" sz="1200" b="1" dirty="0">
                <a:latin typeface="+mn-ea"/>
              </a:rPr>
              <a:t>   </a:t>
            </a:r>
            <a:r>
              <a:rPr lang="en-US" altLang="ko-KR" sz="1200" b="1" u="sng" dirty="0">
                <a:latin typeface="+mn-ea"/>
              </a:rPr>
              <a:t>(</a:t>
            </a:r>
            <a:r>
              <a:rPr lang="ko-KR" altLang="en-US" sz="1200" b="1" u="sng" dirty="0">
                <a:latin typeface="+mn-ea"/>
              </a:rPr>
              <a:t>신규</a:t>
            </a:r>
            <a:r>
              <a:rPr lang="en-US" altLang="ko-KR" sz="1200" b="1" u="sng" dirty="0">
                <a:latin typeface="+mn-ea"/>
              </a:rPr>
              <a:t>)</a:t>
            </a:r>
            <a:r>
              <a:rPr lang="ko-KR" altLang="en-US" sz="1200" b="1" u="sng" dirty="0">
                <a:latin typeface="+mn-ea"/>
              </a:rPr>
              <a:t>무료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>
                <a:latin typeface="+mn-ea"/>
              </a:rPr>
              <a:t>인서트영상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>
                <a:latin typeface="+mn-ea"/>
              </a:rPr>
              <a:t>방송준비지원 </a:t>
            </a:r>
            <a:r>
              <a:rPr lang="en-US" altLang="ko-KR" sz="1200" b="1" u="sng" dirty="0">
                <a:latin typeface="+mn-ea"/>
              </a:rPr>
              <a:t>/ (</a:t>
            </a:r>
            <a:r>
              <a:rPr lang="ko-KR" altLang="en-US" sz="1200" b="1" u="sng" dirty="0">
                <a:latin typeface="+mn-ea"/>
              </a:rPr>
              <a:t>기존</a:t>
            </a:r>
            <a:r>
              <a:rPr lang="en-US" altLang="ko-KR" sz="1200" b="1" u="sng" dirty="0">
                <a:latin typeface="+mn-ea"/>
              </a:rPr>
              <a:t>)</a:t>
            </a:r>
            <a:r>
              <a:rPr lang="ko-KR" altLang="en-US" sz="1200" b="1" u="sng" dirty="0">
                <a:latin typeface="+mn-ea"/>
              </a:rPr>
              <a:t>신상품 육성시간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>
                <a:latin typeface="+mn-ea"/>
              </a:rPr>
              <a:t>판로와 </a:t>
            </a:r>
            <a:r>
              <a:rPr lang="ko-KR" altLang="en-US" sz="1200" b="1" u="sng" dirty="0"/>
              <a:t>마케팅</a:t>
            </a:r>
            <a:endParaRPr lang="en-US" altLang="ko-KR" sz="1200" b="1" spc="-50" dirty="0">
              <a:latin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D9114F-6BBF-47A6-7CFC-0E177921367D}"/>
              </a:ext>
            </a:extLst>
          </p:cNvPr>
          <p:cNvSpPr/>
          <p:nvPr/>
        </p:nvSpPr>
        <p:spPr>
          <a:xfrm>
            <a:off x="4914900" y="2171700"/>
            <a:ext cx="676275" cy="4224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C4CDCC7-9560-4675-B461-1E1931CF5953}"/>
              </a:ext>
            </a:extLst>
          </p:cNvPr>
          <p:cNvSpPr/>
          <p:nvPr/>
        </p:nvSpPr>
        <p:spPr>
          <a:xfrm>
            <a:off x="1504949" y="3102492"/>
            <a:ext cx="581025" cy="4224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21B3EB17-347B-9719-0018-D82402DF5CDA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1828800" y="2382941"/>
            <a:ext cx="3086100" cy="7195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1E53D6D-283C-0DB8-F33D-F8B06D0E7974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65/109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79769803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B45E406-C57B-0F64-0856-BDFFBBFC6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41" y="628650"/>
            <a:ext cx="4330882" cy="61869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670060-01A9-C5FB-B427-08FE4B978D06}"/>
              </a:ext>
            </a:extLst>
          </p:cNvPr>
          <p:cNvSpPr txBox="1"/>
          <p:nvPr/>
        </p:nvSpPr>
        <p:spPr>
          <a:xfrm>
            <a:off x="0" y="85187"/>
            <a:ext cx="7964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상품군별 </a:t>
            </a:r>
            <a:r>
              <a:rPr lang="ko-KR" altLang="en-US" b="1" dirty="0" err="1">
                <a:solidFill>
                  <a:schemeClr val="bg1"/>
                </a:solidFill>
                <a:latin typeface="+mn-ea"/>
              </a:rPr>
              <a:t>판매수수료율과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편성 비중</a:t>
            </a:r>
            <a:endParaRPr lang="en-US" altLang="ko-KR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DCED24-AC66-7B19-017F-7256CC26D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192" y="585105"/>
            <a:ext cx="4844905" cy="61261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A6A0A3-719F-1783-9792-45BC2A3DD9FC}"/>
              </a:ext>
            </a:extLst>
          </p:cNvPr>
          <p:cNvSpPr txBox="1"/>
          <p:nvPr/>
        </p:nvSpPr>
        <p:spPr>
          <a:xfrm>
            <a:off x="376914" y="641712"/>
            <a:ext cx="16273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(p.126)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711831-539F-F15F-9D31-9BF7ED4B9671}"/>
              </a:ext>
            </a:extLst>
          </p:cNvPr>
          <p:cNvSpPr txBox="1"/>
          <p:nvPr/>
        </p:nvSpPr>
        <p:spPr>
          <a:xfrm>
            <a:off x="5732686" y="641712"/>
            <a:ext cx="16273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(p.154)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E006C87-4026-1DAB-0040-0907F9E9D306}"/>
              </a:ext>
            </a:extLst>
          </p:cNvPr>
          <p:cNvSpPr/>
          <p:nvPr/>
        </p:nvSpPr>
        <p:spPr>
          <a:xfrm>
            <a:off x="1175657" y="1236617"/>
            <a:ext cx="2943497" cy="657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9FAE85A-954E-8419-5692-0CE6BF5F57B8}"/>
              </a:ext>
            </a:extLst>
          </p:cNvPr>
          <p:cNvSpPr/>
          <p:nvPr/>
        </p:nvSpPr>
        <p:spPr>
          <a:xfrm>
            <a:off x="1180008" y="1911535"/>
            <a:ext cx="2943497" cy="657501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F92A0DF-8904-BFE7-2E9F-77CC4E006DBD}"/>
              </a:ext>
            </a:extLst>
          </p:cNvPr>
          <p:cNvCxnSpPr/>
          <p:nvPr/>
        </p:nvCxnSpPr>
        <p:spPr>
          <a:xfrm>
            <a:off x="7837714" y="3143794"/>
            <a:ext cx="323958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29FAEBE-F504-1672-3DEC-97B9B787D3DB}"/>
              </a:ext>
            </a:extLst>
          </p:cNvPr>
          <p:cNvCxnSpPr/>
          <p:nvPr/>
        </p:nvCxnSpPr>
        <p:spPr>
          <a:xfrm>
            <a:off x="7842063" y="3749044"/>
            <a:ext cx="323958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41434B9-7C49-E466-D880-FF020B912C9F}"/>
              </a:ext>
            </a:extLst>
          </p:cNvPr>
          <p:cNvCxnSpPr/>
          <p:nvPr/>
        </p:nvCxnSpPr>
        <p:spPr>
          <a:xfrm>
            <a:off x="7846414" y="4345587"/>
            <a:ext cx="3239589" cy="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7D07F88-DEF6-E83D-08FC-25673C30759A}"/>
              </a:ext>
            </a:extLst>
          </p:cNvPr>
          <p:cNvCxnSpPr/>
          <p:nvPr/>
        </p:nvCxnSpPr>
        <p:spPr>
          <a:xfrm>
            <a:off x="7833349" y="4950839"/>
            <a:ext cx="3239589" cy="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96A298B-171F-18CB-F3A3-CDF82250AD80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66/109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07508912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5208C-00CC-A066-D413-FFC362C85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4922DF-0805-D17A-A3CF-EA4242398747}"/>
              </a:ext>
            </a:extLst>
          </p:cNvPr>
          <p:cNvSpPr txBox="1"/>
          <p:nvPr/>
        </p:nvSpPr>
        <p:spPr>
          <a:xfrm>
            <a:off x="61779" y="326697"/>
            <a:ext cx="10609058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(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대기업 대비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)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중소기업 </a:t>
            </a:r>
            <a:r>
              <a:rPr lang="ko-KR" altLang="en-US" b="1" dirty="0" err="1">
                <a:solidFill>
                  <a:schemeClr val="bg1"/>
                </a:solidFill>
                <a:latin typeface="+mn-ea"/>
              </a:rPr>
              <a:t>판매수수료율이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더 높은 이유는 무엇인가요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39765C3-0B9C-2BDA-74F1-200120CC7D71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>
                <a:solidFill>
                  <a:schemeClr val="tx2">
                    <a:lumMod val="75000"/>
                  </a:schemeClr>
                </a:solidFill>
                <a:latin typeface="+mn-ea"/>
              </a:rPr>
              <a:t>편성책임자</a:t>
            </a:r>
            <a:endParaRPr lang="ko-KR" altLang="en-US" sz="105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CF11C4-5F81-0D48-BF8E-7D349D4F57CD}"/>
              </a:ext>
            </a:extLst>
          </p:cNvPr>
          <p:cNvSpPr txBox="1"/>
          <p:nvPr/>
        </p:nvSpPr>
        <p:spPr>
          <a:xfrm>
            <a:off x="65067" y="9864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3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중소기업 지원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38BFC0DE-6857-E6B3-1F39-121E26143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CFEE604-C991-7428-64F3-A9F8F8779364}"/>
              </a:ext>
            </a:extLst>
          </p:cNvPr>
          <p:cNvSpPr/>
          <p:nvPr/>
        </p:nvSpPr>
        <p:spPr>
          <a:xfrm>
            <a:off x="5856966" y="933450"/>
            <a:ext cx="5940000" cy="569912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ea"/>
            </a:endParaRPr>
          </a:p>
        </p:txBody>
      </p:sp>
      <p:pic>
        <p:nvPicPr>
          <p:cNvPr id="14" name="그림 1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D0BA13-E6B9-A2B5-D8E1-06811E22D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90" y="1148472"/>
            <a:ext cx="5132134" cy="155413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5545680-4296-84AD-0366-597DC967267B}"/>
              </a:ext>
            </a:extLst>
          </p:cNvPr>
          <p:cNvSpPr txBox="1"/>
          <p:nvPr/>
        </p:nvSpPr>
        <p:spPr>
          <a:xfrm>
            <a:off x="120755" y="905892"/>
            <a:ext cx="3919233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ko-KR" altLang="en-US" sz="1100" b="1" dirty="0">
                <a:latin typeface="+mn-ea"/>
              </a:rPr>
              <a:t>사업계획서 </a:t>
            </a:r>
            <a:r>
              <a:rPr lang="en-US" altLang="ko-KR" sz="1100" b="1" dirty="0">
                <a:latin typeface="+mn-ea"/>
              </a:rPr>
              <a:t>p.123)</a:t>
            </a:r>
            <a:r>
              <a:rPr lang="ko-KR" altLang="en-US" sz="1100" b="1" dirty="0">
                <a:latin typeface="+mn-ea"/>
              </a:rPr>
              <a:t>기업규모별 </a:t>
            </a:r>
            <a:r>
              <a:rPr lang="ko-KR" altLang="en-US" sz="1100" b="1" dirty="0" err="1">
                <a:latin typeface="+mn-ea"/>
              </a:rPr>
              <a:t>판매수수료율</a:t>
            </a:r>
            <a:r>
              <a:rPr lang="ko-KR" altLang="en-US" sz="1100" b="1" dirty="0">
                <a:latin typeface="+mn-ea"/>
              </a:rPr>
              <a:t> 실적</a:t>
            </a:r>
            <a:endParaRPr lang="en-US" altLang="ko-KR" sz="1100" b="1" dirty="0">
              <a:latin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7D1CAF8-78FE-B6AF-17CF-D7FCC3EB454D}"/>
              </a:ext>
            </a:extLst>
          </p:cNvPr>
          <p:cNvSpPr/>
          <p:nvPr/>
        </p:nvSpPr>
        <p:spPr>
          <a:xfrm>
            <a:off x="4702629" y="1872341"/>
            <a:ext cx="627017" cy="7711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1C3950-FC2E-5EAE-5A81-AC3806FA2D14}"/>
              </a:ext>
            </a:extLst>
          </p:cNvPr>
          <p:cNvSpPr txBox="1"/>
          <p:nvPr/>
        </p:nvSpPr>
        <p:spPr>
          <a:xfrm>
            <a:off x="4788898" y="2127389"/>
            <a:ext cx="5581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7.1%p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867CC9-642E-5B92-C86B-DA07AEA1F333}"/>
              </a:ext>
            </a:extLst>
          </p:cNvPr>
          <p:cNvSpPr txBox="1"/>
          <p:nvPr/>
        </p:nvSpPr>
        <p:spPr>
          <a:xfrm>
            <a:off x="5882417" y="1011467"/>
            <a:ext cx="5914549" cy="514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4000"/>
              </a:lnSpc>
              <a:tabLst>
                <a:tab pos="558800" algn="l"/>
              </a:tabLst>
            </a:pPr>
            <a:r>
              <a:rPr lang="en-US" altLang="ko-KR" sz="1200" b="1" spc="-50" dirty="0">
                <a:latin typeface="+mn-ea"/>
              </a:rPr>
              <a:t>(</a:t>
            </a:r>
            <a:r>
              <a:rPr lang="ko-KR" altLang="en-US" sz="1200" b="1" spc="-50" dirty="0">
                <a:latin typeface="+mn-ea"/>
              </a:rPr>
              <a:t>대기업 대비 중소기업 </a:t>
            </a:r>
            <a:r>
              <a:rPr lang="ko-KR" altLang="en-US" sz="1200" b="1" spc="-50" dirty="0" err="1">
                <a:latin typeface="+mn-ea"/>
              </a:rPr>
              <a:t>판매수수료율이</a:t>
            </a:r>
            <a:r>
              <a:rPr lang="ko-KR" altLang="en-US" sz="1200" b="1" spc="-50" dirty="0">
                <a:latin typeface="+mn-ea"/>
              </a:rPr>
              <a:t> 높은 이유</a:t>
            </a:r>
            <a:r>
              <a:rPr lang="en-US" altLang="ko-KR" sz="1200" b="1" spc="-50" dirty="0">
                <a:latin typeface="+mn-ea"/>
              </a:rPr>
              <a:t>)</a:t>
            </a:r>
          </a:p>
          <a:p>
            <a:pPr>
              <a:lnSpc>
                <a:spcPct val="134000"/>
              </a:lnSpc>
              <a:tabLst>
                <a:tab pos="558800" algn="l"/>
              </a:tabLst>
            </a:pPr>
            <a:r>
              <a:rPr lang="ko-KR" altLang="en-US" sz="1200" b="1" spc="-50" dirty="0">
                <a:latin typeface="+mn-ea"/>
              </a:rPr>
              <a:t>①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패션</a:t>
            </a:r>
            <a:r>
              <a:rPr lang="en-US" altLang="ko-KR" sz="1200" b="1" spc="-5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건강식품</a:t>
            </a:r>
            <a:r>
              <a:rPr lang="en-US" altLang="ko-KR" sz="1200" b="1" spc="-5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뷰티가 중소기업 제품 위주</a:t>
            </a:r>
            <a:endParaRPr lang="en-US" altLang="ko-KR" sz="1200" b="1" spc="-50" dirty="0">
              <a:latin typeface="+mn-ea"/>
            </a:endParaRPr>
          </a:p>
          <a:p>
            <a:pPr>
              <a:lnSpc>
                <a:spcPct val="134000"/>
              </a:lnSpc>
            </a:pPr>
            <a:r>
              <a:rPr lang="en-US" altLang="ko-KR" sz="1200" b="1" spc="-50" dirty="0">
                <a:latin typeface="+mn-ea"/>
              </a:rPr>
              <a:t>   - </a:t>
            </a:r>
            <a:r>
              <a:rPr lang="ko-KR" altLang="en-US" sz="1200" b="1" spc="-50" dirty="0">
                <a:latin typeface="+mn-ea"/>
              </a:rPr>
              <a:t>데이터홈쇼핑은 다양한 상품군의 상품을 판매하며</a:t>
            </a:r>
            <a:r>
              <a:rPr lang="en-US" altLang="ko-KR" sz="1200" b="1" spc="-50" dirty="0">
                <a:latin typeface="+mn-ea"/>
              </a:rPr>
              <a:t>, </a:t>
            </a:r>
          </a:p>
          <a:p>
            <a:pPr>
              <a:lnSpc>
                <a:spcPct val="134000"/>
              </a:lnSpc>
            </a:pPr>
            <a:r>
              <a:rPr lang="en-US" altLang="ko-KR" sz="1200" b="1" spc="-50" dirty="0">
                <a:latin typeface="+mn-ea"/>
              </a:rPr>
              <a:t>     </a:t>
            </a:r>
            <a:r>
              <a:rPr lang="ko-KR" altLang="en-US" sz="1200" b="1" spc="-50" dirty="0">
                <a:latin typeface="+mn-ea"/>
              </a:rPr>
              <a:t>각 </a:t>
            </a:r>
            <a:r>
              <a:rPr lang="ko-KR" altLang="en-US" sz="1200" b="1" u="sng" spc="-50" dirty="0">
                <a:latin typeface="+mn-ea"/>
              </a:rPr>
              <a:t>상품군마다</a:t>
            </a:r>
            <a:r>
              <a:rPr lang="en-US" altLang="ko-KR" sz="1200" b="1" u="sng" spc="-50" dirty="0">
                <a:latin typeface="+mn-ea"/>
              </a:rPr>
              <a:t> </a:t>
            </a:r>
            <a:r>
              <a:rPr lang="ko-KR" altLang="en-US" sz="1200" b="1" u="sng" spc="-50" dirty="0">
                <a:latin typeface="+mn-ea"/>
              </a:rPr>
              <a:t>원가</a:t>
            </a:r>
            <a:r>
              <a:rPr lang="en-US" altLang="ko-KR" sz="1200" b="1" u="sng" spc="-50" dirty="0">
                <a:latin typeface="+mn-ea"/>
              </a:rPr>
              <a:t>(</a:t>
            </a:r>
            <a:r>
              <a:rPr lang="ko-KR" altLang="en-US" sz="1200" b="1" u="sng" spc="-50" dirty="0">
                <a:latin typeface="+mn-ea"/>
              </a:rPr>
              <a:t>판매수수료</a:t>
            </a:r>
            <a:r>
              <a:rPr lang="en-US" altLang="ko-KR" sz="1200" b="1" u="sng" spc="-50" dirty="0">
                <a:latin typeface="+mn-ea"/>
              </a:rPr>
              <a:t>)</a:t>
            </a:r>
            <a:r>
              <a:rPr lang="ko-KR" altLang="en-US" sz="1200" b="1" u="sng" spc="-50" dirty="0">
                <a:latin typeface="+mn-ea"/>
              </a:rPr>
              <a:t> 구조가 다름</a:t>
            </a:r>
            <a:endParaRPr lang="en-US" altLang="ko-KR" sz="1200" b="1" u="sng" spc="-50" dirty="0">
              <a:latin typeface="+mn-ea"/>
            </a:endParaRPr>
          </a:p>
          <a:p>
            <a:pPr>
              <a:lnSpc>
                <a:spcPct val="134000"/>
              </a:lnSpc>
              <a:tabLst>
                <a:tab pos="558800" algn="l"/>
              </a:tabLst>
            </a:pPr>
            <a:r>
              <a:rPr lang="en-US" altLang="ko-KR" sz="1200" b="1" spc="-50" dirty="0">
                <a:latin typeface="+mn-ea"/>
              </a:rPr>
              <a:t>   - </a:t>
            </a:r>
            <a:r>
              <a:rPr lang="ko-KR" altLang="en-US" sz="1200" b="1" u="sng" spc="-50" dirty="0" err="1">
                <a:latin typeface="+mn-ea"/>
              </a:rPr>
              <a:t>판매수수료율이</a:t>
            </a:r>
            <a:r>
              <a:rPr lang="ko-KR" altLang="en-US" sz="1200" b="1" u="sng" spc="-50" dirty="0">
                <a:latin typeface="+mn-ea"/>
              </a:rPr>
              <a:t> 높은 패션</a:t>
            </a:r>
            <a:r>
              <a:rPr lang="en-US" altLang="ko-KR" sz="1200" b="1" u="sng" spc="-50" dirty="0">
                <a:latin typeface="+mn-ea"/>
              </a:rPr>
              <a:t>, </a:t>
            </a:r>
            <a:r>
              <a:rPr lang="ko-KR" altLang="en-US" sz="1200" b="1" u="sng" spc="-50" dirty="0">
                <a:latin typeface="+mn-ea"/>
              </a:rPr>
              <a:t>건강식품</a:t>
            </a:r>
            <a:r>
              <a:rPr lang="en-US" altLang="ko-KR" sz="1200" b="1" u="sng" spc="-50" dirty="0">
                <a:latin typeface="+mn-ea"/>
              </a:rPr>
              <a:t>, </a:t>
            </a:r>
            <a:r>
              <a:rPr lang="ko-KR" altLang="en-US" sz="1200" b="1" u="sng" spc="-50" dirty="0">
                <a:latin typeface="+mn-ea"/>
              </a:rPr>
              <a:t>뷰티 상품군은</a:t>
            </a:r>
            <a:r>
              <a:rPr lang="en-US" altLang="ko-KR" sz="1200" b="1" u="sng" spc="-50" dirty="0">
                <a:latin typeface="+mn-ea"/>
              </a:rPr>
              <a:t> </a:t>
            </a:r>
            <a:r>
              <a:rPr lang="ko-KR" altLang="en-US" sz="1200" b="1" u="sng" spc="-50" dirty="0">
                <a:latin typeface="+mn-ea"/>
              </a:rPr>
              <a:t>중소기업 비중이 높으며</a:t>
            </a:r>
            <a:r>
              <a:rPr lang="en-US" altLang="ko-KR" sz="1200" b="1" spc="-50" dirty="0">
                <a:latin typeface="+mn-ea"/>
              </a:rPr>
              <a:t>, </a:t>
            </a:r>
          </a:p>
          <a:p>
            <a:pPr>
              <a:lnSpc>
                <a:spcPct val="134000"/>
              </a:lnSpc>
              <a:tabLst>
                <a:tab pos="558800" algn="l"/>
              </a:tabLst>
            </a:pPr>
            <a:r>
              <a:rPr lang="en-US" altLang="ko-KR" sz="1200" b="1" spc="-50" dirty="0">
                <a:latin typeface="+mn-ea"/>
              </a:rPr>
              <a:t>     </a:t>
            </a:r>
            <a:r>
              <a:rPr lang="ko-KR" altLang="en-US" sz="1200" b="1" spc="-50" dirty="0" err="1">
                <a:latin typeface="+mn-ea"/>
              </a:rPr>
              <a:t>판매수수료율이</a:t>
            </a:r>
            <a:r>
              <a:rPr lang="ko-KR" altLang="en-US" sz="1200" b="1" spc="-50" dirty="0">
                <a:latin typeface="+mn-ea"/>
              </a:rPr>
              <a:t> 낮은 대형가전</a:t>
            </a:r>
            <a:r>
              <a:rPr lang="en-US" altLang="ko-KR" sz="1200" b="1" spc="-50" dirty="0">
                <a:latin typeface="+mn-ea"/>
              </a:rPr>
              <a:t>, </a:t>
            </a:r>
            <a:r>
              <a:rPr lang="ko-KR" altLang="en-US" sz="1200" b="1" spc="-50" dirty="0" err="1">
                <a:latin typeface="+mn-ea"/>
              </a:rPr>
              <a:t>렌탈</a:t>
            </a:r>
            <a:r>
              <a:rPr lang="en-US" altLang="ko-KR" sz="1200" b="1" spc="-50" dirty="0">
                <a:latin typeface="+mn-ea"/>
              </a:rPr>
              <a:t> </a:t>
            </a:r>
            <a:r>
              <a:rPr lang="ko-KR" altLang="en-US" sz="1200" b="1" spc="-50" dirty="0">
                <a:latin typeface="+mn-ea"/>
              </a:rPr>
              <a:t>상품군은 대기업 비중이 높음</a:t>
            </a:r>
            <a:endParaRPr lang="en-US" altLang="ko-KR" sz="1200" b="1" spc="-50" dirty="0">
              <a:latin typeface="+mn-ea"/>
            </a:endParaRPr>
          </a:p>
          <a:p>
            <a:pPr>
              <a:lnSpc>
                <a:spcPct val="134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34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상품군별 </a:t>
            </a:r>
            <a:r>
              <a:rPr lang="ko-KR" altLang="en-US" sz="1200" b="1" dirty="0" err="1">
                <a:latin typeface="+mn-ea"/>
              </a:rPr>
              <a:t>판매수수료율</a:t>
            </a:r>
            <a:r>
              <a:rPr lang="ko-KR" altLang="en-US" sz="1200" b="1" dirty="0">
                <a:latin typeface="+mn-ea"/>
              </a:rPr>
              <a:t> 차이 발생 사유</a:t>
            </a:r>
            <a:r>
              <a:rPr lang="en-US" altLang="ko-KR" sz="1200" b="1" dirty="0">
                <a:latin typeface="+mn-ea"/>
              </a:rPr>
              <a:t>)</a:t>
            </a:r>
          </a:p>
          <a:p>
            <a:pPr>
              <a:lnSpc>
                <a:spcPct val="134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② 배송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설치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반품 등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취급비용 투입과 부담 주체에 따라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34000"/>
              </a:lnSpc>
              <a:tabLst>
                <a:tab pos="558800" algn="l"/>
              </a:tabLst>
            </a:pPr>
            <a:r>
              <a:rPr lang="ko-KR" altLang="en-US" sz="1200" spc="-50" dirty="0">
                <a:latin typeface="+mn-ea"/>
              </a:rPr>
              <a:t>     </a:t>
            </a:r>
            <a:r>
              <a:rPr lang="en-US" altLang="ko-KR" sz="1000" spc="-50" dirty="0">
                <a:latin typeface="+mn-ea"/>
              </a:rPr>
              <a:t>※ </a:t>
            </a:r>
            <a:r>
              <a:rPr lang="ko-KR" altLang="en-US" sz="1000" spc="-50" dirty="0">
                <a:latin typeface="+mn-ea"/>
              </a:rPr>
              <a:t>패션 </a:t>
            </a:r>
            <a:r>
              <a:rPr lang="en-US" altLang="ko-KR" sz="1000" spc="-50" dirty="0">
                <a:latin typeface="+mn-ea"/>
              </a:rPr>
              <a:t>: </a:t>
            </a:r>
            <a:r>
              <a:rPr lang="ko-KR" altLang="en-US" sz="1000" spc="-50" dirty="0" err="1">
                <a:latin typeface="+mn-ea"/>
              </a:rPr>
              <a:t>반품률이</a:t>
            </a:r>
            <a:r>
              <a:rPr lang="ko-KR" altLang="en-US" sz="1000" spc="-50" dirty="0">
                <a:latin typeface="+mn-ea"/>
              </a:rPr>
              <a:t> 높음</a:t>
            </a:r>
            <a:r>
              <a:rPr lang="en-US" altLang="ko-KR" sz="1000" spc="-50" dirty="0">
                <a:latin typeface="+mn-ea"/>
              </a:rPr>
              <a:t>(35% </a:t>
            </a:r>
            <a:r>
              <a:rPr lang="ko-KR" altLang="en-US" sz="1000" spc="-50" dirty="0">
                <a:latin typeface="+mn-ea"/>
              </a:rPr>
              <a:t>내외</a:t>
            </a:r>
            <a:r>
              <a:rPr lang="en-US" altLang="ko-KR" sz="1000" spc="-50" dirty="0">
                <a:latin typeface="+mn-ea"/>
              </a:rPr>
              <a:t>)</a:t>
            </a:r>
            <a:r>
              <a:rPr lang="ko-KR" altLang="en-US" sz="1000" spc="-50" dirty="0">
                <a:latin typeface="+mn-ea"/>
              </a:rPr>
              <a:t>에 따라 물류 비용</a:t>
            </a:r>
            <a:r>
              <a:rPr lang="en-US" altLang="ko-KR" sz="1000" spc="-50" dirty="0">
                <a:latin typeface="+mn-ea"/>
              </a:rPr>
              <a:t>, </a:t>
            </a:r>
            <a:r>
              <a:rPr lang="ko-KR" altLang="en-US" sz="1000" spc="-50" dirty="0">
                <a:latin typeface="+mn-ea"/>
              </a:rPr>
              <a:t>양품화 비용 등이 발생하고 </a:t>
            </a:r>
            <a:r>
              <a:rPr lang="ko-KR" altLang="en-US" sz="1000" spc="-50" dirty="0" err="1">
                <a:latin typeface="+mn-ea"/>
              </a:rPr>
              <a:t>판매수수료율</a:t>
            </a:r>
            <a:r>
              <a:rPr lang="ko-KR" altLang="en-US" sz="1000" spc="-50" dirty="0">
                <a:latin typeface="+mn-ea"/>
              </a:rPr>
              <a:t> 높음</a:t>
            </a:r>
            <a:endParaRPr lang="en-US" altLang="ko-KR" sz="1000" b="1" spc="-50" dirty="0">
              <a:latin typeface="+mn-ea"/>
            </a:endParaRPr>
          </a:p>
          <a:p>
            <a:pPr>
              <a:lnSpc>
                <a:spcPct val="134000"/>
              </a:lnSpc>
              <a:tabLst>
                <a:tab pos="558800" algn="l"/>
              </a:tabLst>
            </a:pPr>
            <a:r>
              <a:rPr lang="ko-KR" altLang="en-US" sz="1200" b="1" spc="-50" dirty="0">
                <a:latin typeface="+mn-ea"/>
              </a:rPr>
              <a:t>③ 단순 소개형 생필품에서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홈쇼핑사 관여도에 따라 </a:t>
            </a:r>
            <a:endParaRPr lang="en-US" altLang="ko-KR" sz="1200" b="1" spc="-50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34000"/>
              </a:lnSpc>
              <a:tabLst>
                <a:tab pos="558800" algn="l"/>
              </a:tabLst>
            </a:pPr>
            <a:r>
              <a:rPr lang="en-US" altLang="ko-KR" sz="1200" b="1" spc="-50" dirty="0">
                <a:latin typeface="+mn-ea"/>
              </a:rPr>
              <a:t>     </a:t>
            </a:r>
            <a:r>
              <a:rPr kumimoji="0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※ </a:t>
            </a: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건강식품</a:t>
            </a:r>
            <a:r>
              <a:rPr kumimoji="0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뷰티 </a:t>
            </a:r>
            <a:r>
              <a:rPr kumimoji="0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브랜드 </a:t>
            </a:r>
            <a:r>
              <a:rPr kumimoji="0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PGM, </a:t>
            </a: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전문 </a:t>
            </a:r>
            <a:r>
              <a:rPr kumimoji="0" lang="ko-KR" altLang="en-US" sz="1000" b="0" i="0" u="none" strike="noStrike" kern="120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쇼핑호스트와</a:t>
            </a: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게스트 투입</a:t>
            </a:r>
            <a:r>
              <a:rPr kumimoji="0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품질과 심의 인력 집중 투입</a:t>
            </a:r>
            <a:endParaRPr lang="en-US" altLang="ko-KR" sz="1000" spc="-5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34000"/>
              </a:lnSpc>
              <a:tabLst>
                <a:tab pos="558800" algn="l"/>
              </a:tabLst>
            </a:pPr>
            <a:endParaRPr lang="en-US" altLang="ko-KR" sz="1200" b="1" spc="-50" dirty="0">
              <a:latin typeface="+mn-ea"/>
            </a:endParaRPr>
          </a:p>
          <a:p>
            <a:pPr>
              <a:lnSpc>
                <a:spcPct val="134000"/>
              </a:lnSpc>
              <a:tabLst>
                <a:tab pos="558800" algn="l"/>
              </a:tabLst>
            </a:pPr>
            <a:r>
              <a:rPr lang="en-US" altLang="ko-KR" sz="1200" b="1" spc="-50" dirty="0">
                <a:latin typeface="+mn-ea"/>
              </a:rPr>
              <a:t>(</a:t>
            </a:r>
            <a:r>
              <a:rPr lang="ko-KR" altLang="en-US" sz="1200" b="1" spc="-50" dirty="0">
                <a:latin typeface="+mn-ea"/>
              </a:rPr>
              <a:t>보충 설명</a:t>
            </a:r>
            <a:r>
              <a:rPr lang="en-US" altLang="ko-KR" sz="1200" b="1" spc="-50" dirty="0">
                <a:latin typeface="+mn-ea"/>
              </a:rPr>
              <a:t>)</a:t>
            </a:r>
          </a:p>
          <a:p>
            <a:pPr>
              <a:lnSpc>
                <a:spcPct val="134000"/>
              </a:lnSpc>
              <a:tabLst>
                <a:tab pos="558800" algn="l"/>
              </a:tabLst>
            </a:pPr>
            <a:r>
              <a:rPr lang="ko-KR" altLang="en-US" sz="1200" b="1" spc="-50" dirty="0">
                <a:latin typeface="+mn-ea"/>
              </a:rPr>
              <a:t>④ 원가 구조를 낮추기 위해 다양한 개선노력을 진행하고 있음</a:t>
            </a:r>
            <a:endParaRPr lang="en-US" altLang="ko-KR" sz="1200" b="1" spc="-50" dirty="0">
              <a:latin typeface="+mn-ea"/>
            </a:endParaRPr>
          </a:p>
          <a:p>
            <a:pPr>
              <a:lnSpc>
                <a:spcPct val="134000"/>
              </a:lnSpc>
              <a:tabLst>
                <a:tab pos="558800" algn="l"/>
              </a:tabLst>
            </a:pPr>
            <a:r>
              <a:rPr lang="en-US" altLang="ko-KR" sz="1200" b="1" spc="-50" dirty="0">
                <a:latin typeface="+mn-ea"/>
              </a:rPr>
              <a:t>   </a:t>
            </a:r>
            <a:r>
              <a:rPr lang="ko-KR" altLang="en-US" sz="1200" b="1" spc="-50" dirty="0">
                <a:latin typeface="+mn-ea"/>
              </a:rPr>
              <a:t> </a:t>
            </a:r>
            <a:r>
              <a:rPr lang="en-US" altLang="ko-KR" sz="1200" b="1" spc="-50" dirty="0">
                <a:latin typeface="+mn-ea"/>
              </a:rPr>
              <a:t>-</a:t>
            </a:r>
            <a:r>
              <a:rPr lang="ko-KR" altLang="en-US" sz="1200" spc="-50" dirty="0">
                <a:latin typeface="+mn-ea"/>
              </a:rPr>
              <a:t> 의류 </a:t>
            </a:r>
            <a:r>
              <a:rPr lang="ko-KR" altLang="en-US" sz="1200" spc="-50" dirty="0" err="1">
                <a:latin typeface="+mn-ea"/>
              </a:rPr>
              <a:t>반품률</a:t>
            </a:r>
            <a:r>
              <a:rPr lang="ko-KR" altLang="en-US" sz="1200" spc="-50" dirty="0">
                <a:latin typeface="+mn-ea"/>
              </a:rPr>
              <a:t> 개선 </a:t>
            </a:r>
            <a:r>
              <a:rPr lang="en-US" altLang="ko-KR" sz="1200" spc="-50" dirty="0">
                <a:latin typeface="+mn-ea"/>
              </a:rPr>
              <a:t>:</a:t>
            </a:r>
            <a:r>
              <a:rPr lang="ko-KR" altLang="en-US" sz="1200" spc="-50" dirty="0">
                <a:latin typeface="+mn-ea"/>
              </a:rPr>
              <a:t>  의류 사이즈 추천 및 비교 서비스 구축</a:t>
            </a:r>
            <a:r>
              <a:rPr lang="en-US" altLang="ko-KR" sz="1200" spc="-50" dirty="0">
                <a:latin typeface="+mn-ea"/>
              </a:rPr>
              <a:t>, AI </a:t>
            </a:r>
            <a:r>
              <a:rPr lang="ko-KR" altLang="en-US" sz="1200" spc="-50" dirty="0">
                <a:latin typeface="+mn-ea"/>
              </a:rPr>
              <a:t>모델 활용</a:t>
            </a:r>
            <a:endParaRPr lang="en-US" altLang="ko-KR" sz="1200" spc="-50" dirty="0">
              <a:latin typeface="+mn-ea"/>
            </a:endParaRPr>
          </a:p>
          <a:p>
            <a:pPr>
              <a:lnSpc>
                <a:spcPct val="134000"/>
              </a:lnSpc>
              <a:tabLst>
                <a:tab pos="558800" algn="l"/>
              </a:tabLst>
            </a:pPr>
            <a:r>
              <a:rPr lang="en-US" altLang="ko-KR" sz="1200" spc="-50" dirty="0">
                <a:latin typeface="+mn-ea"/>
              </a:rPr>
              <a:t>    </a:t>
            </a:r>
            <a:r>
              <a:rPr lang="en-US" altLang="ko-KR" sz="1200" b="1" spc="-50" dirty="0">
                <a:latin typeface="+mn-ea"/>
              </a:rPr>
              <a:t>- </a:t>
            </a:r>
            <a:r>
              <a:rPr lang="ko-KR" altLang="en-US" sz="1200" spc="-50" dirty="0" err="1">
                <a:latin typeface="+mn-ea"/>
              </a:rPr>
              <a:t>물류비</a:t>
            </a:r>
            <a:r>
              <a:rPr lang="ko-KR" altLang="en-US" sz="1200" spc="-50" dirty="0">
                <a:latin typeface="+mn-ea"/>
              </a:rPr>
              <a:t> 절감 </a:t>
            </a:r>
            <a:r>
              <a:rPr lang="en-US" altLang="ko-KR" sz="1200" spc="-50" dirty="0">
                <a:latin typeface="+mn-ea"/>
              </a:rPr>
              <a:t>: </a:t>
            </a:r>
            <a:r>
              <a:rPr lang="ko-KR" altLang="en-US" sz="1200" spc="-50" dirty="0">
                <a:latin typeface="+mn-ea"/>
              </a:rPr>
              <a:t> 스타트업 ‘</a:t>
            </a:r>
            <a:r>
              <a:rPr lang="ko-KR" altLang="en-US" sz="1200" spc="-50" dirty="0" err="1">
                <a:latin typeface="+mn-ea"/>
              </a:rPr>
              <a:t>틸다’와</a:t>
            </a:r>
            <a:r>
              <a:rPr lang="ko-KR" altLang="en-US" sz="1200" spc="-50" dirty="0">
                <a:latin typeface="+mn-ea"/>
              </a:rPr>
              <a:t> </a:t>
            </a:r>
            <a:r>
              <a:rPr lang="en-US" altLang="ko-KR" sz="1200" spc="-50" dirty="0">
                <a:latin typeface="+mn-ea"/>
              </a:rPr>
              <a:t>AI </a:t>
            </a:r>
            <a:r>
              <a:rPr lang="ko-KR" altLang="en-US" sz="1200" spc="-50" dirty="0">
                <a:latin typeface="+mn-ea"/>
              </a:rPr>
              <a:t>기반 물류센터 효율화 추진</a:t>
            </a:r>
            <a:endParaRPr lang="en-US" altLang="ko-KR" sz="1200" spc="-50" dirty="0">
              <a:latin typeface="+mn-ea"/>
            </a:endParaRPr>
          </a:p>
          <a:p>
            <a:pPr>
              <a:lnSpc>
                <a:spcPct val="134000"/>
              </a:lnSpc>
              <a:tabLst>
                <a:tab pos="558800" algn="l"/>
              </a:tabLst>
            </a:pPr>
            <a:r>
              <a:rPr lang="en-US" altLang="ko-KR" sz="1200" b="1" spc="-50" dirty="0">
                <a:latin typeface="+mn-ea"/>
              </a:rPr>
              <a:t>   </a:t>
            </a:r>
            <a:endParaRPr lang="en-US" altLang="ko-KR" sz="1200" spc="-50" dirty="0">
              <a:latin typeface="+mn-ea"/>
            </a:endParaRPr>
          </a:p>
          <a:p>
            <a:pPr>
              <a:lnSpc>
                <a:spcPct val="134000"/>
              </a:lnSpc>
              <a:tabLst>
                <a:tab pos="558800" algn="l"/>
              </a:tabLst>
            </a:pPr>
            <a:r>
              <a:rPr lang="ko-KR" altLang="en-US" sz="1200" b="1" spc="-50" dirty="0">
                <a:latin typeface="+mn-ea"/>
              </a:rPr>
              <a:t>⑤ 기업규모에 따른 수수료율 차별은 내부 규정상 금지되어 있음</a:t>
            </a:r>
            <a:endParaRPr lang="en-US" altLang="ko-KR" sz="1200" b="1" spc="-50" dirty="0">
              <a:latin typeface="+mn-ea"/>
            </a:endParaRPr>
          </a:p>
          <a:p>
            <a:pPr>
              <a:lnSpc>
                <a:spcPct val="134000"/>
              </a:lnSpc>
              <a:tabLst>
                <a:tab pos="558800" algn="l"/>
              </a:tabLst>
            </a:pPr>
            <a:r>
              <a:rPr lang="en-US" altLang="ko-KR" sz="1200" b="1" spc="-50" dirty="0">
                <a:latin typeface="+mn-ea"/>
              </a:rPr>
              <a:t>     </a:t>
            </a:r>
            <a:r>
              <a:rPr lang="en-US" altLang="ko-KR" sz="1000" spc="-50" dirty="0">
                <a:latin typeface="+mn-ea"/>
              </a:rPr>
              <a:t>※ ’</a:t>
            </a:r>
            <a:r>
              <a:rPr lang="ko-KR" altLang="en-US" sz="1000" spc="-50" dirty="0">
                <a:latin typeface="+mn-ea"/>
              </a:rPr>
              <a:t>거래조건 결정 기준과 절차</a:t>
            </a:r>
            <a:r>
              <a:rPr lang="en-US" altLang="ko-KR" sz="1000" spc="-50" dirty="0">
                <a:latin typeface="+mn-ea"/>
              </a:rPr>
              <a:t>' </a:t>
            </a:r>
            <a:r>
              <a:rPr lang="ko-KR" altLang="en-US" sz="1000" spc="-50" dirty="0">
                <a:latin typeface="+mn-ea"/>
              </a:rPr>
              <a:t>규정에 따라 동일 </a:t>
            </a:r>
            <a:r>
              <a:rPr lang="ko-KR" altLang="en-US" sz="1000" spc="-50" dirty="0" err="1">
                <a:latin typeface="+mn-ea"/>
              </a:rPr>
              <a:t>상품군</a:t>
            </a:r>
            <a:r>
              <a:rPr lang="ko-KR" altLang="en-US" sz="1000" spc="-50" dirty="0">
                <a:latin typeface="+mn-ea"/>
              </a:rPr>
              <a:t> 내에서는 기업 규모에 따른 차별 금지</a:t>
            </a:r>
            <a:endParaRPr lang="en-US" altLang="ko-KR" sz="1000" spc="-50" dirty="0">
              <a:latin typeface="+mn-ea"/>
            </a:endParaRPr>
          </a:p>
          <a:p>
            <a:pPr>
              <a:lnSpc>
                <a:spcPct val="150000"/>
              </a:lnSpc>
              <a:tabLst>
                <a:tab pos="558800" algn="l"/>
              </a:tabLst>
            </a:pPr>
            <a:endParaRPr lang="en-US" altLang="ko-KR" sz="500" b="1" dirty="0">
              <a:latin typeface="+mn-ea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D957A1C-E7F8-ADF9-9900-1C5FB33944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40"/>
          <a:stretch>
            <a:fillRect/>
          </a:stretch>
        </p:blipFill>
        <p:spPr>
          <a:xfrm>
            <a:off x="395034" y="3083661"/>
            <a:ext cx="4124715" cy="37058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3F296BC-CD9F-46B2-7AC3-25AFB6D2DFA3}"/>
              </a:ext>
            </a:extLst>
          </p:cNvPr>
          <p:cNvSpPr txBox="1"/>
          <p:nvPr/>
        </p:nvSpPr>
        <p:spPr>
          <a:xfrm>
            <a:off x="146206" y="2772823"/>
            <a:ext cx="3919233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ko-KR" altLang="en-US" sz="1100" b="1" dirty="0">
                <a:latin typeface="+mn-ea"/>
              </a:rPr>
              <a:t>사업계획서 </a:t>
            </a:r>
            <a:r>
              <a:rPr lang="en-US" altLang="ko-KR" sz="1100" b="1" dirty="0">
                <a:latin typeface="+mn-ea"/>
              </a:rPr>
              <a:t>p.126)</a:t>
            </a:r>
            <a:r>
              <a:rPr lang="ko-KR" altLang="en-US" sz="1100" b="1" dirty="0">
                <a:latin typeface="+mn-ea"/>
              </a:rPr>
              <a:t>기업규모별 </a:t>
            </a:r>
            <a:r>
              <a:rPr lang="ko-KR" altLang="en-US" sz="1100" b="1" dirty="0" err="1">
                <a:latin typeface="+mn-ea"/>
              </a:rPr>
              <a:t>판매수수료율</a:t>
            </a:r>
            <a:r>
              <a:rPr lang="ko-KR" altLang="en-US" sz="1100" b="1" dirty="0">
                <a:latin typeface="+mn-ea"/>
              </a:rPr>
              <a:t> 차이</a:t>
            </a:r>
            <a:endParaRPr lang="en-US" altLang="ko-KR" sz="1100" b="1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DE3295-2CDC-3216-3DE3-A3F7220C4F09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67/109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14625567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254" y="79548"/>
            <a:ext cx="7964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홈쇼핑 </a:t>
            </a:r>
            <a:r>
              <a:rPr lang="ko-KR" altLang="en-US" b="1" dirty="0" err="1">
                <a:solidFill>
                  <a:schemeClr val="bg1"/>
                </a:solidFill>
                <a:latin typeface="+mn-ea"/>
              </a:rPr>
              <a:t>판매수수료율이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높은 이유</a:t>
            </a:r>
            <a:endParaRPr lang="en-US" altLang="ko-KR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5824" y="1618227"/>
            <a:ext cx="9250060" cy="545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② 서비스 차이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  </a:t>
            </a:r>
            <a:r>
              <a:rPr lang="en-US" altLang="ko-KR" sz="1200" b="1" dirty="0">
                <a:latin typeface="+mn-ea"/>
              </a:rPr>
              <a:t>- </a:t>
            </a:r>
            <a:r>
              <a:rPr lang="ko-KR" altLang="en-US" sz="1200" b="1" dirty="0">
                <a:latin typeface="+mn-ea"/>
              </a:rPr>
              <a:t>유통채널별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협력사에 제공되는 서비스 차이 </a:t>
            </a:r>
            <a:r>
              <a:rPr lang="ko-KR" altLang="en-US" sz="1200" b="1" dirty="0">
                <a:latin typeface="+mn-ea"/>
              </a:rPr>
              <a:t>존재</a:t>
            </a:r>
            <a:endParaRPr lang="en-US" altLang="ko-KR" sz="1200" b="1" dirty="0">
              <a:latin typeface="+mn-ea"/>
            </a:endParaRPr>
          </a:p>
        </p:txBody>
      </p:sp>
      <p:graphicFrame>
        <p:nvGraphicFramePr>
          <p:cNvPr id="20" name="표 19"/>
          <p:cNvGraphicFramePr>
            <a:graphicFrameLocks noGrp="1"/>
          </p:cNvGraphicFramePr>
          <p:nvPr/>
        </p:nvGraphicFramePr>
        <p:xfrm>
          <a:off x="783581" y="2208087"/>
          <a:ext cx="5814857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9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9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9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91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29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 분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홈쇼핑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백화점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대형마트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온라인쇼핑몰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9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배송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○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△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△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△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9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CS</a:t>
                      </a:r>
                      <a:r>
                        <a:rPr lang="ko-KR" altLang="en-US" sz="100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상담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○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△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9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품질관리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○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△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△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05824" y="926342"/>
            <a:ext cx="9250060" cy="545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① 송출수수료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-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보다 많은 고객에게 상품을 소개하기 위해 채널 확보</a:t>
            </a:r>
            <a:r>
              <a:rPr lang="ko-KR" altLang="en-US" sz="1200" b="1" dirty="0">
                <a:latin typeface="+mn-ea"/>
              </a:rPr>
              <a:t> → 매년 높은 송출수수료 지급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5824" y="4532325"/>
            <a:ext cx="9250060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>
                <a:latin typeface="+mn-ea"/>
              </a:rPr>
              <a:t>④ 당사 차별성</a:t>
            </a:r>
            <a:endParaRPr lang="en-US" altLang="ko-KR" sz="1200" b="1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>
                <a:latin typeface="+mn-ea"/>
              </a:rPr>
              <a:t>  - (</a:t>
            </a:r>
            <a:r>
              <a:rPr lang="ko-KR" altLang="en-US" sz="1200" b="1">
                <a:latin typeface="+mn-ea"/>
              </a:rPr>
              <a:t>전용 스튜디오 구축</a:t>
            </a:r>
            <a:r>
              <a:rPr lang="en-US" altLang="ko-KR" sz="1200" b="1">
                <a:latin typeface="+mn-ea"/>
              </a:rPr>
              <a:t>)</a:t>
            </a:r>
            <a:r>
              <a:rPr lang="ko-KR" altLang="en-US" sz="1200" b="1">
                <a:latin typeface="+mn-ea"/>
              </a:rPr>
              <a:t> 협력사가 외부 녹화 제작으로 추가 비용이 발생하지 않도록 지원</a:t>
            </a:r>
            <a:endParaRPr lang="en-US" altLang="ko-KR" sz="1200" b="1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>
                <a:latin typeface="+mn-ea"/>
              </a:rPr>
              <a:t>  - (</a:t>
            </a:r>
            <a:r>
              <a:rPr lang="ko-KR" altLang="en-US" sz="1200" b="1">
                <a:latin typeface="+mn-ea"/>
              </a:rPr>
              <a:t>방송준비지원 조직 운영</a:t>
            </a:r>
            <a:r>
              <a:rPr lang="en-US" altLang="ko-KR" sz="1200" b="1">
                <a:latin typeface="+mn-ea"/>
              </a:rPr>
              <a:t>) </a:t>
            </a:r>
            <a:r>
              <a:rPr lang="ko-KR" altLang="en-US" sz="1200" b="1">
                <a:latin typeface="+mn-ea"/>
              </a:rPr>
              <a:t>방송 진행 경험 부족한 협력사에게 고품질 방송 가능하도록 전담 조직 운영 </a:t>
            </a:r>
            <a:r>
              <a:rPr lang="en-US" altLang="ko-KR" sz="1200" b="1">
                <a:latin typeface="+mn-ea"/>
              </a:rPr>
              <a:t>(</a:t>
            </a:r>
            <a:r>
              <a:rPr lang="ko-KR" altLang="en-US" sz="1200" b="1">
                <a:latin typeface="+mn-ea"/>
              </a:rPr>
              <a:t>업계 유일</a:t>
            </a:r>
            <a:r>
              <a:rPr lang="en-US" altLang="ko-KR" sz="1200" b="1">
                <a:latin typeface="+mn-ea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824" y="3452325"/>
            <a:ext cx="10845176" cy="102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③ 채널 장점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- 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브랜드</a:t>
            </a:r>
            <a:r>
              <a:rPr lang="ko-KR" altLang="en-US" sz="1200" b="1" dirty="0">
                <a:latin typeface="+mn-ea"/>
              </a:rPr>
              <a:t> 이미지 제고</a:t>
            </a:r>
            <a:r>
              <a:rPr lang="en-US" altLang="ko-KR" sz="1200" b="1" dirty="0">
                <a:latin typeface="+mn-ea"/>
              </a:rPr>
              <a:t>) 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- 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기능성 제품은 충분히 알릴 수 있는 기회</a:t>
            </a:r>
            <a:r>
              <a:rPr lang="en-US" altLang="ko-KR" sz="1200" b="1" dirty="0">
                <a:latin typeface="+mn-ea"/>
              </a:rPr>
              <a:t>) </a:t>
            </a:r>
            <a:r>
              <a:rPr lang="ko-KR" altLang="en-US" sz="1200" b="1" dirty="0">
                <a:latin typeface="+mn-ea"/>
              </a:rPr>
              <a:t>주로 </a:t>
            </a:r>
            <a:r>
              <a:rPr lang="en-US" altLang="ko-KR" sz="1200" b="1" dirty="0">
                <a:latin typeface="+mn-ea"/>
              </a:rPr>
              <a:t>1</a:t>
            </a:r>
            <a:r>
              <a:rPr lang="ko-KR" altLang="en-US" sz="1200" b="1" dirty="0">
                <a:latin typeface="+mn-ea"/>
              </a:rPr>
              <a:t>시간에 하나의 제품을 판매하면서 집중적으로 설명   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- (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Mass Sale</a:t>
            </a:r>
            <a:r>
              <a:rPr lang="en-US" altLang="ko-KR" sz="1200" b="1" dirty="0">
                <a:latin typeface="+mn-ea"/>
              </a:rPr>
              <a:t>) </a:t>
            </a:r>
            <a:r>
              <a:rPr lang="ko-KR" altLang="en-US" sz="1200" b="1" dirty="0">
                <a:latin typeface="+mn-ea"/>
              </a:rPr>
              <a:t>짧은 시간에 가장 효과적인 매출 달성 가능</a:t>
            </a:r>
            <a:r>
              <a:rPr lang="en-US" altLang="ko-KR" sz="1200" b="1" dirty="0">
                <a:latin typeface="+mn-ea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824" y="5474795"/>
            <a:ext cx="9250060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>
                <a:latin typeface="+mn-ea"/>
              </a:rPr>
              <a:t>⑤ 협력사 지원</a:t>
            </a:r>
            <a:endParaRPr lang="en-US" altLang="ko-KR" sz="1200" b="1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>
                <a:latin typeface="+mn-ea"/>
              </a:rPr>
              <a:t>  - (</a:t>
            </a:r>
            <a:r>
              <a:rPr lang="ko-KR" altLang="en-US" sz="1200" b="1">
                <a:solidFill>
                  <a:srgbClr val="0000FF"/>
                </a:solidFill>
                <a:latin typeface="+mn-ea"/>
              </a:rPr>
              <a:t>무료 판매 방송</a:t>
            </a:r>
            <a:r>
              <a:rPr lang="en-US" altLang="ko-KR" sz="1200" b="1">
                <a:latin typeface="+mn-ea"/>
              </a:rPr>
              <a:t>) </a:t>
            </a:r>
            <a:r>
              <a:rPr lang="ko-KR" altLang="en-US" sz="1200" b="1">
                <a:latin typeface="+mn-ea"/>
              </a:rPr>
              <a:t>영세중소기업 판매수수료 부담 경감 위한 무료 판매 방송 운영</a:t>
            </a:r>
            <a:endParaRPr lang="en-US" altLang="ko-KR" sz="1200" b="1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>
                <a:latin typeface="+mn-ea"/>
              </a:rPr>
              <a:t>  - (</a:t>
            </a:r>
            <a:r>
              <a:rPr lang="ko-KR" altLang="en-US" sz="1200" b="1">
                <a:solidFill>
                  <a:srgbClr val="0000FF"/>
                </a:solidFill>
                <a:latin typeface="+mn-ea"/>
              </a:rPr>
              <a:t>판매수수료 환급</a:t>
            </a:r>
            <a:r>
              <a:rPr lang="en-US" altLang="ko-KR" sz="1200" b="1">
                <a:latin typeface="+mn-ea"/>
              </a:rPr>
              <a:t>) </a:t>
            </a:r>
            <a:r>
              <a:rPr lang="ko-KR" altLang="en-US" sz="1200" b="1">
                <a:latin typeface="+mn-ea"/>
              </a:rPr>
              <a:t>판매 실적 저조한 협력사 구제 위해 판매수수료 환급 제도 운영</a:t>
            </a:r>
            <a:endParaRPr lang="en-US" altLang="ko-KR" sz="1200" b="1">
              <a:latin typeface="+mn-ea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81001" y="819000"/>
            <a:ext cx="11475000" cy="5580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A369CC-7043-39E8-4D64-76DA0D9ABA78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68/109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31237290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AF0AAB-BDC8-CFD2-B3FF-5D37AB453551}"/>
              </a:ext>
            </a:extLst>
          </p:cNvPr>
          <p:cNvSpPr txBox="1"/>
          <p:nvPr/>
        </p:nvSpPr>
        <p:spPr>
          <a:xfrm>
            <a:off x="66675" y="322215"/>
            <a:ext cx="11428712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just" latinLnBrk="1">
              <a:lnSpc>
                <a:spcPct val="120000"/>
              </a:lnSpc>
              <a:spcAft>
                <a:spcPts val="0"/>
              </a:spcAf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정액방송 비중을 높여서 제출한 이유는 무엇인가요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62CA6E8-4481-83B5-4ACC-9FCAD47464D9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>
                <a:solidFill>
                  <a:schemeClr val="tx2">
                    <a:lumMod val="75000"/>
                  </a:schemeClr>
                </a:solidFill>
                <a:latin typeface="+mn-ea"/>
              </a:rPr>
              <a:t>편성책임자</a:t>
            </a:r>
            <a:endParaRPr lang="ko-KR" altLang="en-US" sz="105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CC8830-7F45-2BA3-7E07-EDFA020B2742}"/>
              </a:ext>
            </a:extLst>
          </p:cNvPr>
          <p:cNvSpPr txBox="1"/>
          <p:nvPr/>
        </p:nvSpPr>
        <p:spPr>
          <a:xfrm>
            <a:off x="4918307" y="4208568"/>
            <a:ext cx="948842" cy="234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 latinLnBrk="1">
              <a:lnSpc>
                <a:spcPct val="130000"/>
              </a:lnSpc>
              <a:defRPr/>
            </a:pPr>
            <a:r>
              <a:rPr lang="en-US" altLang="ko-KR" sz="800" spc="-41" dirty="0">
                <a:solidFill>
                  <a:prstClr val="black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spc="-41" dirty="0">
                <a:solidFill>
                  <a:prstClr val="black"/>
                </a:solidFill>
                <a:latin typeface="맑은 고딕" panose="020B0503020000020004" pitchFamily="50" charset="-127"/>
              </a:rPr>
              <a:t>단위 </a:t>
            </a:r>
            <a:r>
              <a:rPr lang="en-US" altLang="ko-KR" sz="800" spc="-41" dirty="0">
                <a:solidFill>
                  <a:prstClr val="black"/>
                </a:solidFill>
                <a:latin typeface="맑은 고딕" panose="020B0503020000020004" pitchFamily="50" charset="-127"/>
              </a:rPr>
              <a:t>: % )</a:t>
            </a:r>
            <a:endParaRPr lang="ko-KR" altLang="en-US" sz="800" spc="-4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F5C543-6C59-41A9-FBB5-171392CA5299}"/>
              </a:ext>
            </a:extLst>
          </p:cNvPr>
          <p:cNvSpPr txBox="1"/>
          <p:nvPr/>
        </p:nvSpPr>
        <p:spPr>
          <a:xfrm>
            <a:off x="133432" y="4117227"/>
            <a:ext cx="5590354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데이터홈쇼핑 중소기업 정액편성비중 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ko-KR" altLang="en-US" sz="1100" b="1" dirty="0">
                <a:latin typeface="+mn-ea"/>
              </a:rPr>
              <a:t>평균</a:t>
            </a:r>
            <a:r>
              <a:rPr lang="en-US" altLang="ko-KR" sz="1100" b="1" dirty="0">
                <a:latin typeface="+mn-ea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78053C-10FC-1F63-722C-D21491593622}"/>
              </a:ext>
            </a:extLst>
          </p:cNvPr>
          <p:cNvSpPr txBox="1"/>
          <p:nvPr/>
        </p:nvSpPr>
        <p:spPr>
          <a:xfrm>
            <a:off x="65067" y="19389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3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중소기업 지원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pic>
        <p:nvPicPr>
          <p:cNvPr id="7" name="그림 6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B26FCC-9EC9-8B53-DB9F-1569726F1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60" y="4425487"/>
            <a:ext cx="5490949" cy="1559094"/>
          </a:xfrm>
          <a:prstGeom prst="rect">
            <a:avLst/>
          </a:prstGeom>
        </p:spPr>
      </p:pic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DB9AAA-BBE2-865B-5335-9EE482023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8" y="1323891"/>
            <a:ext cx="5581883" cy="112101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DB720EF-EC54-6FD4-ADAF-59B053EB6550}"/>
              </a:ext>
            </a:extLst>
          </p:cNvPr>
          <p:cNvSpPr txBox="1"/>
          <p:nvPr/>
        </p:nvSpPr>
        <p:spPr>
          <a:xfrm>
            <a:off x="124722" y="939684"/>
            <a:ext cx="5768869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ko-KR" altLang="en-US" sz="1100" b="1" dirty="0">
                <a:latin typeface="+mn-ea"/>
              </a:rPr>
              <a:t>사업계획서 </a:t>
            </a:r>
            <a:r>
              <a:rPr lang="en-US" altLang="ko-KR" sz="1100" b="1" dirty="0">
                <a:latin typeface="+mn-ea"/>
              </a:rPr>
              <a:t>p.130)</a:t>
            </a:r>
            <a:r>
              <a:rPr lang="ko-KR" altLang="en-US" sz="1100" b="1" dirty="0">
                <a:latin typeface="+mn-ea"/>
              </a:rPr>
              <a:t>중소기업 제품 </a:t>
            </a:r>
            <a:r>
              <a:rPr lang="ko-KR" altLang="en-US" sz="1100" b="1" dirty="0" err="1">
                <a:latin typeface="+mn-ea"/>
              </a:rPr>
              <a:t>정액수수료제</a:t>
            </a:r>
            <a:r>
              <a:rPr lang="ko-KR" altLang="en-US" sz="1100" b="1" dirty="0">
                <a:latin typeface="+mn-ea"/>
              </a:rPr>
              <a:t> 방송 운영 실적 및 계획</a:t>
            </a:r>
            <a:endParaRPr lang="en-US" altLang="ko-KR" sz="1100" b="1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CC70F80-D4E4-2975-5097-EEE5038323F3}"/>
              </a:ext>
            </a:extLst>
          </p:cNvPr>
          <p:cNvSpPr/>
          <p:nvPr/>
        </p:nvSpPr>
        <p:spPr>
          <a:xfrm>
            <a:off x="6096001" y="981075"/>
            <a:ext cx="5710257" cy="56515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58EACF-5E26-3EA2-ACF4-5D77169A2AA4}"/>
              </a:ext>
            </a:extLst>
          </p:cNvPr>
          <p:cNvSpPr txBox="1"/>
          <p:nvPr/>
        </p:nvSpPr>
        <p:spPr>
          <a:xfrm>
            <a:off x="6102764" y="1015909"/>
            <a:ext cx="5710257" cy="5702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정액방송 비중 상향 이유</a:t>
            </a:r>
            <a:r>
              <a:rPr lang="en-US" altLang="ko-KR" sz="1000" dirty="0"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ko-KR" altLang="en-US" sz="1200" b="1" dirty="0">
                <a:latin typeface="+mn-ea"/>
              </a:rPr>
              <a:t>① 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최근 고객의 관심사가 건강과</a:t>
            </a: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편의성 추구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    구조적으로 정액방송이 불가피한 무형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구독서비스 수요 증가 반영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    </a:t>
            </a:r>
            <a:r>
              <a:rPr lang="ko-KR" altLang="ko-KR" sz="1200" b="1" dirty="0">
                <a:latin typeface="+mn-ea"/>
              </a:rPr>
              <a:t>→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u="sng" dirty="0">
                <a:latin typeface="+mn-ea"/>
              </a:rPr>
              <a:t>새로운 상품 발굴 등 상품 다변화와 서비스 차별화를 위한 운영 여유 확보</a:t>
            </a:r>
            <a:r>
              <a:rPr lang="ko-KR" altLang="en-US" sz="1200" b="1" dirty="0">
                <a:latin typeface="+mn-ea"/>
              </a:rPr>
              <a:t> </a:t>
            </a:r>
            <a:endParaRPr lang="en-US" altLang="ko-KR" sz="1200" b="1" dirty="0">
              <a:latin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58800" algn="l"/>
              </a:tabLst>
              <a:defRPr/>
            </a:pPr>
            <a:r>
              <a:rPr lang="en-US" altLang="ko-KR" sz="1200" b="1" dirty="0">
                <a:latin typeface="+mn-ea"/>
              </a:rPr>
              <a:t>  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예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건강기능식품 정기 구독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청소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정리 구독서비스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국내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외 여행상품 수요가 늘어나고 있음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58800" algn="l"/>
              </a:tabLst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    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중기 여행 비중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21</a:t>
            </a:r>
            <a:r>
              <a:rPr kumimoji="0" lang="ko-KR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0.2% </a:t>
            </a:r>
            <a:r>
              <a:rPr kumimoji="0" lang="ko-KR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→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25</a:t>
            </a:r>
            <a:r>
              <a:rPr kumimoji="0" lang="ko-KR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2.9%)</a:t>
            </a: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58800" algn="l"/>
              </a:tabLst>
              <a:defRPr/>
            </a:pPr>
            <a:endParaRPr kumimoji="0" lang="en-US" altLang="ko-KR" sz="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58800" algn="l"/>
              </a:tabLst>
              <a:defRPr/>
            </a:pPr>
            <a:r>
              <a:rPr lang="ko-KR" altLang="en-US" sz="1200" b="1" dirty="0">
                <a:latin typeface="+mn-ea"/>
              </a:rPr>
              <a:t>② 생필품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주방용품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소형가전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협력사는 </a:t>
            </a:r>
            <a:r>
              <a:rPr lang="ko-KR" altLang="en-US" sz="1200" b="1" dirty="0" err="1">
                <a:latin typeface="+mn-ea"/>
              </a:rPr>
              <a:t>쿠팡</a:t>
            </a:r>
            <a:r>
              <a:rPr lang="ko-KR" altLang="en-US" sz="1200" b="1" dirty="0">
                <a:latin typeface="+mn-ea"/>
              </a:rPr>
              <a:t> 등 </a:t>
            </a:r>
            <a:r>
              <a:rPr lang="ko-KR" altLang="en-US" sz="1200" b="1" dirty="0" err="1">
                <a:latin typeface="+mn-ea"/>
              </a:rPr>
              <a:t>모바일커머스로</a:t>
            </a:r>
            <a:r>
              <a:rPr lang="ko-KR" altLang="en-US" sz="1200" b="1" dirty="0">
                <a:latin typeface="+mn-ea"/>
              </a:rPr>
              <a:t> 이동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200" b="1" dirty="0">
                <a:latin typeface="+mn-ea"/>
              </a:rPr>
              <a:t>    </a:t>
            </a:r>
            <a:r>
              <a:rPr lang="ko-KR" altLang="en-US" sz="1200" b="1" u="sng" dirty="0">
                <a:latin typeface="+mn-ea"/>
              </a:rPr>
              <a:t>홈쇼핑은 </a:t>
            </a:r>
            <a:r>
              <a:rPr lang="en-US" altLang="ko-KR" sz="1200" b="1" u="sng" dirty="0">
                <a:latin typeface="+mn-ea"/>
              </a:rPr>
              <a:t>1</a:t>
            </a:r>
            <a:r>
              <a:rPr lang="ko-KR" altLang="en-US" sz="1200" b="1" u="sng" dirty="0">
                <a:latin typeface="+mn-ea"/>
              </a:rPr>
              <a:t>시간 내내 해당 상품을 자세히 시연하고 설명하는 구조이기에</a:t>
            </a:r>
            <a:endParaRPr lang="en-US" altLang="ko-KR" sz="1200" b="1" u="sng" dirty="0">
              <a:latin typeface="+mn-ea"/>
            </a:endParaRPr>
          </a:p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 </a:t>
            </a:r>
            <a:r>
              <a:rPr lang="en-US" altLang="ko-KR" sz="1200" b="1" dirty="0">
                <a:latin typeface="+mn-ea"/>
              </a:rPr>
              <a:t>   </a:t>
            </a:r>
            <a:r>
              <a:rPr lang="ko-KR" altLang="en-US" sz="1200" b="1" dirty="0">
                <a:latin typeface="+mn-ea"/>
              </a:rPr>
              <a:t>인지도가 낮은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u="sng" dirty="0">
                <a:latin typeface="+mn-ea"/>
              </a:rPr>
              <a:t>중소기업 </a:t>
            </a:r>
            <a:r>
              <a:rPr lang="ko-KR" altLang="en-US" sz="1200" b="1" u="sng" dirty="0">
                <a:solidFill>
                  <a:srgbClr val="0000FF"/>
                </a:solidFill>
                <a:latin typeface="+mn-ea"/>
              </a:rPr>
              <a:t>신상품 홍보</a:t>
            </a:r>
            <a:r>
              <a:rPr lang="en-US" altLang="ko-KR" sz="1200" b="1" u="sng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u="sng" dirty="0">
                <a:solidFill>
                  <a:srgbClr val="0000FF"/>
                </a:solidFill>
                <a:latin typeface="+mn-ea"/>
              </a:rPr>
              <a:t>파일럿 테스트 </a:t>
            </a:r>
            <a:r>
              <a:rPr lang="ko-KR" altLang="en-US" sz="1200" b="1" u="sng" dirty="0">
                <a:latin typeface="+mn-ea"/>
              </a:rPr>
              <a:t>목적 수요 있음</a:t>
            </a:r>
            <a:endParaRPr lang="en-US" altLang="ko-KR" sz="1200" b="1" u="sng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ko-KR" sz="500" b="1" dirty="0">
              <a:latin typeface="+mn-ea"/>
            </a:endParaRPr>
          </a:p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③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당사가 채널에 대한 투자를 많이 하여 고객을 많이 확보하고 있고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</a:t>
            </a:r>
            <a:r>
              <a:rPr lang="ko-KR" altLang="en-US" sz="1200" b="1" dirty="0">
                <a:latin typeface="+mn-ea"/>
              </a:rPr>
              <a:t>성공적인 마케팅 패키지 사례들이 나오면서  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(</a:t>
            </a:r>
            <a:r>
              <a:rPr lang="ko-KR" altLang="en-US" sz="1200" b="1" dirty="0">
                <a:latin typeface="+mn-ea"/>
              </a:rPr>
              <a:t>데이터홈쇼핑 채널 성장으로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 </a:t>
            </a:r>
            <a:r>
              <a:rPr lang="ko-KR" altLang="en-US" sz="1200" b="1" u="sng" dirty="0">
                <a:latin typeface="+mn-ea"/>
              </a:rPr>
              <a:t>정률수수료 대비 효과적이라는 판단</a:t>
            </a:r>
            <a:endParaRPr lang="en-US" altLang="ko-KR" sz="1200" b="1" u="sng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※ </a:t>
            </a:r>
            <a:r>
              <a:rPr lang="ko-KR" altLang="en-US" sz="1000" dirty="0">
                <a:latin typeface="+mn-ea"/>
              </a:rPr>
              <a:t>협력사가 </a:t>
            </a:r>
            <a:r>
              <a:rPr lang="en-US" altLang="ko-KR" sz="1000" dirty="0">
                <a:latin typeface="+mn-ea"/>
              </a:rPr>
              <a:t>‘</a:t>
            </a:r>
            <a:r>
              <a:rPr lang="ko-KR" altLang="en-US" sz="1000" dirty="0">
                <a:latin typeface="+mn-ea"/>
              </a:rPr>
              <a:t>원하는 시간대</a:t>
            </a:r>
            <a:r>
              <a:rPr lang="en-US" altLang="ko-KR" sz="1000" dirty="0">
                <a:latin typeface="+mn-ea"/>
              </a:rPr>
              <a:t>’</a:t>
            </a:r>
            <a:r>
              <a:rPr lang="ko-KR" altLang="en-US" sz="1000" dirty="0">
                <a:latin typeface="+mn-ea"/>
              </a:rPr>
              <a:t> 또는 </a:t>
            </a:r>
            <a:r>
              <a:rPr lang="en-US" altLang="ko-KR" sz="1000" dirty="0">
                <a:latin typeface="+mn-ea"/>
              </a:rPr>
              <a:t>‘</a:t>
            </a:r>
            <a:r>
              <a:rPr lang="ko-KR" altLang="en-US" sz="1000" dirty="0">
                <a:latin typeface="+mn-ea"/>
              </a:rPr>
              <a:t>편성 확대</a:t>
            </a:r>
            <a:r>
              <a:rPr lang="en-US" altLang="ko-KR" sz="1000" dirty="0">
                <a:latin typeface="+mn-ea"/>
              </a:rPr>
              <a:t>’</a:t>
            </a:r>
            <a:r>
              <a:rPr lang="ko-KR" altLang="en-US" sz="1000" dirty="0">
                <a:latin typeface="+mn-ea"/>
              </a:rPr>
              <a:t>를 위해</a:t>
            </a:r>
            <a:r>
              <a:rPr lang="en-US" altLang="ko-KR" sz="1000" dirty="0">
                <a:latin typeface="+mn-ea"/>
              </a:rPr>
              <a:t> </a:t>
            </a:r>
            <a:r>
              <a:rPr lang="ko-KR" altLang="en-US" sz="1000" dirty="0">
                <a:latin typeface="+mn-ea"/>
              </a:rPr>
              <a:t>정액방송을 원한다는 언급 자제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   </a:t>
            </a:r>
            <a:r>
              <a:rPr lang="ko-KR" altLang="en-US" sz="1000" dirty="0">
                <a:latin typeface="+mn-ea"/>
              </a:rPr>
              <a:t>방송법 금지행위 해당 사항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불공정 수익배분 강요 금지</a:t>
            </a:r>
            <a:r>
              <a:rPr lang="en-US" altLang="ko-KR" sz="1000" dirty="0"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보충 설명</a:t>
            </a:r>
            <a:r>
              <a:rPr lang="en-US" altLang="ko-KR" sz="1000" dirty="0"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ko-KR" altLang="en-US" sz="1200" b="1" dirty="0">
                <a:latin typeface="+mn-ea"/>
              </a:rPr>
              <a:t>특정 수수료 거래를 강요하는 것은 내부 규정상 금지되어 있으며</a:t>
            </a:r>
            <a:r>
              <a:rPr lang="en-US" altLang="ko-KR" sz="1200" b="1" dirty="0">
                <a:latin typeface="+mn-ea"/>
              </a:rPr>
              <a:t>,</a:t>
            </a:r>
          </a:p>
          <a:p>
            <a:pPr>
              <a:lnSpc>
                <a:spcPct val="120000"/>
              </a:lnSpc>
            </a:pPr>
            <a:r>
              <a:rPr lang="ko-KR" altLang="en-US" sz="1200" b="1" dirty="0">
                <a:latin typeface="+mn-ea"/>
              </a:rPr>
              <a:t>데이터홈쇼핑 </a:t>
            </a:r>
            <a:r>
              <a:rPr lang="en-US" altLang="ko-KR" sz="1200" b="1" dirty="0">
                <a:latin typeface="+mn-ea"/>
              </a:rPr>
              <a:t>10</a:t>
            </a:r>
            <a:r>
              <a:rPr lang="ko-KR" altLang="en-US" sz="1200" b="1" dirty="0">
                <a:latin typeface="+mn-ea"/>
              </a:rPr>
              <a:t>개사가 경쟁하기에 </a:t>
            </a:r>
            <a:r>
              <a:rPr lang="ko-KR" altLang="en-US" sz="1200" b="1" u="sng" dirty="0">
                <a:latin typeface="+mn-ea"/>
              </a:rPr>
              <a:t>거래조건 비교 선택 가능</a:t>
            </a:r>
            <a:endParaRPr lang="en-US" altLang="ko-KR" sz="1200" b="1" u="sng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ko-KR" sz="500" b="1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ko-KR" sz="5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합리적으로 선택할 수 있도록 절차 강화</a:t>
            </a:r>
            <a:r>
              <a:rPr lang="en-US" altLang="ko-KR" sz="1000" dirty="0">
                <a:latin typeface="+mn-ea"/>
              </a:rPr>
              <a:t>)</a:t>
            </a:r>
          </a:p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200" b="1" u="sng" dirty="0">
                <a:latin typeface="+mn-ea"/>
              </a:rPr>
              <a:t>정액 위험성 사전 고지 </a:t>
            </a:r>
            <a:r>
              <a:rPr lang="en-US" altLang="ko-KR" sz="1200" b="1" u="sng" dirty="0">
                <a:latin typeface="+mn-ea"/>
              </a:rPr>
              <a:t>: (</a:t>
            </a:r>
            <a:r>
              <a:rPr lang="ko-KR" altLang="en-US" sz="1200" b="1" u="sng" dirty="0">
                <a:latin typeface="+mn-ea"/>
              </a:rPr>
              <a:t>계약 전</a:t>
            </a:r>
            <a:r>
              <a:rPr lang="en-US" altLang="ko-KR" sz="1200" b="1" u="sng" dirty="0">
                <a:latin typeface="+mn-ea"/>
              </a:rPr>
              <a:t>) </a:t>
            </a:r>
            <a:r>
              <a:rPr lang="ko-KR" altLang="en-US" sz="1200" b="1" u="sng" dirty="0">
                <a:solidFill>
                  <a:srgbClr val="0000FF"/>
                </a:solidFill>
                <a:latin typeface="+mn-ea"/>
              </a:rPr>
              <a:t>서면 고지</a:t>
            </a:r>
            <a:r>
              <a:rPr lang="en-US" altLang="ko-KR" sz="1200" b="1" u="sng" dirty="0">
                <a:latin typeface="+mn-ea"/>
              </a:rPr>
              <a:t>, (</a:t>
            </a:r>
            <a:r>
              <a:rPr lang="ko-KR" altLang="en-US" sz="1200" b="1" u="sng" dirty="0">
                <a:latin typeface="+mn-ea"/>
              </a:rPr>
              <a:t>계약 시</a:t>
            </a:r>
            <a:r>
              <a:rPr lang="en-US" altLang="ko-KR" sz="1200" b="1" u="sng" dirty="0">
                <a:latin typeface="+mn-ea"/>
              </a:rPr>
              <a:t>) </a:t>
            </a:r>
            <a:r>
              <a:rPr lang="ko-KR" altLang="en-US" sz="1200" b="1" u="sng" dirty="0">
                <a:solidFill>
                  <a:srgbClr val="0000FF"/>
                </a:solidFill>
                <a:latin typeface="+mn-ea"/>
              </a:rPr>
              <a:t>신청서 수취</a:t>
            </a:r>
            <a:endParaRPr lang="en-US" altLang="ko-KR" sz="1200" b="1" u="sng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→ </a:t>
            </a:r>
            <a:r>
              <a:rPr lang="ko-KR" altLang="en-US" sz="1200" b="1" dirty="0">
                <a:latin typeface="+mn-ea"/>
              </a:rPr>
              <a:t>합리적으로 선택할 수 있는 제도적 장치가 중요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20000"/>
              </a:lnSpc>
              <a:tabLst>
                <a:tab pos="558800" algn="l"/>
              </a:tabLst>
            </a:pP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판매 부진 시 환급 제도 운영</a:t>
            </a:r>
            <a:r>
              <a:rPr lang="en-US" altLang="ko-KR" sz="1000" dirty="0">
                <a:latin typeface="+mn-ea"/>
              </a:rPr>
              <a:t>)</a:t>
            </a:r>
          </a:p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판매수수료 사후 환급  </a:t>
            </a:r>
            <a:r>
              <a:rPr lang="en-US" altLang="ko-KR" sz="1200" b="1" dirty="0">
                <a:latin typeface="+mn-ea"/>
              </a:rPr>
              <a:t>: TV+</a:t>
            </a:r>
            <a:r>
              <a:rPr lang="ko-KR" altLang="en-US" sz="1200" b="1" dirty="0">
                <a:latin typeface="+mn-ea"/>
              </a:rPr>
              <a:t>데이터 </a:t>
            </a:r>
            <a:r>
              <a:rPr lang="en-US" altLang="ko-KR" sz="1200" b="1" dirty="0">
                <a:latin typeface="+mn-ea"/>
              </a:rPr>
              <a:t>4</a:t>
            </a:r>
            <a:r>
              <a:rPr lang="ko-KR" altLang="en-US" sz="1200" b="1" dirty="0">
                <a:latin typeface="+mn-ea"/>
              </a:rPr>
              <a:t>억원 내외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※ </a:t>
            </a:r>
            <a:r>
              <a:rPr lang="ko-KR" altLang="en-US" sz="1000" dirty="0">
                <a:latin typeface="+mn-ea"/>
              </a:rPr>
              <a:t>프로그램별로 목표 </a:t>
            </a:r>
            <a:r>
              <a:rPr lang="ko-KR" altLang="en-US" sz="1000" dirty="0" err="1">
                <a:latin typeface="+mn-ea"/>
              </a:rPr>
              <a:t>취급액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30% </a:t>
            </a:r>
            <a:r>
              <a:rPr lang="ko-KR" altLang="en-US" sz="1000" dirty="0" err="1">
                <a:latin typeface="+mn-ea"/>
              </a:rPr>
              <a:t>미달시</a:t>
            </a:r>
            <a:r>
              <a:rPr lang="ko-KR" altLang="en-US" sz="1000" dirty="0">
                <a:latin typeface="+mn-ea"/>
              </a:rPr>
              <a:t> 정액수수료 </a:t>
            </a:r>
            <a:r>
              <a:rPr lang="en-US" altLang="ko-KR" sz="1000" dirty="0">
                <a:latin typeface="+mn-ea"/>
              </a:rPr>
              <a:t>10% </a:t>
            </a:r>
            <a:r>
              <a:rPr lang="ko-KR" altLang="en-US" sz="1000" dirty="0">
                <a:latin typeface="+mn-ea"/>
              </a:rPr>
              <a:t>환급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</p:txBody>
      </p:sp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1D8978-D18A-E1FD-1D98-6FAB01D32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42" y="2647714"/>
            <a:ext cx="5414167" cy="1331828"/>
          </a:xfrm>
          <a:prstGeom prst="rect">
            <a:avLst/>
          </a:prstGeom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76E94C55-5C98-871B-BF0F-EAA95BFF7A26}"/>
              </a:ext>
            </a:extLst>
          </p:cNvPr>
          <p:cNvSpPr/>
          <p:nvPr/>
        </p:nvSpPr>
        <p:spPr>
          <a:xfrm>
            <a:off x="5185776" y="2028304"/>
            <a:ext cx="418012" cy="3787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7F72BDAE-D53A-A2F3-2918-79E8E86A63C6}"/>
              </a:ext>
            </a:extLst>
          </p:cNvPr>
          <p:cNvSpPr/>
          <p:nvPr/>
        </p:nvSpPr>
        <p:spPr>
          <a:xfrm>
            <a:off x="1732897" y="3044386"/>
            <a:ext cx="418012" cy="3787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A54990C-2A7D-07C7-0219-E1B958240A5C}"/>
              </a:ext>
            </a:extLst>
          </p:cNvPr>
          <p:cNvCxnSpPr>
            <a:stCxn id="3" idx="2"/>
            <a:endCxn id="5" idx="6"/>
          </p:cNvCxnSpPr>
          <p:nvPr/>
        </p:nvCxnSpPr>
        <p:spPr>
          <a:xfrm flipH="1">
            <a:off x="2150909" y="2217698"/>
            <a:ext cx="3034867" cy="10160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CB52DFC-04B0-ACEF-5EE6-53517DF72134}"/>
              </a:ext>
            </a:extLst>
          </p:cNvPr>
          <p:cNvSpPr txBox="1"/>
          <p:nvPr/>
        </p:nvSpPr>
        <p:spPr>
          <a:xfrm>
            <a:off x="227013" y="1262928"/>
            <a:ext cx="952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- </a:t>
            </a:r>
            <a:r>
              <a:rPr lang="ko-KR" altLang="en-US" sz="1000" b="1" dirty="0"/>
              <a:t>실적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64A7B8-8B7A-5E66-8432-0A29D82B1035}"/>
              </a:ext>
            </a:extLst>
          </p:cNvPr>
          <p:cNvSpPr txBox="1"/>
          <p:nvPr/>
        </p:nvSpPr>
        <p:spPr>
          <a:xfrm>
            <a:off x="233776" y="2547755"/>
            <a:ext cx="952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- </a:t>
            </a:r>
            <a:r>
              <a:rPr lang="ko-KR" altLang="en-US" sz="1000" b="1" dirty="0"/>
              <a:t>계획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A58515-76F9-5868-24CD-308BA80BFB15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69/109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21362754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E2B88B3-37F0-40F9-9261-5B43FD8681AA}"/>
              </a:ext>
            </a:extLst>
          </p:cNvPr>
          <p:cNvGraphicFramePr>
            <a:graphicFrameLocks noGrp="1"/>
          </p:cNvGraphicFramePr>
          <p:nvPr/>
        </p:nvGraphicFramePr>
        <p:xfrm>
          <a:off x="706365" y="2111069"/>
          <a:ext cx="10895429" cy="32775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3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73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883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153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 분</a:t>
                      </a:r>
                    </a:p>
                  </a:txBody>
                  <a:tcPr marL="91448" marR="91448" marT="45702" marB="457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200" b="1">
                          <a:latin typeface="+mn-ea"/>
                          <a:ea typeface="+mn-ea"/>
                        </a:rPr>
                        <a:t>기 준</a:t>
                      </a:r>
                    </a:p>
                  </a:txBody>
                  <a:tcPr marL="91448" marR="91448" marT="45702" marB="4570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8850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>
                          <a:latin typeface="+mn-ea"/>
                          <a:ea typeface="+mn-ea"/>
                        </a:rPr>
                        <a:t>비 고</a:t>
                      </a:r>
                    </a:p>
                  </a:txBody>
                  <a:tcPr marL="91448" marR="91448" marT="45702" marB="4570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8227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정액방송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중소기업</a:t>
                      </a:r>
                    </a:p>
                  </a:txBody>
                  <a:tcPr marL="91448" marR="91448" marT="45702" marB="457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정액방송별로 목표 취급액 대비 실적이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30% 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미만인 경우 정액수수료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10%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환급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     ※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정액수수료와 정률수수료를 함께 지급한 </a:t>
                      </a:r>
                      <a:r>
                        <a:rPr lang="ko-KR" altLang="en-US" sz="1000" dirty="0"/>
                        <a:t>방송의 경우 정액수수료 부분에 대해서만 환급</a:t>
                      </a:r>
                      <a:endParaRPr lang="en-US" altLang="ko-KR" sz="1000" dirty="0"/>
                    </a:p>
                  </a:txBody>
                  <a:tcPr marL="91448" marR="91448" marT="45702" marB="4570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직매입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무료 판매 방송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무형 제외</a:t>
                      </a:r>
                    </a:p>
                  </a:txBody>
                  <a:tcPr marL="91448" marR="91448" marT="45702" marB="4570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5047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정률방송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중소기업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448" marR="91448" marT="45702" marB="457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분기별 </a:t>
                      </a:r>
                      <a:r>
                        <a:rPr lang="ko-KR" altLang="en-US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취급액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억원 미만 영세 중소기업 중 판매 실적이 저조한 경우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→ </a:t>
                      </a:r>
                      <a:r>
                        <a:rPr lang="ko-KR" altLang="en-US" sz="12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분기 목표 </a:t>
                      </a:r>
                      <a:r>
                        <a:rPr lang="ko-KR" altLang="en-US" sz="1200" b="1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취급액</a:t>
                      </a:r>
                      <a:r>
                        <a:rPr lang="ko-KR" altLang="en-US" sz="12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달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성율 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40% 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미만으로</a:t>
                      </a:r>
                      <a:endParaRPr lang="en-US" altLang="ko-KR" sz="1200" b="1" i="0" u="none" strike="noStrike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defTabSz="884517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실질 </a:t>
                      </a:r>
                      <a:r>
                        <a:rPr lang="ko-KR" altLang="en-US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판매수수료율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35% 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이상인 경우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      정률수수료 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5% 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환급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48" marR="91448" marT="45702" marB="4570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1088502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/>
                    </a:p>
                  </a:txBody>
                  <a:tcPr marL="91448" marR="91448" marT="45702" marB="4570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A7A5DB3-EC4B-4D22-94D5-71071D99B882}"/>
              </a:ext>
            </a:extLst>
          </p:cNvPr>
          <p:cNvSpPr txBox="1"/>
          <p:nvPr/>
        </p:nvSpPr>
        <p:spPr>
          <a:xfrm>
            <a:off x="377418" y="835850"/>
            <a:ext cx="11553325" cy="1164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절차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사회공헌심의위원회 심의 →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동반위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 b="1" dirty="0" err="1">
                <a:latin typeface="맑은 고딕" panose="020B0503020000020004" pitchFamily="50" charset="-127"/>
              </a:rPr>
              <a:t>대중소기업농어업협력재단에</a:t>
            </a:r>
            <a:r>
              <a:rPr lang="ko-KR" altLang="en-US" sz="1200" b="1" dirty="0">
                <a:latin typeface="맑은 고딕" panose="020B0503020000020004" pitchFamily="50" charset="-127"/>
              </a:rPr>
              <a:t> 기부 → </a:t>
            </a:r>
            <a:r>
              <a:rPr lang="en-US" altLang="ko-KR" sz="1200" b="1" dirty="0">
                <a:latin typeface="맑은 고딕" panose="020B0503020000020004" pitchFamily="50" charset="-127"/>
              </a:rPr>
              <a:t>(</a:t>
            </a:r>
            <a:r>
              <a:rPr lang="ko-KR" altLang="en-US" sz="1200" b="1" dirty="0">
                <a:latin typeface="맑은 고딕" panose="020B0503020000020004" pitchFamily="50" charset="-127"/>
              </a:rPr>
              <a:t>당사</a:t>
            </a:r>
            <a:r>
              <a:rPr lang="en-US" altLang="ko-KR" sz="1200" b="1" dirty="0">
                <a:latin typeface="맑은 고딕" panose="020B0503020000020004" pitchFamily="50" charset="-127"/>
              </a:rPr>
              <a:t>)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분기별 정량기준에 따라 추출 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</a:t>
            </a:r>
            <a:r>
              <a:rPr lang="ko-KR" altLang="en-US" sz="1200" b="1" dirty="0">
                <a:latin typeface="맑은 고딕" panose="020B0503020000020004" pitchFamily="50" charset="-127"/>
              </a:rPr>
              <a:t>→ </a:t>
            </a:r>
            <a:r>
              <a:rPr lang="en-US" altLang="ko-KR" sz="1200" b="1" dirty="0">
                <a:latin typeface="맑은 고딕" panose="020B0503020000020004" pitchFamily="50" charset="-127"/>
              </a:rPr>
              <a:t>(</a:t>
            </a:r>
            <a:r>
              <a:rPr lang="ko-KR" altLang="en-US" sz="1200" b="1" dirty="0" err="1">
                <a:latin typeface="맑은 고딕" panose="020B0503020000020004" pitchFamily="50" charset="-127"/>
              </a:rPr>
              <a:t>동반위</a:t>
            </a:r>
            <a:r>
              <a:rPr lang="en-US" altLang="ko-KR" sz="1200" b="1" dirty="0">
                <a:latin typeface="맑은 고딕" panose="020B0503020000020004" pitchFamily="50" charset="-127"/>
              </a:rPr>
              <a:t>)</a:t>
            </a:r>
            <a:r>
              <a:rPr lang="ko-KR" altLang="en-US" sz="1200" b="1" dirty="0" err="1">
                <a:latin typeface="맑은 고딕" panose="020B0503020000020004" pitchFamily="50" charset="-127"/>
              </a:rPr>
              <a:t>대중소기업농어업협력재단에서</a:t>
            </a:r>
            <a:r>
              <a:rPr lang="ko-KR" altLang="en-US" sz="1200" b="1" dirty="0">
                <a:latin typeface="맑은 고딕" panose="020B0503020000020004" pitchFamily="50" charset="-127"/>
              </a:rPr>
              <a:t> 검증 → </a:t>
            </a:r>
            <a:r>
              <a:rPr lang="en-US" altLang="ko-KR" sz="1200" b="1" dirty="0">
                <a:latin typeface="맑은 고딕" panose="020B0503020000020004" pitchFamily="50" charset="-127"/>
              </a:rPr>
              <a:t>(</a:t>
            </a:r>
            <a:r>
              <a:rPr lang="ko-KR" altLang="en-US" sz="1200" b="1" dirty="0" err="1">
                <a:latin typeface="맑은 고딕" panose="020B0503020000020004" pitchFamily="50" charset="-127"/>
              </a:rPr>
              <a:t>동반위</a:t>
            </a:r>
            <a:r>
              <a:rPr lang="en-US" altLang="ko-KR" sz="1200" b="1" dirty="0">
                <a:latin typeface="맑은 고딕" panose="020B0503020000020004" pitchFamily="50" charset="-127"/>
              </a:rPr>
              <a:t>)</a:t>
            </a:r>
            <a:r>
              <a:rPr lang="ko-KR" altLang="en-US" sz="1200" b="1" dirty="0" err="1">
                <a:latin typeface="맑은 고딕" panose="020B0503020000020004" pitchFamily="50" charset="-127"/>
              </a:rPr>
              <a:t>대중소기업농어업협력재단에서</a:t>
            </a:r>
            <a:r>
              <a:rPr lang="ko-KR" altLang="en-US" sz="1200" b="1" dirty="0">
                <a:latin typeface="맑은 고딕" panose="020B0503020000020004" pitchFamily="50" charset="-127"/>
              </a:rPr>
              <a:t> 해당 중소기업에 직접 집행</a:t>
            </a:r>
            <a:endParaRPr lang="en-US" altLang="ko-KR" sz="1200" b="1" dirty="0"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맑은 고딕" panose="020B0503020000020004" pitchFamily="50" charset="-127"/>
              </a:rPr>
              <a:t>■ 대상 </a:t>
            </a:r>
            <a:r>
              <a:rPr lang="en-US" altLang="ko-KR" sz="1200" b="1" dirty="0">
                <a:latin typeface="맑은 고딕" panose="020B0503020000020004" pitchFamily="50" charset="-127"/>
              </a:rPr>
              <a:t>: TV + </a:t>
            </a:r>
            <a:r>
              <a:rPr lang="ko-KR" altLang="en-US" sz="1200" b="1" dirty="0">
                <a:latin typeface="맑은 고딕" panose="020B0503020000020004" pitchFamily="50" charset="-127"/>
              </a:rPr>
              <a:t>데이터의 중소기업 정액 및 정률방송 프로그램별로 판단</a:t>
            </a:r>
            <a:endParaRPr lang="en-US" altLang="ko-KR" sz="1200" b="1" dirty="0"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맑은 고딕" panose="020B0503020000020004" pitchFamily="50" charset="-127"/>
              </a:rPr>
              <a:t>■ 예산 </a:t>
            </a:r>
            <a:r>
              <a:rPr lang="en-US" altLang="ko-KR" sz="1200" b="1" dirty="0">
                <a:latin typeface="맑은 고딕" panose="020B0503020000020004" pitchFamily="50" charset="-127"/>
              </a:rPr>
              <a:t>: 4</a:t>
            </a:r>
            <a:r>
              <a:rPr lang="ko-KR" altLang="en-US" sz="1200" b="1" dirty="0">
                <a:latin typeface="맑은 고딕" panose="020B0503020000020004" pitchFamily="50" charset="-127"/>
              </a:rPr>
              <a:t>억원 내외 </a:t>
            </a:r>
            <a:endParaRPr lang="en-US" altLang="ko-KR" sz="1200" b="1" dirty="0"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58B5AD-15D8-6E36-C383-76932F231002}"/>
              </a:ext>
            </a:extLst>
          </p:cNvPr>
          <p:cNvSpPr txBox="1"/>
          <p:nvPr/>
        </p:nvSpPr>
        <p:spPr>
          <a:xfrm>
            <a:off x="52254" y="79548"/>
            <a:ext cx="7964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판매수수료 환급 기준</a:t>
            </a:r>
            <a:endParaRPr lang="en-US" altLang="ko-KR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043F12-21F1-FE77-6A9E-29973B9A81DC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70/109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36248854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AA243-4027-069E-BA3F-0DF41598D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5D80016-EFED-4CA9-A158-E61B4BF898B4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편성책임자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3271D7-9ACD-3C82-8CA8-C9FEB24856F7}"/>
              </a:ext>
            </a:extLst>
          </p:cNvPr>
          <p:cNvSpPr txBox="1"/>
          <p:nvPr/>
        </p:nvSpPr>
        <p:spPr>
          <a:xfrm>
            <a:off x="0" y="310408"/>
            <a:ext cx="11428712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just" latinLnBrk="1">
              <a:lnSpc>
                <a:spcPct val="120000"/>
              </a:lnSpc>
              <a:spcAft>
                <a:spcPts val="0"/>
              </a:spcAf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중소기업 지원 관련 기타 질문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2B7EA18-6942-8E09-8FC8-8D6F49566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047546"/>
              </p:ext>
            </p:extLst>
          </p:nvPr>
        </p:nvGraphicFramePr>
        <p:xfrm>
          <a:off x="268648" y="1029767"/>
          <a:ext cx="11711853" cy="5275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0810">
                  <a:extLst>
                    <a:ext uri="{9D8B030D-6E8A-4147-A177-3AD203B41FA5}">
                      <a16:colId xmlns:a16="http://schemas.microsoft.com/office/drawing/2014/main" val="520437847"/>
                    </a:ext>
                  </a:extLst>
                </a:gridCol>
                <a:gridCol w="4702580">
                  <a:extLst>
                    <a:ext uri="{9D8B030D-6E8A-4147-A177-3AD203B41FA5}">
                      <a16:colId xmlns:a16="http://schemas.microsoft.com/office/drawing/2014/main" val="1650677874"/>
                    </a:ext>
                  </a:extLst>
                </a:gridCol>
                <a:gridCol w="5938463">
                  <a:extLst>
                    <a:ext uri="{9D8B030D-6E8A-4147-A177-3AD203B41FA5}">
                      <a16:colId xmlns:a16="http://schemas.microsoft.com/office/drawing/2014/main" val="2615130860"/>
                    </a:ext>
                  </a:extLst>
                </a:gridCol>
              </a:tblGrid>
              <a:tr h="3390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구 분</a:t>
                      </a:r>
                    </a:p>
                  </a:txBody>
                  <a:tcPr marL="48000" marR="48000" marT="48000" marB="4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예상 질문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답변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141071"/>
                  </a:ext>
                </a:extLst>
              </a:tr>
              <a:tr h="171964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05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해외판로</a:t>
                      </a:r>
                      <a:endParaRPr lang="en-US" altLang="ko-KR" sz="105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(p.114)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48000" marB="4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just" latinLnBrk="1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Q. </a:t>
                      </a:r>
                      <a:r>
                        <a:rPr lang="ko-KR" altLang="en-US" sz="1050" b="1" dirty="0" err="1">
                          <a:solidFill>
                            <a:schemeClr val="tx1"/>
                          </a:solidFill>
                          <a:latin typeface="+mn-ea"/>
                        </a:rPr>
                        <a:t>해외판로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 실적은 있으나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1050" b="1" dirty="0" err="1">
                          <a:solidFill>
                            <a:schemeClr val="tx1"/>
                          </a:solidFill>
                          <a:latin typeface="+mn-ea"/>
                        </a:rPr>
                        <a:t>해외판로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 지원 계획은 </a:t>
                      </a:r>
                      <a:r>
                        <a:rPr lang="ko-KR" altLang="en-US" sz="1050" b="1" dirty="0" err="1">
                          <a:solidFill>
                            <a:schemeClr val="tx1"/>
                          </a:solidFill>
                          <a:latin typeface="+mn-ea"/>
                        </a:rPr>
                        <a:t>없으신가요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?</a:t>
                      </a:r>
                    </a:p>
                    <a:p>
                      <a:pPr marL="0" algn="just" latinLnBrk="1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    (</a:t>
                      </a:r>
                      <a:r>
                        <a:rPr lang="ko-KR" altLang="en-US" sz="1050" b="1" dirty="0" err="1">
                          <a:solidFill>
                            <a:schemeClr val="tx1"/>
                          </a:solidFill>
                          <a:latin typeface="+mn-ea"/>
                        </a:rPr>
                        <a:t>방미통위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 지침 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: </a:t>
                      </a:r>
                      <a:r>
                        <a:rPr lang="ko-KR" altLang="en-US" sz="1050" b="1" dirty="0" err="1">
                          <a:solidFill>
                            <a:schemeClr val="tx1"/>
                          </a:solidFill>
                          <a:latin typeface="+mn-ea"/>
                        </a:rPr>
                        <a:t>해외판로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 지원 부담 없도록 </a:t>
                      </a:r>
                      <a:r>
                        <a:rPr lang="ko-KR" altLang="en-US" sz="1050" b="1" dirty="0" err="1">
                          <a:solidFill>
                            <a:schemeClr val="tx1"/>
                          </a:solidFill>
                          <a:latin typeface="+mn-ea"/>
                        </a:rPr>
                        <a:t>각사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 판단에 따라 삽입 가능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</a:txBody>
                  <a:tcPr marL="468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tabLst>
                          <a:tab pos="558800" algn="l"/>
                        </a:tabLst>
                      </a:pP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A. (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해외시장개척단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>
                        <a:lnSpc>
                          <a:spcPct val="12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     </a:t>
                      </a:r>
                      <a:r>
                        <a:rPr lang="en-US" altLang="ko-KR" sz="1050" b="1" u="sng" dirty="0">
                          <a:solidFill>
                            <a:schemeClr val="tx1"/>
                          </a:solidFill>
                          <a:latin typeface="+mn-ea"/>
                        </a:rPr>
                        <a:t>2015</a:t>
                      </a:r>
                      <a:r>
                        <a:rPr lang="ko-KR" altLang="en-US" sz="1050" b="1" u="sng" dirty="0">
                          <a:solidFill>
                            <a:schemeClr val="tx1"/>
                          </a:solidFill>
                          <a:latin typeface="+mn-ea"/>
                        </a:rPr>
                        <a:t>년부터 매년 중소기업 </a:t>
                      </a:r>
                      <a:r>
                        <a:rPr lang="en-US" altLang="ko-KR" sz="1050" b="1" u="sng" dirty="0">
                          <a:solidFill>
                            <a:schemeClr val="tx1"/>
                          </a:solidFill>
                          <a:latin typeface="+mn-ea"/>
                        </a:rPr>
                        <a:t>20</a:t>
                      </a:r>
                      <a:r>
                        <a:rPr lang="ko-KR" altLang="en-US" sz="1050" b="1" u="sng" dirty="0">
                          <a:solidFill>
                            <a:schemeClr val="tx1"/>
                          </a:solidFill>
                          <a:latin typeface="+mn-ea"/>
                        </a:rPr>
                        <a:t>개 업체와 </a:t>
                      </a:r>
                      <a:r>
                        <a:rPr lang="ko-KR" altLang="en-US" sz="1050" b="1" u="sng" dirty="0" err="1">
                          <a:solidFill>
                            <a:schemeClr val="tx1"/>
                          </a:solidFill>
                          <a:latin typeface="+mn-ea"/>
                        </a:rPr>
                        <a:t>합께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</a:p>
                    <a:p>
                      <a:pPr>
                        <a:lnSpc>
                          <a:spcPct val="12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    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당사가 진출한 태국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베트남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등 </a:t>
                      </a:r>
                      <a:r>
                        <a:rPr lang="ko-KR" altLang="en-US" sz="1050" b="1" u="sng" dirty="0">
                          <a:solidFill>
                            <a:schemeClr val="tx1"/>
                          </a:solidFill>
                          <a:latin typeface="+mn-ea"/>
                        </a:rPr>
                        <a:t>해외 홈쇼핑 판로개척을 지원해 왔음</a:t>
                      </a:r>
                      <a:endParaRPr lang="en-US" altLang="ko-KR" sz="1050" b="1" u="sng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>
                        <a:lnSpc>
                          <a:spcPct val="12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   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 → 해외 판로개척을 지속할 계획이나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,</a:t>
                      </a:r>
                    </a:p>
                    <a:p>
                      <a:pPr>
                        <a:lnSpc>
                          <a:spcPct val="120000"/>
                        </a:lnSpc>
                        <a:tabLst>
                          <a:tab pos="558800" algn="l"/>
                        </a:tabLst>
                      </a:pP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         최근 </a:t>
                      </a:r>
                      <a:r>
                        <a:rPr lang="ko-KR" altLang="en-US" sz="1050" b="1" u="sng" dirty="0">
                          <a:solidFill>
                            <a:schemeClr val="tx1"/>
                          </a:solidFill>
                          <a:latin typeface="+mn-ea"/>
                        </a:rPr>
                        <a:t>해외 홈쇼핑보다 온라인 채널</a:t>
                      </a:r>
                      <a:r>
                        <a:rPr lang="en-US" altLang="ko-KR" sz="1050" b="1" u="sng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1050" b="1" u="sng" dirty="0">
                          <a:solidFill>
                            <a:schemeClr val="tx1"/>
                          </a:solidFill>
                          <a:latin typeface="+mn-ea"/>
                        </a:rPr>
                        <a:t>박람회 참관 등에 더 관심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이 높아지고 있음</a:t>
                      </a:r>
                      <a:endParaRPr lang="en-US" altLang="ko-KR" sz="1050" b="1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>
                        <a:lnSpc>
                          <a:spcPct val="12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         </a:t>
                      </a:r>
                      <a:r>
                        <a:rPr lang="ko-KR" altLang="en-US" sz="1050" b="1" u="none" dirty="0">
                          <a:solidFill>
                            <a:schemeClr val="tx1"/>
                          </a:solidFill>
                          <a:latin typeface="+mn-ea"/>
                        </a:rPr>
                        <a:t>중소기업 협력사 의견을 반영해서 </a:t>
                      </a:r>
                      <a:r>
                        <a:rPr lang="ko-KR" altLang="en-US" sz="1050" b="1" u="sng" dirty="0">
                          <a:solidFill>
                            <a:schemeClr val="tx1"/>
                          </a:solidFill>
                          <a:latin typeface="+mn-ea"/>
                        </a:rPr>
                        <a:t>새로운 형태의 해외 판로 지원을 준비 중</a:t>
                      </a:r>
                      <a:endParaRPr lang="en-US" altLang="ko-KR" sz="1050" b="1" u="sng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>
                        <a:lnSpc>
                          <a:spcPct val="12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        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구체화되지 않아서 반영하지 못함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  </a:t>
                      </a:r>
                    </a:p>
                    <a:p>
                      <a:pPr>
                        <a:lnSpc>
                          <a:spcPct val="12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        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예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실제 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26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년부터 식품 중소기업∙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MD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와 함께 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'FI ASIA </a:t>
                      </a:r>
                      <a:r>
                        <a:rPr lang="en-US" altLang="ko-KR" sz="1050" b="1" dirty="0" err="1">
                          <a:solidFill>
                            <a:schemeClr val="tx1"/>
                          </a:solidFill>
                          <a:latin typeface="+mn-ea"/>
                        </a:rPr>
                        <a:t>Tailand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'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식품 박람회 참관 준비 중</a:t>
                      </a:r>
                      <a:endParaRPr lang="en-US" altLang="ko-KR" sz="1050" b="1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68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5654075"/>
                  </a:ext>
                </a:extLst>
              </a:tr>
              <a:tr h="110972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스타트업</a:t>
                      </a:r>
                      <a:endParaRPr lang="en-US" altLang="ko-KR" sz="105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협력</a:t>
                      </a:r>
                      <a:endParaRPr lang="en-US" altLang="ko-KR" sz="105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(p.116)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48000" marB="4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Q. </a:t>
                      </a:r>
                      <a:r>
                        <a:rPr lang="ko-KR" altLang="en-US" sz="105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넥스트푸디콘을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2021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2022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년만 진행을 했는데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중단된 이유는 무엇인가요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marL="468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A. 21~22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년 </a:t>
                      </a:r>
                      <a:r>
                        <a:rPr lang="ko-KR" altLang="en-US" sz="1050" b="1" dirty="0" err="1">
                          <a:solidFill>
                            <a:schemeClr val="tx1"/>
                          </a:solidFill>
                          <a:latin typeface="+mn-ea"/>
                        </a:rPr>
                        <a:t>푸드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 중심으로 당사가 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'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넥스트 </a:t>
                      </a:r>
                      <a:r>
                        <a:rPr lang="ko-KR" altLang="en-US" sz="1050" b="1" dirty="0" err="1">
                          <a:solidFill>
                            <a:schemeClr val="tx1"/>
                          </a:solidFill>
                          <a:latin typeface="+mn-ea"/>
                        </a:rPr>
                        <a:t>푸디콘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'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을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진행했으며 성공적인 발굴 모델이 되어 </a:t>
                      </a:r>
                      <a:endParaRPr lang="en-US" altLang="ko-KR" sz="1050" b="1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>
                        <a:lnSpc>
                          <a:spcPct val="12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    </a:t>
                      </a:r>
                      <a:r>
                        <a:rPr lang="en-US" altLang="ko-KR" sz="1050" b="1" u="sng" dirty="0">
                          <a:solidFill>
                            <a:schemeClr val="tx1"/>
                          </a:solidFill>
                          <a:latin typeface="+mn-ea"/>
                        </a:rPr>
                        <a:t>23</a:t>
                      </a:r>
                      <a:r>
                        <a:rPr lang="ko-KR" altLang="en-US" sz="1050" b="1" u="sng" dirty="0">
                          <a:solidFill>
                            <a:schemeClr val="tx1"/>
                          </a:solidFill>
                          <a:latin typeface="+mn-ea"/>
                        </a:rPr>
                        <a:t>년부터 그룹차원에서 분야 및</a:t>
                      </a:r>
                      <a:r>
                        <a:rPr lang="en-US" altLang="ko-KR" sz="1050" b="1" u="sng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50" b="1" u="sng" dirty="0">
                          <a:solidFill>
                            <a:schemeClr val="tx1"/>
                          </a:solidFill>
                          <a:latin typeface="+mn-ea"/>
                        </a:rPr>
                        <a:t>규모 확대하여 스타트업 발굴</a:t>
                      </a:r>
                      <a:r>
                        <a:rPr lang="en-US" altLang="ko-KR" sz="1050" b="1" u="sng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50" b="1" u="sng" dirty="0">
                          <a:solidFill>
                            <a:schemeClr val="tx1"/>
                          </a:solidFill>
                          <a:latin typeface="+mn-ea"/>
                        </a:rPr>
                        <a:t>프로그램</a:t>
                      </a:r>
                      <a:r>
                        <a:rPr lang="en-US" altLang="ko-KR" sz="1050" b="1" u="sng" dirty="0">
                          <a:solidFill>
                            <a:schemeClr val="tx1"/>
                          </a:solidFill>
                          <a:latin typeface="+mn-ea"/>
                        </a:rPr>
                        <a:t>(GS </a:t>
                      </a:r>
                      <a:r>
                        <a:rPr lang="ko-KR" altLang="en-US" sz="1050" b="1" u="sng" dirty="0">
                          <a:solidFill>
                            <a:schemeClr val="tx1"/>
                          </a:solidFill>
                          <a:latin typeface="+mn-ea"/>
                        </a:rPr>
                        <a:t>챌린지</a:t>
                      </a:r>
                      <a:r>
                        <a:rPr lang="en-US" altLang="ko-KR" sz="1050" b="1" u="sng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  <a:r>
                        <a:rPr lang="ko-KR" altLang="en-US" sz="1050" b="1" u="sng" dirty="0">
                          <a:solidFill>
                            <a:schemeClr val="tx1"/>
                          </a:solidFill>
                          <a:latin typeface="+mn-ea"/>
                        </a:rPr>
                        <a:t> 운영 중</a:t>
                      </a:r>
                      <a:endParaRPr lang="en-US" altLang="ko-KR" sz="1050" b="1" u="sng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>
                        <a:lnSpc>
                          <a:spcPct val="12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    21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년 재승인 당시 계획대로 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'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넥스트 </a:t>
                      </a:r>
                      <a:r>
                        <a:rPr lang="ko-KR" altLang="en-US" sz="1050" b="1" dirty="0" err="1">
                          <a:solidFill>
                            <a:schemeClr val="tx1"/>
                          </a:solidFill>
                          <a:latin typeface="+mn-ea"/>
                        </a:rPr>
                        <a:t>푸디콘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'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실적만 금번에 제출함</a:t>
                      </a:r>
                      <a:endParaRPr lang="en-US" altLang="ko-KR" sz="1050" b="1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>
                        <a:lnSpc>
                          <a:spcPct val="12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   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 → 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(p.122)26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년에 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'GS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챌린지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'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 하겠다는 계획 제시됨</a:t>
                      </a:r>
                      <a:endParaRPr lang="en-US" altLang="ko-KR" sz="1050" b="1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>
                        <a:lnSpc>
                          <a:spcPct val="12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         </a:t>
                      </a:r>
                      <a:r>
                        <a:rPr lang="ko-KR" altLang="en-US" sz="1050" b="1" u="sng" dirty="0">
                          <a:solidFill>
                            <a:schemeClr val="tx1"/>
                          </a:solidFill>
                          <a:latin typeface="+mn-ea"/>
                        </a:rPr>
                        <a:t>스타트업 발굴과 협업 중요하게 생각하고 내용과 방식은 다르더라도 계속 할 계획</a:t>
                      </a:r>
                      <a:endParaRPr lang="en-US" altLang="ko-KR" sz="1050" u="sng" dirty="0">
                        <a:solidFill>
                          <a:schemeClr val="tx1"/>
                        </a:solidFill>
                      </a:endParaRPr>
                    </a:p>
                  </a:txBody>
                  <a:tcPr marL="468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22683"/>
                  </a:ext>
                </a:extLst>
              </a:tr>
              <a:tr h="210678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수수료 환급</a:t>
                      </a:r>
                      <a:endParaRPr lang="en-US" altLang="ko-KR" sz="105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(p.125)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5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48000" marB="4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</a:rPr>
                        <a:t>Q.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판매수수료 환급 실적이 감소하고 있는데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이유는 무엇인가요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8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A. </a:t>
                      </a:r>
                      <a:r>
                        <a:rPr lang="ko-KR" altLang="en-US" sz="105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판매수수료 환급은 정량 기준에 따라 환급</a:t>
                      </a:r>
                      <a:endParaRPr lang="en-US" altLang="ko-KR" sz="1050" b="1" u="sng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성과가 나쁘면 환급액이 늘어나고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성과가 좋으면 환급액이 </a:t>
                      </a:r>
                      <a:r>
                        <a:rPr lang="ko-KR" altLang="en-US" sz="105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줄어듬</a:t>
                      </a:r>
                      <a:endParaRPr lang="en-US" altLang="ko-KR" sz="105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latin typeface="+mn-ea"/>
                        </a:rPr>
                        <a:t>    </a:t>
                      </a:r>
                      <a:r>
                        <a:rPr lang="en-US" altLang="ko-KR" sz="1000" dirty="0">
                          <a:latin typeface="+mn-ea"/>
                        </a:rPr>
                        <a:t>*</a:t>
                      </a:r>
                      <a:r>
                        <a:rPr lang="ko-KR" altLang="en-US" sz="1000" dirty="0">
                          <a:latin typeface="+mn-ea"/>
                        </a:rPr>
                        <a:t>프로그램별로 목표취급액 </a:t>
                      </a:r>
                      <a:r>
                        <a:rPr lang="en-US" altLang="ko-KR" sz="1000" dirty="0">
                          <a:latin typeface="+mn-ea"/>
                        </a:rPr>
                        <a:t>30% </a:t>
                      </a:r>
                      <a:r>
                        <a:rPr lang="ko-KR" altLang="en-US" sz="1000" dirty="0" err="1">
                          <a:latin typeface="+mn-ea"/>
                        </a:rPr>
                        <a:t>미달시</a:t>
                      </a:r>
                      <a:r>
                        <a:rPr lang="ko-KR" altLang="en-US" sz="1000" dirty="0">
                          <a:latin typeface="+mn-ea"/>
                        </a:rPr>
                        <a:t> 정액수수료 </a:t>
                      </a:r>
                      <a:r>
                        <a:rPr lang="en-US" altLang="ko-KR" sz="1000" dirty="0">
                          <a:latin typeface="+mn-ea"/>
                        </a:rPr>
                        <a:t>10% </a:t>
                      </a:r>
                      <a:r>
                        <a:rPr lang="ko-KR" altLang="en-US" sz="1000" dirty="0">
                          <a:latin typeface="+mn-ea"/>
                        </a:rPr>
                        <a:t>환급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8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121873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AECFD37-E825-B3C2-305A-4006C2FE51B9}"/>
              </a:ext>
            </a:extLst>
          </p:cNvPr>
          <p:cNvSpPr txBox="1"/>
          <p:nvPr/>
        </p:nvSpPr>
        <p:spPr>
          <a:xfrm>
            <a:off x="65067" y="339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3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중소기업 지원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pic>
        <p:nvPicPr>
          <p:cNvPr id="2" name="그림 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88783E-A166-720C-590F-B2B006784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169" y="5042254"/>
            <a:ext cx="4587754" cy="101801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4D18F4F-9010-6186-E5F5-CFDCA86C0669}"/>
              </a:ext>
            </a:extLst>
          </p:cNvPr>
          <p:cNvCxnSpPr/>
          <p:nvPr/>
        </p:nvCxnSpPr>
        <p:spPr>
          <a:xfrm>
            <a:off x="6313714" y="5233853"/>
            <a:ext cx="215972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7A7418A-6B09-0477-75E7-E1ACA0A9DCC3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71/109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35074220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2273E3-3DF1-F0CF-20A2-64AD2F4BDB51}"/>
              </a:ext>
            </a:extLst>
          </p:cNvPr>
          <p:cNvSpPr txBox="1"/>
          <p:nvPr/>
        </p:nvSpPr>
        <p:spPr>
          <a:xfrm>
            <a:off x="66675" y="91447"/>
            <a:ext cx="8819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중소기업 관련 주요 정량지표</a:t>
            </a:r>
            <a:endParaRPr lang="en-US" altLang="ko-KR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1B372D82-1A9F-BBAF-4060-F585B52CD8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67650"/>
              </p:ext>
            </p:extLst>
          </p:nvPr>
        </p:nvGraphicFramePr>
        <p:xfrm>
          <a:off x="397829" y="883101"/>
          <a:ext cx="11306492" cy="3714583"/>
        </p:xfrm>
        <a:graphic>
          <a:graphicData uri="http://schemas.openxmlformats.org/drawingml/2006/table">
            <a:tbl>
              <a:tblPr firstRow="1" bandRow="1"/>
              <a:tblGrid>
                <a:gridCol w="1236952">
                  <a:extLst>
                    <a:ext uri="{9D8B030D-6E8A-4147-A177-3AD203B41FA5}">
                      <a16:colId xmlns:a16="http://schemas.microsoft.com/office/drawing/2014/main" val="2029213050"/>
                    </a:ext>
                  </a:extLst>
                </a:gridCol>
                <a:gridCol w="5670259">
                  <a:extLst>
                    <a:ext uri="{9D8B030D-6E8A-4147-A177-3AD203B41FA5}">
                      <a16:colId xmlns:a16="http://schemas.microsoft.com/office/drawing/2014/main" val="932890822"/>
                    </a:ext>
                  </a:extLst>
                </a:gridCol>
                <a:gridCol w="4399281">
                  <a:extLst>
                    <a:ext uri="{9D8B030D-6E8A-4147-A177-3AD203B41FA5}">
                      <a16:colId xmlns:a16="http://schemas.microsoft.com/office/drawing/2014/main" val="24534501"/>
                    </a:ext>
                  </a:extLst>
                </a:gridCol>
              </a:tblGrid>
              <a:tr h="26670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/>
                        <a:t>구 분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/>
                        <a:t>데이터홈쇼핑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/>
                        <a:t>참고</a:t>
                      </a:r>
                      <a:r>
                        <a:rPr lang="en-US" altLang="ko-KR" sz="1100" b="1" dirty="0"/>
                        <a:t>)TV</a:t>
                      </a:r>
                      <a:r>
                        <a:rPr lang="ko-KR" altLang="en-US" sz="1100" b="1" dirty="0"/>
                        <a:t>홈쇼핑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997220"/>
                  </a:ext>
                </a:extLst>
              </a:tr>
              <a:tr h="80177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중소기업</a:t>
                      </a:r>
                      <a:endParaRPr lang="en-US" altLang="ko-KR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편성비중</a:t>
                      </a:r>
                      <a:endParaRPr lang="ko-KR" altLang="en-US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100" b="1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100" b="1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616560"/>
                  </a:ext>
                </a:extLst>
              </a:tr>
              <a:tr h="80177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spc="-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프라임타임</a:t>
                      </a:r>
                      <a:endParaRPr lang="en-US" altLang="ko-KR" sz="1100" b="1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중소기업</a:t>
                      </a:r>
                      <a:endParaRPr lang="en-US" altLang="ko-KR" sz="1100" b="1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편성비중</a:t>
                      </a:r>
                      <a:endParaRPr lang="ko-KR" altLang="en-US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100" b="1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100" b="1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114454"/>
                  </a:ext>
                </a:extLst>
              </a:tr>
              <a:tr h="92216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중소기업</a:t>
                      </a:r>
                      <a:endParaRPr lang="en-US" altLang="ko-KR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정액방송</a:t>
                      </a:r>
                      <a:endParaRPr lang="en-US" altLang="ko-KR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편성비중</a:t>
                      </a:r>
                      <a:endParaRPr lang="ko-KR" altLang="en-US" sz="10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100" b="1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100" b="1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016420"/>
                  </a:ext>
                </a:extLst>
              </a:tr>
              <a:tr h="92216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프라임타임</a:t>
                      </a:r>
                      <a:endParaRPr lang="en-US" altLang="ko-KR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중소기업</a:t>
                      </a:r>
                      <a:endParaRPr lang="en-US" altLang="ko-KR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정액방송</a:t>
                      </a:r>
                      <a:endParaRPr lang="en-US" altLang="ko-KR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편성비중</a:t>
                      </a:r>
                      <a:endParaRPr lang="ko-KR" altLang="en-US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100" b="1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100" b="1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283555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E46E0BA-2BC7-036B-E1E3-1F830616FA64}"/>
              </a:ext>
            </a:extLst>
          </p:cNvPr>
          <p:cNvSpPr txBox="1"/>
          <p:nvPr/>
        </p:nvSpPr>
        <p:spPr>
          <a:xfrm>
            <a:off x="326708" y="590411"/>
            <a:ext cx="1520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latinLnBrk="1"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① 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중소기업 편성 </a:t>
            </a:r>
            <a:endParaRPr lang="en-US" altLang="ko-KR" sz="12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F771F7-20D9-4A1A-8490-E709C73CA8D7}"/>
              </a:ext>
            </a:extLst>
          </p:cNvPr>
          <p:cNvSpPr txBox="1"/>
          <p:nvPr/>
        </p:nvSpPr>
        <p:spPr>
          <a:xfrm>
            <a:off x="397827" y="4662802"/>
            <a:ext cx="44281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② 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중소기업 </a:t>
            </a:r>
            <a:r>
              <a:rPr lang="ko-KR" altLang="en-US" sz="1200" b="1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판매수수료율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 및 </a:t>
            </a:r>
            <a:r>
              <a:rPr lang="ko-KR" altLang="en-US" sz="1200" b="1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직매입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endParaRPr lang="en-US" altLang="ko-KR" sz="12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CBCA10F-A6A4-135B-99A8-A5DEB4290E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816313"/>
              </p:ext>
            </p:extLst>
          </p:nvPr>
        </p:nvGraphicFramePr>
        <p:xfrm>
          <a:off x="1888702" y="2828481"/>
          <a:ext cx="5142016" cy="635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52">
                  <a:extLst>
                    <a:ext uri="{9D8B030D-6E8A-4147-A177-3AD203B41FA5}">
                      <a16:colId xmlns:a16="http://schemas.microsoft.com/office/drawing/2014/main" val="2138775458"/>
                    </a:ext>
                  </a:extLst>
                </a:gridCol>
                <a:gridCol w="642752">
                  <a:extLst>
                    <a:ext uri="{9D8B030D-6E8A-4147-A177-3AD203B41FA5}">
                      <a16:colId xmlns:a16="http://schemas.microsoft.com/office/drawing/2014/main" val="3356890511"/>
                    </a:ext>
                  </a:extLst>
                </a:gridCol>
                <a:gridCol w="642752">
                  <a:extLst>
                    <a:ext uri="{9D8B030D-6E8A-4147-A177-3AD203B41FA5}">
                      <a16:colId xmlns:a16="http://schemas.microsoft.com/office/drawing/2014/main" val="3431794672"/>
                    </a:ext>
                  </a:extLst>
                </a:gridCol>
                <a:gridCol w="642752">
                  <a:extLst>
                    <a:ext uri="{9D8B030D-6E8A-4147-A177-3AD203B41FA5}">
                      <a16:colId xmlns:a16="http://schemas.microsoft.com/office/drawing/2014/main" val="1130974661"/>
                    </a:ext>
                  </a:extLst>
                </a:gridCol>
                <a:gridCol w="642752">
                  <a:extLst>
                    <a:ext uri="{9D8B030D-6E8A-4147-A177-3AD203B41FA5}">
                      <a16:colId xmlns:a16="http://schemas.microsoft.com/office/drawing/2014/main" val="2862997554"/>
                    </a:ext>
                  </a:extLst>
                </a:gridCol>
                <a:gridCol w="642752">
                  <a:extLst>
                    <a:ext uri="{9D8B030D-6E8A-4147-A177-3AD203B41FA5}">
                      <a16:colId xmlns:a16="http://schemas.microsoft.com/office/drawing/2014/main" val="4195644202"/>
                    </a:ext>
                  </a:extLst>
                </a:gridCol>
                <a:gridCol w="642752">
                  <a:extLst>
                    <a:ext uri="{9D8B030D-6E8A-4147-A177-3AD203B41FA5}">
                      <a16:colId xmlns:a16="http://schemas.microsoft.com/office/drawing/2014/main" val="2122938334"/>
                    </a:ext>
                  </a:extLst>
                </a:gridCol>
                <a:gridCol w="642752">
                  <a:extLst>
                    <a:ext uri="{9D8B030D-6E8A-4147-A177-3AD203B41FA5}">
                      <a16:colId xmlns:a16="http://schemas.microsoft.com/office/drawing/2014/main" val="917663206"/>
                    </a:ext>
                  </a:extLst>
                </a:gridCol>
              </a:tblGrid>
              <a:tr h="1947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2021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2022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2023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2024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</a:t>
                      </a:r>
                    </a:p>
                  </a:txBody>
                  <a:tcPr marL="0" marR="0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목표</a:t>
                      </a:r>
                    </a:p>
                  </a:txBody>
                  <a:tcPr marL="0" marR="0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110695"/>
                  </a:ext>
                </a:extLst>
              </a:tr>
              <a:tr h="1947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계획</a:t>
                      </a:r>
                      <a:endParaRPr lang="en-US" altLang="ko-KR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8.0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8.0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8.0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8.0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8.0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20.0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12.0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4427474"/>
                  </a:ext>
                </a:extLst>
              </a:tr>
              <a:tr h="1947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실적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rgbClr val="1919E5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4.9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rgbClr val="1919E5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7.6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rgbClr val="1919E5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7.4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kern="0" spc="0" baseline="0" dirty="0">
                          <a:solidFill>
                            <a:srgbClr val="1919E5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7.2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000" b="1" i="0" u="none" strike="noStrike" kern="0" spc="0" baseline="0" noProof="0" dirty="0">
                          <a:solidFill>
                            <a:srgbClr val="1919E5"/>
                          </a:solidFill>
                          <a:effectLst/>
                          <a:latin typeface="Malgun Gothic"/>
                        </a:rPr>
                        <a:t>7.2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168986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AD065A0-1843-FB4F-1E25-6C603F5ED0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895908"/>
              </p:ext>
            </p:extLst>
          </p:nvPr>
        </p:nvGraphicFramePr>
        <p:xfrm>
          <a:off x="1922778" y="3732181"/>
          <a:ext cx="5107944" cy="648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493">
                  <a:extLst>
                    <a:ext uri="{9D8B030D-6E8A-4147-A177-3AD203B41FA5}">
                      <a16:colId xmlns:a16="http://schemas.microsoft.com/office/drawing/2014/main" val="3708515029"/>
                    </a:ext>
                  </a:extLst>
                </a:gridCol>
                <a:gridCol w="638493">
                  <a:extLst>
                    <a:ext uri="{9D8B030D-6E8A-4147-A177-3AD203B41FA5}">
                      <a16:colId xmlns:a16="http://schemas.microsoft.com/office/drawing/2014/main" val="1065784062"/>
                    </a:ext>
                  </a:extLst>
                </a:gridCol>
                <a:gridCol w="638493">
                  <a:extLst>
                    <a:ext uri="{9D8B030D-6E8A-4147-A177-3AD203B41FA5}">
                      <a16:colId xmlns:a16="http://schemas.microsoft.com/office/drawing/2014/main" val="197296924"/>
                    </a:ext>
                  </a:extLst>
                </a:gridCol>
                <a:gridCol w="638493">
                  <a:extLst>
                    <a:ext uri="{9D8B030D-6E8A-4147-A177-3AD203B41FA5}">
                      <a16:colId xmlns:a16="http://schemas.microsoft.com/office/drawing/2014/main" val="4213506756"/>
                    </a:ext>
                  </a:extLst>
                </a:gridCol>
                <a:gridCol w="638493">
                  <a:extLst>
                    <a:ext uri="{9D8B030D-6E8A-4147-A177-3AD203B41FA5}">
                      <a16:colId xmlns:a16="http://schemas.microsoft.com/office/drawing/2014/main" val="863654481"/>
                    </a:ext>
                  </a:extLst>
                </a:gridCol>
                <a:gridCol w="638493">
                  <a:extLst>
                    <a:ext uri="{9D8B030D-6E8A-4147-A177-3AD203B41FA5}">
                      <a16:colId xmlns:a16="http://schemas.microsoft.com/office/drawing/2014/main" val="4233464672"/>
                    </a:ext>
                  </a:extLst>
                </a:gridCol>
                <a:gridCol w="638493">
                  <a:extLst>
                    <a:ext uri="{9D8B030D-6E8A-4147-A177-3AD203B41FA5}">
                      <a16:colId xmlns:a16="http://schemas.microsoft.com/office/drawing/2014/main" val="4196462867"/>
                    </a:ext>
                  </a:extLst>
                </a:gridCol>
                <a:gridCol w="638493">
                  <a:extLst>
                    <a:ext uri="{9D8B030D-6E8A-4147-A177-3AD203B41FA5}">
                      <a16:colId xmlns:a16="http://schemas.microsoft.com/office/drawing/2014/main" val="3360148905"/>
                    </a:ext>
                  </a:extLst>
                </a:gridCol>
              </a:tblGrid>
              <a:tr h="1947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2021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2022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2023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2024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</a:t>
                      </a:r>
                    </a:p>
                  </a:txBody>
                  <a:tcPr marL="0" marR="0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목표</a:t>
                      </a:r>
                    </a:p>
                  </a:txBody>
                  <a:tcPr marL="0" marR="0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470228"/>
                  </a:ext>
                </a:extLst>
              </a:tr>
              <a:tr h="1947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계획</a:t>
                      </a:r>
                      <a:endParaRPr lang="en-US" altLang="ko-KR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8.0</a:t>
                      </a:r>
                    </a:p>
                  </a:txBody>
                  <a:tcPr marL="104535" marR="104535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8.0</a:t>
                      </a:r>
                    </a:p>
                  </a:txBody>
                  <a:tcPr marL="104535" marR="104535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8.0</a:t>
                      </a:r>
                    </a:p>
                  </a:txBody>
                  <a:tcPr marL="104535" marR="104535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8.0</a:t>
                      </a:r>
                    </a:p>
                  </a:txBody>
                  <a:tcPr marL="104535" marR="104535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8.0</a:t>
                      </a:r>
                    </a:p>
                  </a:txBody>
                  <a:tcPr marL="104535" marR="104535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25.0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14.0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004743"/>
                  </a:ext>
                </a:extLst>
              </a:tr>
              <a:tr h="20848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실적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rgbClr val="1919E5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5.7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rgbClr val="1919E5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7.6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rgbClr val="1919E5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7.6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kern="0" spc="0" baseline="0" dirty="0">
                          <a:solidFill>
                            <a:srgbClr val="1919E5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7.2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kern="0" spc="0" baseline="0" dirty="0">
                          <a:solidFill>
                            <a:srgbClr val="1919E5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6.9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566279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71D5862-20DA-44F0-4036-D7F60ACFA7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862088"/>
              </p:ext>
            </p:extLst>
          </p:nvPr>
        </p:nvGraphicFramePr>
        <p:xfrm>
          <a:off x="1888702" y="1233304"/>
          <a:ext cx="5142016" cy="635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52">
                  <a:extLst>
                    <a:ext uri="{9D8B030D-6E8A-4147-A177-3AD203B41FA5}">
                      <a16:colId xmlns:a16="http://schemas.microsoft.com/office/drawing/2014/main" val="2164888999"/>
                    </a:ext>
                  </a:extLst>
                </a:gridCol>
                <a:gridCol w="642752">
                  <a:extLst>
                    <a:ext uri="{9D8B030D-6E8A-4147-A177-3AD203B41FA5}">
                      <a16:colId xmlns:a16="http://schemas.microsoft.com/office/drawing/2014/main" val="2079379472"/>
                    </a:ext>
                  </a:extLst>
                </a:gridCol>
                <a:gridCol w="642752">
                  <a:extLst>
                    <a:ext uri="{9D8B030D-6E8A-4147-A177-3AD203B41FA5}">
                      <a16:colId xmlns:a16="http://schemas.microsoft.com/office/drawing/2014/main" val="2633264423"/>
                    </a:ext>
                  </a:extLst>
                </a:gridCol>
                <a:gridCol w="642752">
                  <a:extLst>
                    <a:ext uri="{9D8B030D-6E8A-4147-A177-3AD203B41FA5}">
                      <a16:colId xmlns:a16="http://schemas.microsoft.com/office/drawing/2014/main" val="2951560040"/>
                    </a:ext>
                  </a:extLst>
                </a:gridCol>
                <a:gridCol w="642752">
                  <a:extLst>
                    <a:ext uri="{9D8B030D-6E8A-4147-A177-3AD203B41FA5}">
                      <a16:colId xmlns:a16="http://schemas.microsoft.com/office/drawing/2014/main" val="2556105477"/>
                    </a:ext>
                  </a:extLst>
                </a:gridCol>
                <a:gridCol w="642752">
                  <a:extLst>
                    <a:ext uri="{9D8B030D-6E8A-4147-A177-3AD203B41FA5}">
                      <a16:colId xmlns:a16="http://schemas.microsoft.com/office/drawing/2014/main" val="1932435063"/>
                    </a:ext>
                  </a:extLst>
                </a:gridCol>
                <a:gridCol w="642752">
                  <a:extLst>
                    <a:ext uri="{9D8B030D-6E8A-4147-A177-3AD203B41FA5}">
                      <a16:colId xmlns:a16="http://schemas.microsoft.com/office/drawing/2014/main" val="202076191"/>
                    </a:ext>
                  </a:extLst>
                </a:gridCol>
                <a:gridCol w="642752">
                  <a:extLst>
                    <a:ext uri="{9D8B030D-6E8A-4147-A177-3AD203B41FA5}">
                      <a16:colId xmlns:a16="http://schemas.microsoft.com/office/drawing/2014/main" val="40756645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2021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2022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2023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2024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</a:t>
                      </a:r>
                    </a:p>
                  </a:txBody>
                  <a:tcPr marL="0" marR="0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목표</a:t>
                      </a:r>
                    </a:p>
                  </a:txBody>
                  <a:tcPr marL="0" marR="0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322678"/>
                  </a:ext>
                </a:extLst>
              </a:tr>
              <a:tr h="1947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계획</a:t>
                      </a:r>
                      <a:endParaRPr lang="en-US" altLang="ko-KR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70.2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70.4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70.6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70.8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71.0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60.0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868543"/>
                  </a:ext>
                </a:extLst>
              </a:tr>
              <a:tr h="1947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실적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70.5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71.4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71.1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71.3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72.4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4068466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DAFDB9D6-C330-975F-395B-26A33BD52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730048"/>
              </p:ext>
            </p:extLst>
          </p:nvPr>
        </p:nvGraphicFramePr>
        <p:xfrm>
          <a:off x="1888702" y="2066263"/>
          <a:ext cx="5142016" cy="635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52">
                  <a:extLst>
                    <a:ext uri="{9D8B030D-6E8A-4147-A177-3AD203B41FA5}">
                      <a16:colId xmlns:a16="http://schemas.microsoft.com/office/drawing/2014/main" val="1048196350"/>
                    </a:ext>
                  </a:extLst>
                </a:gridCol>
                <a:gridCol w="642752">
                  <a:extLst>
                    <a:ext uri="{9D8B030D-6E8A-4147-A177-3AD203B41FA5}">
                      <a16:colId xmlns:a16="http://schemas.microsoft.com/office/drawing/2014/main" val="3474282435"/>
                    </a:ext>
                  </a:extLst>
                </a:gridCol>
                <a:gridCol w="642752">
                  <a:extLst>
                    <a:ext uri="{9D8B030D-6E8A-4147-A177-3AD203B41FA5}">
                      <a16:colId xmlns:a16="http://schemas.microsoft.com/office/drawing/2014/main" val="3100708998"/>
                    </a:ext>
                  </a:extLst>
                </a:gridCol>
                <a:gridCol w="642752">
                  <a:extLst>
                    <a:ext uri="{9D8B030D-6E8A-4147-A177-3AD203B41FA5}">
                      <a16:colId xmlns:a16="http://schemas.microsoft.com/office/drawing/2014/main" val="989296951"/>
                    </a:ext>
                  </a:extLst>
                </a:gridCol>
                <a:gridCol w="642752">
                  <a:extLst>
                    <a:ext uri="{9D8B030D-6E8A-4147-A177-3AD203B41FA5}">
                      <a16:colId xmlns:a16="http://schemas.microsoft.com/office/drawing/2014/main" val="525367907"/>
                    </a:ext>
                  </a:extLst>
                </a:gridCol>
                <a:gridCol w="642752">
                  <a:extLst>
                    <a:ext uri="{9D8B030D-6E8A-4147-A177-3AD203B41FA5}">
                      <a16:colId xmlns:a16="http://schemas.microsoft.com/office/drawing/2014/main" val="1519488829"/>
                    </a:ext>
                  </a:extLst>
                </a:gridCol>
                <a:gridCol w="642752">
                  <a:extLst>
                    <a:ext uri="{9D8B030D-6E8A-4147-A177-3AD203B41FA5}">
                      <a16:colId xmlns:a16="http://schemas.microsoft.com/office/drawing/2014/main" val="27923672"/>
                    </a:ext>
                  </a:extLst>
                </a:gridCol>
                <a:gridCol w="642752">
                  <a:extLst>
                    <a:ext uri="{9D8B030D-6E8A-4147-A177-3AD203B41FA5}">
                      <a16:colId xmlns:a16="http://schemas.microsoft.com/office/drawing/2014/main" val="1441914814"/>
                    </a:ext>
                  </a:extLst>
                </a:gridCol>
              </a:tblGrid>
              <a:tr h="1947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2021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2022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2023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2024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</a:t>
                      </a:r>
                    </a:p>
                  </a:txBody>
                  <a:tcPr marL="0" marR="0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목표</a:t>
                      </a:r>
                    </a:p>
                  </a:txBody>
                  <a:tcPr marL="0" marR="0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438489"/>
                  </a:ext>
                </a:extLst>
              </a:tr>
              <a:tr h="1947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계획</a:t>
                      </a:r>
                      <a:endParaRPr lang="en-US" altLang="ko-KR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51.0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52.0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53.0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54.0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55.0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50.0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52921"/>
                  </a:ext>
                </a:extLst>
              </a:tr>
              <a:tr h="1947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실적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58.5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61.9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59.6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65.0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65.9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306878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BD34ACE-2E4A-E593-8570-7E7A075E8A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960257"/>
              </p:ext>
            </p:extLst>
          </p:nvPr>
        </p:nvGraphicFramePr>
        <p:xfrm>
          <a:off x="397827" y="4956799"/>
          <a:ext cx="11304905" cy="1817681"/>
        </p:xfrm>
        <a:graphic>
          <a:graphicData uri="http://schemas.openxmlformats.org/drawingml/2006/table">
            <a:tbl>
              <a:tblPr firstRow="1" bandRow="1"/>
              <a:tblGrid>
                <a:gridCol w="1236778">
                  <a:extLst>
                    <a:ext uri="{9D8B030D-6E8A-4147-A177-3AD203B41FA5}">
                      <a16:colId xmlns:a16="http://schemas.microsoft.com/office/drawing/2014/main" val="1115583579"/>
                    </a:ext>
                  </a:extLst>
                </a:gridCol>
                <a:gridCol w="5680595">
                  <a:extLst>
                    <a:ext uri="{9D8B030D-6E8A-4147-A177-3AD203B41FA5}">
                      <a16:colId xmlns:a16="http://schemas.microsoft.com/office/drawing/2014/main" val="2984823830"/>
                    </a:ext>
                  </a:extLst>
                </a:gridCol>
                <a:gridCol w="4387532">
                  <a:extLst>
                    <a:ext uri="{9D8B030D-6E8A-4147-A177-3AD203B41FA5}">
                      <a16:colId xmlns:a16="http://schemas.microsoft.com/office/drawing/2014/main" val="3263664964"/>
                    </a:ext>
                  </a:extLst>
                </a:gridCol>
              </a:tblGrid>
              <a:tr h="22934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/>
                        <a:t>구 분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/>
                        <a:t>데이터홈쇼핑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/>
                        <a:t>참고</a:t>
                      </a:r>
                      <a:r>
                        <a:rPr lang="en-US" altLang="ko-KR" sz="1100" b="1" dirty="0"/>
                        <a:t>)TV</a:t>
                      </a:r>
                      <a:r>
                        <a:rPr lang="ko-KR" altLang="en-US" sz="1100" b="1" dirty="0"/>
                        <a:t>홈쇼핑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454984"/>
                  </a:ext>
                </a:extLst>
              </a:tr>
              <a:tr h="86466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중소기업</a:t>
                      </a:r>
                      <a:endParaRPr lang="en-US" altLang="ko-KR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판매수수료율</a:t>
                      </a:r>
                      <a:endParaRPr lang="en-US" altLang="ko-KR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100" b="1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100" b="1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7310768"/>
                  </a:ext>
                </a:extLst>
              </a:tr>
              <a:tr h="7133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중소기업</a:t>
                      </a:r>
                      <a:endParaRPr lang="en-US" altLang="ko-KR" sz="1100" b="1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spc="-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직매입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금액</a:t>
                      </a:r>
                      <a:endParaRPr lang="en-US" altLang="ko-KR" sz="1100" b="1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100" b="1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100" b="1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096160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CB16074-327A-B140-FBF5-16891E2A2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648318"/>
              </p:ext>
            </p:extLst>
          </p:nvPr>
        </p:nvGraphicFramePr>
        <p:xfrm>
          <a:off x="1894883" y="6094255"/>
          <a:ext cx="5135833" cy="648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680">
                  <a:extLst>
                    <a:ext uri="{9D8B030D-6E8A-4147-A177-3AD203B41FA5}">
                      <a16:colId xmlns:a16="http://schemas.microsoft.com/office/drawing/2014/main" val="2742696069"/>
                    </a:ext>
                  </a:extLst>
                </a:gridCol>
                <a:gridCol w="641879">
                  <a:extLst>
                    <a:ext uri="{9D8B030D-6E8A-4147-A177-3AD203B41FA5}">
                      <a16:colId xmlns:a16="http://schemas.microsoft.com/office/drawing/2014/main" val="2539321787"/>
                    </a:ext>
                  </a:extLst>
                </a:gridCol>
                <a:gridCol w="641879">
                  <a:extLst>
                    <a:ext uri="{9D8B030D-6E8A-4147-A177-3AD203B41FA5}">
                      <a16:colId xmlns:a16="http://schemas.microsoft.com/office/drawing/2014/main" val="4161385104"/>
                    </a:ext>
                  </a:extLst>
                </a:gridCol>
                <a:gridCol w="641879">
                  <a:extLst>
                    <a:ext uri="{9D8B030D-6E8A-4147-A177-3AD203B41FA5}">
                      <a16:colId xmlns:a16="http://schemas.microsoft.com/office/drawing/2014/main" val="1263581506"/>
                    </a:ext>
                  </a:extLst>
                </a:gridCol>
                <a:gridCol w="641879">
                  <a:extLst>
                    <a:ext uri="{9D8B030D-6E8A-4147-A177-3AD203B41FA5}">
                      <a16:colId xmlns:a16="http://schemas.microsoft.com/office/drawing/2014/main" val="3817827090"/>
                    </a:ext>
                  </a:extLst>
                </a:gridCol>
                <a:gridCol w="641879">
                  <a:extLst>
                    <a:ext uri="{9D8B030D-6E8A-4147-A177-3AD203B41FA5}">
                      <a16:colId xmlns:a16="http://schemas.microsoft.com/office/drawing/2014/main" val="2283932140"/>
                    </a:ext>
                  </a:extLst>
                </a:gridCol>
                <a:gridCol w="641879">
                  <a:extLst>
                    <a:ext uri="{9D8B030D-6E8A-4147-A177-3AD203B41FA5}">
                      <a16:colId xmlns:a16="http://schemas.microsoft.com/office/drawing/2014/main" val="3614272857"/>
                    </a:ext>
                  </a:extLst>
                </a:gridCol>
                <a:gridCol w="641879">
                  <a:extLst>
                    <a:ext uri="{9D8B030D-6E8A-4147-A177-3AD203B41FA5}">
                      <a16:colId xmlns:a16="http://schemas.microsoft.com/office/drawing/2014/main" val="98527992"/>
                    </a:ext>
                  </a:extLst>
                </a:gridCol>
              </a:tblGrid>
              <a:tr h="1270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2021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2022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2023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2024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</a:t>
                      </a:r>
                    </a:p>
                  </a:txBody>
                  <a:tcPr marL="0" marR="0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목표</a:t>
                      </a:r>
                    </a:p>
                  </a:txBody>
                  <a:tcPr marL="0" marR="0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093960"/>
                  </a:ext>
                </a:extLst>
              </a:tr>
              <a:tr h="1345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계획</a:t>
                      </a:r>
                      <a:endParaRPr lang="en-US" altLang="ko-KR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marL="104535" marR="104535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90</a:t>
                      </a:r>
                    </a:p>
                  </a:txBody>
                  <a:tcPr marL="104535" marR="104535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104535" marR="104535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110</a:t>
                      </a:r>
                    </a:p>
                  </a:txBody>
                  <a:tcPr marL="104535" marR="104535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104535" marR="104535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669412"/>
                  </a:ext>
                </a:extLst>
              </a:tr>
              <a:tr h="1270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실적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rgbClr val="1919E5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94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rgbClr val="1919E5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97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rgbClr val="1919E5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117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rgbClr val="1919E5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136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rgbClr val="1919E5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132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026206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0AEE3EB-2CE4-83C8-F84A-6B3A470A7D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017887"/>
              </p:ext>
            </p:extLst>
          </p:nvPr>
        </p:nvGraphicFramePr>
        <p:xfrm>
          <a:off x="1902120" y="5236456"/>
          <a:ext cx="5128600" cy="648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075">
                  <a:extLst>
                    <a:ext uri="{9D8B030D-6E8A-4147-A177-3AD203B41FA5}">
                      <a16:colId xmlns:a16="http://schemas.microsoft.com/office/drawing/2014/main" val="907535771"/>
                    </a:ext>
                  </a:extLst>
                </a:gridCol>
                <a:gridCol w="641075">
                  <a:extLst>
                    <a:ext uri="{9D8B030D-6E8A-4147-A177-3AD203B41FA5}">
                      <a16:colId xmlns:a16="http://schemas.microsoft.com/office/drawing/2014/main" val="3021117001"/>
                    </a:ext>
                  </a:extLst>
                </a:gridCol>
                <a:gridCol w="641075">
                  <a:extLst>
                    <a:ext uri="{9D8B030D-6E8A-4147-A177-3AD203B41FA5}">
                      <a16:colId xmlns:a16="http://schemas.microsoft.com/office/drawing/2014/main" val="1751907076"/>
                    </a:ext>
                  </a:extLst>
                </a:gridCol>
                <a:gridCol w="641075">
                  <a:extLst>
                    <a:ext uri="{9D8B030D-6E8A-4147-A177-3AD203B41FA5}">
                      <a16:colId xmlns:a16="http://schemas.microsoft.com/office/drawing/2014/main" val="371929083"/>
                    </a:ext>
                  </a:extLst>
                </a:gridCol>
                <a:gridCol w="641075">
                  <a:extLst>
                    <a:ext uri="{9D8B030D-6E8A-4147-A177-3AD203B41FA5}">
                      <a16:colId xmlns:a16="http://schemas.microsoft.com/office/drawing/2014/main" val="3161880122"/>
                    </a:ext>
                  </a:extLst>
                </a:gridCol>
                <a:gridCol w="641075">
                  <a:extLst>
                    <a:ext uri="{9D8B030D-6E8A-4147-A177-3AD203B41FA5}">
                      <a16:colId xmlns:a16="http://schemas.microsoft.com/office/drawing/2014/main" val="3134408110"/>
                    </a:ext>
                  </a:extLst>
                </a:gridCol>
                <a:gridCol w="641075">
                  <a:extLst>
                    <a:ext uri="{9D8B030D-6E8A-4147-A177-3AD203B41FA5}">
                      <a16:colId xmlns:a16="http://schemas.microsoft.com/office/drawing/2014/main" val="2223898023"/>
                    </a:ext>
                  </a:extLst>
                </a:gridCol>
                <a:gridCol w="641075">
                  <a:extLst>
                    <a:ext uri="{9D8B030D-6E8A-4147-A177-3AD203B41FA5}">
                      <a16:colId xmlns:a16="http://schemas.microsoft.com/office/drawing/2014/main" val="2077691482"/>
                    </a:ext>
                  </a:extLst>
                </a:gridCol>
              </a:tblGrid>
              <a:tr h="1952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2021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2022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2023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2024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</a:t>
                      </a:r>
                    </a:p>
                  </a:txBody>
                  <a:tcPr marL="0" marR="0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목표</a:t>
                      </a:r>
                    </a:p>
                  </a:txBody>
                  <a:tcPr marL="0" marR="0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852859"/>
                  </a:ext>
                </a:extLst>
              </a:tr>
              <a:tr h="2067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계획</a:t>
                      </a:r>
                      <a:endParaRPr lang="en-US" altLang="ko-KR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31.9</a:t>
                      </a:r>
                    </a:p>
                  </a:txBody>
                  <a:tcPr marL="104535" marR="104535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31.9</a:t>
                      </a:r>
                    </a:p>
                  </a:txBody>
                  <a:tcPr marL="104535" marR="104535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31.9</a:t>
                      </a:r>
                    </a:p>
                  </a:txBody>
                  <a:tcPr marL="104535" marR="104535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31.8</a:t>
                      </a:r>
                    </a:p>
                  </a:txBody>
                  <a:tcPr marL="104535" marR="104535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31.7</a:t>
                      </a:r>
                    </a:p>
                  </a:txBody>
                  <a:tcPr marL="104535" marR="104535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35.9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32.2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294514"/>
                  </a:ext>
                </a:extLst>
              </a:tr>
              <a:tr h="1952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실적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rgbClr val="1919E5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31.5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rgbClr val="1919E5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31.6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rgbClr val="1919E5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31.5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rgbClr val="1919E5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31.7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rgbClr val="1919E5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31.4</a:t>
                      </a:r>
                    </a:p>
                  </a:txBody>
                  <a:tcPr marL="104535" marR="104535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47191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F612E6B-C0C0-8E51-99D5-0AD64651F006}"/>
              </a:ext>
            </a:extLst>
          </p:cNvPr>
          <p:cNvSpPr txBox="1"/>
          <p:nvPr/>
        </p:nvSpPr>
        <p:spPr>
          <a:xfrm>
            <a:off x="1564640" y="625899"/>
            <a:ext cx="822842" cy="234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lnSpc>
                <a:spcPct val="130000"/>
              </a:lnSpc>
            </a:pPr>
            <a:r>
              <a:rPr lang="en-US" altLang="ko-KR" sz="800" b="1" spc="-41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800" b="1" spc="-41">
                <a:solidFill>
                  <a:prstClr val="black"/>
                </a:solidFill>
                <a:latin typeface="+mn-ea"/>
              </a:rPr>
              <a:t>단위 </a:t>
            </a:r>
            <a:r>
              <a:rPr lang="en-US" altLang="ko-KR" sz="800" b="1" spc="-41">
                <a:solidFill>
                  <a:prstClr val="black"/>
                </a:solidFill>
                <a:latin typeface="+mn-ea"/>
              </a:rPr>
              <a:t>: % </a:t>
            </a:r>
            <a:r>
              <a:rPr lang="ko-KR" altLang="en-US" sz="800" b="1" spc="-41">
                <a:solidFill>
                  <a:prstClr val="black"/>
                </a:solidFill>
                <a:latin typeface="+mn-ea"/>
              </a:rPr>
              <a:t>이상</a:t>
            </a:r>
            <a:r>
              <a:rPr lang="en-US" altLang="ko-KR" sz="800" b="1" spc="-41">
                <a:solidFill>
                  <a:prstClr val="black"/>
                </a:solidFill>
                <a:latin typeface="+mn-ea"/>
              </a:rPr>
              <a:t>)</a:t>
            </a:r>
            <a:endParaRPr lang="ko-KR" altLang="en-US" sz="800" b="1" spc="-41">
              <a:solidFill>
                <a:prstClr val="black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9D6729-C8BD-4FDC-FC30-59D9FD764ED0}"/>
              </a:ext>
            </a:extLst>
          </p:cNvPr>
          <p:cNvSpPr txBox="1"/>
          <p:nvPr/>
        </p:nvSpPr>
        <p:spPr>
          <a:xfrm>
            <a:off x="489268" y="6493035"/>
            <a:ext cx="998327" cy="234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lnSpc>
                <a:spcPct val="130000"/>
              </a:lnSpc>
            </a:pPr>
            <a:r>
              <a:rPr lang="en-US" altLang="ko-KR" sz="800" b="1" spc="-41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800" b="1" spc="-41" dirty="0">
                <a:solidFill>
                  <a:prstClr val="black"/>
                </a:solidFill>
                <a:latin typeface="+mn-ea"/>
              </a:rPr>
              <a:t>단위 </a:t>
            </a:r>
            <a:r>
              <a:rPr lang="en-US" altLang="ko-KR" sz="800" b="1" spc="-41" dirty="0">
                <a:solidFill>
                  <a:prstClr val="black"/>
                </a:solidFill>
                <a:latin typeface="+mn-ea"/>
              </a:rPr>
              <a:t>: </a:t>
            </a:r>
            <a:r>
              <a:rPr lang="ko-KR" altLang="en-US" sz="800" b="1" spc="-41" dirty="0">
                <a:solidFill>
                  <a:prstClr val="black"/>
                </a:solidFill>
                <a:latin typeface="+mn-ea"/>
              </a:rPr>
              <a:t>억원 이상</a:t>
            </a:r>
            <a:r>
              <a:rPr lang="en-US" altLang="ko-KR" sz="800" b="1" spc="-41" dirty="0">
                <a:solidFill>
                  <a:prstClr val="black"/>
                </a:solidFill>
                <a:latin typeface="+mn-ea"/>
              </a:rPr>
              <a:t>)</a:t>
            </a:r>
            <a:endParaRPr lang="ko-KR" altLang="en-US" sz="800" b="1" spc="-4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42DDE0-50E3-023C-A48A-1D74DAC9AA6B}"/>
              </a:ext>
            </a:extLst>
          </p:cNvPr>
          <p:cNvSpPr txBox="1"/>
          <p:nvPr/>
        </p:nvSpPr>
        <p:spPr>
          <a:xfrm>
            <a:off x="489268" y="5692320"/>
            <a:ext cx="955703" cy="234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lnSpc>
                <a:spcPct val="130000"/>
              </a:lnSpc>
            </a:pPr>
            <a:r>
              <a:rPr lang="en-US" altLang="ko-KR" sz="800" b="1" spc="-41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800" b="1" spc="-41" dirty="0">
                <a:solidFill>
                  <a:prstClr val="black"/>
                </a:solidFill>
                <a:latin typeface="+mn-ea"/>
              </a:rPr>
              <a:t>단위 </a:t>
            </a:r>
            <a:r>
              <a:rPr lang="en-US" altLang="ko-KR" sz="800" b="1" spc="-41" dirty="0">
                <a:solidFill>
                  <a:prstClr val="black"/>
                </a:solidFill>
                <a:latin typeface="+mn-ea"/>
              </a:rPr>
              <a:t>: % </a:t>
            </a:r>
            <a:r>
              <a:rPr lang="ko-KR" altLang="en-US" sz="800" b="1" spc="-41" dirty="0">
                <a:solidFill>
                  <a:prstClr val="black"/>
                </a:solidFill>
                <a:latin typeface="+mn-ea"/>
              </a:rPr>
              <a:t>이하</a:t>
            </a:r>
            <a:r>
              <a:rPr lang="en-US" altLang="ko-KR" sz="800" b="1" spc="-41" dirty="0">
                <a:solidFill>
                  <a:prstClr val="black"/>
                </a:solidFill>
                <a:latin typeface="+mn-ea"/>
              </a:rPr>
              <a:t>)</a:t>
            </a:r>
            <a:endParaRPr lang="ko-KR" altLang="en-US" sz="800" b="1" spc="-41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E6CA797F-91BF-27F9-05E5-CC72AB630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724333"/>
              </p:ext>
            </p:extLst>
          </p:nvPr>
        </p:nvGraphicFramePr>
        <p:xfrm>
          <a:off x="7548880" y="1233304"/>
          <a:ext cx="4003038" cy="635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173">
                  <a:extLst>
                    <a:ext uri="{9D8B030D-6E8A-4147-A177-3AD203B41FA5}">
                      <a16:colId xmlns:a16="http://schemas.microsoft.com/office/drawing/2014/main" val="2164888999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2079379472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2633264423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2951560040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2556105477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19324350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2022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2023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2024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322678"/>
                  </a:ext>
                </a:extLst>
              </a:tr>
              <a:tr h="1947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계획</a:t>
                      </a:r>
                      <a:endParaRPr lang="en-US" altLang="ko-KR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55.0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55.0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55.0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55.0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55.0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868543"/>
                  </a:ext>
                </a:extLst>
              </a:tr>
              <a:tr h="1947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실적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57.5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57.9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56.0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068466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6CDEE586-5E30-4FAD-6A24-AC99EC5D4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075473"/>
              </p:ext>
            </p:extLst>
          </p:nvPr>
        </p:nvGraphicFramePr>
        <p:xfrm>
          <a:off x="7548880" y="2066263"/>
          <a:ext cx="4003038" cy="635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173">
                  <a:extLst>
                    <a:ext uri="{9D8B030D-6E8A-4147-A177-3AD203B41FA5}">
                      <a16:colId xmlns:a16="http://schemas.microsoft.com/office/drawing/2014/main" val="2164888999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2079379472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2633264423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2951560040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2556105477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19324350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2022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2023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2024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322678"/>
                  </a:ext>
                </a:extLst>
              </a:tr>
              <a:tr h="1947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계획</a:t>
                      </a:r>
                      <a:endParaRPr lang="en-US" altLang="ko-KR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50.0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noProof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50.0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noProof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50.0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50.0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50.0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868543"/>
                  </a:ext>
                </a:extLst>
              </a:tr>
              <a:tr h="1947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실적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51.8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51.3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52.6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068466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76DB7B0D-17A7-0497-7F57-2071F77AF8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842824"/>
              </p:ext>
            </p:extLst>
          </p:nvPr>
        </p:nvGraphicFramePr>
        <p:xfrm>
          <a:off x="7548880" y="2828481"/>
          <a:ext cx="4003038" cy="635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173">
                  <a:extLst>
                    <a:ext uri="{9D8B030D-6E8A-4147-A177-3AD203B41FA5}">
                      <a16:colId xmlns:a16="http://schemas.microsoft.com/office/drawing/2014/main" val="2164888999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2079379472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2633264423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2951560040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2556105477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19324350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2022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2023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2024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322678"/>
                  </a:ext>
                </a:extLst>
              </a:tr>
              <a:tr h="1947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계획</a:t>
                      </a:r>
                      <a:endParaRPr lang="en-US" altLang="ko-KR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17.7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noProof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17.4</a:t>
                      </a:r>
                      <a:endParaRPr lang="en-US" altLang="ko-KR" sz="1000" b="1" kern="120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17.1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16.8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16.3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868543"/>
                  </a:ext>
                </a:extLst>
              </a:tr>
              <a:tr h="1947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실적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12.9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12.9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13.5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068466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72A74B75-9FA1-BDBB-314C-9FF16E4375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006838"/>
              </p:ext>
            </p:extLst>
          </p:nvPr>
        </p:nvGraphicFramePr>
        <p:xfrm>
          <a:off x="7548880" y="3732181"/>
          <a:ext cx="4003038" cy="635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173">
                  <a:extLst>
                    <a:ext uri="{9D8B030D-6E8A-4147-A177-3AD203B41FA5}">
                      <a16:colId xmlns:a16="http://schemas.microsoft.com/office/drawing/2014/main" val="2164888999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2079379472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2633264423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2951560040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2556105477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19324350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2022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2023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2024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322678"/>
                  </a:ext>
                </a:extLst>
              </a:tr>
              <a:tr h="1947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계획</a:t>
                      </a:r>
                      <a:endParaRPr lang="en-US" altLang="ko-KR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24.0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noProof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24.0</a:t>
                      </a:r>
                      <a:endParaRPr lang="en-US" altLang="ko-KR" sz="1000" b="1" kern="120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23.8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noProof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23.4</a:t>
                      </a:r>
                      <a:endParaRPr lang="en-US" altLang="ko-KR" sz="1000" b="1" kern="120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noProof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22.9</a:t>
                      </a:r>
                      <a:endParaRPr lang="en-US" altLang="ko-KR" sz="1000" b="1" kern="120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868543"/>
                  </a:ext>
                </a:extLst>
              </a:tr>
              <a:tr h="1947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실적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20.0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20.0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20.1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068466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506BBF0A-5653-8948-C8D1-CD5758E072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183106"/>
              </p:ext>
            </p:extLst>
          </p:nvPr>
        </p:nvGraphicFramePr>
        <p:xfrm>
          <a:off x="7548880" y="5248940"/>
          <a:ext cx="4003038" cy="635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173">
                  <a:extLst>
                    <a:ext uri="{9D8B030D-6E8A-4147-A177-3AD203B41FA5}">
                      <a16:colId xmlns:a16="http://schemas.microsoft.com/office/drawing/2014/main" val="2164888999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2079379472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2633264423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2951560040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2556105477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19324350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2022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2023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2024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322678"/>
                  </a:ext>
                </a:extLst>
              </a:tr>
              <a:tr h="1947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계획</a:t>
                      </a:r>
                      <a:endParaRPr lang="en-US" altLang="ko-KR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35.9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35.8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35.7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35.6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35.5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868543"/>
                  </a:ext>
                </a:extLst>
              </a:tr>
              <a:tr h="1947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실적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35.6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35.5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33.4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068466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E399C4BA-130A-1418-40DF-00F6ED9866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308412"/>
              </p:ext>
            </p:extLst>
          </p:nvPr>
        </p:nvGraphicFramePr>
        <p:xfrm>
          <a:off x="7548880" y="6100497"/>
          <a:ext cx="4003038" cy="635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173">
                  <a:extLst>
                    <a:ext uri="{9D8B030D-6E8A-4147-A177-3AD203B41FA5}">
                      <a16:colId xmlns:a16="http://schemas.microsoft.com/office/drawing/2014/main" val="2164888999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2079379472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2633264423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2951560040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2556105477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19324350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2022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2023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2024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322678"/>
                  </a:ext>
                </a:extLst>
              </a:tr>
              <a:tr h="1947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계획</a:t>
                      </a:r>
                      <a:endParaRPr lang="en-US" altLang="ko-KR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520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540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560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580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600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868543"/>
                  </a:ext>
                </a:extLst>
              </a:tr>
              <a:tr h="1947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실적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549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564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659</a:t>
                      </a: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068466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6F3FE4C6-91BA-2C3D-A445-D235EEA169E6}"/>
              </a:ext>
            </a:extLst>
          </p:cNvPr>
          <p:cNvSpPr txBox="1"/>
          <p:nvPr/>
        </p:nvSpPr>
        <p:spPr>
          <a:xfrm>
            <a:off x="1847574" y="3454002"/>
            <a:ext cx="20313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57828" latinLnBrk="1"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  <a:defRPr/>
            </a:pP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※ TV</a:t>
            </a:r>
            <a:r>
              <a:rPr lang="ko-KR" altLang="en-US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사업자 </a:t>
            </a: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: 8%, T</a:t>
            </a:r>
            <a:r>
              <a:rPr lang="ko-KR" altLang="en-US" sz="800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컴사업자</a:t>
            </a:r>
            <a:r>
              <a:rPr lang="ko-KR" altLang="en-US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: 10% </a:t>
            </a:r>
            <a:r>
              <a:rPr lang="ko-KR" altLang="en-US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내외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FDE717-A024-DA67-8F1D-3FFA479F5E92}"/>
              </a:ext>
            </a:extLst>
          </p:cNvPr>
          <p:cNvSpPr txBox="1"/>
          <p:nvPr/>
        </p:nvSpPr>
        <p:spPr>
          <a:xfrm>
            <a:off x="1922778" y="4380013"/>
            <a:ext cx="25106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57828" latinLnBrk="1"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  <a:defRPr/>
            </a:pP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※ CJ/</a:t>
            </a:r>
            <a:r>
              <a:rPr lang="ko-KR" altLang="en-US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롯데 </a:t>
            </a: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: 8%, </a:t>
            </a:r>
            <a:r>
              <a:rPr lang="ko-KR" altLang="en-US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현대 </a:t>
            </a: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: 10%, T</a:t>
            </a:r>
            <a:r>
              <a:rPr lang="ko-KR" altLang="en-US" sz="800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컴사업자</a:t>
            </a:r>
            <a:r>
              <a:rPr lang="ko-KR" altLang="en-US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: 15% </a:t>
            </a:r>
            <a:r>
              <a:rPr lang="ko-KR" altLang="en-US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내외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AE727A-967D-F013-EB51-5A50AD56A6BB}"/>
              </a:ext>
            </a:extLst>
          </p:cNvPr>
          <p:cNvSpPr txBox="1"/>
          <p:nvPr/>
        </p:nvSpPr>
        <p:spPr>
          <a:xfrm>
            <a:off x="7528557" y="3454002"/>
            <a:ext cx="26709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57828" latinLnBrk="1"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  <a:defRPr/>
            </a:pP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※ CJ : 18% ~ 16%, </a:t>
            </a:r>
            <a:r>
              <a:rPr lang="ko-KR" altLang="en-US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현대 </a:t>
            </a: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: 10% </a:t>
            </a:r>
            <a:r>
              <a:rPr lang="ko-KR" altLang="en-US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이하</a:t>
            </a: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롯데 </a:t>
            </a: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: 9.7% </a:t>
            </a:r>
            <a:r>
              <a:rPr lang="ko-KR" altLang="en-US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이하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223C82-4673-9599-8879-207003EB887B}"/>
              </a:ext>
            </a:extLst>
          </p:cNvPr>
          <p:cNvSpPr txBox="1"/>
          <p:nvPr/>
        </p:nvSpPr>
        <p:spPr>
          <a:xfrm>
            <a:off x="7528557" y="4380013"/>
            <a:ext cx="2164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57828" latinLnBrk="1"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  <a:defRPr/>
            </a:pP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※ CJ : 25% ~ 23%, </a:t>
            </a:r>
            <a:r>
              <a:rPr lang="ko-KR" altLang="en-US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현대 </a:t>
            </a: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: 20%, </a:t>
            </a:r>
            <a:r>
              <a:rPr lang="ko-KR" altLang="en-US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롯데 </a:t>
            </a: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: 14%</a:t>
            </a:r>
            <a:endParaRPr lang="ko-KR" altLang="en-US" sz="800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A3FB87-E114-B55A-72A2-B84AB8B702AC}"/>
              </a:ext>
            </a:extLst>
          </p:cNvPr>
          <p:cNvSpPr txBox="1"/>
          <p:nvPr/>
        </p:nvSpPr>
        <p:spPr>
          <a:xfrm>
            <a:off x="7477756" y="5853017"/>
            <a:ext cx="31566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57828" latinLnBrk="1"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  <a:defRPr/>
            </a:pP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※ CJ : 36.8% ~ 36.4%(21</a:t>
            </a:r>
            <a:r>
              <a:rPr lang="ko-KR" altLang="en-US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년 조건</a:t>
            </a: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 38.8%), </a:t>
            </a:r>
            <a:r>
              <a:rPr lang="ko-KR" altLang="en-US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현대 </a:t>
            </a: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: 35%, </a:t>
            </a:r>
            <a:r>
              <a:rPr lang="ko-KR" altLang="en-US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롯데 </a:t>
            </a: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: 31%</a:t>
            </a:r>
            <a:endParaRPr lang="ko-KR" altLang="en-US" sz="800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9E4FA9-F61B-F28F-012C-866D785FDBA1}"/>
              </a:ext>
            </a:extLst>
          </p:cNvPr>
          <p:cNvSpPr txBox="1"/>
          <p:nvPr/>
        </p:nvSpPr>
        <p:spPr>
          <a:xfrm>
            <a:off x="1847621" y="5853017"/>
            <a:ext cx="33698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57828" latinLnBrk="1"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  <a:defRPr/>
            </a:pP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※ CJ : 32%, </a:t>
            </a:r>
            <a:r>
              <a:rPr lang="ko-KR" altLang="en-US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현대 </a:t>
            </a: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: 30%, </a:t>
            </a:r>
            <a:r>
              <a:rPr lang="ko-KR" altLang="en-US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롯데 </a:t>
            </a: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: 31%, NS : 29%, T</a:t>
            </a:r>
            <a:r>
              <a:rPr lang="ko-KR" altLang="en-US" sz="800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컴사업자</a:t>
            </a:r>
            <a:r>
              <a:rPr lang="ko-KR" altLang="en-US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: 35% </a:t>
            </a:r>
            <a:r>
              <a:rPr lang="ko-KR" altLang="en-US" sz="800" dirty="0">
                <a:solidFill>
                  <a:prstClr val="black"/>
                </a:solidFill>
                <a:latin typeface="맑은 고딕" panose="020B0503020000020004" pitchFamily="50" charset="-127"/>
              </a:rPr>
              <a:t>내외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1D149D-1AF6-EA0F-F154-0611FDA51423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72/109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9954916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2EB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4000" b="1" dirty="0"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4000" b="1" dirty="0">
                <a:solidFill>
                  <a:schemeClr val="tx1"/>
                </a:solidFill>
                <a:latin typeface="+mn-ea"/>
              </a:rPr>
              <a:t>장</a:t>
            </a:r>
            <a:r>
              <a:rPr lang="en-US" altLang="ko-KR" sz="4000" b="1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4000" b="1" dirty="0">
                <a:solidFill>
                  <a:schemeClr val="tx1"/>
                </a:solidFill>
                <a:latin typeface="+mn-ea"/>
              </a:rPr>
              <a:t>프로그램 제작</a:t>
            </a:r>
            <a:endParaRPr lang="en-US" altLang="ko-KR" sz="40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4956733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5" y="345240"/>
            <a:ext cx="809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향후 제작비 계획이 감소하는 이유는 무엇인가요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8A23FB-3463-38A9-8AD0-8DBBB68317A7}"/>
              </a:ext>
            </a:extLst>
          </p:cNvPr>
          <p:cNvSpPr txBox="1"/>
          <p:nvPr/>
        </p:nvSpPr>
        <p:spPr>
          <a:xfrm>
            <a:off x="65067" y="19389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4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프로그램 제작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BC0697E-579D-4691-75E3-D42A43A2506E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>
                <a:solidFill>
                  <a:schemeClr val="tx2">
                    <a:lumMod val="75000"/>
                  </a:schemeClr>
                </a:solidFill>
                <a:latin typeface="+mn-ea"/>
              </a:rPr>
              <a:t>편성책임자</a:t>
            </a:r>
            <a:endParaRPr lang="ko-KR" altLang="en-US" sz="105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9EB1B9-86C6-2DF3-062E-10E17DA4E6EB}"/>
              </a:ext>
            </a:extLst>
          </p:cNvPr>
          <p:cNvSpPr txBox="1"/>
          <p:nvPr/>
        </p:nvSpPr>
        <p:spPr>
          <a:xfrm>
            <a:off x="6092754" y="1050273"/>
            <a:ext cx="5727771" cy="3191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① 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프로그램 포맷과 콘텐츠 강화로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브랜드 </a:t>
            </a:r>
            <a:r>
              <a:rPr lang="en-US" altLang="ko-KR" sz="1000" dirty="0">
                <a:latin typeface="+mn-ea"/>
              </a:rPr>
              <a:t>PGM)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최근 제작비용 증가했지만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 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    시설과 기술 투자로 인해 </a:t>
            </a:r>
            <a:r>
              <a:rPr lang="en-US" altLang="ko-KR" sz="1200" b="1" dirty="0">
                <a:latin typeface="+mn-ea"/>
              </a:rPr>
              <a:t>1</a:t>
            </a:r>
            <a:r>
              <a:rPr lang="ko-KR" altLang="en-US" sz="1200" b="1" dirty="0">
                <a:latin typeface="+mn-ea"/>
              </a:rPr>
              <a:t>회성 제작 비용은 감소하고 있음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000" b="1" dirty="0">
                <a:latin typeface="+mn-ea"/>
              </a:rPr>
              <a:t>      ※ 21~25</a:t>
            </a:r>
            <a:r>
              <a:rPr lang="ko-KR" altLang="en-US" sz="1000" b="1" dirty="0">
                <a:latin typeface="+mn-ea"/>
              </a:rPr>
              <a:t>년 데이터홈쇼핑 시설과 기술 투자 실적 </a:t>
            </a:r>
            <a:r>
              <a:rPr lang="en-US" altLang="ko-KR" sz="1000" b="1" dirty="0">
                <a:latin typeface="+mn-ea"/>
              </a:rPr>
              <a:t>: 112</a:t>
            </a:r>
            <a:r>
              <a:rPr lang="ko-KR" altLang="en-US" sz="1000" b="1" dirty="0">
                <a:latin typeface="+mn-ea"/>
              </a:rPr>
              <a:t>억원</a:t>
            </a:r>
            <a:endParaRPr lang="en-US" altLang="ko-KR" sz="10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10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000" b="1" dirty="0">
                <a:latin typeface="+mn-ea"/>
              </a:rPr>
              <a:t>         </a:t>
            </a:r>
            <a:r>
              <a:rPr lang="ko-KR" altLang="en-US" sz="1000" b="1" dirty="0">
                <a:latin typeface="+mn-ea"/>
              </a:rPr>
              <a:t>예</a:t>
            </a:r>
            <a:r>
              <a:rPr lang="en-US" altLang="ko-KR" sz="1000" b="1" dirty="0">
                <a:latin typeface="+mn-ea"/>
              </a:rPr>
              <a:t>) </a:t>
            </a:r>
            <a:r>
              <a:rPr lang="ko-KR" altLang="en-US" sz="1000" b="1" dirty="0">
                <a:latin typeface="+mn-ea"/>
              </a:rPr>
              <a:t>일회성 목재 세트 제작 →</a:t>
            </a:r>
            <a:r>
              <a:rPr lang="en-US" altLang="ko-KR" sz="1000" b="1" dirty="0">
                <a:latin typeface="+mn-ea"/>
              </a:rPr>
              <a:t> </a:t>
            </a:r>
            <a:r>
              <a:rPr lang="ko-KR" altLang="en-US" sz="1000" b="1" dirty="0">
                <a:latin typeface="+mn-ea"/>
              </a:rPr>
              <a:t>스튜디오 </a:t>
            </a:r>
            <a:r>
              <a:rPr lang="en-US" altLang="ko-KR" sz="1000" b="1" dirty="0">
                <a:latin typeface="+mn-ea"/>
              </a:rPr>
              <a:t>LED Wall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000" b="1" dirty="0">
                <a:latin typeface="+mn-ea"/>
              </a:rPr>
              <a:t>              </a:t>
            </a:r>
            <a:r>
              <a:rPr lang="ko-KR" altLang="en-US" sz="1000" b="1" dirty="0">
                <a:latin typeface="+mn-ea"/>
              </a:rPr>
              <a:t>성우 →</a:t>
            </a:r>
            <a:r>
              <a:rPr lang="en-US" altLang="ko-KR" sz="1000" b="1" dirty="0">
                <a:latin typeface="+mn-ea"/>
              </a:rPr>
              <a:t> AI </a:t>
            </a:r>
            <a:r>
              <a:rPr lang="ko-KR" altLang="en-US" sz="1000" b="1" dirty="0">
                <a:latin typeface="+mn-ea"/>
              </a:rPr>
              <a:t>성우 활용</a:t>
            </a:r>
            <a:r>
              <a:rPr lang="en-US" altLang="ko-KR" sz="1000" b="1" dirty="0">
                <a:latin typeface="+mn-ea"/>
              </a:rPr>
              <a:t>, </a:t>
            </a:r>
            <a:r>
              <a:rPr lang="ko-KR" altLang="en-US" sz="1000" b="1" dirty="0">
                <a:latin typeface="+mn-ea"/>
              </a:rPr>
              <a:t>모델 → </a:t>
            </a:r>
            <a:r>
              <a:rPr lang="en-US" altLang="ko-KR" sz="1000" b="1" dirty="0">
                <a:latin typeface="+mn-ea"/>
              </a:rPr>
              <a:t>AI </a:t>
            </a:r>
            <a:r>
              <a:rPr lang="ko-KR" altLang="en-US" sz="1000" b="1" dirty="0">
                <a:latin typeface="+mn-ea"/>
              </a:rPr>
              <a:t>모델 제작 </a:t>
            </a:r>
            <a:endParaRPr lang="en-US" altLang="ko-KR" sz="10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② </a:t>
            </a:r>
            <a:r>
              <a:rPr lang="ko-KR" altLang="en-US" sz="1200" b="1" dirty="0">
                <a:latin typeface="+mn-ea"/>
              </a:rPr>
              <a:t>향후에도</a:t>
            </a:r>
            <a:r>
              <a:rPr lang="ko-KR" altLang="en-US" sz="1200" b="1" u="sng" dirty="0">
                <a:latin typeface="+mn-ea"/>
              </a:rPr>
              <a:t> 시설과 기술에 적극적으로 투자하고</a:t>
            </a:r>
            <a:r>
              <a:rPr lang="en-US" altLang="ko-KR" sz="1200" b="1" u="sng" dirty="0">
                <a:latin typeface="+mn-ea"/>
              </a:rPr>
              <a:t>,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</a:t>
            </a:r>
            <a:r>
              <a:rPr lang="en-US" altLang="ko-KR" sz="1200" u="sng" dirty="0">
                <a:latin typeface="+mn-ea"/>
              </a:rPr>
              <a:t> </a:t>
            </a:r>
            <a:r>
              <a:rPr lang="en-US" altLang="ko-KR" sz="1200" b="1" u="sng" dirty="0"/>
              <a:t>AI </a:t>
            </a:r>
            <a:r>
              <a:rPr lang="ko-KR" altLang="en-US" sz="1200" b="1" u="sng" dirty="0"/>
              <a:t>활용을 통해 비용 효율화</a:t>
            </a:r>
            <a:r>
              <a:rPr lang="ko-KR" altLang="en-US" sz="1200" b="1" u="sng" dirty="0">
                <a:latin typeface="+mn-ea"/>
              </a:rPr>
              <a:t> 할 계획이기에    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</a:t>
            </a:r>
            <a:r>
              <a:rPr lang="en-US" altLang="ko-KR" sz="1200" b="1" u="sng" dirty="0">
                <a:latin typeface="+mn-ea"/>
              </a:rPr>
              <a:t>1</a:t>
            </a:r>
            <a:r>
              <a:rPr lang="ko-KR" altLang="en-US" sz="1200" b="1" u="sng" dirty="0">
                <a:latin typeface="+mn-ea"/>
              </a:rPr>
              <a:t>회성 경비인 제작비 계획은 보수적으로 수립</a:t>
            </a:r>
            <a:endParaRPr lang="en-US" altLang="ko-KR" sz="1200" b="1" u="sng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    </a:t>
            </a:r>
            <a:r>
              <a:rPr lang="en-US" altLang="ko-KR" sz="1000" b="1" dirty="0">
                <a:latin typeface="+mn-ea"/>
              </a:rPr>
              <a:t> ※ 26~32</a:t>
            </a:r>
            <a:r>
              <a:rPr lang="ko-KR" altLang="en-US" sz="1000" b="1" dirty="0">
                <a:latin typeface="+mn-ea"/>
              </a:rPr>
              <a:t>년 데이터홈쇼핑 시설과 기술 투자 계획 </a:t>
            </a:r>
            <a:r>
              <a:rPr lang="en-US" altLang="ko-KR" sz="1000" b="1" dirty="0">
                <a:latin typeface="+mn-ea"/>
              </a:rPr>
              <a:t>: 108</a:t>
            </a:r>
            <a:r>
              <a:rPr lang="ko-KR" altLang="en-US" sz="1000" b="1" dirty="0">
                <a:latin typeface="+mn-ea"/>
              </a:rPr>
              <a:t>억원</a:t>
            </a:r>
            <a:endParaRPr lang="en-US" altLang="ko-KR" sz="10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000" b="1" dirty="0">
                <a:latin typeface="+mn-ea"/>
              </a:rPr>
              <a:t>     </a:t>
            </a:r>
            <a:endParaRPr lang="en-US" altLang="ko-KR" sz="1200" b="1" u="sng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000" b="1" dirty="0">
                <a:latin typeface="+mn-ea"/>
              </a:rPr>
              <a:t>[‘</a:t>
            </a:r>
            <a:r>
              <a:rPr lang="ko-KR" altLang="en-US" sz="1000" b="1" dirty="0" err="1">
                <a:latin typeface="+mn-ea"/>
              </a:rPr>
              <a:t>모르간</a:t>
            </a:r>
            <a:r>
              <a:rPr lang="en-US" altLang="ko-KR" sz="1000" b="1" dirty="0">
                <a:latin typeface="+mn-ea"/>
              </a:rPr>
              <a:t>‘</a:t>
            </a:r>
            <a:r>
              <a:rPr lang="ko-KR" altLang="en-US" sz="1000" b="1" dirty="0">
                <a:latin typeface="+mn-ea"/>
              </a:rPr>
              <a:t> 방송에 등장한 </a:t>
            </a:r>
            <a:r>
              <a:rPr lang="en-US" altLang="ko-KR" sz="1000" b="1" dirty="0">
                <a:latin typeface="+mn-ea"/>
              </a:rPr>
              <a:t>AI </a:t>
            </a:r>
            <a:r>
              <a:rPr lang="ko-KR" altLang="en-US" sz="1000" b="1" dirty="0">
                <a:latin typeface="+mn-ea"/>
              </a:rPr>
              <a:t>모델 재이</a:t>
            </a:r>
            <a:r>
              <a:rPr lang="en-US" altLang="ko-KR" sz="1000" b="1" dirty="0">
                <a:latin typeface="+mn-ea"/>
              </a:rPr>
              <a:t>]</a:t>
            </a:r>
            <a:r>
              <a:rPr lang="ko-KR" altLang="en-US" sz="1000" b="1" dirty="0">
                <a:latin typeface="+mn-ea"/>
              </a:rPr>
              <a:t> 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8802D73-7B40-F69B-678B-100E5044B7F8}"/>
              </a:ext>
            </a:extLst>
          </p:cNvPr>
          <p:cNvSpPr/>
          <p:nvPr/>
        </p:nvSpPr>
        <p:spPr>
          <a:xfrm>
            <a:off x="6029325" y="981075"/>
            <a:ext cx="5791200" cy="56515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ea"/>
            </a:endParaRPr>
          </a:p>
        </p:txBody>
      </p:sp>
      <p:pic>
        <p:nvPicPr>
          <p:cNvPr id="5" name="그림 4" descr="텍스트, 사람, 의류, 인간의 얼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DCB8407-2D74-E511-A962-DE40D4ADB6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512"/>
          <a:stretch>
            <a:fillRect/>
          </a:stretch>
        </p:blipFill>
        <p:spPr>
          <a:xfrm>
            <a:off x="6187673" y="3971514"/>
            <a:ext cx="2357164" cy="183621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D860F38-0042-BE73-7252-F8722FC42BAE}"/>
              </a:ext>
            </a:extLst>
          </p:cNvPr>
          <p:cNvSpPr txBox="1"/>
          <p:nvPr/>
        </p:nvSpPr>
        <p:spPr>
          <a:xfrm>
            <a:off x="122474" y="885179"/>
            <a:ext cx="5768869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■ 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사업계획서 </a:t>
            </a:r>
            <a:r>
              <a:rPr lang="en-US" altLang="ko-KR" sz="1200" b="1" dirty="0">
                <a:latin typeface="+mn-ea"/>
              </a:rPr>
              <a:t>p.137)</a:t>
            </a:r>
            <a:r>
              <a:rPr lang="ko-KR" altLang="en-US" sz="1200" b="1" dirty="0">
                <a:latin typeface="+mn-ea"/>
              </a:rPr>
              <a:t>데이터홈쇼핑 제작비 실적 및 향후 계획</a:t>
            </a:r>
            <a:endParaRPr lang="en-US" altLang="ko-KR" sz="1200" b="1" dirty="0">
              <a:latin typeface="+mn-ea"/>
            </a:endParaRPr>
          </a:p>
        </p:txBody>
      </p:sp>
      <p:pic>
        <p:nvPicPr>
          <p:cNvPr id="14" name="그림 13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6F7B6B-AD06-4731-013C-59979DC09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748" y="4685256"/>
            <a:ext cx="5593899" cy="86865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8F67826-7A62-9DAD-5A67-1E01866C7F17}"/>
              </a:ext>
            </a:extLst>
          </p:cNvPr>
          <p:cNvSpPr txBox="1"/>
          <p:nvPr/>
        </p:nvSpPr>
        <p:spPr>
          <a:xfrm>
            <a:off x="259067" y="1165519"/>
            <a:ext cx="952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- </a:t>
            </a:r>
            <a:r>
              <a:rPr lang="ko-KR" altLang="en-US" sz="1000" b="1" dirty="0"/>
              <a:t>실적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03F64C-9044-5B8A-8ABB-1F051F344F22}"/>
              </a:ext>
            </a:extLst>
          </p:cNvPr>
          <p:cNvSpPr txBox="1"/>
          <p:nvPr/>
        </p:nvSpPr>
        <p:spPr>
          <a:xfrm>
            <a:off x="203843" y="4661240"/>
            <a:ext cx="952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- </a:t>
            </a:r>
            <a:r>
              <a:rPr lang="ko-KR" altLang="en-US" sz="1000" b="1" dirty="0"/>
              <a:t>계획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E9D12B3-D02B-8F1D-EBEF-169F6639E0EC}"/>
              </a:ext>
            </a:extLst>
          </p:cNvPr>
          <p:cNvSpPr/>
          <p:nvPr/>
        </p:nvSpPr>
        <p:spPr>
          <a:xfrm>
            <a:off x="4479480" y="1881163"/>
            <a:ext cx="418012" cy="3787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20C6CECB-64D4-6519-9F7B-2AE67B6E2962}"/>
              </a:ext>
            </a:extLst>
          </p:cNvPr>
          <p:cNvSpPr/>
          <p:nvPr/>
        </p:nvSpPr>
        <p:spPr>
          <a:xfrm>
            <a:off x="1551381" y="5150585"/>
            <a:ext cx="418012" cy="3787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AF6309-BBED-80EE-E8D9-4E29D7C912E1}"/>
              </a:ext>
            </a:extLst>
          </p:cNvPr>
          <p:cNvSpPr txBox="1"/>
          <p:nvPr/>
        </p:nvSpPr>
        <p:spPr>
          <a:xfrm>
            <a:off x="308199" y="4308792"/>
            <a:ext cx="474764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en-US" altLang="ko-KR" sz="900" dirty="0">
                <a:latin typeface="+mn-ea"/>
              </a:rPr>
              <a:t>※ </a:t>
            </a:r>
            <a:r>
              <a:rPr lang="ko-KR" altLang="en-US" sz="900" dirty="0">
                <a:latin typeface="+mn-ea"/>
              </a:rPr>
              <a:t>정통부 지침 </a:t>
            </a:r>
            <a:r>
              <a:rPr lang="en-US" altLang="ko-KR" sz="900" dirty="0">
                <a:latin typeface="+mn-ea"/>
              </a:rPr>
              <a:t>: </a:t>
            </a:r>
            <a:r>
              <a:rPr lang="ko-KR" altLang="en-US" sz="900" dirty="0">
                <a:latin typeface="+mn-ea"/>
              </a:rPr>
              <a:t>내부 인건비 및 </a:t>
            </a:r>
            <a:r>
              <a:rPr lang="ko-KR" altLang="en-US" sz="900">
                <a:latin typeface="+mn-ea"/>
              </a:rPr>
              <a:t>간접비 제외</a:t>
            </a:r>
            <a:endParaRPr lang="ko-KR" altLang="en-US" sz="900" dirty="0">
              <a:latin typeface="+mn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4F54EBC8-29A9-0C87-CC81-0FEAE75F9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889635"/>
              </p:ext>
            </p:extLst>
          </p:nvPr>
        </p:nvGraphicFramePr>
        <p:xfrm>
          <a:off x="251251" y="1447260"/>
          <a:ext cx="5571396" cy="758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056">
                  <a:extLst>
                    <a:ext uri="{9D8B030D-6E8A-4147-A177-3AD203B41FA5}">
                      <a16:colId xmlns:a16="http://schemas.microsoft.com/office/drawing/2014/main" val="4014461019"/>
                    </a:ext>
                  </a:extLst>
                </a:gridCol>
                <a:gridCol w="758890">
                  <a:extLst>
                    <a:ext uri="{9D8B030D-6E8A-4147-A177-3AD203B41FA5}">
                      <a16:colId xmlns:a16="http://schemas.microsoft.com/office/drawing/2014/main" val="1494691944"/>
                    </a:ext>
                  </a:extLst>
                </a:gridCol>
                <a:gridCol w="758890">
                  <a:extLst>
                    <a:ext uri="{9D8B030D-6E8A-4147-A177-3AD203B41FA5}">
                      <a16:colId xmlns:a16="http://schemas.microsoft.com/office/drawing/2014/main" val="2382661825"/>
                    </a:ext>
                  </a:extLst>
                </a:gridCol>
                <a:gridCol w="758890">
                  <a:extLst>
                    <a:ext uri="{9D8B030D-6E8A-4147-A177-3AD203B41FA5}">
                      <a16:colId xmlns:a16="http://schemas.microsoft.com/office/drawing/2014/main" val="1249205373"/>
                    </a:ext>
                  </a:extLst>
                </a:gridCol>
                <a:gridCol w="758890">
                  <a:extLst>
                    <a:ext uri="{9D8B030D-6E8A-4147-A177-3AD203B41FA5}">
                      <a16:colId xmlns:a16="http://schemas.microsoft.com/office/drawing/2014/main" val="2649944168"/>
                    </a:ext>
                  </a:extLst>
                </a:gridCol>
                <a:gridCol w="758890">
                  <a:extLst>
                    <a:ext uri="{9D8B030D-6E8A-4147-A177-3AD203B41FA5}">
                      <a16:colId xmlns:a16="http://schemas.microsoft.com/office/drawing/2014/main" val="2196342247"/>
                    </a:ext>
                  </a:extLst>
                </a:gridCol>
                <a:gridCol w="758890">
                  <a:extLst>
                    <a:ext uri="{9D8B030D-6E8A-4147-A177-3AD203B41FA5}">
                      <a16:colId xmlns:a16="http://schemas.microsoft.com/office/drawing/2014/main" val="1736973525"/>
                    </a:ext>
                  </a:extLst>
                </a:gridCol>
              </a:tblGrid>
              <a:tr h="24007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4935" marR="84935" marT="29250" marB="2925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2021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2022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2023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2024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29250" marB="2925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220825"/>
                  </a:ext>
                </a:extLst>
              </a:tr>
              <a:tr h="259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계획</a:t>
                      </a:r>
                      <a:endParaRPr lang="en-US" altLang="ko-KR" sz="10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1,019</a:t>
                      </a:r>
                    </a:p>
                  </a:txBody>
                  <a:tcPr marL="104535" marR="104535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1,091</a:t>
                      </a:r>
                    </a:p>
                  </a:txBody>
                  <a:tcPr marL="104535" marR="104535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1,189</a:t>
                      </a:r>
                    </a:p>
                  </a:txBody>
                  <a:tcPr marL="104535" marR="104535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1,308</a:t>
                      </a:r>
                    </a:p>
                  </a:txBody>
                  <a:tcPr marL="104535" marR="104535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1,464</a:t>
                      </a:r>
                    </a:p>
                  </a:txBody>
                  <a:tcPr marL="104535" marR="104535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6,071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841759"/>
                  </a:ext>
                </a:extLst>
              </a:tr>
              <a:tr h="25932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실적</a:t>
                      </a:r>
                    </a:p>
                  </a:txBody>
                  <a:tcPr marL="84935" marR="84935" marT="29250" marB="2925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1,115</a:t>
                      </a:r>
                    </a:p>
                  </a:txBody>
                  <a:tcPr marL="104535" marR="104535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1,154</a:t>
                      </a:r>
                    </a:p>
                  </a:txBody>
                  <a:tcPr marL="104535" marR="104535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1,359</a:t>
                      </a:r>
                    </a:p>
                  </a:txBody>
                  <a:tcPr marL="104535" marR="104535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1,616</a:t>
                      </a:r>
                    </a:p>
                  </a:txBody>
                  <a:tcPr marL="104535" marR="104535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1,565</a:t>
                      </a:r>
                    </a:p>
                  </a:txBody>
                  <a:tcPr marL="104535" marR="104535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6,809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0481797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D20CB7F1-D664-7A4D-F9FF-38EF0BB0F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50655"/>
              </p:ext>
            </p:extLst>
          </p:nvPr>
        </p:nvGraphicFramePr>
        <p:xfrm>
          <a:off x="228748" y="2300698"/>
          <a:ext cx="4827092" cy="19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890">
                  <a:extLst>
                    <a:ext uri="{9D8B030D-6E8A-4147-A177-3AD203B41FA5}">
                      <a16:colId xmlns:a16="http://schemas.microsoft.com/office/drawing/2014/main" val="4014461019"/>
                    </a:ext>
                  </a:extLst>
                </a:gridCol>
                <a:gridCol w="3010583">
                  <a:extLst>
                    <a:ext uri="{9D8B030D-6E8A-4147-A177-3AD203B41FA5}">
                      <a16:colId xmlns:a16="http://schemas.microsoft.com/office/drawing/2014/main" val="695637562"/>
                    </a:ext>
                  </a:extLst>
                </a:gridCol>
                <a:gridCol w="766619">
                  <a:extLst>
                    <a:ext uri="{9D8B030D-6E8A-4147-A177-3AD203B41FA5}">
                      <a16:colId xmlns:a16="http://schemas.microsoft.com/office/drawing/2014/main" val="531577892"/>
                    </a:ext>
                  </a:extLst>
                </a:gridCol>
              </a:tblGrid>
              <a:tr h="276610">
                <a:tc row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제작비</a:t>
                      </a:r>
                      <a:endParaRPr lang="en-US" altLang="ko-KR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</a:t>
                      </a:r>
                      <a:endParaRPr lang="en-US" altLang="ko-KR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(2025</a:t>
                      </a: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</a:t>
                      </a:r>
                      <a:r>
                        <a:rPr lang="en-US" altLang="ko-K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용역수수료</a:t>
                      </a:r>
                      <a:endParaRPr lang="en-US" altLang="ko-KR" sz="10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분장실</a:t>
                      </a:r>
                      <a:r>
                        <a:rPr lang="en-US" altLang="ko-KR" sz="8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의상실</a:t>
                      </a:r>
                      <a:r>
                        <a:rPr lang="en-US" altLang="ko-KR" sz="8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요리실 등 </a:t>
                      </a:r>
                      <a:r>
                        <a:rPr lang="en-US" altLang="ko-KR" sz="8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8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 </a:t>
                      </a:r>
                      <a:r>
                        <a:rPr lang="ko-KR" altLang="en-US" sz="8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도급사</a:t>
                      </a:r>
                      <a:r>
                        <a:rPr lang="ko-KR" altLang="en-US" sz="8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비용</a:t>
                      </a:r>
                      <a:r>
                        <a:rPr lang="en-US" altLang="ko-KR" sz="8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29250" marB="2925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465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235191"/>
                  </a:ext>
                </a:extLst>
              </a:tr>
              <a:tr h="27661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프리랜서</a:t>
                      </a: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(SH)</a:t>
                      </a:r>
                      <a:endParaRPr lang="ko-KR" altLang="en-US" sz="10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29250" marB="2925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238812"/>
                  </a:ext>
                </a:extLst>
              </a:tr>
              <a:tr h="27661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모델</a:t>
                      </a: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출연료</a:t>
                      </a:r>
                    </a:p>
                  </a:txBody>
                  <a:tcPr marL="0" marR="0" marT="29250" marB="2925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458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44904"/>
                  </a:ext>
                </a:extLst>
              </a:tr>
              <a:tr h="27661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음원사용료</a:t>
                      </a:r>
                    </a:p>
                  </a:txBody>
                  <a:tcPr marL="0" marR="0" marT="29250" marB="2925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397103"/>
                  </a:ext>
                </a:extLst>
              </a:tr>
              <a:tr h="2766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임차료</a:t>
                      </a:r>
                    </a:p>
                  </a:txBody>
                  <a:tcPr marL="0" marR="0" marT="29250" marB="2925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341005"/>
                  </a:ext>
                </a:extLst>
              </a:tr>
              <a:tr h="2766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외주제작비</a:t>
                      </a:r>
                    </a:p>
                  </a:txBody>
                  <a:tcPr marL="0" marR="0" marT="29250" marB="2925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92360"/>
                  </a:ext>
                </a:extLst>
              </a:tr>
              <a:tr h="27661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5" marR="84935" marT="29250" marB="2925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소모품비등 기타</a:t>
                      </a:r>
                    </a:p>
                  </a:txBody>
                  <a:tcPr marL="0" marR="0" marT="29250" marB="2925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43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406985"/>
                  </a:ext>
                </a:extLst>
              </a:tr>
            </a:tbl>
          </a:graphicData>
        </a:graphic>
      </p:graphicFrame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23A1F4D-1643-6A82-BA9F-D0AF3F7FD5E1}"/>
              </a:ext>
            </a:extLst>
          </p:cNvPr>
          <p:cNvCxnSpPr>
            <a:cxnSpLocks/>
            <a:stCxn id="8" idx="2"/>
            <a:endCxn id="9" idx="6"/>
          </p:cNvCxnSpPr>
          <p:nvPr/>
        </p:nvCxnSpPr>
        <p:spPr>
          <a:xfrm flipH="1">
            <a:off x="1969393" y="2070557"/>
            <a:ext cx="2510087" cy="32694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019B4AB-BD70-BC1F-FC1F-D5001F6B57B2}"/>
              </a:ext>
            </a:extLst>
          </p:cNvPr>
          <p:cNvCxnSpPr/>
          <p:nvPr/>
        </p:nvCxnSpPr>
        <p:spPr>
          <a:xfrm>
            <a:off x="1551381" y="2162440"/>
            <a:ext cx="2673637" cy="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4A66D66-76C1-9A79-C3ED-4A77FF279493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73/109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44910498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DCDE4A-C8CC-D381-F603-9B3A6B368EBA}"/>
              </a:ext>
            </a:extLst>
          </p:cNvPr>
          <p:cNvSpPr txBox="1"/>
          <p:nvPr/>
        </p:nvSpPr>
        <p:spPr>
          <a:xfrm>
            <a:off x="66674" y="335715"/>
            <a:ext cx="10674351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시청자 평가 프로그램의 편성 시간을 주시청시간대에서 야간시간대로 이동한 이유는 무엇인가요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</a:t>
            </a:r>
          </a:p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   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시청자 평가위원은 어떻게 선정하나요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</a:t>
            </a:r>
            <a:endParaRPr lang="en-US" altLang="ko-KR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C2501A-B9AF-22B7-5728-1AD1211942B6}"/>
              </a:ext>
            </a:extLst>
          </p:cNvPr>
          <p:cNvSpPr txBox="1"/>
          <p:nvPr/>
        </p:nvSpPr>
        <p:spPr>
          <a:xfrm>
            <a:off x="65067" y="19389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4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프로그램 제작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930BA54-CB1B-A49F-7F69-0E3CAF247063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>
                <a:solidFill>
                  <a:schemeClr val="tx2">
                    <a:lumMod val="75000"/>
                  </a:schemeClr>
                </a:solidFill>
                <a:latin typeface="+mn-ea"/>
              </a:rPr>
              <a:t>편성책임자</a:t>
            </a:r>
            <a:endParaRPr lang="ko-KR" altLang="en-US" sz="105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93D7BFC-BCF5-C34F-07FA-B4103C2D25EB}"/>
              </a:ext>
            </a:extLst>
          </p:cNvPr>
          <p:cNvSpPr/>
          <p:nvPr/>
        </p:nvSpPr>
        <p:spPr>
          <a:xfrm>
            <a:off x="6051657" y="1240971"/>
            <a:ext cx="5768869" cy="540366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DBD043-8425-2EAD-6430-720D2565278F}"/>
              </a:ext>
            </a:extLst>
          </p:cNvPr>
          <p:cNvSpPr txBox="1"/>
          <p:nvPr/>
        </p:nvSpPr>
        <p:spPr>
          <a:xfrm>
            <a:off x="6153532" y="1321201"/>
            <a:ext cx="5753100" cy="3599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야간시간대 이동 사유</a:t>
            </a:r>
            <a:r>
              <a:rPr lang="en-US" altLang="ko-KR" sz="1200" b="1" dirty="0">
                <a:latin typeface="+mn-ea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ko-KR" altLang="en-US" sz="1200" b="1" dirty="0">
                <a:latin typeface="+mn-ea"/>
              </a:rPr>
              <a:t>① 홈쇼핑 시청률 고려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  </a:t>
            </a:r>
            <a:r>
              <a:rPr lang="en-US" altLang="ko-KR" sz="1200" b="1" dirty="0">
                <a:latin typeface="+mn-ea"/>
              </a:rPr>
              <a:t>-</a:t>
            </a:r>
            <a:r>
              <a:rPr lang="ko-KR" altLang="en-US" sz="1200" b="1" dirty="0">
                <a:latin typeface="+mn-ea"/>
              </a:rPr>
              <a:t> 시청률은 </a:t>
            </a:r>
            <a:r>
              <a:rPr lang="ko-KR" altLang="en-US" sz="1200" b="1" u="sng" dirty="0">
                <a:latin typeface="+mn-ea"/>
              </a:rPr>
              <a:t>금요일 심야 시간대가 </a:t>
            </a:r>
            <a:r>
              <a:rPr lang="ko-KR" altLang="en-US" sz="1200" b="1" u="sng" dirty="0">
                <a:solidFill>
                  <a:srgbClr val="0000FF"/>
                </a:solidFill>
                <a:latin typeface="+mn-ea"/>
              </a:rPr>
              <a:t>소폭 높은 수준</a:t>
            </a:r>
            <a:endParaRPr lang="en-US" altLang="ko-KR" sz="1200" b="1" u="sng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050" b="1" dirty="0">
                <a:latin typeface="+mn-ea"/>
              </a:rPr>
              <a:t>      </a:t>
            </a:r>
            <a:r>
              <a:rPr lang="en-US" altLang="ko-KR" sz="1050" dirty="0">
                <a:latin typeface="+mn-ea"/>
              </a:rPr>
              <a:t>*</a:t>
            </a:r>
            <a:r>
              <a:rPr lang="ko-KR" altLang="en-US" sz="1050" dirty="0">
                <a:latin typeface="+mn-ea"/>
              </a:rPr>
              <a:t>토 </a:t>
            </a:r>
            <a:r>
              <a:rPr lang="en-US" altLang="ko-KR" sz="1050" dirty="0">
                <a:latin typeface="+mn-ea"/>
              </a:rPr>
              <a:t>18</a:t>
            </a:r>
            <a:r>
              <a:rPr lang="ko-KR" altLang="en-US" sz="1050" dirty="0">
                <a:latin typeface="+mn-ea"/>
              </a:rPr>
              <a:t>시대 </a:t>
            </a:r>
            <a:r>
              <a:rPr lang="en-US" altLang="ko-KR" sz="1050" dirty="0">
                <a:latin typeface="+mn-ea"/>
              </a:rPr>
              <a:t>2,320</a:t>
            </a:r>
            <a:r>
              <a:rPr lang="ko-KR" altLang="en-US" sz="1050" dirty="0">
                <a:latin typeface="+mn-ea"/>
              </a:rPr>
              <a:t>가구 → 금 </a:t>
            </a:r>
            <a:r>
              <a:rPr lang="en-US" altLang="ko-KR" sz="1050" dirty="0">
                <a:latin typeface="+mn-ea"/>
              </a:rPr>
              <a:t>00</a:t>
            </a:r>
            <a:r>
              <a:rPr lang="ko-KR" altLang="en-US" sz="1050" dirty="0">
                <a:latin typeface="+mn-ea"/>
              </a:rPr>
              <a:t>시대 </a:t>
            </a:r>
            <a:r>
              <a:rPr lang="en-US" altLang="ko-KR" sz="1050" dirty="0">
                <a:latin typeface="+mn-ea"/>
              </a:rPr>
              <a:t>2,671</a:t>
            </a:r>
            <a:r>
              <a:rPr lang="ko-KR" altLang="en-US" sz="1050" dirty="0">
                <a:latin typeface="+mn-ea"/>
              </a:rPr>
              <a:t>가구</a:t>
            </a:r>
            <a:endParaRPr lang="en-US" altLang="ko-KR" sz="105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② 프로그램 특성과 시청환경 고려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dirty="0"/>
              <a:t>   </a:t>
            </a:r>
            <a:r>
              <a:rPr lang="en-US" altLang="ko-KR" sz="1200" b="1" dirty="0"/>
              <a:t>- </a:t>
            </a:r>
            <a:r>
              <a:rPr lang="ko-KR" altLang="en-US" sz="1200" b="1" dirty="0"/>
              <a:t>시청자 권익보호를 위한 평가 프로그램의 특성을 고려하여</a:t>
            </a:r>
            <a:r>
              <a:rPr lang="en-US" altLang="ko-KR" sz="1200" b="1" dirty="0"/>
              <a:t>, 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/>
              <a:t>     </a:t>
            </a:r>
            <a:r>
              <a:rPr lang="ko-KR" altLang="en-US" sz="1200" b="1" dirty="0"/>
              <a:t>시청자가 보다 편안한 환경에서 내용을 인지할 수 있도록 </a:t>
            </a:r>
            <a:endParaRPr lang="en-US" altLang="ko-KR" sz="1200" b="1" dirty="0"/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/>
              <a:t>     </a:t>
            </a:r>
            <a:r>
              <a:rPr lang="ko-KR" altLang="en-US" sz="1200" b="1" dirty="0"/>
              <a:t>편안한 시청이 가능한 </a:t>
            </a:r>
            <a:r>
              <a:rPr lang="ko-KR" altLang="en-US" sz="1200" b="1" dirty="0">
                <a:solidFill>
                  <a:srgbClr val="0000FF"/>
                </a:solidFill>
              </a:rPr>
              <a:t>심야 시간대로 편성</a:t>
            </a:r>
            <a:endParaRPr lang="en-US" altLang="ko-KR" sz="1200" b="1" dirty="0">
              <a:solidFill>
                <a:srgbClr val="0000FF"/>
              </a:solidFill>
            </a:endParaRPr>
          </a:p>
          <a:p>
            <a:pPr>
              <a:lnSpc>
                <a:spcPct val="130000"/>
              </a:lnSpc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시청자 평가위원 선정 방법</a:t>
            </a:r>
            <a:r>
              <a:rPr lang="en-US" altLang="ko-KR" sz="1200" b="1" dirty="0">
                <a:latin typeface="+mn-ea"/>
              </a:rPr>
              <a:t>)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① 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선정</a:t>
            </a:r>
            <a:r>
              <a:rPr lang="en-US" altLang="ko-KR" sz="1200" b="1" dirty="0">
                <a:latin typeface="+mn-ea"/>
              </a:rPr>
              <a:t>) </a:t>
            </a:r>
            <a:r>
              <a:rPr lang="ko-KR" altLang="en-US" sz="1200" b="1" dirty="0">
                <a:latin typeface="+mn-ea"/>
              </a:rPr>
              <a:t>시청자 권익 대표성을 고려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u="sng" dirty="0">
                <a:latin typeface="+mn-ea"/>
              </a:rPr>
              <a:t>언론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>
                <a:latin typeface="+mn-ea"/>
              </a:rPr>
              <a:t>시민단체 외부 전문가로 선정</a:t>
            </a:r>
            <a:endParaRPr lang="en-US" altLang="ko-KR" sz="1200" b="1" u="sng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② 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운영</a:t>
            </a:r>
            <a:r>
              <a:rPr lang="en-US" altLang="ko-KR" sz="1200" b="1" dirty="0">
                <a:latin typeface="+mn-ea"/>
              </a:rPr>
              <a:t>) 1</a:t>
            </a:r>
            <a:r>
              <a:rPr lang="ko-KR" altLang="en-US" sz="1200" b="1" dirty="0">
                <a:latin typeface="+mn-ea"/>
              </a:rPr>
              <a:t>년 임기로 운영하되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프로그램 이해와 일관성 위해 연임 가능 </a:t>
            </a:r>
            <a:endParaRPr lang="en-US" altLang="ko-KR" sz="1200" b="1" dirty="0">
              <a:latin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latin typeface="+mn-ea"/>
              </a:rPr>
              <a:t>   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*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내부 선정위원회를 통해 선정</a:t>
            </a:r>
            <a:r>
              <a:rPr lang="ko-KR" altLang="en-US" sz="1050" dirty="0">
                <a:solidFill>
                  <a:prstClr val="black"/>
                </a:solidFill>
                <a:latin typeface="+mn-ea"/>
              </a:rPr>
              <a:t> → </a:t>
            </a:r>
            <a:r>
              <a:rPr lang="ko-KR" altLang="en-US" sz="1050" u="sng" dirty="0">
                <a:solidFill>
                  <a:prstClr val="black"/>
                </a:solidFill>
                <a:latin typeface="+mn-ea"/>
              </a:rPr>
              <a:t>향후 시청자위원회에서 선임 검토 중</a:t>
            </a:r>
            <a:endParaRPr lang="en-US" altLang="ko-KR" sz="1000" b="1" u="sng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100" b="1" dirty="0">
                <a:latin typeface="+mn-ea"/>
              </a:rPr>
              <a:t> 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100" b="1" dirty="0">
                <a:latin typeface="+mn-ea"/>
              </a:rPr>
              <a:t>[</a:t>
            </a:r>
            <a:r>
              <a:rPr lang="ko-KR" altLang="en-US" sz="1100" b="1" dirty="0">
                <a:latin typeface="+mn-ea"/>
              </a:rPr>
              <a:t>現 시청자 평가위원</a:t>
            </a:r>
            <a:r>
              <a:rPr lang="en-US" altLang="ko-KR" sz="1100" b="1" dirty="0">
                <a:latin typeface="+mn-ea"/>
              </a:rPr>
              <a:t>]</a:t>
            </a:r>
            <a:r>
              <a:rPr lang="ko-KR" altLang="en-US" sz="1100" b="1" dirty="0">
                <a:latin typeface="+mn-ea"/>
              </a:rPr>
              <a:t> </a:t>
            </a:r>
            <a:endParaRPr lang="en-US" altLang="ko-KR" sz="1100" b="1" dirty="0">
              <a:latin typeface="+mn-ea"/>
            </a:endParaRPr>
          </a:p>
        </p:txBody>
      </p:sp>
      <p:pic>
        <p:nvPicPr>
          <p:cNvPr id="11" name="그림 10" descr="텍스트, 번호, 달력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93826F-E578-BBF1-E0A9-282EECE86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99" y="1346709"/>
            <a:ext cx="5027612" cy="2587116"/>
          </a:xfrm>
          <a:prstGeom prst="rect">
            <a:avLst/>
          </a:prstGeom>
        </p:spPr>
      </p:pic>
      <p:pic>
        <p:nvPicPr>
          <p:cNvPr id="15" name="그림 14" descr="텍스트, 번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51AAE4-D914-7B94-E57B-F03FB7EF2B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72"/>
          <a:stretch>
            <a:fillRect/>
          </a:stretch>
        </p:blipFill>
        <p:spPr>
          <a:xfrm>
            <a:off x="755499" y="3985495"/>
            <a:ext cx="5027614" cy="285311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DDBBEA1-489A-41BC-6466-7FBE5AA93319}"/>
              </a:ext>
            </a:extLst>
          </p:cNvPr>
          <p:cNvSpPr txBox="1"/>
          <p:nvPr/>
        </p:nvSpPr>
        <p:spPr>
          <a:xfrm>
            <a:off x="152401" y="1154000"/>
            <a:ext cx="5768869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■ 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사업계획서 </a:t>
            </a:r>
            <a:r>
              <a:rPr lang="en-US" altLang="ko-KR" sz="1200" b="1" dirty="0">
                <a:latin typeface="+mn-ea"/>
              </a:rPr>
              <a:t>p.145)</a:t>
            </a:r>
            <a:r>
              <a:rPr lang="ko-KR" altLang="en-US" sz="1200" b="1" u="sng" dirty="0">
                <a:latin typeface="+mn-ea"/>
              </a:rPr>
              <a:t>시청자 평가 프로그램</a:t>
            </a:r>
            <a:r>
              <a:rPr lang="en-US" altLang="ko-KR" sz="1200" b="1" u="sng" dirty="0">
                <a:latin typeface="+mn-ea"/>
              </a:rPr>
              <a:t>(</a:t>
            </a:r>
            <a:r>
              <a:rPr lang="ko-KR" altLang="en-US" sz="1200" b="1" u="sng" dirty="0">
                <a:latin typeface="+mn-ea"/>
              </a:rPr>
              <a:t>재승인 의무사항</a:t>
            </a:r>
            <a:r>
              <a:rPr lang="en-US" altLang="ko-KR" sz="1200" b="1" u="sng" dirty="0">
                <a:latin typeface="+mn-ea"/>
              </a:rPr>
              <a:t>)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:</a:t>
            </a:r>
            <a:r>
              <a:rPr lang="ko-KR" altLang="en-US" sz="1200" b="1" u="sng" dirty="0">
                <a:latin typeface="+mn-ea"/>
              </a:rPr>
              <a:t> 매주 </a:t>
            </a:r>
            <a:r>
              <a:rPr lang="en-US" altLang="ko-KR" sz="1200" b="1" u="sng" dirty="0">
                <a:latin typeface="+mn-ea"/>
              </a:rPr>
              <a:t>20</a:t>
            </a:r>
            <a:r>
              <a:rPr lang="ko-KR" altLang="en-US" sz="1200" b="1" u="sng" dirty="0">
                <a:latin typeface="+mn-ea"/>
              </a:rPr>
              <a:t>분</a:t>
            </a:r>
            <a:endParaRPr lang="en-US" altLang="ko-KR" sz="1200" b="1" u="sng" dirty="0"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8B96C70-1038-8EAB-8D83-375FA8242CAC}"/>
              </a:ext>
            </a:extLst>
          </p:cNvPr>
          <p:cNvSpPr/>
          <p:nvPr/>
        </p:nvSpPr>
        <p:spPr>
          <a:xfrm>
            <a:off x="3971109" y="1480904"/>
            <a:ext cx="574765" cy="192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9FFC6CE-48F0-D666-4AC7-B6ABDD3B0664}"/>
              </a:ext>
            </a:extLst>
          </p:cNvPr>
          <p:cNvSpPr/>
          <p:nvPr/>
        </p:nvSpPr>
        <p:spPr>
          <a:xfrm>
            <a:off x="4567656" y="3975919"/>
            <a:ext cx="574765" cy="192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A491AC1-59AB-0FAF-9167-829CA67580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999"/>
          <a:stretch>
            <a:fillRect/>
          </a:stretch>
        </p:blipFill>
        <p:spPr>
          <a:xfrm>
            <a:off x="6217759" y="4945403"/>
            <a:ext cx="4692237" cy="9677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A92645-C16E-C958-9324-6A3585AFD837}"/>
              </a:ext>
            </a:extLst>
          </p:cNvPr>
          <p:cNvSpPr txBox="1"/>
          <p:nvPr/>
        </p:nvSpPr>
        <p:spPr>
          <a:xfrm>
            <a:off x="227665" y="1459130"/>
            <a:ext cx="952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- </a:t>
            </a:r>
            <a:r>
              <a:rPr lang="ko-KR" altLang="en-US" sz="1000" b="1" dirty="0"/>
              <a:t>실적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84F9CD-274E-ED35-02C2-D2BF826177E7}"/>
              </a:ext>
            </a:extLst>
          </p:cNvPr>
          <p:cNvSpPr txBox="1"/>
          <p:nvPr/>
        </p:nvSpPr>
        <p:spPr>
          <a:xfrm>
            <a:off x="227665" y="3975919"/>
            <a:ext cx="952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- </a:t>
            </a:r>
            <a:r>
              <a:rPr lang="ko-KR" altLang="en-US" sz="1000" b="1" dirty="0"/>
              <a:t>계획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61368A-4A32-3DD6-4B9A-16B63FA7D1B2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74/109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20679420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6D8C9-CE8D-C404-765E-65B51D5B9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DCB99F-43D4-7252-B970-AA267D419569}"/>
              </a:ext>
            </a:extLst>
          </p:cNvPr>
          <p:cNvSpPr txBox="1"/>
          <p:nvPr/>
        </p:nvSpPr>
        <p:spPr>
          <a:xfrm>
            <a:off x="66675" y="335715"/>
            <a:ext cx="9887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시청자 정보 프로그램을 주로 새벽시간대에 편성하고 있는데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이유는 무엇인가요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119C36-6CC9-69EF-3726-D4DE2BEFB9AA}"/>
              </a:ext>
            </a:extLst>
          </p:cNvPr>
          <p:cNvSpPr txBox="1"/>
          <p:nvPr/>
        </p:nvSpPr>
        <p:spPr>
          <a:xfrm>
            <a:off x="65067" y="19389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4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프로그램 제작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44A5DA9-8A36-C164-A914-5F078F88F72E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>
                <a:solidFill>
                  <a:schemeClr val="tx2">
                    <a:lumMod val="75000"/>
                  </a:schemeClr>
                </a:solidFill>
                <a:latin typeface="+mn-ea"/>
              </a:rPr>
              <a:t>편성책임자</a:t>
            </a:r>
            <a:endParaRPr lang="ko-KR" altLang="en-US" sz="105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E5C551-52DA-9113-3979-A62AAD3A211C}"/>
              </a:ext>
            </a:extLst>
          </p:cNvPr>
          <p:cNvSpPr txBox="1"/>
          <p:nvPr/>
        </p:nvSpPr>
        <p:spPr>
          <a:xfrm>
            <a:off x="170099" y="847855"/>
            <a:ext cx="5768869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■ 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사업계획서 </a:t>
            </a:r>
            <a:r>
              <a:rPr lang="en-US" altLang="ko-KR" sz="1200" b="1" dirty="0">
                <a:latin typeface="+mn-ea"/>
              </a:rPr>
              <a:t>p.147)</a:t>
            </a:r>
            <a:r>
              <a:rPr lang="ko-KR" altLang="en-US" sz="1200" b="1" dirty="0">
                <a:latin typeface="+mn-ea"/>
              </a:rPr>
              <a:t>시청자 정보 프로그램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재승인 의무사항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 </a:t>
            </a:r>
            <a:endParaRPr lang="en-US" altLang="ko-KR" sz="1200" b="1" dirty="0">
              <a:latin typeface="+mn-ea"/>
            </a:endParaRPr>
          </a:p>
        </p:txBody>
      </p:sp>
      <p:pic>
        <p:nvPicPr>
          <p:cNvPr id="5" name="그림 4" descr="텍스트, 번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794BE2-8963-4971-CBF0-B0F360764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23" y="1094034"/>
            <a:ext cx="4686527" cy="2363103"/>
          </a:xfrm>
          <a:prstGeom prst="rect">
            <a:avLst/>
          </a:prstGeom>
        </p:spPr>
      </p:pic>
      <p:pic>
        <p:nvPicPr>
          <p:cNvPr id="10" name="그림 9" descr="텍스트, 번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FC6F74-19F3-477E-7A17-379C2C0B8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23" y="3528738"/>
            <a:ext cx="5572003" cy="3207964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78805E32-7110-ABC2-CAF8-AB40AD99D57E}"/>
              </a:ext>
            </a:extLst>
          </p:cNvPr>
          <p:cNvSpPr/>
          <p:nvPr/>
        </p:nvSpPr>
        <p:spPr>
          <a:xfrm>
            <a:off x="6434636" y="1006818"/>
            <a:ext cx="5385889" cy="56257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00E0E2-08EE-B4BB-7C90-5DDFA7AD198B}"/>
              </a:ext>
            </a:extLst>
          </p:cNvPr>
          <p:cNvSpPr txBox="1"/>
          <p:nvPr/>
        </p:nvSpPr>
        <p:spPr>
          <a:xfrm>
            <a:off x="6527083" y="1094035"/>
            <a:ext cx="5588717" cy="2946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① 프로그램 특성 고려</a:t>
            </a:r>
          </a:p>
          <a:p>
            <a:pPr>
              <a:lnSpc>
                <a:spcPct val="130000"/>
              </a:lnSpc>
            </a:pPr>
            <a:r>
              <a:rPr lang="ko-KR" altLang="en-US" sz="1200" b="1" dirty="0">
                <a:latin typeface="+mn-ea"/>
              </a:rPr>
              <a:t>  </a:t>
            </a:r>
            <a:r>
              <a:rPr lang="en-US" altLang="ko-KR" sz="1200" b="1" dirty="0">
                <a:latin typeface="+mn-ea"/>
              </a:rPr>
              <a:t>-</a:t>
            </a:r>
            <a:r>
              <a:rPr lang="ko-KR" altLang="en-US" sz="1200" b="1" dirty="0">
                <a:latin typeface="+mn-ea"/>
              </a:rPr>
              <a:t> 편안한 시청 환경이 가능한 시간대 </a:t>
            </a:r>
          </a:p>
          <a:p>
            <a:pPr>
              <a:lnSpc>
                <a:spcPct val="130000"/>
              </a:lnSpc>
            </a:pPr>
            <a:endParaRPr lang="en-US" altLang="ko-KR" sz="1200" b="1" dirty="0">
              <a:solidFill>
                <a:srgbClr val="1919E5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ko-KR" altLang="en-US" sz="1200" b="1" dirty="0">
                <a:latin typeface="+mn-ea"/>
              </a:rPr>
              <a:t>② 채널 특성 고려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200" b="1" dirty="0">
                <a:latin typeface="+mn-ea"/>
              </a:rPr>
              <a:t>  - </a:t>
            </a:r>
            <a:r>
              <a:rPr lang="ko-KR" altLang="en-US" sz="1200" b="1" dirty="0">
                <a:latin typeface="+mn-ea"/>
              </a:rPr>
              <a:t>시청자 시청 목적이 주로 </a:t>
            </a:r>
            <a:r>
              <a:rPr lang="ko-KR" altLang="en-US" sz="1200" b="1" u="sng" dirty="0">
                <a:latin typeface="+mn-ea"/>
              </a:rPr>
              <a:t>판매방송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200" b="1" dirty="0">
                <a:latin typeface="+mn-ea"/>
              </a:rPr>
              <a:t>   </a:t>
            </a:r>
          </a:p>
          <a:p>
            <a:pPr marL="228600" indent="-228600">
              <a:lnSpc>
                <a:spcPct val="130000"/>
              </a:lnSpc>
              <a:buAutoNum type="circleNumDbPlain" startAt="3"/>
            </a:pPr>
            <a:r>
              <a:rPr lang="ko-KR" altLang="en-US" sz="1200" b="1" u="sng" dirty="0">
                <a:latin typeface="+mn-ea"/>
              </a:rPr>
              <a:t>유익한 정보 콘텐츠 제공하려고 노력</a:t>
            </a:r>
            <a:endParaRPr lang="en-US" altLang="ko-KR" sz="1200" b="1" u="sng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200" b="1" dirty="0">
                <a:latin typeface="+mn-ea"/>
              </a:rPr>
              <a:t>    </a:t>
            </a:r>
            <a:r>
              <a:rPr lang="ko-KR" altLang="en-US" sz="1200" b="1" u="sng" dirty="0">
                <a:latin typeface="+mn-ea"/>
              </a:rPr>
              <a:t>고정 시청하실 수 있도록 시간대 고정</a:t>
            </a:r>
            <a:endParaRPr lang="en-US" altLang="ko-KR" sz="1200" b="1" u="sng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200" b="1" dirty="0">
                <a:latin typeface="+mn-ea"/>
              </a:rPr>
              <a:t>    </a:t>
            </a:r>
            <a:r>
              <a:rPr lang="ko-KR" altLang="ko-KR" sz="1200" b="1" dirty="0">
                <a:solidFill>
                  <a:srgbClr val="1919E5"/>
                </a:solidFill>
                <a:latin typeface="+mn-ea"/>
              </a:rPr>
              <a:t>→</a:t>
            </a:r>
            <a:r>
              <a:rPr lang="en-US" altLang="ko-KR" sz="1200" b="1" dirty="0">
                <a:solidFill>
                  <a:srgbClr val="1919E5"/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rgbClr val="1919E5"/>
                </a:solidFill>
                <a:latin typeface="+mn-ea"/>
              </a:rPr>
              <a:t>금번에 </a:t>
            </a:r>
            <a:r>
              <a:rPr lang="en-US" altLang="ko-KR" sz="1200" b="1" dirty="0">
                <a:solidFill>
                  <a:srgbClr val="1919E5"/>
                </a:solidFill>
                <a:latin typeface="+mn-ea"/>
              </a:rPr>
              <a:t>'</a:t>
            </a:r>
            <a:r>
              <a:rPr lang="ko-KR" altLang="en-US" sz="1200" b="1" dirty="0">
                <a:solidFill>
                  <a:srgbClr val="1919E5"/>
                </a:solidFill>
                <a:latin typeface="+mn-ea"/>
              </a:rPr>
              <a:t>함께하는 가치</a:t>
            </a:r>
            <a:r>
              <a:rPr lang="en-US" altLang="ko-KR" sz="1200" b="1" dirty="0">
                <a:solidFill>
                  <a:srgbClr val="1919E5"/>
                </a:solidFill>
                <a:latin typeface="+mn-ea"/>
              </a:rPr>
              <a:t>' </a:t>
            </a:r>
            <a:r>
              <a:rPr lang="ko-KR" altLang="en-US" sz="1200" b="1" dirty="0">
                <a:solidFill>
                  <a:srgbClr val="1919E5"/>
                </a:solidFill>
                <a:latin typeface="+mn-ea"/>
              </a:rPr>
              <a:t>라는 공익 정보 프로그램 신설</a:t>
            </a:r>
            <a:endParaRPr lang="en-US" altLang="ko-KR" sz="1200" b="1" dirty="0">
              <a:solidFill>
                <a:srgbClr val="1919E5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200" b="1" dirty="0">
                <a:latin typeface="+mn-ea"/>
              </a:rPr>
              <a:t>[</a:t>
            </a:r>
            <a:r>
              <a:rPr lang="ko-KR" altLang="en-US" sz="1200" b="1" dirty="0">
                <a:latin typeface="+mn-ea"/>
              </a:rPr>
              <a:t>시청자 정보 프로그램 리스트</a:t>
            </a:r>
            <a:r>
              <a:rPr lang="en-US" altLang="ko-KR" sz="1200" b="1" dirty="0">
                <a:latin typeface="+mn-ea"/>
              </a:rPr>
              <a:t>]</a:t>
            </a:r>
            <a:r>
              <a:rPr lang="ko-KR" altLang="en-US" sz="1200" b="1" dirty="0">
                <a:latin typeface="+mn-ea"/>
              </a:rPr>
              <a:t> 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</a:pPr>
            <a:endParaRPr lang="en-US" altLang="ko-KR" sz="1200" b="1" dirty="0">
              <a:latin typeface="+mn-ea"/>
            </a:endParaRPr>
          </a:p>
        </p:txBody>
      </p:sp>
      <p:pic>
        <p:nvPicPr>
          <p:cNvPr id="19" name="그림 18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565AB1-CC70-AAF9-E4AD-B3C66BD5A0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477" y="3729443"/>
            <a:ext cx="4479037" cy="2857382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B6651956-4240-DE21-5EE1-8AF0300A12B3}"/>
              </a:ext>
            </a:extLst>
          </p:cNvPr>
          <p:cNvSpPr/>
          <p:nvPr/>
        </p:nvSpPr>
        <p:spPr>
          <a:xfrm>
            <a:off x="4297111" y="1202816"/>
            <a:ext cx="574765" cy="1745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95AEAE5-8C05-3CFE-E1B1-B141A6F5E936}"/>
              </a:ext>
            </a:extLst>
          </p:cNvPr>
          <p:cNvSpPr/>
          <p:nvPr/>
        </p:nvSpPr>
        <p:spPr>
          <a:xfrm>
            <a:off x="5006860" y="3554865"/>
            <a:ext cx="640080" cy="1745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049AB54-5612-3614-41A5-9D013D5DEED4}"/>
              </a:ext>
            </a:extLst>
          </p:cNvPr>
          <p:cNvSpPr/>
          <p:nvPr/>
        </p:nvSpPr>
        <p:spPr>
          <a:xfrm>
            <a:off x="1675832" y="3554865"/>
            <a:ext cx="640080" cy="1745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B4EAD80-BD39-A2A9-FEA5-BCAF448023AF}"/>
              </a:ext>
            </a:extLst>
          </p:cNvPr>
          <p:cNvSpPr/>
          <p:nvPr/>
        </p:nvSpPr>
        <p:spPr>
          <a:xfrm>
            <a:off x="1471182" y="1211524"/>
            <a:ext cx="574765" cy="1658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B88BA59-C11E-A507-87B4-8DD24F2F2AFB}"/>
              </a:ext>
            </a:extLst>
          </p:cNvPr>
          <p:cNvCxnSpPr>
            <a:cxnSpLocks/>
          </p:cNvCxnSpPr>
          <p:nvPr/>
        </p:nvCxnSpPr>
        <p:spPr>
          <a:xfrm>
            <a:off x="7723747" y="4815840"/>
            <a:ext cx="207264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D0E4C52-21B4-32C4-5E7D-D8B0D64539B3}"/>
              </a:ext>
            </a:extLst>
          </p:cNvPr>
          <p:cNvSpPr txBox="1"/>
          <p:nvPr/>
        </p:nvSpPr>
        <p:spPr>
          <a:xfrm>
            <a:off x="227665" y="1202816"/>
            <a:ext cx="952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- </a:t>
            </a:r>
            <a:r>
              <a:rPr lang="ko-KR" altLang="en-US" sz="1000" b="1" dirty="0"/>
              <a:t>실적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306A15-19C6-A449-F9C1-FF848EB3CE20}"/>
              </a:ext>
            </a:extLst>
          </p:cNvPr>
          <p:cNvSpPr txBox="1"/>
          <p:nvPr/>
        </p:nvSpPr>
        <p:spPr>
          <a:xfrm>
            <a:off x="227665" y="3554865"/>
            <a:ext cx="952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- </a:t>
            </a:r>
            <a:r>
              <a:rPr lang="ko-KR" altLang="en-US" sz="1000" b="1" dirty="0"/>
              <a:t>계획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03EC74-527D-12E4-5A1A-9F66ED0693AF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75/109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99444511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452" y="342051"/>
            <a:ext cx="10324927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자막방송 실적 대비 계획이 낮은 이유는 무엇인가요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</a:t>
            </a:r>
          </a:p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    </a:t>
            </a:r>
            <a:r>
              <a:rPr lang="ko-KR" altLang="en-US" b="1" dirty="0" err="1">
                <a:solidFill>
                  <a:schemeClr val="bg1"/>
                </a:solidFill>
                <a:latin typeface="+mn-ea"/>
              </a:rPr>
              <a:t>수어방송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비중이 낮은 이유는 무엇인가요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5898A3-A71E-75CA-C817-50D5439AFD3E}"/>
              </a:ext>
            </a:extLst>
          </p:cNvPr>
          <p:cNvSpPr txBox="1"/>
          <p:nvPr/>
        </p:nvSpPr>
        <p:spPr>
          <a:xfrm>
            <a:off x="65067" y="19389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4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프로그램 제작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7E873DE-D504-65C7-7892-E8E147380DF0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편성책임자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90A5B6-B5C8-F919-230C-8C3E4E3A944B}"/>
              </a:ext>
            </a:extLst>
          </p:cNvPr>
          <p:cNvSpPr txBox="1"/>
          <p:nvPr/>
        </p:nvSpPr>
        <p:spPr>
          <a:xfrm>
            <a:off x="5843588" y="1364788"/>
            <a:ext cx="6011363" cy="4222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spc="-50" dirty="0">
                <a:latin typeface="+mn-ea"/>
              </a:rPr>
              <a:t>(</a:t>
            </a:r>
            <a:r>
              <a:rPr lang="ko-KR" altLang="en-US" sz="1200" b="1" spc="-50" dirty="0">
                <a:latin typeface="+mn-ea"/>
              </a:rPr>
              <a:t>자막방송 계획이 낮아진 이유</a:t>
            </a:r>
            <a:r>
              <a:rPr lang="en-US" altLang="ko-KR" sz="1200" b="1" spc="-50" dirty="0">
                <a:latin typeface="+mn-ea"/>
              </a:rPr>
              <a:t>)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① </a:t>
            </a:r>
            <a:r>
              <a:rPr lang="en-US" altLang="ko-KR" sz="1200" b="1" spc="-50" dirty="0">
                <a:latin typeface="+mn-ea"/>
              </a:rPr>
              <a:t>(21</a:t>
            </a:r>
            <a:r>
              <a:rPr lang="ko-KR" altLang="en-US" sz="1200" b="1" spc="-50" dirty="0">
                <a:latin typeface="+mn-ea"/>
              </a:rPr>
              <a:t>년 이전</a:t>
            </a:r>
            <a:r>
              <a:rPr lang="en-US" altLang="ko-KR" sz="1200" b="1" spc="-50" dirty="0">
                <a:latin typeface="+mn-ea"/>
              </a:rPr>
              <a:t>)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spc="-50" dirty="0">
                <a:latin typeface="+mn-ea"/>
              </a:rPr>
              <a:t>    </a:t>
            </a:r>
            <a:r>
              <a:rPr lang="ko-KR" altLang="en-US" sz="1200" b="1" u="sng" spc="-50" dirty="0">
                <a:latin typeface="+mn-ea"/>
              </a:rPr>
              <a:t>외부 속기사에게 콘텐츠를 전달하여</a:t>
            </a:r>
            <a:r>
              <a:rPr lang="ko-KR" altLang="en-US" sz="1200" b="1" spc="-50" dirty="0">
                <a:latin typeface="+mn-ea"/>
              </a:rPr>
              <a:t> 수동으로 타이핑해서 자막을 입력하고</a:t>
            </a:r>
            <a:endParaRPr lang="en-US" altLang="ko-KR" sz="1200" b="1" spc="-5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spc="-50" dirty="0">
                <a:latin typeface="+mn-ea"/>
              </a:rPr>
              <a:t>    </a:t>
            </a:r>
            <a:r>
              <a:rPr lang="ko-KR" altLang="en-US" sz="1200" b="1" spc="-50" dirty="0">
                <a:latin typeface="+mn-ea"/>
              </a:rPr>
              <a:t>입력된 영상을 받아 방송하는 방식 </a:t>
            </a:r>
            <a:endParaRPr lang="en-US" altLang="ko-KR" sz="1200" b="1" spc="-5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spc="-50" dirty="0">
                <a:latin typeface="+mn-ea"/>
              </a:rPr>
              <a:t>    → 복잡한 절차와 시간 소요로 운영에 어려움</a:t>
            </a:r>
            <a:endParaRPr lang="en-US" altLang="ko-KR" sz="1000" spc="-5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(22</a:t>
            </a:r>
            <a:r>
              <a:rPr lang="ko-KR" altLang="en-US" sz="1200" b="1" dirty="0">
                <a:latin typeface="+mn-ea"/>
              </a:rPr>
              <a:t>년 도입</a:t>
            </a:r>
            <a:r>
              <a:rPr lang="en-US" altLang="ko-KR" sz="1200" b="1" dirty="0">
                <a:latin typeface="+mn-ea"/>
              </a:rPr>
              <a:t>)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</a:t>
            </a:r>
            <a:r>
              <a:rPr lang="ko-KR" altLang="en-US" sz="1200" b="1" dirty="0">
                <a:latin typeface="+mn-ea"/>
              </a:rPr>
              <a:t>어려움을 해소하고 더 많은 청각장애인에게 자막을 제공하고자 </a:t>
            </a:r>
            <a:r>
              <a:rPr lang="ko-KR" altLang="en-US" sz="1200" b="1" u="sng" dirty="0">
                <a:latin typeface="+mn-ea"/>
              </a:rPr>
              <a:t>자막시스템 구축</a:t>
            </a:r>
            <a:endParaRPr lang="en-US" altLang="ko-KR" sz="1200" b="1" u="sng" spc="-5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② 다만 </a:t>
            </a:r>
            <a:r>
              <a:rPr lang="ko-KR" altLang="en-US" sz="1200" b="1" u="sng" dirty="0">
                <a:latin typeface="+mn-ea"/>
              </a:rPr>
              <a:t>자막 품질</a:t>
            </a:r>
            <a:r>
              <a:rPr lang="en-US" altLang="ko-KR" sz="1200" b="1" u="sng" dirty="0">
                <a:latin typeface="+mn-ea"/>
              </a:rPr>
              <a:t>(</a:t>
            </a:r>
            <a:r>
              <a:rPr lang="ko-KR" altLang="en-US" sz="1200" b="1" u="sng" dirty="0">
                <a:latin typeface="+mn-ea"/>
              </a:rPr>
              <a:t>정확성</a:t>
            </a:r>
            <a:r>
              <a:rPr lang="en-US" altLang="ko-KR" sz="1200" b="1" u="sng" dirty="0">
                <a:latin typeface="+mn-ea"/>
              </a:rPr>
              <a:t>)</a:t>
            </a:r>
            <a:r>
              <a:rPr lang="ko-KR" altLang="en-US" sz="1200" b="1" u="sng" dirty="0">
                <a:latin typeface="+mn-ea"/>
              </a:rPr>
              <a:t>이 기술 한계상 완벽하지 않아 </a:t>
            </a:r>
            <a:r>
              <a:rPr lang="ko-KR" altLang="en-US" sz="1200" b="1" u="sng" dirty="0">
                <a:solidFill>
                  <a:srgbClr val="0000FF"/>
                </a:solidFill>
                <a:latin typeface="+mn-ea"/>
              </a:rPr>
              <a:t>자막 품질 개선 예정</a:t>
            </a:r>
            <a:endParaRPr lang="en-US" altLang="ko-KR" sz="1200" b="1" u="sng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spc="-50" dirty="0">
                <a:latin typeface="+mn-ea"/>
              </a:rPr>
              <a:t>    </a:t>
            </a:r>
            <a:r>
              <a:rPr lang="ko-KR" altLang="ko-KR" sz="1200" b="1" spc="-50" dirty="0">
                <a:latin typeface="+mn-ea"/>
              </a:rPr>
              <a:t>→</a:t>
            </a:r>
            <a:r>
              <a:rPr lang="en-US" altLang="ko-KR" sz="1200" b="1" spc="-50" dirty="0">
                <a:latin typeface="+mn-ea"/>
              </a:rPr>
              <a:t>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시스템 수정</a:t>
            </a:r>
            <a:r>
              <a:rPr lang="en-US" altLang="ko-KR" sz="1200" b="1" spc="-5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시범운영 등 변동성이 있기에 보수적으로 계획 수립 </a:t>
            </a:r>
            <a:endParaRPr lang="en-US" altLang="ko-KR" sz="1200" b="1" spc="-50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spc="-50" dirty="0">
                <a:solidFill>
                  <a:srgbClr val="0000FF"/>
                </a:solidFill>
                <a:latin typeface="+mn-ea"/>
              </a:rPr>
              <a:t>       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안정화되면 비율 늘릴 계획</a:t>
            </a:r>
            <a:endParaRPr lang="en-US" altLang="ko-KR" sz="1200" b="1" spc="-50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spc="-50" dirty="0">
                <a:latin typeface="+mn-ea"/>
              </a:rPr>
              <a:t>      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spc="-50" dirty="0">
                <a:latin typeface="+mn-ea"/>
              </a:rPr>
              <a:t>(</a:t>
            </a:r>
            <a:r>
              <a:rPr lang="ko-KR" altLang="en-US" sz="1200" b="1" spc="-50" dirty="0" err="1">
                <a:latin typeface="+mn-ea"/>
              </a:rPr>
              <a:t>수어방송</a:t>
            </a:r>
            <a:r>
              <a:rPr lang="ko-KR" altLang="en-US" sz="1200" b="1" spc="-50" dirty="0">
                <a:latin typeface="+mn-ea"/>
              </a:rPr>
              <a:t> 계획이 낮아진 이유</a:t>
            </a:r>
            <a:r>
              <a:rPr lang="en-US" altLang="ko-KR" sz="1200" b="1" spc="-50" dirty="0">
                <a:latin typeface="+mn-ea"/>
              </a:rPr>
              <a:t>)</a:t>
            </a:r>
            <a:endParaRPr lang="en-US" altLang="ko-KR" sz="1200" b="1" dirty="0">
              <a:latin typeface="+mn-ea"/>
              <a:cs typeface="Ebrima" panose="02000000000000000000" pitchFamily="2" charset="0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①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과거 대비</a:t>
            </a:r>
            <a:r>
              <a:rPr lang="en-US" altLang="ko-KR" sz="1200" b="1" dirty="0">
                <a:latin typeface="+mn-ea"/>
              </a:rPr>
              <a:t>) </a:t>
            </a:r>
            <a:r>
              <a:rPr lang="ko-KR" altLang="en-US" sz="1200" b="1" dirty="0">
                <a:latin typeface="+mn-ea"/>
              </a:rPr>
              <a:t>가격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구성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등 </a:t>
            </a:r>
            <a:r>
              <a:rPr lang="ko-KR" altLang="en-US" sz="1200" b="1" u="sng" dirty="0">
                <a:latin typeface="+mn-ea"/>
              </a:rPr>
              <a:t>시각 정보 전달 비중을 높인 상태</a:t>
            </a:r>
            <a:endParaRPr lang="en-US" altLang="ko-KR" sz="1200" b="1" u="sng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ko-KR" altLang="en-US" sz="1200" b="1" dirty="0">
                <a:latin typeface="+mn-ea"/>
              </a:rPr>
              <a:t>    → 실제 운영 시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장애인 시청에 불편함 없도록 하겠음</a:t>
            </a:r>
            <a:r>
              <a:rPr lang="en-US" altLang="ko-KR" sz="1200" b="1" dirty="0">
                <a:latin typeface="+mn-ea"/>
              </a:rPr>
              <a:t>    </a:t>
            </a:r>
          </a:p>
          <a:p>
            <a:pPr>
              <a:lnSpc>
                <a:spcPct val="130000"/>
              </a:lnSpc>
            </a:pPr>
            <a:r>
              <a:rPr lang="en-US" altLang="ko-KR" sz="1200" b="1" dirty="0">
                <a:latin typeface="+mn-ea"/>
                <a:cs typeface="Ebrima" panose="02000000000000000000" pitchFamily="2" charset="0"/>
              </a:rPr>
              <a:t>    </a:t>
            </a:r>
            <a:r>
              <a:rPr lang="en-US" altLang="ko-KR" sz="1000" dirty="0">
                <a:latin typeface="+mn-ea"/>
              </a:rPr>
              <a:t>※ </a:t>
            </a:r>
            <a:r>
              <a:rPr lang="ko-KR" altLang="en-US" sz="1000" dirty="0">
                <a:latin typeface="+mn-ea"/>
              </a:rPr>
              <a:t>방송사업자 중 시청률 </a:t>
            </a:r>
            <a:r>
              <a:rPr lang="en-US" altLang="ko-KR" sz="1000" dirty="0">
                <a:latin typeface="+mn-ea"/>
              </a:rPr>
              <a:t>2% </a:t>
            </a:r>
            <a:r>
              <a:rPr lang="ko-KR" altLang="en-US" sz="1000" dirty="0">
                <a:latin typeface="+mn-ea"/>
              </a:rPr>
              <a:t>이상 사업자의 </a:t>
            </a:r>
            <a:r>
              <a:rPr lang="ko-KR" altLang="en-US" sz="1000" dirty="0" err="1">
                <a:latin typeface="+mn-ea"/>
              </a:rPr>
              <a:t>수어</a:t>
            </a:r>
            <a:r>
              <a:rPr lang="ko-KR" altLang="en-US" sz="1000" dirty="0">
                <a:latin typeface="+mn-ea"/>
              </a:rPr>
              <a:t> 의무 비율 </a:t>
            </a:r>
            <a:r>
              <a:rPr lang="en-US" altLang="ko-KR" sz="1000" dirty="0">
                <a:latin typeface="+mn-ea"/>
              </a:rPr>
              <a:t>: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3%</a:t>
            </a:r>
          </a:p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        </a:t>
            </a:r>
            <a:r>
              <a:rPr lang="ko-KR" altLang="en-US" sz="1000" dirty="0">
                <a:latin typeface="+mn-ea"/>
              </a:rPr>
              <a:t>당사는 </a:t>
            </a:r>
            <a:r>
              <a:rPr lang="ko-KR" altLang="en-US" sz="1000" dirty="0" err="1">
                <a:latin typeface="+mn-ea"/>
              </a:rPr>
              <a:t>수어</a:t>
            </a:r>
            <a:r>
              <a:rPr lang="ko-KR" altLang="en-US" sz="1000" dirty="0">
                <a:latin typeface="+mn-ea"/>
              </a:rPr>
              <a:t> 의무 사업자도 아닌 상태이며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청각장애인으로부터 별도 민원 없음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500" b="1" dirty="0"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EF820E3-5848-4525-16F0-1CBB52699D62}"/>
              </a:ext>
            </a:extLst>
          </p:cNvPr>
          <p:cNvSpPr/>
          <p:nvPr/>
        </p:nvSpPr>
        <p:spPr>
          <a:xfrm>
            <a:off x="5843587" y="1257300"/>
            <a:ext cx="6011363" cy="537527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ea"/>
            </a:endParaRPr>
          </a:p>
        </p:txBody>
      </p:sp>
      <p:pic>
        <p:nvPicPr>
          <p:cNvPr id="14" name="그림 13" descr="텍스트, 번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276697-FBB1-8E01-23C5-EEAFF93EF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08" y="1426464"/>
            <a:ext cx="4137886" cy="27273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2BA253-7E84-0021-2C30-6D7E4E5AF46A}"/>
              </a:ext>
            </a:extLst>
          </p:cNvPr>
          <p:cNvSpPr txBox="1"/>
          <p:nvPr/>
        </p:nvSpPr>
        <p:spPr>
          <a:xfrm>
            <a:off x="135542" y="1100727"/>
            <a:ext cx="5768869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■ 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사업계획서 </a:t>
            </a:r>
            <a:r>
              <a:rPr lang="en-US" altLang="ko-KR" sz="1200" b="1" dirty="0">
                <a:latin typeface="+mn-ea"/>
              </a:rPr>
              <a:t>p.149)</a:t>
            </a:r>
            <a:r>
              <a:rPr lang="ko-KR" altLang="en-US" sz="1200" b="1" dirty="0">
                <a:latin typeface="+mn-ea"/>
              </a:rPr>
              <a:t>장애인 방송 운영 실적 및 계획</a:t>
            </a:r>
            <a:endParaRPr lang="en-US" altLang="ko-KR" sz="1200" b="1" dirty="0">
              <a:latin typeface="+mn-ea"/>
            </a:endParaRPr>
          </a:p>
        </p:txBody>
      </p:sp>
      <p:pic>
        <p:nvPicPr>
          <p:cNvPr id="16" name="그림 15" descr="텍스트, 번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7405AB-368F-9F26-C33A-178E7464F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08" y="4245226"/>
            <a:ext cx="4137886" cy="2596844"/>
          </a:xfrm>
          <a:prstGeom prst="rect">
            <a:avLst/>
          </a:prstGeom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C3E6E751-F55F-0FF0-478A-E98873612113}"/>
              </a:ext>
            </a:extLst>
          </p:cNvPr>
          <p:cNvSpPr/>
          <p:nvPr/>
        </p:nvSpPr>
        <p:spPr>
          <a:xfrm>
            <a:off x="4245423" y="6653349"/>
            <a:ext cx="378828" cy="16982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ECF24F-7B89-5E09-A384-0557675AC314}"/>
              </a:ext>
            </a:extLst>
          </p:cNvPr>
          <p:cNvSpPr txBox="1"/>
          <p:nvPr/>
        </p:nvSpPr>
        <p:spPr>
          <a:xfrm>
            <a:off x="247650" y="1426464"/>
            <a:ext cx="952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- </a:t>
            </a:r>
            <a:r>
              <a:rPr lang="ko-KR" altLang="en-US" sz="1000" b="1" dirty="0"/>
              <a:t>실적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7C32B5-97B3-3221-9199-AAC357930E4C}"/>
              </a:ext>
            </a:extLst>
          </p:cNvPr>
          <p:cNvSpPr txBox="1"/>
          <p:nvPr/>
        </p:nvSpPr>
        <p:spPr>
          <a:xfrm>
            <a:off x="247650" y="4245226"/>
            <a:ext cx="952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- </a:t>
            </a:r>
            <a:r>
              <a:rPr lang="ko-KR" altLang="en-US" sz="1000" b="1" dirty="0"/>
              <a:t>계획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2F3A11B7-AC5C-4605-DD2D-51689907A319}"/>
              </a:ext>
            </a:extLst>
          </p:cNvPr>
          <p:cNvSpPr/>
          <p:nvPr/>
        </p:nvSpPr>
        <p:spPr>
          <a:xfrm>
            <a:off x="4302032" y="4323788"/>
            <a:ext cx="252549" cy="2351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74C7298-476A-E979-2851-194F86A689B8}"/>
              </a:ext>
            </a:extLst>
          </p:cNvPr>
          <p:cNvSpPr/>
          <p:nvPr/>
        </p:nvSpPr>
        <p:spPr>
          <a:xfrm>
            <a:off x="3627157" y="1776549"/>
            <a:ext cx="1345437" cy="1306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63EBD0F-A2C8-7E1F-769E-AA1DB3D74D3D}"/>
              </a:ext>
            </a:extLst>
          </p:cNvPr>
          <p:cNvSpPr/>
          <p:nvPr/>
        </p:nvSpPr>
        <p:spPr>
          <a:xfrm>
            <a:off x="3640217" y="3566159"/>
            <a:ext cx="1345437" cy="143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D5E246-A744-2E47-2B1E-250E0AEC93C8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76/109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16913257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7AD040-1430-C654-8640-B46AB6506FFC}"/>
              </a:ext>
            </a:extLst>
          </p:cNvPr>
          <p:cNvSpPr txBox="1"/>
          <p:nvPr/>
        </p:nvSpPr>
        <p:spPr>
          <a:xfrm>
            <a:off x="66675" y="91447"/>
            <a:ext cx="8819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시청자 평가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·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정보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프로그램</a:t>
            </a:r>
            <a:endParaRPr lang="en-US" altLang="ko-KR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01025FE-223F-B007-AFFE-B3B962776632}"/>
              </a:ext>
            </a:extLst>
          </p:cNvPr>
          <p:cNvGrpSpPr/>
          <p:nvPr/>
        </p:nvGrpSpPr>
        <p:grpSpPr>
          <a:xfrm>
            <a:off x="4368030" y="996055"/>
            <a:ext cx="3659884" cy="3925580"/>
            <a:chOff x="4121181" y="1156973"/>
            <a:chExt cx="4238563" cy="444516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E149AE6-2FE9-0BB6-6AA0-38B0B84C98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21181" y="1156973"/>
              <a:ext cx="4238563" cy="3586477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949F6E6-8F5F-A443-B122-D1B36C5F4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74767" y="4705273"/>
              <a:ext cx="4159577" cy="89686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18B7E8C-B00E-B661-9CB0-44DDA5D5E2CB}"/>
              </a:ext>
            </a:extLst>
          </p:cNvPr>
          <p:cNvSpPr txBox="1"/>
          <p:nvPr/>
        </p:nvSpPr>
        <p:spPr>
          <a:xfrm>
            <a:off x="4238356" y="661943"/>
            <a:ext cx="3919233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(p.147)</a:t>
            </a:r>
            <a:r>
              <a:rPr lang="ko-KR" altLang="en-US" sz="1100" b="1" dirty="0">
                <a:latin typeface="+mn-ea"/>
              </a:rPr>
              <a:t>시청자 정보 프로그램</a:t>
            </a:r>
            <a:endParaRPr lang="en-US" altLang="ko-KR" sz="1100" b="1" dirty="0">
              <a:latin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2FA4F34-3410-E237-3508-47FEF192A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412" y="4809539"/>
            <a:ext cx="3524225" cy="190938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BC047A8-5DEE-3BD7-B072-6FDCF70598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412" y="2838552"/>
            <a:ext cx="3522311" cy="190938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9A9A1C8-8BE2-87FA-09CD-D658B98051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341" y="1022433"/>
            <a:ext cx="3659884" cy="19364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200B0C9-33A6-31CD-A0E2-8AA8AC772843}"/>
              </a:ext>
            </a:extLst>
          </p:cNvPr>
          <p:cNvSpPr txBox="1"/>
          <p:nvPr/>
        </p:nvSpPr>
        <p:spPr>
          <a:xfrm>
            <a:off x="275992" y="661943"/>
            <a:ext cx="3919233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(p.145)</a:t>
            </a:r>
            <a:r>
              <a:rPr lang="ko-KR" altLang="en-US" sz="1100" b="1" dirty="0">
                <a:latin typeface="+mn-ea"/>
              </a:rPr>
              <a:t>시청자 평가 프로그램</a:t>
            </a:r>
            <a:endParaRPr lang="en-US" altLang="ko-KR" sz="1100" b="1" dirty="0">
              <a:latin typeface="+mn-ea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65C12346-9798-8BB5-B2BC-7058CD717A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0719" y="996055"/>
            <a:ext cx="3591682" cy="276790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72CB484-8329-EBF7-41A2-5967721DAE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7589" y="4024193"/>
            <a:ext cx="3705662" cy="124212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9CCA0B4-A584-D3F2-0812-CEDDDA018FF3}"/>
              </a:ext>
            </a:extLst>
          </p:cNvPr>
          <p:cNvSpPr txBox="1"/>
          <p:nvPr/>
        </p:nvSpPr>
        <p:spPr>
          <a:xfrm>
            <a:off x="8157589" y="661943"/>
            <a:ext cx="3919233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(p.150) </a:t>
            </a:r>
            <a:r>
              <a:rPr lang="ko-KR" altLang="en-US" sz="1100" b="1" dirty="0">
                <a:latin typeface="+mn-ea"/>
              </a:rPr>
              <a:t>자막방송</a:t>
            </a:r>
            <a:r>
              <a:rPr lang="en-US" altLang="ko-KR" sz="1100" b="1" dirty="0">
                <a:latin typeface="+mn-ea"/>
              </a:rPr>
              <a:t>·</a:t>
            </a:r>
            <a:r>
              <a:rPr lang="ko-KR" altLang="en-US" sz="1100" b="1" dirty="0" err="1">
                <a:latin typeface="+mn-ea"/>
              </a:rPr>
              <a:t>수어방송</a:t>
            </a:r>
            <a:endParaRPr lang="en-US" altLang="ko-KR" sz="1100" b="1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0908C9-A9B1-AB0E-A0A3-F22F1F230096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77/109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74691660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2EB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4000" b="1" dirty="0">
                <a:solidFill>
                  <a:schemeClr val="tx1"/>
                </a:solidFill>
                <a:latin typeface="+mn-ea"/>
              </a:rPr>
              <a:t>5</a:t>
            </a:r>
            <a:r>
              <a:rPr lang="ko-KR" altLang="en-US" sz="4000" b="1" dirty="0">
                <a:solidFill>
                  <a:schemeClr val="tx1"/>
                </a:solidFill>
                <a:latin typeface="+mn-ea"/>
              </a:rPr>
              <a:t>장</a:t>
            </a:r>
            <a:r>
              <a:rPr lang="en-US" altLang="ko-KR" sz="4000" b="1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4000" b="1" dirty="0">
                <a:solidFill>
                  <a:schemeClr val="tx1"/>
                </a:solidFill>
                <a:latin typeface="+mn-ea"/>
              </a:rPr>
              <a:t>조직 및 인력운영 등</a:t>
            </a:r>
            <a:endParaRPr lang="en-US" altLang="ko-KR" sz="40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4000" b="1" dirty="0">
                <a:solidFill>
                  <a:schemeClr val="tx1"/>
                </a:solidFill>
                <a:latin typeface="+mn-ea"/>
              </a:rPr>
              <a:t>경영계획 적정성</a:t>
            </a:r>
            <a:endParaRPr lang="en-US" altLang="ko-KR" sz="40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8844061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22345-EDBF-2AB6-8EAF-C259316D5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8C9BE0-275D-DDAA-EAF6-33E09C65FD23}"/>
              </a:ext>
            </a:extLst>
          </p:cNvPr>
          <p:cNvSpPr txBox="1"/>
          <p:nvPr/>
        </p:nvSpPr>
        <p:spPr>
          <a:xfrm>
            <a:off x="57150" y="323847"/>
            <a:ext cx="11428712" cy="724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just" latinLnBrk="1">
              <a:lnSpc>
                <a:spcPct val="120000"/>
              </a:lnSpc>
              <a:spcAft>
                <a:spcPts val="0"/>
              </a:spcAf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25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년 대비 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26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년 인력 규모가 적은데 이유는 무엇인가요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향후 인력계획 감소 이유는 무엇인가요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</a:t>
            </a:r>
          </a:p>
          <a:p>
            <a:pPr algn="just">
              <a:lnSpc>
                <a:spcPct val="120000"/>
              </a:lnSpc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   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비정규직이 많아 보이는데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,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채용사유는 무엇인가요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07613-1EC4-A5FA-A82A-6C16672EC62C}"/>
              </a:ext>
            </a:extLst>
          </p:cNvPr>
          <p:cNvSpPr txBox="1"/>
          <p:nvPr/>
        </p:nvSpPr>
        <p:spPr>
          <a:xfrm>
            <a:off x="65067" y="19389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5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인력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교육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C14E274-2BEB-4C20-8578-E9FB64FF9EC2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>
                <a:solidFill>
                  <a:schemeClr val="tx2">
                    <a:lumMod val="75000"/>
                  </a:schemeClr>
                </a:solidFill>
                <a:latin typeface="+mn-ea"/>
              </a:rPr>
              <a:t>홈쇼핑</a:t>
            </a:r>
            <a:r>
              <a:rPr lang="en-US" altLang="ko-KR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BU</a:t>
            </a:r>
            <a:r>
              <a:rPr lang="ko-KR" altLang="en-US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D105D9-9516-DBDA-4E42-B2EA44F559A3}"/>
              </a:ext>
            </a:extLst>
          </p:cNvPr>
          <p:cNvSpPr txBox="1"/>
          <p:nvPr/>
        </p:nvSpPr>
        <p:spPr>
          <a:xfrm>
            <a:off x="133850" y="1071923"/>
            <a:ext cx="5256125" cy="288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050" b="1" dirty="0">
                <a:latin typeface="+mn-ea"/>
              </a:rPr>
              <a:t>■ </a:t>
            </a:r>
            <a:r>
              <a:rPr lang="en-US" altLang="ko-KR" sz="1050" b="1" dirty="0">
                <a:latin typeface="+mn-ea"/>
              </a:rPr>
              <a:t>(</a:t>
            </a:r>
            <a:r>
              <a:rPr lang="ko-KR" altLang="en-US" sz="1050" b="1" dirty="0">
                <a:latin typeface="+mn-ea"/>
              </a:rPr>
              <a:t>사업계획서 </a:t>
            </a:r>
            <a:r>
              <a:rPr lang="en-US" altLang="ko-KR" sz="1050" b="1" dirty="0">
                <a:latin typeface="+mn-ea"/>
              </a:rPr>
              <a:t>p.165)</a:t>
            </a:r>
            <a:r>
              <a:rPr lang="ko-KR" altLang="en-US" sz="1050" b="1" dirty="0">
                <a:latin typeface="+mn-ea"/>
              </a:rPr>
              <a:t>인력구성 실적 </a:t>
            </a:r>
            <a:r>
              <a:rPr lang="en-US" altLang="ko-KR" sz="1050" b="1" dirty="0">
                <a:latin typeface="+mn-ea"/>
              </a:rPr>
              <a:t>(</a:t>
            </a:r>
            <a:r>
              <a:rPr lang="ko-KR" altLang="en-US" sz="1050" b="1" dirty="0">
                <a:latin typeface="+mn-ea"/>
              </a:rPr>
              <a:t>舊</a:t>
            </a:r>
            <a:r>
              <a:rPr lang="en-US" altLang="ko-KR" sz="1050" b="1" dirty="0">
                <a:latin typeface="+mn-ea"/>
              </a:rPr>
              <a:t>GS</a:t>
            </a:r>
            <a:r>
              <a:rPr lang="ko-KR" altLang="en-US" sz="1050" b="1" dirty="0">
                <a:latin typeface="+mn-ea"/>
              </a:rPr>
              <a:t>홈쇼핑</a:t>
            </a:r>
            <a:r>
              <a:rPr lang="en-US" altLang="ko-KR" sz="1050" b="1" dirty="0">
                <a:latin typeface="+mn-ea"/>
              </a:rPr>
              <a:t>)</a:t>
            </a:r>
            <a:endParaRPr lang="en-US" altLang="ko-KR" sz="105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83E479-C175-4528-94DF-52D30BA64577}"/>
              </a:ext>
            </a:extLst>
          </p:cNvPr>
          <p:cNvSpPr txBox="1"/>
          <p:nvPr/>
        </p:nvSpPr>
        <p:spPr>
          <a:xfrm>
            <a:off x="3680756" y="1113797"/>
            <a:ext cx="9620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(</a:t>
            </a:r>
            <a:r>
              <a:rPr lang="ko-KR" altLang="en-US" sz="900" dirty="0"/>
              <a:t>단위 </a:t>
            </a:r>
            <a:r>
              <a:rPr lang="en-US" altLang="ko-KR" sz="900" dirty="0"/>
              <a:t>: </a:t>
            </a:r>
            <a:r>
              <a:rPr lang="ko-KR" altLang="en-US" sz="900" dirty="0"/>
              <a:t>명</a:t>
            </a:r>
            <a:r>
              <a:rPr lang="en-US" altLang="ko-KR" sz="900" dirty="0"/>
              <a:t>])</a:t>
            </a:r>
            <a:endParaRPr lang="ko-KR" altLang="en-US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CDE4E8-AF8F-615D-36B8-21E5C4A3D5C1}"/>
              </a:ext>
            </a:extLst>
          </p:cNvPr>
          <p:cNvSpPr txBox="1"/>
          <p:nvPr/>
        </p:nvSpPr>
        <p:spPr>
          <a:xfrm>
            <a:off x="103254" y="4656347"/>
            <a:ext cx="5256125" cy="288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30000"/>
              </a:lnSpc>
            </a:pPr>
            <a:r>
              <a:rPr lang="ko-KR" altLang="en-US" sz="1050" b="1" dirty="0">
                <a:latin typeface="+mn-ea"/>
              </a:rPr>
              <a:t>■ </a:t>
            </a:r>
            <a:r>
              <a:rPr lang="en-US" altLang="ko-KR" sz="1050" b="1" dirty="0">
                <a:latin typeface="+mn-ea"/>
              </a:rPr>
              <a:t>(</a:t>
            </a:r>
            <a:r>
              <a:rPr lang="ko-KR" altLang="en-US" sz="1050" b="1" dirty="0">
                <a:latin typeface="+mn-ea"/>
              </a:rPr>
              <a:t>사업계획서 </a:t>
            </a:r>
            <a:r>
              <a:rPr lang="en-US" altLang="ko-KR" sz="1050" b="1" dirty="0">
                <a:latin typeface="+mn-ea"/>
              </a:rPr>
              <a:t>p.165)</a:t>
            </a:r>
            <a:r>
              <a:rPr lang="ko-KR" altLang="en-US" sz="1050" b="1" dirty="0">
                <a:latin typeface="+mn-ea"/>
              </a:rPr>
              <a:t>인력구성 계획 </a:t>
            </a:r>
            <a:r>
              <a:rPr lang="en-US" altLang="ko-KR" sz="1050" b="1" dirty="0">
                <a:latin typeface="+mn-ea"/>
              </a:rPr>
              <a:t>(</a:t>
            </a:r>
            <a:r>
              <a:rPr lang="ko-KR" altLang="en-US" sz="1050" b="1" dirty="0">
                <a:latin typeface="+mn-ea"/>
              </a:rPr>
              <a:t>홈쇼핑</a:t>
            </a:r>
            <a:r>
              <a:rPr lang="en-US" altLang="ko-KR" sz="1050" b="1" dirty="0">
                <a:latin typeface="+mn-ea"/>
              </a:rPr>
              <a:t>BU)</a:t>
            </a:r>
            <a:endParaRPr lang="en-US" altLang="ko-KR" sz="105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63AB2C-11EA-7205-DF55-F92C9E15228C}"/>
              </a:ext>
            </a:extLst>
          </p:cNvPr>
          <p:cNvSpPr txBox="1"/>
          <p:nvPr/>
        </p:nvSpPr>
        <p:spPr>
          <a:xfrm>
            <a:off x="5916726" y="1341029"/>
            <a:ext cx="5713497" cy="4568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인력 감소 사유</a:t>
            </a:r>
            <a:r>
              <a:rPr lang="en-US" altLang="ko-KR" sz="1200" b="1" dirty="0"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ko-KR" altLang="en-US" sz="1200" b="1" dirty="0">
                <a:latin typeface="+mn-ea"/>
              </a:rPr>
              <a:t>①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기준변경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 </a:t>
            </a:r>
            <a:r>
              <a:rPr lang="ko-KR" altLang="en-US" sz="1200" b="1" dirty="0">
                <a:latin typeface="+mn-ea"/>
              </a:rPr>
              <a:t>舊</a:t>
            </a:r>
            <a:r>
              <a:rPr lang="en-US" altLang="ko-KR" sz="1200" b="1" dirty="0">
                <a:latin typeface="+mn-ea"/>
              </a:rPr>
              <a:t>GS</a:t>
            </a:r>
            <a:r>
              <a:rPr lang="ko-KR" altLang="en-US" sz="1200" b="1" dirty="0">
                <a:latin typeface="+mn-ea"/>
              </a:rPr>
              <a:t>홈쇼핑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→ 홈쇼핑</a:t>
            </a:r>
            <a:r>
              <a:rPr lang="en-US" altLang="ko-KR" sz="1200" b="1" dirty="0">
                <a:latin typeface="+mn-ea"/>
              </a:rPr>
              <a:t>BU</a:t>
            </a:r>
          </a:p>
          <a:p>
            <a:pPr>
              <a:lnSpc>
                <a:spcPct val="120000"/>
              </a:lnSpc>
            </a:pPr>
            <a:r>
              <a:rPr lang="ko-KR" altLang="en-US" sz="1200" b="1" dirty="0">
                <a:latin typeface="+mn-ea"/>
              </a:rPr>
              <a:t>    과거 </a:t>
            </a:r>
            <a:r>
              <a:rPr lang="en-US" altLang="ko-KR" sz="1200" b="1" dirty="0">
                <a:latin typeface="+mn-ea"/>
              </a:rPr>
              <a:t>GS</a:t>
            </a:r>
            <a:r>
              <a:rPr lang="ko-KR" altLang="en-US" sz="1200" b="1" dirty="0">
                <a:latin typeface="+mn-ea"/>
              </a:rPr>
              <a:t>홈쇼핑</a:t>
            </a:r>
            <a:r>
              <a:rPr lang="en-US" altLang="ko-KR" sz="1200" b="1" dirty="0">
                <a:latin typeface="+mn-ea"/>
              </a:rPr>
              <a:t>(IT, </a:t>
            </a:r>
            <a:r>
              <a:rPr lang="ko-KR" altLang="en-US" sz="1200" b="1" dirty="0">
                <a:latin typeface="+mn-ea"/>
              </a:rPr>
              <a:t>재무 등 지원조직 포함</a:t>
            </a:r>
            <a:r>
              <a:rPr lang="en-US" altLang="ko-KR" sz="1200" b="1" dirty="0">
                <a:latin typeface="+mn-ea"/>
              </a:rPr>
              <a:t>) </a:t>
            </a:r>
          </a:p>
          <a:p>
            <a:pPr>
              <a:lnSpc>
                <a:spcPct val="120000"/>
              </a:lnSpc>
            </a:pPr>
            <a:r>
              <a:rPr lang="en-US" altLang="ko-KR" sz="1200" b="1" dirty="0">
                <a:latin typeface="+mn-ea"/>
              </a:rPr>
              <a:t>    </a:t>
            </a:r>
            <a:r>
              <a:rPr lang="ko-KR" altLang="en-US" sz="1200" b="1" dirty="0">
                <a:latin typeface="+mn-ea"/>
              </a:rPr>
              <a:t>현재 홈쇼핑</a:t>
            </a:r>
            <a:r>
              <a:rPr lang="en-US" altLang="ko-KR" sz="1200" b="1" dirty="0">
                <a:latin typeface="+mn-ea"/>
              </a:rPr>
              <a:t>BU(</a:t>
            </a:r>
            <a:r>
              <a:rPr lang="ko-KR" altLang="en-US" sz="1200" b="1" dirty="0">
                <a:latin typeface="+mn-ea"/>
              </a:rPr>
              <a:t>홈쇼핑 사업관련 인원으로만 구성</a:t>
            </a:r>
            <a:r>
              <a:rPr lang="en-US" altLang="ko-KR" sz="1200" b="1" dirty="0"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endParaRPr lang="en-US" altLang="ko-KR" sz="5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200" b="1" dirty="0">
                <a:latin typeface="+mn-ea"/>
              </a:rPr>
              <a:t>② 불확실한 경영 환경 고려하여 보수적으로 수립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200" b="1" dirty="0">
                <a:latin typeface="+mn-ea"/>
              </a:rPr>
              <a:t>    </a:t>
            </a:r>
            <a:r>
              <a:rPr lang="ko-KR" altLang="en-US" sz="1200" b="1" u="sng" dirty="0">
                <a:latin typeface="+mn-ea"/>
              </a:rPr>
              <a:t>사업 여건 개선 시 채용 확대 예정</a:t>
            </a:r>
            <a:endParaRPr lang="en-US" altLang="ko-KR" sz="1200" b="1" u="sng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200" b="1" dirty="0">
                <a:latin typeface="+mn-ea"/>
              </a:rPr>
              <a:t>   </a:t>
            </a:r>
            <a:r>
              <a:rPr lang="en-US" altLang="ko-KR" sz="1200" b="1" dirty="0">
                <a:latin typeface="+mn-ea"/>
              </a:rPr>
              <a:t>※ (</a:t>
            </a:r>
            <a:r>
              <a:rPr lang="ko-KR" altLang="en-US" sz="1200" b="1" dirty="0">
                <a:latin typeface="+mn-ea"/>
              </a:rPr>
              <a:t>향후 인력 방향</a:t>
            </a:r>
            <a:r>
              <a:rPr lang="en-US" altLang="ko-KR" sz="1200" b="1" dirty="0"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ko-KR" altLang="en-US" sz="1200" b="1" dirty="0">
                <a:latin typeface="+mn-ea"/>
              </a:rPr>
              <a:t>    </a:t>
            </a:r>
            <a:r>
              <a:rPr lang="en-US" altLang="ko-KR" sz="1200" b="1" dirty="0">
                <a:latin typeface="+mn-ea"/>
              </a:rPr>
              <a:t>- </a:t>
            </a:r>
            <a:r>
              <a:rPr lang="ko-KR" altLang="en-US" sz="1200" b="1" dirty="0">
                <a:latin typeface="+mn-ea"/>
              </a:rPr>
              <a:t> 신기술 활용 확대를 위한 방송기술 인력 확대 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200" b="1" dirty="0">
                <a:latin typeface="+mn-ea"/>
              </a:rPr>
              <a:t>    -  </a:t>
            </a:r>
            <a:r>
              <a:rPr lang="ko-KR" altLang="en-US" sz="1200" b="1" dirty="0" err="1">
                <a:latin typeface="+mn-ea"/>
              </a:rPr>
              <a:t>상품소싱을</a:t>
            </a:r>
            <a:r>
              <a:rPr lang="ko-KR" altLang="en-US" sz="1200" b="1" dirty="0">
                <a:latin typeface="+mn-ea"/>
              </a:rPr>
              <a:t> 위한 </a:t>
            </a:r>
            <a:r>
              <a:rPr lang="en-US" altLang="ko-KR" sz="1200" b="1" dirty="0">
                <a:latin typeface="+mn-ea"/>
              </a:rPr>
              <a:t>MD</a:t>
            </a:r>
            <a:r>
              <a:rPr lang="ko-KR" altLang="en-US" sz="1200" b="1" dirty="0">
                <a:latin typeface="+mn-ea"/>
              </a:rPr>
              <a:t>인력 확대 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+mn-ea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비정규직 관련</a:t>
            </a:r>
            <a:r>
              <a:rPr lang="en-US" altLang="ko-KR" sz="1200" b="1" dirty="0">
                <a:latin typeface="+mn-ea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ko-KR" altLang="en-US" sz="1200" b="1" dirty="0">
                <a:latin typeface="+mn-ea"/>
              </a:rPr>
              <a:t>① 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현 </a:t>
            </a:r>
            <a:r>
              <a:rPr lang="en-US" altLang="ko-KR" sz="1200" b="1" dirty="0">
                <a:latin typeface="+mn-ea"/>
              </a:rPr>
              <a:t>58</a:t>
            </a:r>
            <a:r>
              <a:rPr lang="ko-KR" altLang="en-US" sz="1200" b="1" dirty="0">
                <a:latin typeface="+mn-ea"/>
              </a:rPr>
              <a:t>명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비정규직 채용 사유</a:t>
            </a:r>
            <a:endParaRPr lang="en-US" altLang="ko-KR" sz="1200" b="1" dirty="0">
              <a:latin typeface="+mn-ea"/>
            </a:endParaRPr>
          </a:p>
          <a:p>
            <a:pPr lvl="0">
              <a:lnSpc>
                <a:spcPct val="130000"/>
              </a:lnSpc>
              <a:defRPr/>
            </a:pPr>
            <a:r>
              <a:rPr lang="en-US" altLang="ko-KR" sz="1200" b="1" dirty="0">
                <a:latin typeface="+mn-ea"/>
              </a:rPr>
              <a:t>    - 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법정의무 외에 당사 추가로 </a:t>
            </a:r>
            <a:r>
              <a:rPr lang="en-US" altLang="ko-KR" sz="1200" dirty="0">
                <a:latin typeface="+mn-ea"/>
              </a:rPr>
              <a:t>1</a:t>
            </a:r>
            <a:r>
              <a:rPr lang="ko-KR" altLang="en-US" sz="1200" dirty="0">
                <a:latin typeface="+mn-ea"/>
              </a:rPr>
              <a:t>년 연장 가능하기에</a:t>
            </a:r>
            <a:r>
              <a:rPr lang="en-US" altLang="ko-KR" sz="1200" dirty="0">
                <a:latin typeface="+mn-ea"/>
              </a:rPr>
              <a:t>)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육아휴직 대체 인력</a:t>
            </a:r>
            <a:r>
              <a:rPr lang="en-US" altLang="ko-KR" sz="1200" b="1" dirty="0">
                <a:latin typeface="+mn-ea"/>
              </a:rPr>
              <a:t>(5</a:t>
            </a:r>
            <a:r>
              <a:rPr lang="ko-KR" altLang="en-US" sz="1200" b="1" dirty="0">
                <a:latin typeface="+mn-ea"/>
              </a:rPr>
              <a:t>명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 </a:t>
            </a:r>
            <a:endParaRPr lang="en-US" altLang="ko-KR" sz="100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lvl="0">
              <a:lnSpc>
                <a:spcPct val="130000"/>
              </a:lnSpc>
              <a:defRPr/>
            </a:pP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</a:rPr>
              <a:t>       ※ 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</a:rPr>
              <a:t>법정의무 </a:t>
            </a: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</a:rPr>
              <a:t>년</a:t>
            </a: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</a:rPr>
              <a:t>+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</a:rPr>
              <a:t>내규로 추가 </a:t>
            </a: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</a:rPr>
              <a:t>년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200" b="1" dirty="0">
                <a:latin typeface="+mn-ea"/>
              </a:rPr>
              <a:t>    - 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/>
              <a:t>공익목적 재택 모니터링 업무 신설</a:t>
            </a:r>
            <a:r>
              <a:rPr lang="en-US" altLang="ko-KR" sz="1200" dirty="0">
                <a:latin typeface="+mn-ea"/>
              </a:rPr>
              <a:t>)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중증장애인 채용</a:t>
            </a:r>
            <a:r>
              <a:rPr lang="en-US" altLang="ko-KR" sz="1200" b="1" dirty="0">
                <a:latin typeface="+mn-ea"/>
              </a:rPr>
              <a:t>(12</a:t>
            </a:r>
            <a:r>
              <a:rPr lang="ko-KR" altLang="en-US" sz="1200" b="1" dirty="0">
                <a:latin typeface="+mn-ea"/>
              </a:rPr>
              <a:t>명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 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200" b="1" dirty="0">
                <a:latin typeface="+mn-ea"/>
              </a:rPr>
              <a:t>    - </a:t>
            </a:r>
            <a:r>
              <a:rPr lang="ko-KR" altLang="en-US" sz="1200" b="1" dirty="0" err="1">
                <a:latin typeface="+mn-ea"/>
              </a:rPr>
              <a:t>비정기</a:t>
            </a:r>
            <a:r>
              <a:rPr lang="ko-KR" altLang="en-US" sz="1200" b="1" dirty="0">
                <a:latin typeface="+mn-ea"/>
              </a:rPr>
              <a:t> 제작 업무에 일부 채용</a:t>
            </a:r>
            <a:r>
              <a:rPr lang="en-US" altLang="ko-KR" sz="1200" b="1" dirty="0">
                <a:latin typeface="+mn-ea"/>
              </a:rPr>
              <a:t>(CG, FD, MD</a:t>
            </a:r>
            <a:r>
              <a:rPr lang="ko-KR" altLang="en-US" sz="1200" b="1" dirty="0">
                <a:latin typeface="+mn-ea"/>
              </a:rPr>
              <a:t>지원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등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 </a:t>
            </a:r>
            <a:r>
              <a:rPr lang="en-US" altLang="ko-KR" sz="1200" b="1" dirty="0">
                <a:latin typeface="+mn-ea"/>
              </a:rPr>
              <a:t>(33</a:t>
            </a:r>
            <a:r>
              <a:rPr lang="ko-KR" altLang="en-US" sz="1200" b="1" dirty="0">
                <a:latin typeface="+mn-ea"/>
              </a:rPr>
              <a:t>명</a:t>
            </a:r>
            <a:r>
              <a:rPr lang="en-US" altLang="ko-KR" sz="1200" b="1" dirty="0">
                <a:latin typeface="+mn-ea"/>
              </a:rPr>
              <a:t>) </a:t>
            </a:r>
          </a:p>
          <a:p>
            <a:pPr>
              <a:lnSpc>
                <a:spcPct val="130000"/>
              </a:lnSpc>
            </a:pPr>
            <a:r>
              <a:rPr lang="ko-KR" altLang="en-US" sz="1200" b="1" dirty="0">
                <a:latin typeface="+mn-ea"/>
              </a:rPr>
              <a:t>②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축소 노력</a:t>
            </a:r>
            <a:r>
              <a:rPr lang="ko-KR" altLang="en-US" sz="1200" b="1" dirty="0">
                <a:latin typeface="+mn-ea"/>
              </a:rPr>
              <a:t>해 왔고 </a:t>
            </a:r>
            <a:r>
              <a:rPr lang="en-US" altLang="ko-KR" sz="1000" dirty="0">
                <a:latin typeface="+mn-ea"/>
              </a:rPr>
              <a:t>(21</a:t>
            </a:r>
            <a:r>
              <a:rPr lang="ko-KR" altLang="en-US" sz="1000" dirty="0">
                <a:latin typeface="+mn-ea"/>
              </a:rPr>
              <a:t>년 </a:t>
            </a:r>
            <a:r>
              <a:rPr lang="en-US" altLang="ko-KR" sz="1000" dirty="0">
                <a:latin typeface="+mn-ea"/>
              </a:rPr>
              <a:t>75</a:t>
            </a:r>
            <a:r>
              <a:rPr lang="ko-KR" altLang="en-US" sz="1000" dirty="0">
                <a:latin typeface="+mn-ea"/>
              </a:rPr>
              <a:t>명</a:t>
            </a:r>
            <a:r>
              <a:rPr lang="en-US" altLang="ko-KR" sz="1000" dirty="0">
                <a:latin typeface="+mn-ea"/>
              </a:rPr>
              <a:t> </a:t>
            </a:r>
            <a:r>
              <a:rPr lang="ko-KR" altLang="en-US" sz="1000" dirty="0">
                <a:latin typeface="+mn-ea"/>
              </a:rPr>
              <a:t>→ </a:t>
            </a:r>
            <a:r>
              <a:rPr lang="en-US" altLang="ko-KR" sz="1000" dirty="0">
                <a:latin typeface="+mn-ea"/>
              </a:rPr>
              <a:t>25</a:t>
            </a:r>
            <a:r>
              <a:rPr lang="ko-KR" altLang="en-US" sz="1000" dirty="0">
                <a:latin typeface="+mn-ea"/>
              </a:rPr>
              <a:t>년 </a:t>
            </a:r>
            <a:r>
              <a:rPr lang="en-US" altLang="ko-KR" sz="1000" dirty="0">
                <a:latin typeface="+mn-ea"/>
              </a:rPr>
              <a:t>58</a:t>
            </a:r>
            <a:r>
              <a:rPr lang="ko-KR" altLang="en-US" sz="1000" dirty="0">
                <a:latin typeface="+mn-ea"/>
              </a:rPr>
              <a:t>명</a:t>
            </a:r>
            <a:r>
              <a:rPr lang="en-US" altLang="ko-KR" sz="1000" dirty="0">
                <a:latin typeface="+mn-ea"/>
              </a:rPr>
              <a:t>) </a:t>
            </a:r>
            <a:r>
              <a:rPr lang="ko-KR" altLang="en-US" sz="1200" b="1" dirty="0">
                <a:latin typeface="+mn-ea"/>
              </a:rPr>
              <a:t>향후에도 축소 예정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</a:pPr>
            <a:endParaRPr lang="en-US" altLang="ko-KR" sz="1200" b="1" dirty="0"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F471210-9815-E19F-C181-7E29DC345BE3}"/>
              </a:ext>
            </a:extLst>
          </p:cNvPr>
          <p:cNvSpPr/>
          <p:nvPr/>
        </p:nvSpPr>
        <p:spPr>
          <a:xfrm>
            <a:off x="5843588" y="1198666"/>
            <a:ext cx="5976937" cy="543390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ea"/>
            </a:endParaRPr>
          </a:p>
        </p:txBody>
      </p:sp>
      <p:pic>
        <p:nvPicPr>
          <p:cNvPr id="19" name="그림 18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75C32C-ED16-6B2A-A93B-043CD5BF0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48" y="4903941"/>
            <a:ext cx="4009462" cy="194019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F146E5B-8756-1296-1867-5E7814ECFD35}"/>
              </a:ext>
            </a:extLst>
          </p:cNvPr>
          <p:cNvSpPr txBox="1"/>
          <p:nvPr/>
        </p:nvSpPr>
        <p:spPr>
          <a:xfrm>
            <a:off x="3541693" y="4710225"/>
            <a:ext cx="9620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(</a:t>
            </a:r>
            <a:r>
              <a:rPr lang="ko-KR" altLang="en-US" sz="900" dirty="0"/>
              <a:t>단위 </a:t>
            </a:r>
            <a:r>
              <a:rPr lang="en-US" altLang="ko-KR" sz="900" dirty="0"/>
              <a:t>: </a:t>
            </a:r>
            <a:r>
              <a:rPr lang="ko-KR" altLang="en-US" sz="900" dirty="0"/>
              <a:t>명</a:t>
            </a:r>
            <a:r>
              <a:rPr lang="en-US" altLang="ko-KR" sz="900" dirty="0"/>
              <a:t>, %)</a:t>
            </a:r>
            <a:endParaRPr lang="ko-KR" altLang="en-US" sz="900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FF98ACF4-442F-B5FE-676B-34CF8A9ED555}"/>
              </a:ext>
            </a:extLst>
          </p:cNvPr>
          <p:cNvSpPr/>
          <p:nvPr/>
        </p:nvSpPr>
        <p:spPr>
          <a:xfrm>
            <a:off x="2729555" y="5351194"/>
            <a:ext cx="350904" cy="2332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6CAF13D3-F805-F45B-3E64-E7DA45864E18}"/>
              </a:ext>
            </a:extLst>
          </p:cNvPr>
          <p:cNvCxnSpPr>
            <a:cxnSpLocks/>
          </p:cNvCxnSpPr>
          <p:nvPr/>
        </p:nvCxnSpPr>
        <p:spPr>
          <a:xfrm>
            <a:off x="1420317" y="5378584"/>
            <a:ext cx="0" cy="1281547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AC16DCB-29EA-AE82-84CD-44D6BAA2ADE3}"/>
              </a:ext>
            </a:extLst>
          </p:cNvPr>
          <p:cNvSpPr txBox="1"/>
          <p:nvPr/>
        </p:nvSpPr>
        <p:spPr>
          <a:xfrm>
            <a:off x="3227252" y="3958637"/>
            <a:ext cx="1590906" cy="6281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b="1" dirty="0">
                <a:latin typeface="+mn-ea"/>
              </a:rPr>
              <a:t>※ </a:t>
            </a:r>
            <a:r>
              <a:rPr lang="ko-KR" altLang="en-US" sz="1000" b="1" dirty="0">
                <a:latin typeface="+mn-ea"/>
              </a:rPr>
              <a:t>기준 변경</a:t>
            </a:r>
            <a:endParaRPr lang="en-US" altLang="ko-KR" sz="10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b="1" dirty="0">
                <a:latin typeface="+mn-ea"/>
              </a:rPr>
              <a:t> - (</a:t>
            </a:r>
            <a:r>
              <a:rPr lang="ko-KR" altLang="en-US" sz="1000" b="1" dirty="0">
                <a:latin typeface="+mn-ea"/>
              </a:rPr>
              <a:t>실적</a:t>
            </a:r>
            <a:r>
              <a:rPr lang="en-US" altLang="ko-KR" sz="1000" b="1" dirty="0">
                <a:latin typeface="+mn-ea"/>
              </a:rPr>
              <a:t>)</a:t>
            </a:r>
            <a:r>
              <a:rPr lang="ko-KR" altLang="en-US" sz="1000" b="1" dirty="0" err="1">
                <a:latin typeface="+mn-ea"/>
              </a:rPr>
              <a:t>구지에스홈쇼핑</a:t>
            </a:r>
            <a:endParaRPr lang="en-US" altLang="ko-KR" sz="10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b="1" dirty="0">
                <a:latin typeface="+mn-ea"/>
              </a:rPr>
              <a:t> - (</a:t>
            </a:r>
            <a:r>
              <a:rPr lang="ko-KR" altLang="en-US" sz="1000" b="1" dirty="0">
                <a:latin typeface="+mn-ea"/>
              </a:rPr>
              <a:t>계획</a:t>
            </a:r>
            <a:r>
              <a:rPr lang="en-US" altLang="ko-KR" sz="1000" b="1" dirty="0">
                <a:latin typeface="+mn-ea"/>
              </a:rPr>
              <a:t>)</a:t>
            </a:r>
            <a:r>
              <a:rPr lang="ko-KR" altLang="en-US" sz="1000" b="1" dirty="0">
                <a:latin typeface="+mn-ea"/>
              </a:rPr>
              <a:t>홈쇼핑</a:t>
            </a:r>
            <a:r>
              <a:rPr lang="en-US" altLang="ko-KR" sz="1000" b="1" dirty="0">
                <a:latin typeface="+mn-ea"/>
              </a:rPr>
              <a:t>BU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ADCE7DBD-508B-3F17-F26D-E5267AA32A6C}"/>
              </a:ext>
            </a:extLst>
          </p:cNvPr>
          <p:cNvSpPr/>
          <p:nvPr/>
        </p:nvSpPr>
        <p:spPr>
          <a:xfrm>
            <a:off x="3688907" y="6503374"/>
            <a:ext cx="317896" cy="176440"/>
          </a:xfrm>
          <a:prstGeom prst="ellipse">
            <a:avLst/>
          </a:prstGeom>
          <a:noFill/>
          <a:ln>
            <a:solidFill>
              <a:srgbClr val="1919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919E5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69931361-39EE-F586-654D-EE524C875357}"/>
              </a:ext>
            </a:extLst>
          </p:cNvPr>
          <p:cNvCxnSpPr>
            <a:cxnSpLocks/>
          </p:cNvCxnSpPr>
          <p:nvPr/>
        </p:nvCxnSpPr>
        <p:spPr>
          <a:xfrm>
            <a:off x="1977665" y="5378584"/>
            <a:ext cx="0" cy="1281547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EEC0DCD6-E7D4-34F0-69AC-0E632BA88BC2}"/>
              </a:ext>
            </a:extLst>
          </p:cNvPr>
          <p:cNvCxnSpPr>
            <a:cxnSpLocks/>
          </p:cNvCxnSpPr>
          <p:nvPr/>
        </p:nvCxnSpPr>
        <p:spPr>
          <a:xfrm>
            <a:off x="3703992" y="5378584"/>
            <a:ext cx="0" cy="12815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BF8F823D-4C1B-040B-5445-AA90B05CF2EF}"/>
              </a:ext>
            </a:extLst>
          </p:cNvPr>
          <p:cNvGraphicFramePr>
            <a:graphicFrameLocks noGrp="1"/>
          </p:cNvGraphicFramePr>
          <p:nvPr/>
        </p:nvGraphicFramePr>
        <p:xfrm>
          <a:off x="337995" y="3537079"/>
          <a:ext cx="2807176" cy="1173145"/>
        </p:xfrm>
        <a:graphic>
          <a:graphicData uri="http://schemas.openxmlformats.org/drawingml/2006/table">
            <a:tbl>
              <a:tblPr/>
              <a:tblGrid>
                <a:gridCol w="467223">
                  <a:extLst>
                    <a:ext uri="{9D8B030D-6E8A-4147-A177-3AD203B41FA5}">
                      <a16:colId xmlns:a16="http://schemas.microsoft.com/office/drawing/2014/main" val="4219246870"/>
                    </a:ext>
                  </a:extLst>
                </a:gridCol>
                <a:gridCol w="293427">
                  <a:extLst>
                    <a:ext uri="{9D8B030D-6E8A-4147-A177-3AD203B41FA5}">
                      <a16:colId xmlns:a16="http://schemas.microsoft.com/office/drawing/2014/main" val="3979606599"/>
                    </a:ext>
                  </a:extLst>
                </a:gridCol>
                <a:gridCol w="307075">
                  <a:extLst>
                    <a:ext uri="{9D8B030D-6E8A-4147-A177-3AD203B41FA5}">
                      <a16:colId xmlns:a16="http://schemas.microsoft.com/office/drawing/2014/main" val="101311819"/>
                    </a:ext>
                  </a:extLst>
                </a:gridCol>
                <a:gridCol w="252483">
                  <a:extLst>
                    <a:ext uri="{9D8B030D-6E8A-4147-A177-3AD203B41FA5}">
                      <a16:colId xmlns:a16="http://schemas.microsoft.com/office/drawing/2014/main" val="2246606806"/>
                    </a:ext>
                  </a:extLst>
                </a:gridCol>
                <a:gridCol w="423146">
                  <a:extLst>
                    <a:ext uri="{9D8B030D-6E8A-4147-A177-3AD203B41FA5}">
                      <a16:colId xmlns:a16="http://schemas.microsoft.com/office/drawing/2014/main" val="2923666147"/>
                    </a:ext>
                  </a:extLst>
                </a:gridCol>
                <a:gridCol w="452845">
                  <a:extLst>
                    <a:ext uri="{9D8B030D-6E8A-4147-A177-3AD203B41FA5}">
                      <a16:colId xmlns:a16="http://schemas.microsoft.com/office/drawing/2014/main" val="2738437116"/>
                    </a:ext>
                  </a:extLst>
                </a:gridCol>
                <a:gridCol w="610977">
                  <a:extLst>
                    <a:ext uri="{9D8B030D-6E8A-4147-A177-3AD203B41FA5}">
                      <a16:colId xmlns:a16="http://schemas.microsoft.com/office/drawing/2014/main" val="4026305691"/>
                    </a:ext>
                  </a:extLst>
                </a:gridCol>
              </a:tblGrid>
              <a:tr h="2668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순수</a:t>
                      </a:r>
                      <a:b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방송</a:t>
                      </a:r>
                      <a:b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편성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방송</a:t>
                      </a:r>
                      <a:b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경영</a:t>
                      </a:r>
                      <a:br>
                        <a:rPr lang="ko-KR" alt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마케팅</a:t>
                      </a:r>
                      <a:br>
                        <a:rPr lang="ko-KR" altLang="en-US" sz="8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012482"/>
                  </a:ext>
                </a:extLst>
              </a:tr>
              <a:tr h="1863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구홈쇼핑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329888"/>
                  </a:ext>
                </a:extLst>
              </a:tr>
              <a:tr h="5336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제외인원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AX  99</a:t>
                      </a: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지원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92</a:t>
                      </a:r>
                    </a:p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총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243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신사업</a:t>
                      </a:r>
                      <a:b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부문</a:t>
                      </a:r>
                      <a:b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0887614"/>
                  </a:ext>
                </a:extLst>
              </a:tr>
              <a:tr h="1863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홈쇼핑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BU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008115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E939CB09-4246-4FEA-8641-D0F369B79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28" y="1341029"/>
            <a:ext cx="4072682" cy="2162041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D2A45548-1164-4D30-8260-4EC1DCF1B50B}"/>
              </a:ext>
            </a:extLst>
          </p:cNvPr>
          <p:cNvSpPr/>
          <p:nvPr/>
        </p:nvSpPr>
        <p:spPr>
          <a:xfrm>
            <a:off x="2840013" y="3281489"/>
            <a:ext cx="318233" cy="2269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07BF9284-9752-3D3F-C822-BB18EE73C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0569" y="3364635"/>
            <a:ext cx="111514" cy="89211"/>
          </a:xfrm>
          <a:prstGeom prst="rect">
            <a:avLst/>
          </a:prstGeom>
        </p:spPr>
      </p:pic>
      <p:sp>
        <p:nvSpPr>
          <p:cNvPr id="24" name="타원 23">
            <a:extLst>
              <a:ext uri="{FF2B5EF4-FFF2-40B4-BE49-F238E27FC236}">
                <a16:creationId xmlns:a16="http://schemas.microsoft.com/office/drawing/2014/main" id="{16EFB6F4-4FA8-3FE4-7F58-723552D5CAB2}"/>
              </a:ext>
            </a:extLst>
          </p:cNvPr>
          <p:cNvSpPr/>
          <p:nvPr/>
        </p:nvSpPr>
        <p:spPr>
          <a:xfrm>
            <a:off x="4034100" y="3275339"/>
            <a:ext cx="320182" cy="221134"/>
          </a:xfrm>
          <a:prstGeom prst="ellipse">
            <a:avLst/>
          </a:prstGeom>
          <a:noFill/>
          <a:ln>
            <a:solidFill>
              <a:srgbClr val="1919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919E5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C8BB390D-9890-B9BD-9918-42B7A9B13906}"/>
              </a:ext>
            </a:extLst>
          </p:cNvPr>
          <p:cNvSpPr/>
          <p:nvPr/>
        </p:nvSpPr>
        <p:spPr>
          <a:xfrm>
            <a:off x="4034100" y="1933436"/>
            <a:ext cx="320182" cy="221134"/>
          </a:xfrm>
          <a:prstGeom prst="ellipse">
            <a:avLst/>
          </a:prstGeom>
          <a:noFill/>
          <a:ln>
            <a:solidFill>
              <a:srgbClr val="1919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919E5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A39900-6FFE-1FF6-326C-8F2F17E6A47A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78/109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64490085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AEBD3F6-D623-455A-30BC-6DBCCB8352C6}"/>
              </a:ext>
            </a:extLst>
          </p:cNvPr>
          <p:cNvSpPr txBox="1"/>
          <p:nvPr/>
        </p:nvSpPr>
        <p:spPr>
          <a:xfrm>
            <a:off x="6046026" y="1324068"/>
            <a:ext cx="5906928" cy="5415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교육비 총액 감소 사유</a:t>
            </a:r>
            <a:r>
              <a:rPr lang="en-US" altLang="ko-KR" sz="1000" dirty="0">
                <a:latin typeface="+mn-ea"/>
              </a:rPr>
              <a:t>) </a:t>
            </a:r>
          </a:p>
          <a:p>
            <a:pPr>
              <a:lnSpc>
                <a:spcPct val="140000"/>
              </a:lnSpc>
            </a:pPr>
            <a:r>
              <a:rPr lang="ko-KR" altLang="en-US" sz="1200" b="1" dirty="0">
                <a:latin typeface="+mn-ea"/>
              </a:rPr>
              <a:t>①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기준변경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 </a:t>
            </a:r>
            <a:r>
              <a:rPr lang="ko-KR" altLang="en-US" sz="1200" b="1" dirty="0">
                <a:latin typeface="+mn-ea"/>
              </a:rPr>
              <a:t>舊</a:t>
            </a:r>
            <a:r>
              <a:rPr lang="en-US" altLang="ko-KR" sz="1200" b="1" dirty="0">
                <a:latin typeface="+mn-ea"/>
              </a:rPr>
              <a:t>GS</a:t>
            </a:r>
            <a:r>
              <a:rPr lang="ko-KR" altLang="en-US" sz="1200" b="1" dirty="0">
                <a:latin typeface="+mn-ea"/>
              </a:rPr>
              <a:t>홈쇼핑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→ 홈쇼핑</a:t>
            </a:r>
            <a:r>
              <a:rPr lang="en-US" altLang="ko-KR" sz="1200" b="1" dirty="0">
                <a:latin typeface="+mn-ea"/>
              </a:rPr>
              <a:t>BU</a:t>
            </a:r>
          </a:p>
          <a:p>
            <a:pPr>
              <a:lnSpc>
                <a:spcPct val="14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140000"/>
              </a:lnSpc>
            </a:pPr>
            <a:r>
              <a:rPr lang="en-US" altLang="ko-KR" sz="1000" dirty="0">
                <a:latin typeface="+mn-ea"/>
              </a:rPr>
              <a:t>(1</a:t>
            </a:r>
            <a:r>
              <a:rPr lang="ko-KR" altLang="en-US" sz="1000" dirty="0">
                <a:latin typeface="+mn-ea"/>
              </a:rPr>
              <a:t>인당 교육비 감소 사유</a:t>
            </a:r>
            <a:r>
              <a:rPr lang="en-US" altLang="ko-KR" sz="1000" dirty="0">
                <a:latin typeface="+mn-ea"/>
              </a:rPr>
              <a:t>)</a:t>
            </a:r>
          </a:p>
          <a:p>
            <a:pPr>
              <a:lnSpc>
                <a:spcPct val="140000"/>
              </a:lnSpc>
            </a:pPr>
            <a:r>
              <a:rPr lang="ko-KR" altLang="en-US" sz="1200" b="1" dirty="0">
                <a:latin typeface="+mn-ea"/>
              </a:rPr>
              <a:t>① 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코로나이후</a:t>
            </a:r>
            <a:r>
              <a:rPr lang="en-US" altLang="ko-KR" sz="1000" dirty="0">
                <a:latin typeface="+mn-ea"/>
              </a:rPr>
              <a:t>)</a:t>
            </a:r>
            <a:r>
              <a:rPr lang="en-US" altLang="ko-KR" sz="1000" b="1" dirty="0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온라인 교육의 보편화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40000"/>
              </a:lnSpc>
            </a:pPr>
            <a:r>
              <a:rPr lang="ko-KR" altLang="en-US" sz="1200" b="1" dirty="0">
                <a:latin typeface="+mn-ea"/>
              </a:rPr>
              <a:t>②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다양하고 우수한 온라인 교육 콘텐츠 증가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</a:rPr>
              <a:t>     </a:t>
            </a:r>
            <a:r>
              <a:rPr lang="ko-KR" altLang="en-US" sz="1000" dirty="0">
                <a:latin typeface="+mn-ea"/>
              </a:rPr>
              <a:t>예</a:t>
            </a:r>
            <a:r>
              <a:rPr lang="en-US" altLang="ko-KR" sz="1000" dirty="0">
                <a:latin typeface="+mn-ea"/>
              </a:rPr>
              <a:t>) </a:t>
            </a:r>
            <a:r>
              <a:rPr lang="ko-KR" altLang="en-US" sz="1000" dirty="0">
                <a:latin typeface="+mn-ea"/>
              </a:rPr>
              <a:t>명사</a:t>
            </a:r>
            <a:r>
              <a:rPr lang="en-US" altLang="ko-KR" sz="1000" dirty="0">
                <a:latin typeface="+mn-ea"/>
              </a:rPr>
              <a:t>·</a:t>
            </a:r>
            <a:r>
              <a:rPr lang="ko-KR" altLang="en-US" sz="1000" dirty="0">
                <a:latin typeface="+mn-ea"/>
              </a:rPr>
              <a:t>강연 구독 서비스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 err="1">
                <a:latin typeface="+mn-ea"/>
              </a:rPr>
              <a:t>롱블랙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클래스</a:t>
            </a:r>
            <a:r>
              <a:rPr lang="en-US" altLang="ko-KR" sz="1000" dirty="0">
                <a:latin typeface="+mn-ea"/>
              </a:rPr>
              <a:t>101 </a:t>
            </a:r>
            <a:r>
              <a:rPr lang="ko-KR" altLang="en-US" sz="1000" dirty="0">
                <a:latin typeface="+mn-ea"/>
              </a:rPr>
              <a:t>등</a:t>
            </a:r>
            <a:r>
              <a:rPr lang="en-US" altLang="ko-KR" sz="1000" dirty="0">
                <a:latin typeface="+mn-ea"/>
              </a:rPr>
              <a:t>)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164</a:t>
            </a:r>
            <a:r>
              <a:rPr lang="ko-KR" altLang="en-US" sz="1000" dirty="0">
                <a:latin typeface="+mn-ea"/>
              </a:rPr>
              <a:t>명</a:t>
            </a:r>
            <a:r>
              <a:rPr lang="en-US" altLang="ko-KR" sz="1000" dirty="0">
                <a:latin typeface="+mn-ea"/>
              </a:rPr>
              <a:t>(0.3</a:t>
            </a:r>
            <a:r>
              <a:rPr lang="ko-KR" altLang="en-US" sz="1000" dirty="0">
                <a:latin typeface="+mn-ea"/>
              </a:rPr>
              <a:t>억원</a:t>
            </a:r>
            <a:r>
              <a:rPr lang="en-US" altLang="ko-KR" sz="1000" dirty="0">
                <a:latin typeface="+mn-ea"/>
              </a:rPr>
              <a:t>)</a:t>
            </a:r>
          </a:p>
          <a:p>
            <a:pPr>
              <a:lnSpc>
                <a:spcPct val="140000"/>
              </a:lnSpc>
            </a:pPr>
            <a:endParaRPr lang="en-US" altLang="ko-KR" sz="1050" dirty="0">
              <a:latin typeface="+mn-ea"/>
            </a:endParaRPr>
          </a:p>
          <a:p>
            <a:pPr>
              <a:lnSpc>
                <a:spcPct val="140000"/>
              </a:lnSpc>
            </a:pPr>
            <a:r>
              <a:rPr lang="ko-KR" altLang="en-US" sz="1200" b="1" dirty="0">
                <a:latin typeface="+mn-ea"/>
              </a:rPr>
              <a:t>   →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최근 임직원이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온라인 교육을 선호</a:t>
            </a:r>
            <a:r>
              <a:rPr lang="ko-KR" altLang="en-US" sz="1200" b="1" dirty="0">
                <a:latin typeface="+mn-ea"/>
              </a:rPr>
              <a:t>하다 보니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40000"/>
              </a:lnSpc>
            </a:pPr>
            <a:r>
              <a:rPr lang="en-US" altLang="ko-KR" sz="1200" b="1" dirty="0">
                <a:latin typeface="+mn-ea"/>
              </a:rPr>
              <a:t>       </a:t>
            </a:r>
            <a:r>
              <a:rPr lang="ko-KR" altLang="en-US" sz="1200" b="1" dirty="0">
                <a:latin typeface="+mn-ea"/>
              </a:rPr>
              <a:t>오프라인 교육 대비 비용은 </a:t>
            </a:r>
            <a:r>
              <a:rPr lang="ko-KR" altLang="en-US" sz="1200" b="1" u="sng" dirty="0">
                <a:latin typeface="+mn-ea"/>
              </a:rPr>
              <a:t>자연스럽게 감소되는 추세 반영</a:t>
            </a:r>
            <a:endParaRPr lang="en-US" altLang="ko-KR" sz="1200" b="1" u="sng" dirty="0">
              <a:latin typeface="+mn-ea"/>
            </a:endParaRPr>
          </a:p>
          <a:p>
            <a:pPr>
              <a:lnSpc>
                <a:spcPct val="140000"/>
              </a:lnSpc>
            </a:pP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       </a:t>
            </a:r>
            <a:r>
              <a:rPr lang="ko-KR" altLang="en-US" sz="1000" dirty="0">
                <a:latin typeface="+mn-ea"/>
              </a:rPr>
              <a:t>예</a:t>
            </a:r>
            <a:r>
              <a:rPr lang="en-US" altLang="ko-KR" sz="1000" dirty="0">
                <a:latin typeface="+mn-ea"/>
              </a:rPr>
              <a:t>)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3</a:t>
            </a:r>
            <a:r>
              <a:rPr lang="ko-KR" altLang="en-US" sz="1000" dirty="0">
                <a:latin typeface="+mn-ea"/>
              </a:rPr>
              <a:t>월 </a:t>
            </a:r>
            <a:r>
              <a:rPr lang="en-US" altLang="ko-KR" sz="1000" dirty="0">
                <a:latin typeface="+mn-ea"/>
              </a:rPr>
              <a:t>4</a:t>
            </a:r>
            <a:r>
              <a:rPr lang="ko-KR" altLang="en-US" sz="1000" dirty="0">
                <a:latin typeface="+mn-ea"/>
              </a:rPr>
              <a:t>일 개최한</a:t>
            </a:r>
            <a:r>
              <a:rPr lang="en-US" altLang="ko-KR" sz="1000" dirty="0">
                <a:latin typeface="+mn-ea"/>
              </a:rPr>
              <a:t> AWS AI</a:t>
            </a:r>
            <a:r>
              <a:rPr lang="ko-KR" altLang="en-US" sz="1000" dirty="0">
                <a:latin typeface="+mn-ea"/>
              </a:rPr>
              <a:t>세미나 오프라인 </a:t>
            </a:r>
            <a:r>
              <a:rPr lang="en-US" altLang="ko-KR" sz="1000" dirty="0">
                <a:latin typeface="+mn-ea"/>
              </a:rPr>
              <a:t>70</a:t>
            </a:r>
            <a:r>
              <a:rPr lang="ko-KR" altLang="en-US" sz="1000" dirty="0">
                <a:latin typeface="+mn-ea"/>
              </a:rPr>
              <a:t>여명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온라인 </a:t>
            </a:r>
            <a:r>
              <a:rPr lang="en-US" altLang="ko-KR" sz="1000" dirty="0">
                <a:latin typeface="+mn-ea"/>
              </a:rPr>
              <a:t>150</a:t>
            </a:r>
            <a:r>
              <a:rPr lang="ko-KR" altLang="en-US" sz="1000" dirty="0">
                <a:latin typeface="+mn-ea"/>
              </a:rPr>
              <a:t>여명 참여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</a:rPr>
              <a:t> </a:t>
            </a:r>
            <a:endParaRPr lang="en-US" altLang="ko-KR" sz="1000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40000"/>
              </a:lnSpc>
            </a:pPr>
            <a:endParaRPr lang="ko-KR" altLang="en-US" sz="1200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40000"/>
              </a:lnSpc>
            </a:pP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온라인교육의 실효성</a:t>
            </a:r>
            <a:r>
              <a:rPr lang="en-US" altLang="ko-KR" sz="1000" dirty="0">
                <a:latin typeface="+mn-ea"/>
              </a:rPr>
              <a:t>)</a:t>
            </a:r>
          </a:p>
          <a:p>
            <a:pPr>
              <a:lnSpc>
                <a:spcPct val="140000"/>
              </a:lnSpc>
            </a:pPr>
            <a:r>
              <a:rPr lang="en-US" altLang="ko-KR" sz="1200" b="1" dirty="0">
                <a:latin typeface="+mn-ea"/>
              </a:rPr>
              <a:t>① </a:t>
            </a:r>
            <a:r>
              <a:rPr lang="ko-KR" altLang="en-US" sz="1200" b="1" dirty="0">
                <a:latin typeface="+mn-ea"/>
              </a:rPr>
              <a:t>온라인교육의 보편화</a:t>
            </a:r>
            <a:r>
              <a:rPr lang="en-US" altLang="ko-KR" sz="1200" b="1" dirty="0">
                <a:latin typeface="+mn-ea"/>
              </a:rPr>
              <a:t>·</a:t>
            </a:r>
            <a:r>
              <a:rPr lang="ko-KR" altLang="en-US" sz="1200" b="1" dirty="0">
                <a:latin typeface="+mn-ea"/>
              </a:rPr>
              <a:t>양질의 콘텐츠 증가</a:t>
            </a:r>
          </a:p>
          <a:p>
            <a:pPr>
              <a:lnSpc>
                <a:spcPct val="140000"/>
              </a:lnSpc>
            </a:pPr>
            <a:r>
              <a:rPr lang="ko-KR" altLang="en-US" sz="1200" b="1" dirty="0">
                <a:latin typeface="+mn-ea"/>
              </a:rPr>
              <a:t>② 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교육의 집중도가 떨어지는 부분이 있어</a:t>
            </a:r>
            <a:r>
              <a:rPr lang="en-US" altLang="ko-KR" sz="1200" b="1" dirty="0">
                <a:latin typeface="+mn-ea"/>
              </a:rPr>
              <a:t>)</a:t>
            </a:r>
          </a:p>
          <a:p>
            <a:pPr>
              <a:lnSpc>
                <a:spcPct val="140000"/>
              </a:lnSpc>
            </a:pPr>
            <a:r>
              <a:rPr lang="en-US" altLang="ko-KR" sz="1200" b="1" dirty="0">
                <a:latin typeface="+mn-ea"/>
              </a:rPr>
              <a:t>   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교육 목적별 온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·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오프라인 병행 운영</a:t>
            </a:r>
          </a:p>
          <a:p>
            <a:pPr>
              <a:lnSpc>
                <a:spcPct val="140000"/>
              </a:lnSpc>
            </a:pPr>
            <a:r>
              <a:rPr lang="ko-KR" altLang="en-US" sz="1200" b="1" dirty="0">
                <a:latin typeface="+mn-ea"/>
              </a:rPr>
              <a:t>     </a:t>
            </a:r>
            <a:r>
              <a:rPr lang="en-US" altLang="ko-KR" sz="1200" b="1" dirty="0">
                <a:latin typeface="+mn-ea"/>
              </a:rPr>
              <a:t>- </a:t>
            </a:r>
            <a:r>
              <a:rPr lang="ko-KR" altLang="en-US" sz="1200" b="1" u="sng" dirty="0">
                <a:latin typeface="+mn-ea"/>
              </a:rPr>
              <a:t>직무교육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>
                <a:latin typeface="+mn-ea"/>
              </a:rPr>
              <a:t>윤리교육 등 현장 피드백과 집중</a:t>
            </a:r>
            <a:r>
              <a:rPr lang="ko-KR" altLang="en-US" sz="1200" b="1" dirty="0">
                <a:latin typeface="+mn-ea"/>
              </a:rPr>
              <a:t>이 필요한 교육은 오프라인 운영</a:t>
            </a:r>
          </a:p>
          <a:p>
            <a:pPr>
              <a:lnSpc>
                <a:spcPct val="140000"/>
              </a:lnSpc>
            </a:pPr>
            <a:r>
              <a:rPr lang="ko-KR" altLang="en-US" sz="1200" b="1" dirty="0">
                <a:latin typeface="+mn-ea"/>
              </a:rPr>
              <a:t>     </a:t>
            </a:r>
            <a:r>
              <a:rPr lang="en-US" altLang="ko-KR" sz="1200" b="1" dirty="0">
                <a:latin typeface="+mn-ea"/>
              </a:rPr>
              <a:t>- </a:t>
            </a:r>
            <a:r>
              <a:rPr lang="ko-KR" altLang="en-US" sz="1200" b="1" u="sng" dirty="0">
                <a:latin typeface="+mn-ea"/>
              </a:rPr>
              <a:t>어학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>
                <a:latin typeface="+mn-ea"/>
              </a:rPr>
              <a:t>인문학 교육 등 이론과 지식 전달 교육</a:t>
            </a:r>
            <a:r>
              <a:rPr lang="ko-KR" altLang="en-US" sz="1200" b="1" dirty="0">
                <a:latin typeface="+mn-ea"/>
              </a:rPr>
              <a:t>은 온라인 운영</a:t>
            </a:r>
          </a:p>
          <a:p>
            <a:pPr>
              <a:lnSpc>
                <a:spcPct val="140000"/>
              </a:lnSpc>
            </a:pPr>
            <a:r>
              <a:rPr lang="ko-KR" altLang="en-US" sz="1200" b="1" dirty="0">
                <a:latin typeface="+mn-ea"/>
              </a:rPr>
              <a:t>③ 몰입도 강화를 위해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교육 평가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(Test),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우수평가자 포상 </a:t>
            </a:r>
            <a:r>
              <a:rPr lang="ko-KR" altLang="en-US" sz="1200" b="1" dirty="0">
                <a:latin typeface="+mn-ea"/>
              </a:rPr>
              <a:t>등 </a:t>
            </a:r>
            <a:r>
              <a:rPr lang="ko-KR" altLang="en-US" sz="1200" b="1" u="sng" dirty="0">
                <a:latin typeface="+mn-ea"/>
              </a:rPr>
              <a:t>학습 동기 부여</a:t>
            </a:r>
          </a:p>
          <a:p>
            <a:pPr>
              <a:lnSpc>
                <a:spcPct val="140000"/>
              </a:lnSpc>
            </a:pPr>
            <a:r>
              <a:rPr lang="ko-KR" altLang="en-US" sz="1000" dirty="0">
                <a:latin typeface="+mn-ea"/>
              </a:rPr>
              <a:t>     </a:t>
            </a:r>
          </a:p>
          <a:p>
            <a:pPr>
              <a:lnSpc>
                <a:spcPct val="140000"/>
              </a:lnSpc>
            </a:pPr>
            <a:r>
              <a:rPr lang="ko-KR" altLang="en-US" sz="1200" dirty="0">
                <a:latin typeface="+mn-ea"/>
              </a:rPr>
              <a:t> </a:t>
            </a:r>
            <a:endParaRPr lang="en-US" altLang="ko-KR" sz="12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AF0AAB-BDC8-CFD2-B3FF-5D37AB453551}"/>
              </a:ext>
            </a:extLst>
          </p:cNvPr>
          <p:cNvSpPr txBox="1"/>
          <p:nvPr/>
        </p:nvSpPr>
        <p:spPr>
          <a:xfrm>
            <a:off x="57150" y="322215"/>
            <a:ext cx="11428712" cy="724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현재 실적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(1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인당 교육비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매출액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)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대비 향후 계획이 낮아지는 이유는 무엇인가요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</a:t>
            </a:r>
          </a:p>
          <a:p>
            <a:pPr algn="just">
              <a:lnSpc>
                <a:spcPct val="120000"/>
              </a:lnSpc>
            </a:pP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   데이터홈쇼핑 특화 교육 투자 </a:t>
            </a:r>
            <a:r>
              <a:rPr lang="ko-KR" altLang="en-US" b="1">
                <a:solidFill>
                  <a:schemeClr val="bg1"/>
                </a:solidFill>
                <a:latin typeface="+mn-ea"/>
              </a:rPr>
              <a:t>금액이 실적 대비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계획이 낮은데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,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이유는 무엇인가요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8AC95F-374E-3C40-C79A-49E7CD3452BF}"/>
              </a:ext>
            </a:extLst>
          </p:cNvPr>
          <p:cNvSpPr txBox="1"/>
          <p:nvPr/>
        </p:nvSpPr>
        <p:spPr>
          <a:xfrm>
            <a:off x="65067" y="19389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5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인력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교육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53EAB45-E9FC-EED4-2ECF-D40292E28CE6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홈쇼핑</a:t>
            </a:r>
            <a:r>
              <a:rPr lang="en-US" altLang="ko-KR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BU</a:t>
            </a:r>
            <a:r>
              <a:rPr lang="ko-KR" altLang="en-US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장</a:t>
            </a:r>
          </a:p>
        </p:txBody>
      </p:sp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122E86-154B-42F2-73E9-D9026E6C6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97" y="5410181"/>
            <a:ext cx="5439014" cy="14093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7CC522-453A-1E91-D17B-85939EC6FE1F}"/>
              </a:ext>
            </a:extLst>
          </p:cNvPr>
          <p:cNvSpPr txBox="1"/>
          <p:nvPr/>
        </p:nvSpPr>
        <p:spPr>
          <a:xfrm>
            <a:off x="142878" y="5256663"/>
            <a:ext cx="5715000" cy="305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30000"/>
              </a:lnSpc>
            </a:pPr>
            <a:r>
              <a:rPr lang="ko-KR" altLang="en-US" sz="1200" b="1" dirty="0">
                <a:latin typeface="+mn-ea"/>
              </a:rPr>
              <a:t>■ 교육훈련비 계획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홈쇼핑</a:t>
            </a:r>
            <a:r>
              <a:rPr lang="en-US" altLang="ko-KR" sz="1200" b="1" dirty="0">
                <a:latin typeface="+mn-ea"/>
              </a:rPr>
              <a:t>BU)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3B2E678-688F-1A96-4197-1A43411BF2BD}"/>
              </a:ext>
            </a:extLst>
          </p:cNvPr>
          <p:cNvSpPr/>
          <p:nvPr/>
        </p:nvSpPr>
        <p:spPr>
          <a:xfrm>
            <a:off x="5990306" y="1210995"/>
            <a:ext cx="5830220" cy="541840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ea"/>
            </a:endParaRPr>
          </a:p>
        </p:txBody>
      </p:sp>
      <p:pic>
        <p:nvPicPr>
          <p:cNvPr id="11" name="그림 10" descr="텍스트, 번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7D592D-7279-F224-9684-064BD09A0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97" y="1210995"/>
            <a:ext cx="5447365" cy="30787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A9FDA6-7906-DEA2-3387-017577697C1A}"/>
              </a:ext>
            </a:extLst>
          </p:cNvPr>
          <p:cNvSpPr txBox="1"/>
          <p:nvPr/>
        </p:nvSpPr>
        <p:spPr>
          <a:xfrm>
            <a:off x="142878" y="1058035"/>
            <a:ext cx="5715000" cy="305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30000"/>
              </a:lnSpc>
            </a:pPr>
            <a:r>
              <a:rPr lang="ko-KR" altLang="en-US" sz="1200" b="1" dirty="0">
                <a:latin typeface="+mn-ea"/>
              </a:rPr>
              <a:t>■ </a:t>
            </a:r>
            <a:r>
              <a:rPr lang="en-US" altLang="ko-KR" sz="1200" b="1" dirty="0">
                <a:latin typeface="+mn-ea"/>
              </a:rPr>
              <a:t>(p.180)</a:t>
            </a:r>
            <a:r>
              <a:rPr lang="ko-KR" altLang="en-US" sz="1200" b="1" dirty="0">
                <a:latin typeface="+mn-ea"/>
              </a:rPr>
              <a:t>교육훈련비 실적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舊</a:t>
            </a:r>
            <a:r>
              <a:rPr lang="en-US" altLang="ko-KR" sz="1200" b="1" dirty="0">
                <a:latin typeface="+mn-ea"/>
              </a:rPr>
              <a:t>GS</a:t>
            </a:r>
            <a:r>
              <a:rPr lang="ko-KR" altLang="en-US" sz="1200" b="1" dirty="0">
                <a:latin typeface="+mn-ea"/>
              </a:rPr>
              <a:t>홈쇼핑</a:t>
            </a:r>
            <a:r>
              <a:rPr lang="en-US" altLang="ko-KR" sz="1200" b="1" dirty="0">
                <a:latin typeface="+mn-ea"/>
              </a:rPr>
              <a:t>)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DF23683-A872-DC66-836F-6D50732D056D}"/>
              </a:ext>
            </a:extLst>
          </p:cNvPr>
          <p:cNvSpPr/>
          <p:nvPr/>
        </p:nvSpPr>
        <p:spPr>
          <a:xfrm>
            <a:off x="4826312" y="3599215"/>
            <a:ext cx="435429" cy="182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694F5A-0724-552B-794F-28493BF51EDB}"/>
              </a:ext>
            </a:extLst>
          </p:cNvPr>
          <p:cNvSpPr/>
          <p:nvPr/>
        </p:nvSpPr>
        <p:spPr>
          <a:xfrm>
            <a:off x="1251403" y="6038336"/>
            <a:ext cx="298724" cy="166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96DE320-2281-8F12-801A-1BD5F36687D6}"/>
              </a:ext>
            </a:extLst>
          </p:cNvPr>
          <p:cNvSpPr/>
          <p:nvPr/>
        </p:nvSpPr>
        <p:spPr>
          <a:xfrm>
            <a:off x="5289820" y="3545973"/>
            <a:ext cx="317900" cy="3059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919E5"/>
              </a:solidFill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85A89603-EDDD-DB7B-AA32-C605609A82DE}"/>
              </a:ext>
            </a:extLst>
          </p:cNvPr>
          <p:cNvSpPr/>
          <p:nvPr/>
        </p:nvSpPr>
        <p:spPr>
          <a:xfrm>
            <a:off x="1550064" y="5967292"/>
            <a:ext cx="317900" cy="3059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919E5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B82585-517E-2C11-B8F6-C10270AA6ADC}"/>
              </a:ext>
            </a:extLst>
          </p:cNvPr>
          <p:cNvSpPr txBox="1"/>
          <p:nvPr/>
        </p:nvSpPr>
        <p:spPr>
          <a:xfrm>
            <a:off x="4110852" y="4534462"/>
            <a:ext cx="1590906" cy="6281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b="1" dirty="0">
                <a:latin typeface="+mn-ea"/>
              </a:rPr>
              <a:t>※ </a:t>
            </a:r>
            <a:r>
              <a:rPr lang="ko-KR" altLang="en-US" sz="1000" b="1" dirty="0">
                <a:latin typeface="+mn-ea"/>
              </a:rPr>
              <a:t>기준 변경</a:t>
            </a:r>
            <a:endParaRPr lang="en-US" altLang="ko-KR" sz="10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b="1" dirty="0">
                <a:latin typeface="+mn-ea"/>
              </a:rPr>
              <a:t> - (</a:t>
            </a:r>
            <a:r>
              <a:rPr lang="ko-KR" altLang="en-US" sz="1000" b="1" dirty="0">
                <a:latin typeface="+mn-ea"/>
              </a:rPr>
              <a:t>실적</a:t>
            </a:r>
            <a:r>
              <a:rPr lang="en-US" altLang="ko-KR" sz="1000" b="1" dirty="0">
                <a:latin typeface="+mn-ea"/>
              </a:rPr>
              <a:t>)</a:t>
            </a:r>
            <a:r>
              <a:rPr lang="ko-KR" altLang="en-US" sz="1000" b="1" dirty="0" err="1">
                <a:latin typeface="+mn-ea"/>
              </a:rPr>
              <a:t>구지에스홈쇼핑</a:t>
            </a:r>
            <a:endParaRPr lang="en-US" altLang="ko-KR" sz="10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b="1" dirty="0">
                <a:latin typeface="+mn-ea"/>
              </a:rPr>
              <a:t> - (</a:t>
            </a:r>
            <a:r>
              <a:rPr lang="ko-KR" altLang="en-US" sz="1000" b="1" dirty="0">
                <a:latin typeface="+mn-ea"/>
              </a:rPr>
              <a:t>계획</a:t>
            </a:r>
            <a:r>
              <a:rPr lang="en-US" altLang="ko-KR" sz="1000" b="1" dirty="0">
                <a:latin typeface="+mn-ea"/>
              </a:rPr>
              <a:t>)</a:t>
            </a:r>
            <a:r>
              <a:rPr lang="ko-KR" altLang="en-US" sz="1000" b="1" dirty="0">
                <a:latin typeface="+mn-ea"/>
              </a:rPr>
              <a:t>홈쇼핑</a:t>
            </a:r>
            <a:r>
              <a:rPr lang="en-US" altLang="ko-KR" sz="1000" b="1" dirty="0">
                <a:latin typeface="+mn-ea"/>
              </a:rPr>
              <a:t>BU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A09F820-72F9-A62B-17A6-12126FB222AF}"/>
              </a:ext>
            </a:extLst>
          </p:cNvPr>
          <p:cNvCxnSpPr>
            <a:endCxn id="30" idx="6"/>
          </p:cNvCxnSpPr>
          <p:nvPr/>
        </p:nvCxnSpPr>
        <p:spPr>
          <a:xfrm flipH="1">
            <a:off x="1867964" y="3866606"/>
            <a:ext cx="3548767" cy="22536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91838838-0B61-C614-258B-37567BA815FD}"/>
              </a:ext>
            </a:extLst>
          </p:cNvPr>
          <p:cNvGraphicFramePr>
            <a:graphicFrameLocks noGrp="1"/>
          </p:cNvGraphicFramePr>
          <p:nvPr/>
        </p:nvGraphicFramePr>
        <p:xfrm>
          <a:off x="228097" y="4334119"/>
          <a:ext cx="2872154" cy="903140"/>
        </p:xfrm>
        <a:graphic>
          <a:graphicData uri="http://schemas.openxmlformats.org/drawingml/2006/table">
            <a:tbl>
              <a:tblPr/>
              <a:tblGrid>
                <a:gridCol w="557563">
                  <a:extLst>
                    <a:ext uri="{9D8B030D-6E8A-4147-A177-3AD203B41FA5}">
                      <a16:colId xmlns:a16="http://schemas.microsoft.com/office/drawing/2014/main" val="2947603390"/>
                    </a:ext>
                  </a:extLst>
                </a:gridCol>
                <a:gridCol w="860260">
                  <a:extLst>
                    <a:ext uri="{9D8B030D-6E8A-4147-A177-3AD203B41FA5}">
                      <a16:colId xmlns:a16="http://schemas.microsoft.com/office/drawing/2014/main" val="614412051"/>
                    </a:ext>
                  </a:extLst>
                </a:gridCol>
                <a:gridCol w="1454331">
                  <a:extLst>
                    <a:ext uri="{9D8B030D-6E8A-4147-A177-3AD203B41FA5}">
                      <a16:colId xmlns:a16="http://schemas.microsoft.com/office/drawing/2014/main" val="4202185473"/>
                    </a:ext>
                  </a:extLst>
                </a:gridCol>
              </a:tblGrid>
              <a:tr h="2257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effectLst/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900" b="0" i="0" u="none" strike="noStrike" dirty="0">
                          <a:effectLst/>
                          <a:latin typeface="+mn-ea"/>
                          <a:ea typeface="+mn-ea"/>
                        </a:rPr>
                        <a:t>년 교육실적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b="0" i="0" u="none" strike="noStrike">
                          <a:effectLst/>
                          <a:latin typeface="+mn-ea"/>
                          <a:ea typeface="+mn-ea"/>
                        </a:rPr>
                        <a:t>인당 기준</a:t>
                      </a:r>
                      <a:endParaRPr lang="ko-KR" altLang="en-US" sz="9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316668"/>
                  </a:ext>
                </a:extLst>
              </a:tr>
              <a:tr h="2257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effectLst/>
                          <a:latin typeface="+mn-ea"/>
                          <a:ea typeface="+mn-ea"/>
                        </a:rPr>
                        <a:t>구홈쇼핑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effectLst/>
                          <a:latin typeface="+mn-ea"/>
                          <a:ea typeface="+mn-ea"/>
                        </a:rPr>
                        <a:t>3,074 </a:t>
                      </a:r>
                      <a:endParaRPr lang="en-US" altLang="ko-KR" sz="9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>
                          <a:effectLst/>
                          <a:latin typeface="+mn-ea"/>
                          <a:ea typeface="+mn-ea"/>
                        </a:rPr>
                        <a:t>정규직 </a:t>
                      </a:r>
                      <a:r>
                        <a:rPr lang="en-US" altLang="ko-KR" sz="900" b="0" i="0" u="none" strike="noStrike">
                          <a:effectLst/>
                          <a:latin typeface="+mn-ea"/>
                          <a:ea typeface="+mn-ea"/>
                        </a:rPr>
                        <a:t>1,028</a:t>
                      </a:r>
                      <a:r>
                        <a:rPr lang="ko-KR" altLang="en-US" sz="900" b="0" i="0" u="none" strike="noStrike">
                          <a:effectLst/>
                          <a:latin typeface="+mn-ea"/>
                          <a:ea typeface="+mn-ea"/>
                        </a:rPr>
                        <a:t>명 기준</a:t>
                      </a:r>
                      <a:r>
                        <a:rPr lang="en-US" altLang="ko-KR" sz="900" b="0" i="0" u="none" strike="noStrike">
                          <a:effectLst/>
                          <a:latin typeface="+mn-ea"/>
                          <a:ea typeface="+mn-ea"/>
                        </a:rPr>
                        <a:t>) 2.99</a:t>
                      </a:r>
                      <a:endParaRPr lang="en-US" altLang="ko-KR" sz="9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322545"/>
                  </a:ext>
                </a:extLst>
              </a:tr>
              <a:tr h="2257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effectLst/>
                          <a:latin typeface="+mn-ea"/>
                          <a:ea typeface="+mn-ea"/>
                        </a:rPr>
                        <a:t>제외대상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0" i="0" u="none" strike="noStrike">
                          <a:effectLst/>
                          <a:latin typeface="+mn-ea"/>
                          <a:ea typeface="+mn-ea"/>
                        </a:rPr>
                        <a:t>AX, </a:t>
                      </a:r>
                      <a:r>
                        <a:rPr lang="ko-KR" altLang="en-US" sz="900" b="0" i="0" u="none" strike="noStrike">
                          <a:effectLst/>
                          <a:latin typeface="+mn-ea"/>
                          <a:ea typeface="+mn-ea"/>
                        </a:rPr>
                        <a:t>경영지원 등 제외 인력 교육 실적 </a:t>
                      </a:r>
                      <a:r>
                        <a:rPr lang="en-US" altLang="ko-KR" sz="900" b="0" i="0" u="none" strike="noStrike">
                          <a:effectLst/>
                          <a:latin typeface="+mn-ea"/>
                          <a:ea typeface="+mn-ea"/>
                        </a:rPr>
                        <a:t>1,371</a:t>
                      </a:r>
                      <a:r>
                        <a:rPr lang="ko-KR" altLang="en-US" sz="900" b="0" i="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9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722595"/>
                  </a:ext>
                </a:extLst>
              </a:tr>
              <a:tr h="2257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effectLst/>
                          <a:latin typeface="+mn-ea"/>
                          <a:ea typeface="+mn-ea"/>
                        </a:rPr>
                        <a:t>홈</a:t>
                      </a:r>
                      <a:r>
                        <a:rPr lang="en-US" sz="900" b="0" i="0" u="none" strike="noStrike">
                          <a:effectLst/>
                          <a:latin typeface="+mn-ea"/>
                          <a:ea typeface="+mn-ea"/>
                        </a:rPr>
                        <a:t>BU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1,703</a:t>
                      </a:r>
                      <a:endParaRPr lang="en-US" altLang="ko-KR" sz="900" b="1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정규직 </a:t>
                      </a:r>
                      <a:r>
                        <a:rPr lang="en-US" altLang="ko-KR" sz="9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771</a:t>
                      </a:r>
                      <a:r>
                        <a:rPr lang="ko-KR" altLang="en-US" sz="9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명 기준</a:t>
                      </a:r>
                      <a:r>
                        <a:rPr lang="en-US" altLang="ko-KR" sz="9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) 2.21</a:t>
                      </a:r>
                      <a:endParaRPr lang="en-US" altLang="ko-KR" sz="900" b="1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2305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3E87A75-8548-A518-E19C-7D4F4FBBC081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79/109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8666945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8F5C7-7757-8635-1221-99DBB13B1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08758C-7C6B-5068-06CB-2E4D4140BD4B}"/>
              </a:ext>
            </a:extLst>
          </p:cNvPr>
          <p:cNvSpPr txBox="1"/>
          <p:nvPr/>
        </p:nvSpPr>
        <p:spPr>
          <a:xfrm>
            <a:off x="66675" y="91447"/>
            <a:ext cx="8819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b="1">
                <a:solidFill>
                  <a:schemeClr val="bg1"/>
                </a:solidFill>
                <a:latin typeface="+mn-ea"/>
              </a:rPr>
              <a:t>교육훈련 방향</a:t>
            </a:r>
            <a:r>
              <a:rPr lang="en-US" altLang="ko-KR" b="1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사업계획서 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p</a:t>
            </a:r>
            <a:r>
              <a:rPr lang="en-US" altLang="ko-KR" b="1">
                <a:solidFill>
                  <a:schemeClr val="bg1"/>
                </a:solidFill>
                <a:latin typeface="+mn-ea"/>
              </a:rPr>
              <a:t>.181~182)</a:t>
            </a:r>
            <a:endParaRPr lang="en-US" altLang="ko-KR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EEC24F-642A-37CE-CC25-BD8CAF086621}"/>
              </a:ext>
            </a:extLst>
          </p:cNvPr>
          <p:cNvSpPr txBox="1"/>
          <p:nvPr/>
        </p:nvSpPr>
        <p:spPr>
          <a:xfrm>
            <a:off x="120684" y="552938"/>
            <a:ext cx="11853601" cy="1266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30000"/>
              </a:lnSpc>
            </a:pP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보충설명</a:t>
            </a:r>
            <a:r>
              <a:rPr lang="en-US" altLang="ko-KR" sz="1000">
                <a:latin typeface="+mn-ea"/>
              </a:rPr>
              <a:t>) </a:t>
            </a:r>
            <a:r>
              <a:rPr lang="ko-KR" altLang="en-US" sz="1200" b="1">
                <a:latin typeface="+mn-ea"/>
              </a:rPr>
              <a:t>교육 매우 중요하게 생각</a:t>
            </a:r>
            <a:r>
              <a:rPr lang="en-US" altLang="ko-KR" sz="1200" b="1">
                <a:latin typeface="+mn-ea"/>
              </a:rPr>
              <a:t>(</a:t>
            </a:r>
            <a:r>
              <a:rPr lang="ko-KR" altLang="en-US" sz="1200" b="1">
                <a:latin typeface="+mn-ea"/>
              </a:rPr>
              <a:t>실질로 직원 만족도 높음</a:t>
            </a:r>
            <a:r>
              <a:rPr lang="en-US" altLang="ko-KR" sz="1200" b="1">
                <a:latin typeface="+mn-ea"/>
              </a:rPr>
              <a:t>) </a:t>
            </a:r>
          </a:p>
          <a:p>
            <a:pPr latinLnBrk="1">
              <a:lnSpc>
                <a:spcPct val="130000"/>
              </a:lnSpc>
            </a:pPr>
            <a:r>
              <a:rPr lang="en-US" altLang="ko-KR" sz="1200" b="1">
                <a:solidFill>
                  <a:srgbClr val="0000FF"/>
                </a:solidFill>
                <a:latin typeface="+mn-ea"/>
              </a:rPr>
              <a:t>            </a:t>
            </a:r>
            <a:r>
              <a:rPr lang="ko-KR" altLang="en-US" sz="1200" b="1">
                <a:latin typeface="+mn-ea"/>
              </a:rPr>
              <a:t>문화 변화로 과거처럼 회사가 일방적으로 하기도 어렵고 효과도 낮음 </a:t>
            </a:r>
            <a:endParaRPr lang="en-US" altLang="ko-KR" sz="1200" b="1">
              <a:latin typeface="+mn-ea"/>
            </a:endParaRPr>
          </a:p>
          <a:p>
            <a:pPr latinLnBrk="1">
              <a:lnSpc>
                <a:spcPct val="130000"/>
              </a:lnSpc>
            </a:pPr>
            <a:r>
              <a:rPr lang="en-US" altLang="ko-KR" sz="1200" b="1">
                <a:latin typeface="+mn-ea"/>
              </a:rPr>
              <a:t>            </a:t>
            </a:r>
            <a:r>
              <a:rPr lang="ko-KR" altLang="en-US" sz="1200" b="1">
                <a:latin typeface="+mn-ea"/>
              </a:rPr>
              <a:t>→ </a:t>
            </a:r>
            <a:r>
              <a:rPr lang="en-US" altLang="ko-KR" sz="1200" b="1">
                <a:latin typeface="+mn-ea"/>
              </a:rPr>
              <a:t>①</a:t>
            </a:r>
            <a:r>
              <a:rPr lang="ko-KR" altLang="en-US" sz="1200" b="1" u="sng">
                <a:latin typeface="+mn-ea"/>
              </a:rPr>
              <a:t>개인이 셋팅하기 어려운</a:t>
            </a:r>
            <a:r>
              <a:rPr lang="ko-KR" altLang="en-US" sz="1200" b="1">
                <a:latin typeface="+mn-ea"/>
              </a:rPr>
              <a:t> 직무 역량과</a:t>
            </a:r>
            <a:r>
              <a:rPr lang="en-US" altLang="ko-KR" sz="1200" b="1">
                <a:latin typeface="+mn-ea"/>
              </a:rPr>
              <a:t> </a:t>
            </a:r>
            <a:r>
              <a:rPr lang="ko-KR" altLang="en-US" sz="1200" b="1">
                <a:latin typeface="+mn-ea"/>
              </a:rPr>
              <a:t>디지털 역량은 회사가 주도하지만</a:t>
            </a:r>
            <a:endParaRPr lang="en-US" altLang="ko-KR" sz="1200" b="1">
              <a:latin typeface="+mn-ea"/>
            </a:endParaRPr>
          </a:p>
          <a:p>
            <a:pPr latinLnBrk="1">
              <a:lnSpc>
                <a:spcPct val="130000"/>
              </a:lnSpc>
            </a:pPr>
            <a:r>
              <a:rPr lang="en-US" altLang="ko-KR" sz="1200" b="1">
                <a:latin typeface="+mn-ea"/>
              </a:rPr>
              <a:t>                </a:t>
            </a:r>
            <a:r>
              <a:rPr lang="ko-KR" altLang="ko-KR" sz="1200" b="1">
                <a:latin typeface="+mn-ea"/>
              </a:rPr>
              <a:t>②</a:t>
            </a:r>
            <a:r>
              <a:rPr lang="ko-KR" altLang="en-US" sz="1200" b="1" u="sng">
                <a:latin typeface="+mn-ea"/>
              </a:rPr>
              <a:t>자발적으로 교육 로드맵을 수립하는</a:t>
            </a:r>
            <a:r>
              <a:rPr lang="ko-KR" altLang="en-US" sz="1200" b="1">
                <a:latin typeface="+mn-ea"/>
              </a:rPr>
              <a:t> 자기 주도 학습을 병행할 필요 있음 </a:t>
            </a:r>
            <a:r>
              <a:rPr lang="en-US" altLang="ko-KR" sz="1200" b="1">
                <a:latin typeface="+mn-ea"/>
              </a:rPr>
              <a:t>(</a:t>
            </a:r>
            <a:r>
              <a:rPr lang="ko-KR" altLang="en-US" sz="1200" b="1">
                <a:latin typeface="+mn-ea"/>
              </a:rPr>
              <a:t>회사는 교육 커리큘럼과 비용 지원</a:t>
            </a:r>
            <a:r>
              <a:rPr lang="en-US" altLang="ko-KR" sz="1200" b="1">
                <a:latin typeface="+mn-ea"/>
              </a:rPr>
              <a:t>)</a:t>
            </a:r>
          </a:p>
          <a:p>
            <a:pPr latinLnBrk="1">
              <a:lnSpc>
                <a:spcPct val="130000"/>
              </a:lnSpc>
            </a:pPr>
            <a:r>
              <a:rPr lang="en-US" altLang="ko-KR" sz="1200" b="1">
                <a:solidFill>
                  <a:srgbClr val="0000FF"/>
                </a:solidFill>
                <a:latin typeface="+mn-ea"/>
              </a:rPr>
              <a:t>                </a:t>
            </a:r>
            <a:r>
              <a:rPr lang="ko-KR" altLang="ko-KR" sz="1200" b="1">
                <a:latin typeface="+mn-ea"/>
              </a:rPr>
              <a:t>③</a:t>
            </a:r>
            <a:r>
              <a:rPr lang="ko-KR" altLang="en-US" sz="1200" b="1" u="sng">
                <a:latin typeface="+mn-ea"/>
              </a:rPr>
              <a:t>인문학 통찰 교육</a:t>
            </a:r>
            <a:r>
              <a:rPr lang="ko-KR" altLang="en-US" sz="1200" b="1">
                <a:latin typeface="+mn-ea"/>
              </a:rPr>
              <a:t>도 중요하다고 생각해서 외부 인사 초청 강의 수시 진행</a:t>
            </a:r>
            <a:endParaRPr lang="en-US" altLang="ko-KR" sz="1200" b="1" dirty="0"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F7DF753-6F6F-540A-F8B3-B89B2D5EB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3" y="1823518"/>
            <a:ext cx="3398837" cy="496208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0C3E012-DE46-ADEC-1AA2-4E57FC75A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763" y="1813993"/>
            <a:ext cx="3398837" cy="49732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460AFD-B488-9250-517D-F56DE4E23755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80/109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422611618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1A443-F5EA-A491-1E9C-E96C7B4CF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84C271-CAB2-BD39-8823-2208CEDE53D6}"/>
              </a:ext>
            </a:extLst>
          </p:cNvPr>
          <p:cNvSpPr txBox="1"/>
          <p:nvPr/>
        </p:nvSpPr>
        <p:spPr>
          <a:xfrm>
            <a:off x="66675" y="91447"/>
            <a:ext cx="8819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데이터홈쇼핑 특화 교육 실적 및 계획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사업계획서 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p.189)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0EC8FB7-97DC-8E29-D75E-A2AD0795C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196" y="657225"/>
            <a:ext cx="4285230" cy="615315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220128E-9005-710C-531B-2CDFBBBFC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646" y="657225"/>
            <a:ext cx="4193322" cy="560680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20DDAFF4-49B4-FD7F-7A4C-A919B37701C4}"/>
              </a:ext>
            </a:extLst>
          </p:cNvPr>
          <p:cNvSpPr/>
          <p:nvPr/>
        </p:nvSpPr>
        <p:spPr>
          <a:xfrm>
            <a:off x="5169210" y="2066926"/>
            <a:ext cx="517215" cy="2381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8912360-1B69-9B80-16E1-9D029EFA6AB7}"/>
              </a:ext>
            </a:extLst>
          </p:cNvPr>
          <p:cNvSpPr/>
          <p:nvPr/>
        </p:nvSpPr>
        <p:spPr>
          <a:xfrm>
            <a:off x="10416197" y="2463166"/>
            <a:ext cx="350864" cy="2381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1EDA36-939E-77E9-EE7A-9DCE9E94F42D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81/109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41789340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887F7BB-7B54-D55F-4840-1C095DF1A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491488"/>
              </p:ext>
            </p:extLst>
          </p:nvPr>
        </p:nvGraphicFramePr>
        <p:xfrm>
          <a:off x="407988" y="949212"/>
          <a:ext cx="11448288" cy="56954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04835">
                  <a:extLst>
                    <a:ext uri="{9D8B030D-6E8A-4147-A177-3AD203B41FA5}">
                      <a16:colId xmlns:a16="http://schemas.microsoft.com/office/drawing/2014/main" val="3856680364"/>
                    </a:ext>
                  </a:extLst>
                </a:gridCol>
                <a:gridCol w="6143453">
                  <a:extLst>
                    <a:ext uri="{9D8B030D-6E8A-4147-A177-3AD203B41FA5}">
                      <a16:colId xmlns:a16="http://schemas.microsoft.com/office/drawing/2014/main" val="3027510972"/>
                    </a:ext>
                  </a:extLst>
                </a:gridCol>
              </a:tblGrid>
              <a:tr h="2596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예상 질문</a:t>
                      </a:r>
                    </a:p>
                  </a:txBody>
                  <a:tcPr marL="48000" marR="48000" marT="48000" marB="4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답변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657875"/>
                  </a:ext>
                </a:extLst>
              </a:tr>
              <a:tr h="1462158">
                <a:tc>
                  <a:txBody>
                    <a:bodyPr/>
                    <a:lstStyle/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Q. (p.165)2025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 전체 인력 규모가 미달하였는데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이유는 무엇인가요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800" marR="48000" marT="48000" marB="4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AutoNum type="alphaUcPeriod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IT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유지보수 인원 퇴사로 인한 자연감소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AutoNum type="alphaUcPeriod"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AutoNum type="alphaUcPeriod"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AutoNum type="alphaUcPeriod"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AutoNum type="alphaUcPeriod"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AutoNum type="alphaUcPeriod"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AutoNum type="alphaUcPeriod"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8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037687"/>
                  </a:ext>
                </a:extLst>
              </a:tr>
              <a:tr h="2460357">
                <a:tc>
                  <a:txBody>
                    <a:bodyPr/>
                    <a:lstStyle/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Q. 2025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 정규직 채용이 미달하였는데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이유는 무엇인가요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800" marR="48000" marT="48000" marB="4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A. 21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년과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22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년에 계획대비 채용을 많이 했고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5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년간 실적은 계획대비 이행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(5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 계획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357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 대비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523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 채용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indent="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8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0494939"/>
                  </a:ext>
                </a:extLst>
              </a:tr>
              <a:tr h="1457220">
                <a:tc>
                  <a:txBody>
                    <a:bodyPr/>
                    <a:lstStyle/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Q.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(p.167)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여성인력 비율은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44%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인데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여성 관리자 비율은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19.2%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낮아 보이는데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여성 관리자 비율을 확대할 계획이 있나요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latinLnBrk="1">
                        <a:lnSpc>
                          <a:spcPct val="120000"/>
                        </a:lnSpc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20000"/>
                        </a:lnSpc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20000"/>
                        </a:lnSpc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20000"/>
                        </a:lnSpc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여성 관리자 비율 </a:t>
                      </a: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정규직 임직원 중에서 팀장 이상 여성 관리자 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800" marR="48000" marT="48000" marB="4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A.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성별 상관 없이 </a:t>
                      </a:r>
                      <a:r>
                        <a:rPr lang="ko-KR" altLang="en-US" sz="11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역량</a:t>
                      </a:r>
                      <a:r>
                        <a:rPr lang="en-US" altLang="ko-KR" sz="11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1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 리더십 고려하여 관리자 선임</a:t>
                      </a:r>
                      <a:endParaRPr lang="en-US" altLang="ko-KR" sz="11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홈쇼핑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BU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 고려할 때 여성관리자 비율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년말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기준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26%</a:t>
                      </a:r>
                    </a:p>
                  </a:txBody>
                  <a:tcPr marL="468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3011655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FF18F279-276E-226D-FA20-DFDAB5D2EA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476"/>
          <a:stretch>
            <a:fillRect/>
          </a:stretch>
        </p:blipFill>
        <p:spPr>
          <a:xfrm>
            <a:off x="939886" y="5709143"/>
            <a:ext cx="4020390" cy="6265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ED9B8B-7B6A-FBE8-60FC-A9ABEF2C3FD7}"/>
              </a:ext>
            </a:extLst>
          </p:cNvPr>
          <p:cNvSpPr txBox="1"/>
          <p:nvPr/>
        </p:nvSpPr>
        <p:spPr>
          <a:xfrm>
            <a:off x="0" y="310408"/>
            <a:ext cx="11428712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just" latinLnBrk="1">
              <a:lnSpc>
                <a:spcPct val="120000"/>
              </a:lnSpc>
              <a:spcAft>
                <a:spcPts val="0"/>
              </a:spcAf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인력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·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교육 관련 기타 질문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A9C0E1-0841-9837-BD8B-2BC9A3DD22AC}"/>
              </a:ext>
            </a:extLst>
          </p:cNvPr>
          <p:cNvSpPr txBox="1"/>
          <p:nvPr/>
        </p:nvSpPr>
        <p:spPr>
          <a:xfrm>
            <a:off x="65067" y="9864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5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인력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교육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5BB2B73-C586-F0D5-F2F2-D5C29CA5195D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홈쇼핑</a:t>
            </a:r>
            <a:r>
              <a:rPr lang="en-US" altLang="ko-KR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BU</a:t>
            </a:r>
            <a:r>
              <a:rPr lang="ko-KR" altLang="en-US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장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CE7A2A0-0676-578C-8E04-748439E42B63}"/>
              </a:ext>
            </a:extLst>
          </p:cNvPr>
          <p:cNvGraphicFramePr>
            <a:graphicFrameLocks noGrp="1"/>
          </p:cNvGraphicFramePr>
          <p:nvPr/>
        </p:nvGraphicFramePr>
        <p:xfrm>
          <a:off x="5975441" y="1617049"/>
          <a:ext cx="3857625" cy="678474"/>
        </p:xfrm>
        <a:graphic>
          <a:graphicData uri="http://schemas.openxmlformats.org/drawingml/2006/table">
            <a:tbl>
              <a:tblPr/>
              <a:tblGrid>
                <a:gridCol w="1946508">
                  <a:extLst>
                    <a:ext uri="{9D8B030D-6E8A-4147-A177-3AD203B41FA5}">
                      <a16:colId xmlns:a16="http://schemas.microsoft.com/office/drawing/2014/main" val="581180752"/>
                    </a:ext>
                  </a:extLst>
                </a:gridCol>
                <a:gridCol w="637039">
                  <a:extLst>
                    <a:ext uri="{9D8B030D-6E8A-4147-A177-3AD203B41FA5}">
                      <a16:colId xmlns:a16="http://schemas.microsoft.com/office/drawing/2014/main" val="1077699200"/>
                    </a:ext>
                  </a:extLst>
                </a:gridCol>
                <a:gridCol w="637039">
                  <a:extLst>
                    <a:ext uri="{9D8B030D-6E8A-4147-A177-3AD203B41FA5}">
                      <a16:colId xmlns:a16="http://schemas.microsoft.com/office/drawing/2014/main" val="3825172198"/>
                    </a:ext>
                  </a:extLst>
                </a:gridCol>
                <a:gridCol w="637039">
                  <a:extLst>
                    <a:ext uri="{9D8B030D-6E8A-4147-A177-3AD203B41FA5}">
                      <a16:colId xmlns:a16="http://schemas.microsoft.com/office/drawing/2014/main" val="447538764"/>
                    </a:ext>
                  </a:extLst>
                </a:gridCol>
              </a:tblGrid>
              <a:tr h="2261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주요 인력 감소 부문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차이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434777"/>
                  </a:ext>
                </a:extLst>
              </a:tr>
              <a:tr h="2261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AX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본부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157</a:t>
                      </a:r>
                    </a:p>
                  </a:txBody>
                  <a:tcPr marL="0" marR="72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99</a:t>
                      </a:r>
                    </a:p>
                  </a:txBody>
                  <a:tcPr marL="0" marR="72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-58</a:t>
                      </a:r>
                    </a:p>
                  </a:txBody>
                  <a:tcPr marL="0" marR="72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96139"/>
                  </a:ext>
                </a:extLst>
              </a:tr>
              <a:tr h="2261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정보보안 및 감사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0" marR="72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33</a:t>
                      </a:r>
                    </a:p>
                  </a:txBody>
                  <a:tcPr marL="0" marR="72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</a:t>
                      </a:r>
                    </a:p>
                  </a:txBody>
                  <a:tcPr marL="0" marR="72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34960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0973198F-5E75-E488-6D3C-451DF8742D8B}"/>
              </a:ext>
            </a:extLst>
          </p:cNvPr>
          <p:cNvGrpSpPr/>
          <p:nvPr/>
        </p:nvGrpSpPr>
        <p:grpSpPr>
          <a:xfrm>
            <a:off x="939886" y="1586112"/>
            <a:ext cx="4233109" cy="1021079"/>
            <a:chOff x="324347" y="1293835"/>
            <a:chExt cx="4009462" cy="820942"/>
          </a:xfrm>
        </p:grpSpPr>
        <p:pic>
          <p:nvPicPr>
            <p:cNvPr id="12" name="그림 11" descr="텍스트, 스크린샷, 번호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33A9D60-A002-6506-3428-8EACC3481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77919"/>
            <a:stretch>
              <a:fillRect/>
            </a:stretch>
          </p:blipFill>
          <p:spPr>
            <a:xfrm>
              <a:off x="324347" y="1293835"/>
              <a:ext cx="4009462" cy="489176"/>
            </a:xfrm>
            <a:prstGeom prst="rect">
              <a:avLst/>
            </a:prstGeom>
          </p:spPr>
        </p:pic>
        <p:pic>
          <p:nvPicPr>
            <p:cNvPr id="13" name="그림 12" descr="텍스트, 스크린샷, 번호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F02A57C-84DD-8C82-7516-F3203099D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83213"/>
            <a:stretch>
              <a:fillRect/>
            </a:stretch>
          </p:blipFill>
          <p:spPr>
            <a:xfrm>
              <a:off x="324347" y="1742879"/>
              <a:ext cx="4009462" cy="371898"/>
            </a:xfrm>
            <a:prstGeom prst="rect">
              <a:avLst/>
            </a:prstGeom>
          </p:spPr>
        </p:pic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EC5CAC0-04D4-B8EB-6574-84CCB7587F3E}"/>
              </a:ext>
            </a:extLst>
          </p:cNvPr>
          <p:cNvSpPr/>
          <p:nvPr/>
        </p:nvSpPr>
        <p:spPr>
          <a:xfrm>
            <a:off x="4831251" y="2139026"/>
            <a:ext cx="325161" cy="4300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71A868C-25B2-F436-558D-40DB778613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574"/>
          <a:stretch>
            <a:fillRect/>
          </a:stretch>
        </p:blipFill>
        <p:spPr>
          <a:xfrm>
            <a:off x="878926" y="3021462"/>
            <a:ext cx="3418011" cy="211688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5028673-518D-21B4-3488-ABA36B86B0EE}"/>
              </a:ext>
            </a:extLst>
          </p:cNvPr>
          <p:cNvSpPr txBox="1"/>
          <p:nvPr/>
        </p:nvSpPr>
        <p:spPr>
          <a:xfrm>
            <a:off x="4774578" y="1391253"/>
            <a:ext cx="7968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/>
              <a:t>(</a:t>
            </a:r>
            <a:r>
              <a:rPr lang="ko-KR" altLang="en-US" sz="800" dirty="0"/>
              <a:t>단위 </a:t>
            </a:r>
            <a:r>
              <a:rPr lang="en-US" altLang="ko-KR" sz="800" dirty="0"/>
              <a:t>: </a:t>
            </a:r>
            <a:r>
              <a:rPr lang="ko-KR" altLang="en-US" sz="800" dirty="0"/>
              <a:t>명</a:t>
            </a:r>
            <a:r>
              <a:rPr lang="en-US" altLang="ko-KR" sz="800" dirty="0"/>
              <a:t>) </a:t>
            </a:r>
            <a:endParaRPr lang="ko-KR" altLang="en-US" sz="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E729FA-FA40-8C22-45DE-8BC02A936E18}"/>
              </a:ext>
            </a:extLst>
          </p:cNvPr>
          <p:cNvSpPr txBox="1"/>
          <p:nvPr/>
        </p:nvSpPr>
        <p:spPr>
          <a:xfrm>
            <a:off x="4196997" y="2993698"/>
            <a:ext cx="7968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/>
              <a:t>(</a:t>
            </a:r>
            <a:r>
              <a:rPr lang="ko-KR" altLang="en-US" sz="800" dirty="0"/>
              <a:t>단위 </a:t>
            </a:r>
            <a:r>
              <a:rPr lang="en-US" altLang="ko-KR" sz="800" dirty="0"/>
              <a:t>: </a:t>
            </a:r>
            <a:r>
              <a:rPr lang="ko-KR" altLang="en-US" sz="800" dirty="0"/>
              <a:t>명</a:t>
            </a:r>
            <a:r>
              <a:rPr lang="en-US" altLang="ko-KR" sz="800" dirty="0"/>
              <a:t>) </a:t>
            </a:r>
            <a:endParaRPr lang="ko-KR" altLang="en-US" sz="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4A9D31-0872-69CD-4DEE-5F3D1A995756}"/>
              </a:ext>
            </a:extLst>
          </p:cNvPr>
          <p:cNvSpPr txBox="1"/>
          <p:nvPr/>
        </p:nvSpPr>
        <p:spPr>
          <a:xfrm>
            <a:off x="4295556" y="5493699"/>
            <a:ext cx="7968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/>
              <a:t>(</a:t>
            </a:r>
            <a:r>
              <a:rPr lang="ko-KR" altLang="en-US" sz="800" dirty="0"/>
              <a:t>단위 </a:t>
            </a:r>
            <a:r>
              <a:rPr lang="en-US" altLang="ko-KR" sz="800" dirty="0"/>
              <a:t>: %) </a:t>
            </a:r>
            <a:endParaRPr lang="ko-KR" altLang="en-US" sz="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56242-06D4-F397-341F-F68EE28EC996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82/109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23000359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C5193-7AA4-C137-1A7F-44EC2DF3B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DC894A63-D078-8929-162E-1076E10402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2EB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4000" b="1" dirty="0">
                <a:solidFill>
                  <a:schemeClr val="tx1"/>
                </a:solidFill>
                <a:latin typeface="+mn-ea"/>
              </a:rPr>
              <a:t>5</a:t>
            </a:r>
            <a:r>
              <a:rPr lang="ko-KR" altLang="en-US" sz="4000" b="1" dirty="0">
                <a:solidFill>
                  <a:schemeClr val="tx1"/>
                </a:solidFill>
                <a:latin typeface="+mn-ea"/>
              </a:rPr>
              <a:t>장</a:t>
            </a:r>
            <a:r>
              <a:rPr lang="en-US" altLang="ko-KR" sz="4000" b="1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4000" b="1" dirty="0">
                <a:solidFill>
                  <a:schemeClr val="tx1"/>
                </a:solidFill>
                <a:latin typeface="+mn-ea"/>
              </a:rPr>
              <a:t>조직 및 인력운영 등</a:t>
            </a:r>
            <a:endParaRPr lang="en-US" altLang="ko-KR" sz="40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4000" b="1" dirty="0">
                <a:solidFill>
                  <a:schemeClr val="tx1"/>
                </a:solidFill>
                <a:latin typeface="+mn-ea"/>
              </a:rPr>
              <a:t>경영계획 적정성 </a:t>
            </a:r>
            <a:r>
              <a:rPr lang="en-US" altLang="ko-KR" sz="4000" b="1" dirty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4000" b="1" dirty="0">
                <a:solidFill>
                  <a:schemeClr val="tx1"/>
                </a:solidFill>
                <a:latin typeface="+mn-ea"/>
              </a:rPr>
              <a:t>경영투명성</a:t>
            </a:r>
            <a:endParaRPr lang="en-US" altLang="ko-KR" sz="40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0627246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AF0AAB-BDC8-CFD2-B3FF-5D37AB453551}"/>
              </a:ext>
            </a:extLst>
          </p:cNvPr>
          <p:cNvSpPr txBox="1"/>
          <p:nvPr/>
        </p:nvSpPr>
        <p:spPr>
          <a:xfrm>
            <a:off x="57150" y="341265"/>
            <a:ext cx="11428712" cy="724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just" latinLnBrk="1">
              <a:lnSpc>
                <a:spcPct val="120000"/>
              </a:lnSpc>
              <a:spcAft>
                <a:spcPts val="0"/>
              </a:spcAf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윤리위원회가 모두 내부자로 구성되어 있습니다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.</a:t>
            </a:r>
          </a:p>
          <a:p>
            <a:pPr algn="just">
              <a:lnSpc>
                <a:spcPct val="120000"/>
              </a:lnSpc>
            </a:pP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   객관적인 위원회 운영을 위해 외부인을 참여시킬 계획은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499DAD-2850-196C-6D49-C0C8F4249BE8}"/>
              </a:ext>
            </a:extLst>
          </p:cNvPr>
          <p:cNvSpPr txBox="1"/>
          <p:nvPr/>
        </p:nvSpPr>
        <p:spPr>
          <a:xfrm>
            <a:off x="65067" y="19389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5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경영투명성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C576417-633A-4244-3315-C4DD5442762F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CFO</a:t>
            </a:r>
            <a:endParaRPr lang="ko-KR" altLang="en-US" sz="105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8D417750-76E7-9AB3-8E5F-6631AE4CB9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077388"/>
              </p:ext>
            </p:extLst>
          </p:nvPr>
        </p:nvGraphicFramePr>
        <p:xfrm>
          <a:off x="240750" y="1693904"/>
          <a:ext cx="5222069" cy="546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5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5805">
                  <a:extLst>
                    <a:ext uri="{9D8B030D-6E8A-4147-A177-3AD203B41FA5}">
                      <a16:colId xmlns:a16="http://schemas.microsoft.com/office/drawing/2014/main" val="667112504"/>
                    </a:ext>
                  </a:extLst>
                </a:gridCol>
                <a:gridCol w="725805">
                  <a:extLst>
                    <a:ext uri="{9D8B030D-6E8A-4147-A177-3AD203B41FA5}">
                      <a16:colId xmlns:a16="http://schemas.microsoft.com/office/drawing/2014/main" val="1672815079"/>
                    </a:ext>
                  </a:extLst>
                </a:gridCol>
              </a:tblGrid>
              <a:tr h="2140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 분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2021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2022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2023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2024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1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윤리위 개최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홈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BU)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FA6FB556-4621-4879-C6D7-60534ED64838}"/>
              </a:ext>
            </a:extLst>
          </p:cNvPr>
          <p:cNvSpPr txBox="1"/>
          <p:nvPr/>
        </p:nvSpPr>
        <p:spPr>
          <a:xfrm>
            <a:off x="4369125" y="1442597"/>
            <a:ext cx="10936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en-US" altLang="ko-KR" sz="900" b="1">
                <a:latin typeface="+mn-ea"/>
              </a:rPr>
              <a:t>(</a:t>
            </a:r>
            <a:r>
              <a:rPr lang="ko-KR" altLang="en-US" sz="900" b="1">
                <a:latin typeface="+mn-ea"/>
              </a:rPr>
              <a:t>단위 </a:t>
            </a:r>
            <a:r>
              <a:rPr lang="en-US" altLang="ko-KR" sz="900" b="1">
                <a:latin typeface="+mn-ea"/>
              </a:rPr>
              <a:t>: </a:t>
            </a:r>
            <a:r>
              <a:rPr lang="ko-KR" altLang="en-US" sz="900" b="1">
                <a:latin typeface="+mn-ea"/>
              </a:rPr>
              <a:t>건</a:t>
            </a:r>
            <a:r>
              <a:rPr lang="en-US" altLang="ko-KR" sz="900" b="1">
                <a:latin typeface="+mn-ea"/>
              </a:rPr>
              <a:t>)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4CB68D-8E95-4B41-FA27-1BE48CD46B0D}"/>
              </a:ext>
            </a:extLst>
          </p:cNvPr>
          <p:cNvSpPr txBox="1"/>
          <p:nvPr/>
        </p:nvSpPr>
        <p:spPr>
          <a:xfrm>
            <a:off x="134459" y="1281665"/>
            <a:ext cx="3462335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ko-KR" altLang="en-US" sz="1100" b="1" dirty="0">
                <a:latin typeface="+mn-ea"/>
              </a:rPr>
              <a:t>사업계획서 </a:t>
            </a:r>
            <a:r>
              <a:rPr lang="en-US" altLang="ko-KR" sz="1100" b="1" dirty="0">
                <a:latin typeface="+mn-ea"/>
              </a:rPr>
              <a:t>p.195)</a:t>
            </a:r>
            <a:r>
              <a:rPr lang="ko-KR" altLang="en-US" sz="1100" b="1" dirty="0">
                <a:latin typeface="+mn-ea"/>
              </a:rPr>
              <a:t>윤리위원회 개최 건수</a:t>
            </a:r>
            <a:endParaRPr lang="en-US" altLang="ko-KR" sz="1100" b="1" dirty="0">
              <a:latin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4E3F49D-5D59-6A82-A385-FB566B751A53}"/>
              </a:ext>
            </a:extLst>
          </p:cNvPr>
          <p:cNvSpPr/>
          <p:nvPr/>
        </p:nvSpPr>
        <p:spPr>
          <a:xfrm>
            <a:off x="5843588" y="1219200"/>
            <a:ext cx="5976937" cy="505777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0D3B42-756A-FE7E-3D35-2C437A96F2C2}"/>
              </a:ext>
            </a:extLst>
          </p:cNvPr>
          <p:cNvSpPr txBox="1"/>
          <p:nvPr/>
        </p:nvSpPr>
        <p:spPr>
          <a:xfrm>
            <a:off x="5919788" y="1356028"/>
            <a:ext cx="5444999" cy="2646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임직원 일신상 정보 보호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</a:t>
            </a: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① 윤리위원회 논의 내용에 임직원 일신상의 정보가 있어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</a:t>
            </a:r>
            <a:r>
              <a:rPr lang="ko-KR" altLang="en-US" sz="1200" b="1" dirty="0">
                <a:latin typeface="+mn-ea"/>
              </a:rPr>
              <a:t> 외부자를 참여시키지는 못하지만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노무사 채용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</a:t>
            </a: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② </a:t>
            </a:r>
            <a:r>
              <a:rPr lang="ko-KR" altLang="en-US" sz="1200" b="1" dirty="0">
                <a:latin typeface="+mn-ea"/>
              </a:rPr>
              <a:t>인사팀에 노무사를 채용하여 검토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노무법인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법무법인 자문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</a:t>
            </a: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③ </a:t>
            </a:r>
            <a:r>
              <a:rPr lang="ko-KR" altLang="en-US" sz="1200" b="1" dirty="0">
                <a:latin typeface="+mn-ea"/>
              </a:rPr>
              <a:t>의결 전 반드시 노무법인</a:t>
            </a:r>
            <a:r>
              <a:rPr lang="en-US" altLang="ko-KR" sz="1200" b="1" dirty="0">
                <a:latin typeface="+mn-ea"/>
              </a:rPr>
              <a:t>·</a:t>
            </a:r>
            <a:r>
              <a:rPr lang="ko-KR" altLang="en-US" sz="1200" b="1" dirty="0">
                <a:latin typeface="+mn-ea"/>
              </a:rPr>
              <a:t>법무법인 등의 의견 수렴하고 있어 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</a:t>
            </a:r>
            <a:r>
              <a:rPr lang="ko-KR" altLang="en-US" sz="1200" b="1" dirty="0">
                <a:latin typeface="+mn-ea"/>
              </a:rPr>
              <a:t>사실상 외부의 의견을 참고하여 의사결정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196E2B-A4F5-17C8-B4A2-24E707E008FA}"/>
              </a:ext>
            </a:extLst>
          </p:cNvPr>
          <p:cNvSpPr txBox="1"/>
          <p:nvPr/>
        </p:nvSpPr>
        <p:spPr>
          <a:xfrm>
            <a:off x="134459" y="2558979"/>
            <a:ext cx="3462335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홈쇼핑</a:t>
            </a:r>
            <a:r>
              <a:rPr lang="en-US" altLang="ko-KR" sz="1100" b="1" dirty="0">
                <a:latin typeface="+mn-ea"/>
              </a:rPr>
              <a:t>BU </a:t>
            </a:r>
            <a:r>
              <a:rPr lang="ko-KR" altLang="en-US" sz="1100" b="1" dirty="0">
                <a:latin typeface="+mn-ea"/>
              </a:rPr>
              <a:t>징계 건</a:t>
            </a:r>
            <a:endParaRPr lang="en-US" altLang="ko-KR" sz="1100" b="1" dirty="0"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708AEAC-7E0F-4E0D-4701-62BEC632F6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049614"/>
              </p:ext>
            </p:extLst>
          </p:nvPr>
        </p:nvGraphicFramePr>
        <p:xfrm>
          <a:off x="240749" y="2913307"/>
          <a:ext cx="4716270" cy="2083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0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징계일자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징계사유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징계내용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116"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2023. 5. 11</a:t>
                      </a:r>
                      <a:endParaRPr lang="ko-KR" altLang="en-US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취업기간 중 허가 없이 근무지를 이탈한 때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marL="0" marR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불량한 직무수행을 한 때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취업규칙 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33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33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감급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116"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2025. 11. 5</a:t>
                      </a:r>
                      <a:endParaRPr lang="ko-KR" altLang="en-US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전화영어 무단 양도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취업규칙 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33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19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감급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726202"/>
                  </a:ext>
                </a:extLst>
              </a:tr>
              <a:tr h="287116"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2025. 11. 5</a:t>
                      </a:r>
                      <a:endParaRPr lang="ko-KR" altLang="en-US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허가 없이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1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개월에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3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이상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결근하거나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0" marR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지각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조퇴가 빈번한 때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취업규칙 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33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33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감급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745855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C7BC557-4E3E-0CC4-10E7-C008D7E247D7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83/109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96130606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AF0AAB-BDC8-CFD2-B3FF-5D37AB453551}"/>
              </a:ext>
            </a:extLst>
          </p:cNvPr>
          <p:cNvSpPr txBox="1"/>
          <p:nvPr/>
        </p:nvSpPr>
        <p:spPr>
          <a:xfrm>
            <a:off x="57150" y="322415"/>
            <a:ext cx="11428712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just" latinLnBrk="1">
              <a:lnSpc>
                <a:spcPct val="120000"/>
              </a:lnSpc>
              <a:spcAft>
                <a:spcPts val="0"/>
              </a:spcAf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</a:t>
            </a:r>
            <a:r>
              <a:rPr lang="ko-KR" altLang="en-US" b="1" dirty="0" err="1">
                <a:solidFill>
                  <a:schemeClr val="bg1"/>
                </a:solidFill>
                <a:latin typeface="+mn-ea"/>
              </a:rPr>
              <a:t>지에스리테일은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ESG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관련 어떠한 노력들을 하고 </a:t>
            </a:r>
            <a:r>
              <a:rPr lang="ko-KR" altLang="en-US" b="1" dirty="0" err="1">
                <a:solidFill>
                  <a:schemeClr val="bg1"/>
                </a:solidFill>
                <a:latin typeface="+mn-ea"/>
              </a:rPr>
              <a:t>계신가요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?</a:t>
            </a:r>
            <a:endParaRPr lang="en-US" altLang="ko-KR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7606387-1374-8536-158E-85B5C571BEE9}"/>
              </a:ext>
            </a:extLst>
          </p:cNvPr>
          <p:cNvSpPr/>
          <p:nvPr/>
        </p:nvSpPr>
        <p:spPr>
          <a:xfrm>
            <a:off x="5843588" y="981075"/>
            <a:ext cx="5995485" cy="539298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F3FB1E-434A-33FC-5B2E-DF24BD133E3A}"/>
              </a:ext>
            </a:extLst>
          </p:cNvPr>
          <p:cNvSpPr txBox="1"/>
          <p:nvPr/>
        </p:nvSpPr>
        <p:spPr>
          <a:xfrm>
            <a:off x="5914626" y="2190193"/>
            <a:ext cx="5975475" cy="1986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사업부별 주요 추진 과제</a:t>
            </a:r>
            <a:r>
              <a:rPr lang="en-US" altLang="ko-KR" sz="1200" b="1" dirty="0">
                <a:latin typeface="+mn-ea"/>
              </a:rPr>
              <a:t>)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①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홈쇼핑은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환경</a:t>
            </a:r>
            <a:r>
              <a:rPr lang="ko-KR" altLang="en-US" sz="1200" b="1" dirty="0">
                <a:latin typeface="+mn-ea"/>
              </a:rPr>
              <a:t>에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초점을 맞춰 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- </a:t>
            </a:r>
            <a:r>
              <a:rPr lang="ko-KR" altLang="en-US" sz="1200" b="1" dirty="0">
                <a:latin typeface="+mn-ea"/>
              </a:rPr>
              <a:t>방송상품에 </a:t>
            </a:r>
            <a:r>
              <a:rPr lang="ko-KR" altLang="en-US" sz="1200" b="1" u="sng" dirty="0">
                <a:latin typeface="+mn-ea"/>
              </a:rPr>
              <a:t>친환경 포장재 </a:t>
            </a:r>
            <a:r>
              <a:rPr lang="ko-KR" altLang="en-US" sz="1200" b="1" dirty="0">
                <a:latin typeface="+mn-ea"/>
              </a:rPr>
              <a:t>적용을 확대하고 있으며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(’25</a:t>
            </a:r>
            <a:r>
              <a:rPr lang="ko-KR" altLang="en-US" sz="1000" dirty="0">
                <a:latin typeface="+mn-ea"/>
              </a:rPr>
              <a:t>년 </a:t>
            </a:r>
            <a:r>
              <a:rPr lang="ko-KR" altLang="en-US" sz="1000" dirty="0" err="1">
                <a:latin typeface="+mn-ea"/>
              </a:rPr>
              <a:t>적용률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45.1% </a:t>
            </a:r>
            <a:r>
              <a:rPr lang="ko-KR" altLang="en-US" sz="1000" dirty="0">
                <a:latin typeface="+mn-ea"/>
              </a:rPr>
              <a:t>달성</a:t>
            </a:r>
            <a:r>
              <a:rPr lang="en-US" altLang="ko-KR" sz="1000" dirty="0">
                <a:latin typeface="+mn-ea"/>
              </a:rPr>
              <a:t>)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    </a:t>
            </a:r>
            <a:r>
              <a:rPr lang="en-US" altLang="ko-KR" sz="1200" b="1" dirty="0">
                <a:latin typeface="+mn-ea"/>
              </a:rPr>
              <a:t>- </a:t>
            </a:r>
            <a:r>
              <a:rPr lang="ko-KR" altLang="en-US" sz="1200" b="1" dirty="0">
                <a:latin typeface="+mn-ea"/>
              </a:rPr>
              <a:t>디지털 스튜디오를 구축하여 </a:t>
            </a:r>
            <a:r>
              <a:rPr lang="ko-KR" altLang="en-US" sz="1200" b="1" u="sng" dirty="0">
                <a:latin typeface="+mn-ea"/>
              </a:rPr>
              <a:t>세트폐기물을 절감</a:t>
            </a:r>
            <a:endParaRPr lang="en-US" altLang="ko-KR" sz="1200" b="1" u="sng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②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편의점은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사회적 책임</a:t>
            </a:r>
            <a:r>
              <a:rPr lang="ko-KR" altLang="en-US" sz="1200" b="1" dirty="0">
                <a:latin typeface="+mn-ea"/>
              </a:rPr>
              <a:t>을 위해 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- </a:t>
            </a:r>
            <a:r>
              <a:rPr lang="ko-KR" altLang="en-US" sz="1200" b="1" dirty="0">
                <a:latin typeface="+mn-ea"/>
              </a:rPr>
              <a:t>지역 소외계층을 </a:t>
            </a:r>
            <a:r>
              <a:rPr lang="ko-KR" altLang="en-US" sz="1200" b="1">
                <a:latin typeface="+mn-ea"/>
              </a:rPr>
              <a:t>위한 공익 목적의 </a:t>
            </a:r>
            <a:r>
              <a:rPr lang="ko-KR" altLang="en-US" sz="1200" b="1" u="sng">
                <a:latin typeface="+mn-ea"/>
              </a:rPr>
              <a:t>일자리 </a:t>
            </a:r>
            <a:r>
              <a:rPr lang="ko-KR" altLang="en-US" sz="1200" b="1" u="sng" dirty="0">
                <a:latin typeface="+mn-ea"/>
              </a:rPr>
              <a:t>점포를 </a:t>
            </a:r>
            <a:r>
              <a:rPr lang="ko-KR" altLang="en-US" sz="1200" b="1">
                <a:latin typeface="+mn-ea"/>
              </a:rPr>
              <a:t>전국적으로 확대 </a:t>
            </a:r>
            <a:r>
              <a:rPr lang="en-US" altLang="ko-KR" sz="1000" dirty="0">
                <a:latin typeface="+mn-ea"/>
              </a:rPr>
              <a:t>(238</a:t>
            </a:r>
            <a:r>
              <a:rPr lang="ko-KR" altLang="en-US" sz="1000" dirty="0">
                <a:latin typeface="+mn-ea"/>
              </a:rPr>
              <a:t>개 운영</a:t>
            </a:r>
            <a:r>
              <a:rPr lang="en-US" altLang="ko-KR" sz="1000" dirty="0">
                <a:latin typeface="+mn-ea"/>
              </a:rPr>
              <a:t>)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③</a:t>
            </a:r>
            <a:r>
              <a:rPr lang="en-US" altLang="ko-KR" sz="1200" b="1" dirty="0">
                <a:latin typeface="+mn-ea"/>
              </a:rPr>
              <a:t> (</a:t>
            </a:r>
            <a:r>
              <a:rPr lang="ko-KR" altLang="en-US" sz="1200" b="1" dirty="0">
                <a:latin typeface="+mn-ea"/>
              </a:rPr>
              <a:t>지배구조</a:t>
            </a:r>
            <a:r>
              <a:rPr lang="en-US" altLang="ko-KR" sz="1200" b="1" dirty="0">
                <a:latin typeface="+mn-ea"/>
              </a:rPr>
              <a:t>)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주주가치 제고</a:t>
            </a:r>
            <a:r>
              <a:rPr lang="ko-KR" altLang="en-US" sz="1200" b="1" dirty="0">
                <a:latin typeface="+mn-ea"/>
              </a:rPr>
              <a:t>를 위해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- 27</a:t>
            </a:r>
            <a:r>
              <a:rPr lang="ko-KR" altLang="en-US" sz="1200" b="1" dirty="0">
                <a:latin typeface="+mn-ea"/>
              </a:rPr>
              <a:t>년부터 </a:t>
            </a:r>
            <a:r>
              <a:rPr lang="ko-KR" altLang="en-US" sz="1200" b="1" u="sng" dirty="0">
                <a:latin typeface="+mn-ea"/>
              </a:rPr>
              <a:t>전자주주총회</a:t>
            </a:r>
            <a:r>
              <a:rPr lang="en-US" altLang="ko-KR" sz="1200" b="1" u="sng" dirty="0">
                <a:latin typeface="+mn-ea"/>
              </a:rPr>
              <a:t>,</a:t>
            </a:r>
            <a:r>
              <a:rPr lang="ko-KR" altLang="en-US" sz="1200" b="1" u="sng" dirty="0">
                <a:latin typeface="+mn-ea"/>
              </a:rPr>
              <a:t> 집중투표제 </a:t>
            </a:r>
            <a:r>
              <a:rPr lang="ko-KR" altLang="en-US" sz="1200" b="1" dirty="0">
                <a:latin typeface="+mn-ea"/>
              </a:rPr>
              <a:t>도입 등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B3B9DA-E431-5E16-A6AB-8BFFEE8DC578}"/>
              </a:ext>
            </a:extLst>
          </p:cNvPr>
          <p:cNvSpPr txBox="1"/>
          <p:nvPr/>
        </p:nvSpPr>
        <p:spPr>
          <a:xfrm>
            <a:off x="65067" y="19389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5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경영투명성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9F127F2-820E-D005-5324-447CDDB8B962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CFO</a:t>
            </a:r>
            <a:endParaRPr lang="ko-KR" altLang="en-US" sz="105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D59B85-E85A-C304-55F2-C67C5833AD75}"/>
              </a:ext>
            </a:extLst>
          </p:cNvPr>
          <p:cNvSpPr txBox="1"/>
          <p:nvPr/>
        </p:nvSpPr>
        <p:spPr>
          <a:xfrm>
            <a:off x="5914626" y="1099923"/>
            <a:ext cx="5924447" cy="786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①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이사회 내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ESG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위원회를 </a:t>
            </a:r>
            <a:r>
              <a:rPr lang="ko-KR" altLang="en-US" sz="1200" b="1">
                <a:solidFill>
                  <a:srgbClr val="0000FF"/>
                </a:solidFill>
                <a:latin typeface="+mn-ea"/>
              </a:rPr>
              <a:t>설치하여 의사결정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② 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현장중심</a:t>
            </a:r>
            <a:r>
              <a:rPr lang="en-US" altLang="ko-KR" sz="1200" b="1" dirty="0">
                <a:latin typeface="+mn-ea"/>
              </a:rPr>
              <a:t>) </a:t>
            </a:r>
            <a:r>
              <a:rPr lang="ko-KR" altLang="en-US" sz="1200" b="1" u="sng" dirty="0">
                <a:latin typeface="+mn-ea"/>
              </a:rPr>
              <a:t>사업부별 실행조직을 두어 </a:t>
            </a:r>
            <a:r>
              <a:rPr lang="ko-KR" altLang="en-US" sz="1200" b="1" u="sng" dirty="0">
                <a:solidFill>
                  <a:srgbClr val="0000FF"/>
                </a:solidFill>
                <a:latin typeface="+mn-ea"/>
              </a:rPr>
              <a:t>사업부별 특성에 맞게 </a:t>
            </a:r>
            <a:r>
              <a:rPr lang="ko-KR" altLang="en-US" sz="1200" b="1" u="sng" dirty="0">
                <a:latin typeface="+mn-ea"/>
              </a:rPr>
              <a:t>추진</a:t>
            </a:r>
            <a:br>
              <a:rPr lang="en-US" altLang="ko-KR" sz="1200" dirty="0">
                <a:latin typeface="+mn-ea"/>
              </a:rPr>
            </a:br>
            <a:r>
              <a:rPr lang="ko-KR" altLang="en-US" sz="1200" b="1" dirty="0">
                <a:latin typeface="+mn-ea"/>
              </a:rPr>
              <a:t>③</a:t>
            </a:r>
            <a:r>
              <a:rPr lang="en-US" altLang="ko-KR" sz="1200" b="1" dirty="0">
                <a:latin typeface="+mn-ea"/>
              </a:rPr>
              <a:t> (</a:t>
            </a:r>
            <a:r>
              <a:rPr lang="ko-KR" altLang="en-US" sz="1200" b="1" dirty="0">
                <a:latin typeface="+mn-ea"/>
              </a:rPr>
              <a:t>외부평가</a:t>
            </a:r>
            <a:r>
              <a:rPr lang="en-US" altLang="ko-KR" sz="1200" b="1" dirty="0">
                <a:latin typeface="+mn-ea"/>
              </a:rPr>
              <a:t>) 24</a:t>
            </a:r>
            <a:r>
              <a:rPr lang="ko-KR" altLang="en-US" sz="1200" b="1" dirty="0">
                <a:latin typeface="+mn-ea"/>
              </a:rPr>
              <a:t>년</a:t>
            </a:r>
            <a:r>
              <a:rPr lang="en-US" altLang="ko-KR" sz="1200" b="1" dirty="0">
                <a:latin typeface="+mn-ea"/>
              </a:rPr>
              <a:t>~25</a:t>
            </a:r>
            <a:r>
              <a:rPr lang="ko-KR" altLang="en-US" sz="1200" b="1" dirty="0">
                <a:latin typeface="+mn-ea"/>
              </a:rPr>
              <a:t>년 </a:t>
            </a:r>
            <a:r>
              <a:rPr lang="en-US" altLang="ko-KR" sz="1200" b="1" dirty="0">
                <a:latin typeface="+mn-ea"/>
              </a:rPr>
              <a:t>ESG</a:t>
            </a:r>
            <a:r>
              <a:rPr lang="ko-KR" altLang="en-US" sz="1200" b="1" dirty="0">
                <a:latin typeface="+mn-ea"/>
              </a:rPr>
              <a:t>평가 </a:t>
            </a:r>
            <a:r>
              <a:rPr lang="en-US" altLang="ko-KR" sz="1200" b="1" dirty="0">
                <a:latin typeface="+mn-ea"/>
              </a:rPr>
              <a:t>2</a:t>
            </a:r>
            <a:r>
              <a:rPr lang="ko-KR" altLang="en-US" sz="1200" b="1" dirty="0">
                <a:latin typeface="+mn-ea"/>
              </a:rPr>
              <a:t>년 연속 </a:t>
            </a:r>
            <a:r>
              <a:rPr lang="en-US" altLang="ko-KR" sz="1200" b="1" dirty="0">
                <a:latin typeface="+mn-ea"/>
              </a:rPr>
              <a:t>A+</a:t>
            </a:r>
            <a:r>
              <a:rPr lang="ko-KR" altLang="en-US" sz="1200" b="1" dirty="0">
                <a:latin typeface="+mn-ea"/>
              </a:rPr>
              <a:t>획득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한국</a:t>
            </a:r>
            <a:r>
              <a:rPr lang="en-US" altLang="ko-KR" sz="1200" dirty="0">
                <a:latin typeface="+mn-ea"/>
              </a:rPr>
              <a:t>ESG</a:t>
            </a:r>
            <a:r>
              <a:rPr lang="ko-KR" altLang="en-US" sz="1200" dirty="0">
                <a:latin typeface="+mn-ea"/>
              </a:rPr>
              <a:t>기준원</a:t>
            </a:r>
            <a:r>
              <a:rPr lang="en-US" altLang="ko-KR" sz="1200" dirty="0">
                <a:latin typeface="+mn-ea"/>
              </a:rPr>
              <a:t>)</a:t>
            </a:r>
          </a:p>
        </p:txBody>
      </p:sp>
      <p:pic>
        <p:nvPicPr>
          <p:cNvPr id="103" name="그림 102">
            <a:extLst>
              <a:ext uri="{FF2B5EF4-FFF2-40B4-BE49-F238E27FC236}">
                <a16:creationId xmlns:a16="http://schemas.microsoft.com/office/drawing/2014/main" id="{587C0AC9-2ACC-839C-16B9-29CFDF310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024" y="4307086"/>
            <a:ext cx="2520971" cy="2538704"/>
          </a:xfrm>
          <a:prstGeom prst="rect">
            <a:avLst/>
          </a:prstGeom>
        </p:spPr>
      </p:pic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6957D8-EC8F-ABDE-1F41-58473ABFE2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94"/>
          <a:stretch>
            <a:fillRect/>
          </a:stretch>
        </p:blipFill>
        <p:spPr>
          <a:xfrm>
            <a:off x="707871" y="1173006"/>
            <a:ext cx="4034666" cy="2813684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3AFF4EB-B13D-41D5-CB34-4B8162353C44}"/>
              </a:ext>
            </a:extLst>
          </p:cNvPr>
          <p:cNvCxnSpPr>
            <a:cxnSpLocks/>
          </p:cNvCxnSpPr>
          <p:nvPr/>
        </p:nvCxnSpPr>
        <p:spPr>
          <a:xfrm>
            <a:off x="2362200" y="2315288"/>
            <a:ext cx="14743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D8A8F79-1313-32B3-6536-8E3C544AB705}"/>
              </a:ext>
            </a:extLst>
          </p:cNvPr>
          <p:cNvSpPr txBox="1"/>
          <p:nvPr/>
        </p:nvSpPr>
        <p:spPr>
          <a:xfrm>
            <a:off x="133852" y="4072416"/>
            <a:ext cx="421852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dirty="0"/>
              <a:t>■ 지속가능경영보고서 내 발췌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D0EF06-3E08-8390-CE5C-5A61A5778D70}"/>
              </a:ext>
            </a:extLst>
          </p:cNvPr>
          <p:cNvSpPr txBox="1"/>
          <p:nvPr/>
        </p:nvSpPr>
        <p:spPr>
          <a:xfrm>
            <a:off x="5843588" y="4203221"/>
            <a:ext cx="61236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>
                <a:latin typeface="+mn-ea"/>
              </a:rPr>
              <a:t>※ </a:t>
            </a:r>
            <a:r>
              <a:rPr lang="ko-KR" altLang="en-US" sz="1000">
                <a:latin typeface="+mn-ea"/>
              </a:rPr>
              <a:t>전자주주총회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주주가 </a:t>
            </a:r>
            <a:r>
              <a:rPr lang="ko-KR" altLang="en-US" sz="1000" dirty="0">
                <a:latin typeface="+mn-ea"/>
              </a:rPr>
              <a:t>원격으로 주주총회 의사진행 및 결의에 참여</a:t>
            </a:r>
            <a:r>
              <a:rPr lang="en-US" altLang="ko-KR" sz="1000" dirty="0">
                <a:latin typeface="+mn-ea"/>
              </a:rPr>
              <a:t>(27</a:t>
            </a:r>
            <a:r>
              <a:rPr lang="ko-KR" altLang="en-US" sz="1000" dirty="0">
                <a:latin typeface="+mn-ea"/>
              </a:rPr>
              <a:t>년 </a:t>
            </a:r>
            <a:r>
              <a:rPr lang="en-US" altLang="ko-KR" sz="1000" dirty="0">
                <a:latin typeface="+mn-ea"/>
              </a:rPr>
              <a:t>1</a:t>
            </a:r>
            <a:r>
              <a:rPr lang="ko-KR" altLang="en-US" sz="1000" dirty="0">
                <a:latin typeface="+mn-ea"/>
              </a:rPr>
              <a:t>월 </a:t>
            </a:r>
            <a:r>
              <a:rPr lang="en-US" altLang="ko-KR" sz="1000" dirty="0">
                <a:latin typeface="+mn-ea"/>
              </a:rPr>
              <a:t>1</a:t>
            </a:r>
            <a:r>
              <a:rPr lang="ko-KR" altLang="en-US" sz="1000" dirty="0">
                <a:latin typeface="+mn-ea"/>
              </a:rPr>
              <a:t>일 이후 시행 예정</a:t>
            </a:r>
            <a:r>
              <a:rPr lang="en-US" altLang="ko-KR" sz="1000" dirty="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  <a:p>
            <a:r>
              <a:rPr lang="en-US" altLang="ko-KR" sz="1000">
                <a:latin typeface="+mn-ea"/>
              </a:rPr>
              <a:t>※ </a:t>
            </a:r>
            <a:r>
              <a:rPr lang="ko-KR" altLang="en-US" sz="1000">
                <a:latin typeface="+mn-ea"/>
              </a:rPr>
              <a:t>집중투표제 </a:t>
            </a:r>
            <a:r>
              <a:rPr lang="en-US" altLang="ko-KR" sz="1000" dirty="0">
                <a:latin typeface="+mn-ea"/>
              </a:rPr>
              <a:t>: 2</a:t>
            </a:r>
            <a:r>
              <a:rPr lang="ko-KR" altLang="en-US" sz="1000" dirty="0">
                <a:latin typeface="+mn-ea"/>
              </a:rPr>
              <a:t>명 이상 이사 선임 결의 </a:t>
            </a:r>
            <a:r>
              <a:rPr lang="ko-KR" altLang="en-US" sz="1000">
                <a:latin typeface="+mn-ea"/>
              </a:rPr>
              <a:t>시 의결권을 </a:t>
            </a:r>
            <a:r>
              <a:rPr lang="ko-KR" altLang="en-US" sz="1000" dirty="0">
                <a:latin typeface="+mn-ea"/>
              </a:rPr>
              <a:t>특정 후보 집중 행사 가능                        </a:t>
            </a:r>
            <a:endParaRPr lang="en-US" altLang="ko-KR" sz="1000" dirty="0">
              <a:latin typeface="+mn-ea"/>
            </a:endParaRPr>
          </a:p>
          <a:p>
            <a:r>
              <a:rPr lang="en-US" altLang="ko-KR" sz="1000" dirty="0">
                <a:latin typeface="+mn-ea"/>
              </a:rPr>
              <a:t>                    (2026</a:t>
            </a:r>
            <a:r>
              <a:rPr lang="ko-KR" altLang="en-US" sz="1000" dirty="0">
                <a:latin typeface="+mn-ea"/>
              </a:rPr>
              <a:t>년 </a:t>
            </a:r>
            <a:r>
              <a:rPr lang="en-US" altLang="ko-KR" sz="1000" dirty="0">
                <a:latin typeface="+mn-ea"/>
              </a:rPr>
              <a:t>9</a:t>
            </a:r>
            <a:r>
              <a:rPr lang="ko-KR" altLang="en-US" sz="1000" dirty="0">
                <a:latin typeface="+mn-ea"/>
              </a:rPr>
              <a:t>월 이후 개최되는 주주총회부터 도입 예정</a:t>
            </a:r>
            <a:r>
              <a:rPr lang="en-US" altLang="ko-KR" sz="1000" dirty="0">
                <a:latin typeface="+mn-ea"/>
              </a:rPr>
              <a:t>)</a:t>
            </a:r>
            <a:endParaRPr lang="en-US" altLang="ko-KR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72DF8D-3888-748C-0AA6-79816B8F5775}"/>
              </a:ext>
            </a:extLst>
          </p:cNvPr>
          <p:cNvSpPr txBox="1"/>
          <p:nvPr/>
        </p:nvSpPr>
        <p:spPr>
          <a:xfrm>
            <a:off x="133852" y="911396"/>
            <a:ext cx="421852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dirty="0"/>
              <a:t>■ 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ko-KR" altLang="en-US" sz="1100" b="1" dirty="0">
                <a:latin typeface="+mn-ea"/>
              </a:rPr>
              <a:t>사업계획서 </a:t>
            </a:r>
            <a:r>
              <a:rPr lang="en-US" altLang="ko-KR" sz="1100" b="1" dirty="0">
                <a:latin typeface="+mn-ea"/>
              </a:rPr>
              <a:t>p.198) </a:t>
            </a:r>
            <a:r>
              <a:rPr lang="ko-KR" altLang="en-US" sz="1100" b="1" dirty="0">
                <a:latin typeface="+mn-ea"/>
              </a:rPr>
              <a:t>체계적인 </a:t>
            </a:r>
            <a:r>
              <a:rPr lang="en-US" altLang="ko-KR" sz="1100" b="1" dirty="0">
                <a:latin typeface="+mn-ea"/>
              </a:rPr>
              <a:t>ESG</a:t>
            </a:r>
            <a:r>
              <a:rPr lang="ko-KR" altLang="en-US" sz="1100" b="1" dirty="0">
                <a:latin typeface="+mn-ea"/>
              </a:rPr>
              <a:t>경영</a:t>
            </a:r>
            <a:r>
              <a:rPr lang="en-US" altLang="ko-KR" sz="1100" b="1" dirty="0">
                <a:latin typeface="+mn-ea"/>
              </a:rPr>
              <a:t> </a:t>
            </a:r>
            <a:r>
              <a:rPr lang="ko-KR" altLang="en-US" sz="1100" b="1" dirty="0">
                <a:latin typeface="+mn-ea"/>
              </a:rPr>
              <a:t>추진</a:t>
            </a:r>
            <a:endParaRPr lang="ko-KR" altLang="en-US" sz="11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A2527C-8673-9B65-530B-5495A7871196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84/109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51418456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0BA18D0-CD8B-087E-8FC7-3156D122A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376" y="972719"/>
            <a:ext cx="3968133" cy="575473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C54E97-25EF-3860-484D-7417138C4E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81"/>
          <a:stretch>
            <a:fillRect/>
          </a:stretch>
        </p:blipFill>
        <p:spPr>
          <a:xfrm>
            <a:off x="6315856" y="1007555"/>
            <a:ext cx="3967633" cy="57547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32FE74-B51D-32F1-91CC-D0A2C283A668}"/>
              </a:ext>
            </a:extLst>
          </p:cNvPr>
          <p:cNvSpPr txBox="1"/>
          <p:nvPr/>
        </p:nvSpPr>
        <p:spPr>
          <a:xfrm>
            <a:off x="1318385" y="684499"/>
            <a:ext cx="3919233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(p.200)</a:t>
            </a:r>
            <a:r>
              <a:rPr lang="ko-KR" altLang="en-US" sz="1100" b="1" dirty="0">
                <a:latin typeface="+mn-ea"/>
              </a:rPr>
              <a:t>현장 주도형 </a:t>
            </a:r>
            <a:r>
              <a:rPr lang="en-US" altLang="ko-KR" sz="1100" b="1" dirty="0">
                <a:latin typeface="+mn-ea"/>
              </a:rPr>
              <a:t>ESG </a:t>
            </a:r>
            <a:r>
              <a:rPr lang="ko-KR" altLang="en-US" sz="1100" b="1" dirty="0">
                <a:latin typeface="+mn-ea"/>
              </a:rPr>
              <a:t>활동 추진</a:t>
            </a:r>
            <a:endParaRPr lang="en-US" altLang="ko-KR" sz="11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C1A83B-A071-49B7-87F1-B4C3CDCDCB2F}"/>
              </a:ext>
            </a:extLst>
          </p:cNvPr>
          <p:cNvSpPr txBox="1"/>
          <p:nvPr/>
        </p:nvSpPr>
        <p:spPr>
          <a:xfrm>
            <a:off x="6240463" y="684499"/>
            <a:ext cx="4950583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(p.201)</a:t>
            </a:r>
            <a:r>
              <a:rPr lang="ko-KR" altLang="en-US" sz="1100" b="1" dirty="0">
                <a:latin typeface="+mn-ea"/>
              </a:rPr>
              <a:t>사회적 책임 이행 수준에 대한 외부 평가 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발표연도 기준</a:t>
            </a:r>
            <a:r>
              <a:rPr lang="en-US" altLang="ko-KR" sz="1000" dirty="0">
                <a:latin typeface="+mn-ea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3666BF-38D6-F40E-1614-FFC583DD117B}"/>
              </a:ext>
            </a:extLst>
          </p:cNvPr>
          <p:cNvSpPr txBox="1"/>
          <p:nvPr/>
        </p:nvSpPr>
        <p:spPr>
          <a:xfrm>
            <a:off x="66675" y="91447"/>
            <a:ext cx="8819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 ESG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활동 관련</a:t>
            </a:r>
            <a:endParaRPr lang="en-US" altLang="ko-KR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59E2AFF-5A0C-C0E5-C267-9A9E429E389D}"/>
              </a:ext>
            </a:extLst>
          </p:cNvPr>
          <p:cNvCxnSpPr/>
          <p:nvPr/>
        </p:nvCxnSpPr>
        <p:spPr>
          <a:xfrm>
            <a:off x="2812869" y="1654629"/>
            <a:ext cx="113211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CD52C4C-0FCC-7E80-090B-5D949C8B4516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85/109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76433213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2EB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4000" b="1" dirty="0">
                <a:solidFill>
                  <a:schemeClr val="tx1"/>
                </a:solidFill>
                <a:latin typeface="+mn-ea"/>
              </a:rPr>
              <a:t>6</a:t>
            </a:r>
            <a:r>
              <a:rPr lang="ko-KR" altLang="en-US" sz="4000" b="1" dirty="0">
                <a:solidFill>
                  <a:schemeClr val="tx1"/>
                </a:solidFill>
                <a:latin typeface="+mn-ea"/>
              </a:rPr>
              <a:t>장</a:t>
            </a:r>
            <a:r>
              <a:rPr lang="en-US" altLang="ko-KR" sz="4000" b="1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4000" b="1" dirty="0">
                <a:solidFill>
                  <a:schemeClr val="tx1"/>
                </a:solidFill>
                <a:latin typeface="+mn-ea"/>
              </a:rPr>
              <a:t>재정 및 기술적 능력</a:t>
            </a:r>
            <a:endParaRPr lang="en-US" altLang="ko-KR" sz="40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5831825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FDC14-F1EF-5E6F-A7E6-D275BD832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extLst>
              <a:ext uri="{FF2B5EF4-FFF2-40B4-BE49-F238E27FC236}">
                <a16:creationId xmlns:a16="http://schemas.microsoft.com/office/drawing/2014/main" id="{6E861D7E-6075-C3D8-DB28-8C1B430D0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59" y="76823"/>
            <a:ext cx="5688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 b="1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ko-KR" sz="1800" dirty="0"/>
              <a:t>[</a:t>
            </a:r>
            <a:r>
              <a:rPr lang="ko-KR" altLang="en-US" sz="1800" dirty="0"/>
              <a:t>참고</a:t>
            </a:r>
            <a:r>
              <a:rPr lang="en-US" altLang="ko-KR" sz="1800" dirty="0"/>
              <a:t>] </a:t>
            </a:r>
            <a:r>
              <a:rPr lang="ko-KR" altLang="en-US" sz="1800" dirty="0"/>
              <a:t>재무계획</a:t>
            </a:r>
            <a:r>
              <a:rPr lang="ko-KR" altLang="en-US" dirty="0"/>
              <a:t> </a:t>
            </a:r>
            <a:r>
              <a:rPr kumimoji="0" lang="en-US" altLang="ko-KR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홈쇼핑</a:t>
            </a:r>
            <a:r>
              <a:rPr kumimoji="0" lang="en-US" altLang="ko-KR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BU)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451ED2-0277-6594-9D3E-AAFF9EC11565}"/>
              </a:ext>
            </a:extLst>
          </p:cNvPr>
          <p:cNvSpPr txBox="1"/>
          <p:nvPr/>
        </p:nvSpPr>
        <p:spPr>
          <a:xfrm>
            <a:off x="638316" y="1350063"/>
            <a:ext cx="5380410" cy="82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en-US" altLang="ko-KR" sz="1100" b="1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▶ </a:t>
            </a:r>
            <a:r>
              <a:rPr lang="en-US" altLang="ko-KR" sz="1100" b="1" spc="-50" dirty="0">
                <a:latin typeface="+mn-ea"/>
              </a:rPr>
              <a:t>21~25</a:t>
            </a:r>
            <a:r>
              <a:rPr lang="ko-KR" altLang="en-US" sz="1100" b="1" spc="-50" dirty="0">
                <a:latin typeface="+mn-ea"/>
              </a:rPr>
              <a:t>년 하향 추세 반영 </a:t>
            </a:r>
            <a:endParaRPr lang="en-US" altLang="ko-KR" sz="1100" b="1" spc="-50" dirty="0">
              <a:latin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sz="1100" b="1" spc="-50" dirty="0">
                <a:latin typeface="+mn-ea"/>
              </a:rPr>
              <a:t>▶</a:t>
            </a:r>
            <a:r>
              <a:rPr lang="ko-KR" altLang="en-US" sz="1100" b="1" spc="-50" dirty="0">
                <a:latin typeface="+mn-ea"/>
              </a:rPr>
              <a:t> 사업이 어려워 중소기업 지표 규제 완화 요청 근거</a:t>
            </a:r>
            <a:endParaRPr lang="en-US" altLang="ko-KR" sz="1100" b="1" spc="-50" dirty="0">
              <a:latin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sz="1100" b="1" spc="-50" dirty="0">
                <a:latin typeface="+mn-ea"/>
              </a:rPr>
              <a:t>▶ </a:t>
            </a:r>
            <a:r>
              <a:rPr lang="ko-KR" altLang="en-US" sz="1100" b="1" spc="-50" dirty="0">
                <a:latin typeface="+mn-ea"/>
              </a:rPr>
              <a:t>제작비</a:t>
            </a:r>
            <a:r>
              <a:rPr lang="en-US" altLang="ko-KR" sz="1100" b="1" spc="-50" dirty="0">
                <a:latin typeface="+mn-ea"/>
              </a:rPr>
              <a:t>, </a:t>
            </a:r>
            <a:r>
              <a:rPr lang="ko-KR" altLang="en-US" sz="1100" b="1" spc="-50" dirty="0">
                <a:latin typeface="+mn-ea"/>
              </a:rPr>
              <a:t>교육훈련비</a:t>
            </a:r>
            <a:r>
              <a:rPr lang="en-US" altLang="ko-KR" sz="1100" b="1" spc="-50" dirty="0">
                <a:latin typeface="+mn-ea"/>
              </a:rPr>
              <a:t> </a:t>
            </a:r>
            <a:r>
              <a:rPr lang="ko-KR" altLang="en-US" sz="1100" b="1" spc="-50" dirty="0">
                <a:latin typeface="+mn-ea"/>
              </a:rPr>
              <a:t>등 비용 투자 축소 근거</a:t>
            </a:r>
            <a:endParaRPr lang="en-US" altLang="ko-KR" sz="1100" b="1" spc="-50" dirty="0"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B97347-149D-C0DE-356B-C09B285252ED}"/>
              </a:ext>
            </a:extLst>
          </p:cNvPr>
          <p:cNvSpPr txBox="1"/>
          <p:nvPr/>
        </p:nvSpPr>
        <p:spPr>
          <a:xfrm>
            <a:off x="342998" y="687371"/>
            <a:ext cx="11585477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■ 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향후 </a:t>
            </a:r>
            <a:r>
              <a:rPr lang="en-US" altLang="ko-KR" sz="1200" b="1" dirty="0">
                <a:latin typeface="+mn-ea"/>
              </a:rPr>
              <a:t>7</a:t>
            </a:r>
            <a:r>
              <a:rPr lang="ko-KR" altLang="en-US" sz="1200" b="1" dirty="0">
                <a:latin typeface="+mn-ea"/>
              </a:rPr>
              <a:t>개년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 </a:t>
            </a:r>
            <a:r>
              <a:rPr lang="ko-KR" altLang="en-US" sz="1200" b="1" dirty="0" err="1">
                <a:latin typeface="+mn-ea"/>
              </a:rPr>
              <a:t>취급액</a:t>
            </a:r>
            <a:r>
              <a:rPr lang="ko-KR" altLang="en-US" sz="1200" b="1" dirty="0">
                <a:latin typeface="+mn-ea"/>
              </a:rPr>
              <a:t> 완만한 감소</a:t>
            </a:r>
            <a:r>
              <a:rPr lang="en-US" altLang="ko-KR" sz="1200" b="1" dirty="0">
                <a:latin typeface="+mn-ea"/>
              </a:rPr>
              <a:t>, </a:t>
            </a:r>
          </a:p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                </a:t>
            </a:r>
            <a:r>
              <a:rPr lang="ko-KR" altLang="en-US" sz="1200" b="1" dirty="0">
                <a:latin typeface="+mn-ea"/>
              </a:rPr>
              <a:t>영업이익 </a:t>
            </a:r>
            <a:r>
              <a:rPr lang="en-US" altLang="ko-KR" sz="1200" b="1" dirty="0">
                <a:latin typeface="+mn-ea"/>
              </a:rPr>
              <a:t>27~2</a:t>
            </a:r>
            <a:r>
              <a:rPr lang="en-US" altLang="ko-KR" sz="1200" b="1" dirty="0">
                <a:solidFill>
                  <a:prstClr val="black"/>
                </a:solidFill>
                <a:latin typeface="+mn-ea"/>
              </a:rPr>
              <a:t>9</a:t>
            </a:r>
            <a:r>
              <a:rPr lang="ko-KR" altLang="en-US" sz="1200" b="1" dirty="0">
                <a:solidFill>
                  <a:prstClr val="black"/>
                </a:solidFill>
                <a:latin typeface="+mn-ea"/>
              </a:rPr>
              <a:t>년 하락</a:t>
            </a:r>
            <a:r>
              <a:rPr lang="en-US" altLang="ko-KR" sz="1200" b="1" dirty="0">
                <a:solidFill>
                  <a:prstClr val="black"/>
                </a:solidFill>
                <a:latin typeface="+mn-ea"/>
              </a:rPr>
              <a:t>, 30~32</a:t>
            </a:r>
            <a:r>
              <a:rPr lang="ko-KR" altLang="en-US" sz="1200" b="1" dirty="0">
                <a:solidFill>
                  <a:prstClr val="black"/>
                </a:solidFill>
                <a:latin typeface="+mn-ea"/>
              </a:rPr>
              <a:t>년 완만한 하락 추세로 작성</a:t>
            </a:r>
            <a:endParaRPr lang="en-US" altLang="ko-KR" sz="12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398B45-44BB-00DC-D695-838B8735AE43}"/>
              </a:ext>
            </a:extLst>
          </p:cNvPr>
          <p:cNvSpPr txBox="1"/>
          <p:nvPr/>
        </p:nvSpPr>
        <p:spPr>
          <a:xfrm>
            <a:off x="1244603" y="5382672"/>
            <a:ext cx="8289379" cy="30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en-US" altLang="ko-KR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※ 26</a:t>
            </a:r>
            <a:r>
              <a:rPr kumimoji="0" lang="ko-KR" altLang="en-US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년은 </a:t>
            </a:r>
            <a:r>
              <a:rPr kumimoji="0" lang="en-US" altLang="ko-KR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25</a:t>
            </a:r>
            <a:r>
              <a:rPr kumimoji="0" lang="ko-KR" altLang="en-US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년 말 수립된 사업계획 반영</a:t>
            </a:r>
            <a:r>
              <a:rPr kumimoji="0" lang="en-US" altLang="ko-KR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, 27~32</a:t>
            </a:r>
            <a:r>
              <a:rPr kumimoji="0" lang="ko-KR" altLang="en-US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년 보수적으로 추정 </a:t>
            </a:r>
            <a:r>
              <a:rPr kumimoji="0" lang="en-US" altLang="ko-KR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(25</a:t>
            </a:r>
            <a:r>
              <a:rPr kumimoji="0" lang="ko-KR" altLang="en-US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년 </a:t>
            </a:r>
            <a:r>
              <a:rPr kumimoji="0" lang="en-US" altLang="ko-KR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8</a:t>
            </a:r>
            <a:r>
              <a:rPr kumimoji="0" lang="ko-KR" altLang="en-US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월 전략 </a:t>
            </a:r>
            <a:r>
              <a:rPr kumimoji="0" lang="en-US" altLang="ko-KR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CM 28</a:t>
            </a:r>
            <a:r>
              <a:rPr kumimoji="0" lang="ko-KR" altLang="en-US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년 </a:t>
            </a:r>
            <a:r>
              <a:rPr kumimoji="0" lang="ko-KR" altLang="en-US" sz="1050" i="0" u="none" strike="noStrike" kern="1200" cap="none" spc="-50" normalizeH="0" baseline="0" noProof="0" dirty="0" err="1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취급액</a:t>
            </a:r>
            <a:r>
              <a:rPr kumimoji="0" lang="ko-KR" altLang="en-US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 </a:t>
            </a:r>
            <a:r>
              <a:rPr kumimoji="0" lang="en-US" altLang="ko-KR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37,900</a:t>
            </a:r>
            <a:r>
              <a:rPr kumimoji="0" lang="ko-KR" altLang="en-US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억원 영업이익 </a:t>
            </a:r>
            <a:r>
              <a:rPr kumimoji="0" lang="en-US" altLang="ko-KR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1,046</a:t>
            </a:r>
            <a:r>
              <a:rPr kumimoji="0" lang="ko-KR" altLang="en-US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억원</a:t>
            </a:r>
            <a:r>
              <a:rPr kumimoji="0" lang="en-US" altLang="ko-KR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)</a:t>
            </a:r>
            <a:r>
              <a:rPr kumimoji="0" lang="ko-KR" altLang="en-US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 </a:t>
            </a:r>
            <a:endParaRPr lang="en-US" altLang="ko-KR" sz="1050" spc="-5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9E558E-262B-7A12-8AE0-4380790A9404}"/>
              </a:ext>
            </a:extLst>
          </p:cNvPr>
          <p:cNvSpPr/>
          <p:nvPr/>
        </p:nvSpPr>
        <p:spPr>
          <a:xfrm>
            <a:off x="11191807" y="140877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>
                <a:solidFill>
                  <a:schemeClr val="tx2">
                    <a:lumMod val="75000"/>
                  </a:schemeClr>
                </a:solidFill>
                <a:latin typeface="+mn-ea"/>
              </a:rPr>
              <a:t>CFO</a:t>
            </a:r>
            <a:endParaRPr lang="ko-KR" altLang="en-US" sz="105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AC456D9-EA04-A953-B590-0F53ED7E5FB8}"/>
              </a:ext>
            </a:extLst>
          </p:cNvPr>
          <p:cNvGraphicFramePr>
            <a:graphicFrameLocks noGrp="1"/>
          </p:cNvGraphicFramePr>
          <p:nvPr/>
        </p:nvGraphicFramePr>
        <p:xfrm>
          <a:off x="1244603" y="2295525"/>
          <a:ext cx="9652067" cy="3046659"/>
        </p:xfrm>
        <a:graphic>
          <a:graphicData uri="http://schemas.openxmlformats.org/drawingml/2006/table">
            <a:tbl>
              <a:tblPr/>
              <a:tblGrid>
                <a:gridCol w="188913">
                  <a:extLst>
                    <a:ext uri="{9D8B030D-6E8A-4147-A177-3AD203B41FA5}">
                      <a16:colId xmlns:a16="http://schemas.microsoft.com/office/drawing/2014/main" val="1377656921"/>
                    </a:ext>
                  </a:extLst>
                </a:gridCol>
                <a:gridCol w="1417226">
                  <a:extLst>
                    <a:ext uri="{9D8B030D-6E8A-4147-A177-3AD203B41FA5}">
                      <a16:colId xmlns:a16="http://schemas.microsoft.com/office/drawing/2014/main" val="3706050037"/>
                    </a:ext>
                  </a:extLst>
                </a:gridCol>
                <a:gridCol w="670494">
                  <a:extLst>
                    <a:ext uri="{9D8B030D-6E8A-4147-A177-3AD203B41FA5}">
                      <a16:colId xmlns:a16="http://schemas.microsoft.com/office/drawing/2014/main" val="1533029563"/>
                    </a:ext>
                  </a:extLst>
                </a:gridCol>
                <a:gridCol w="670494">
                  <a:extLst>
                    <a:ext uri="{9D8B030D-6E8A-4147-A177-3AD203B41FA5}">
                      <a16:colId xmlns:a16="http://schemas.microsoft.com/office/drawing/2014/main" val="1454460792"/>
                    </a:ext>
                  </a:extLst>
                </a:gridCol>
                <a:gridCol w="670494">
                  <a:extLst>
                    <a:ext uri="{9D8B030D-6E8A-4147-A177-3AD203B41FA5}">
                      <a16:colId xmlns:a16="http://schemas.microsoft.com/office/drawing/2014/main" val="185406045"/>
                    </a:ext>
                  </a:extLst>
                </a:gridCol>
                <a:gridCol w="670494">
                  <a:extLst>
                    <a:ext uri="{9D8B030D-6E8A-4147-A177-3AD203B41FA5}">
                      <a16:colId xmlns:a16="http://schemas.microsoft.com/office/drawing/2014/main" val="1563960652"/>
                    </a:ext>
                  </a:extLst>
                </a:gridCol>
                <a:gridCol w="670494">
                  <a:extLst>
                    <a:ext uri="{9D8B030D-6E8A-4147-A177-3AD203B41FA5}">
                      <a16:colId xmlns:a16="http://schemas.microsoft.com/office/drawing/2014/main" val="4040867059"/>
                    </a:ext>
                  </a:extLst>
                </a:gridCol>
                <a:gridCol w="670494">
                  <a:extLst>
                    <a:ext uri="{9D8B030D-6E8A-4147-A177-3AD203B41FA5}">
                      <a16:colId xmlns:a16="http://schemas.microsoft.com/office/drawing/2014/main" val="4209783705"/>
                    </a:ext>
                  </a:extLst>
                </a:gridCol>
                <a:gridCol w="670494">
                  <a:extLst>
                    <a:ext uri="{9D8B030D-6E8A-4147-A177-3AD203B41FA5}">
                      <a16:colId xmlns:a16="http://schemas.microsoft.com/office/drawing/2014/main" val="1930049277"/>
                    </a:ext>
                  </a:extLst>
                </a:gridCol>
                <a:gridCol w="670494">
                  <a:extLst>
                    <a:ext uri="{9D8B030D-6E8A-4147-A177-3AD203B41FA5}">
                      <a16:colId xmlns:a16="http://schemas.microsoft.com/office/drawing/2014/main" val="12556517"/>
                    </a:ext>
                  </a:extLst>
                </a:gridCol>
                <a:gridCol w="670494">
                  <a:extLst>
                    <a:ext uri="{9D8B030D-6E8A-4147-A177-3AD203B41FA5}">
                      <a16:colId xmlns:a16="http://schemas.microsoft.com/office/drawing/2014/main" val="3521039371"/>
                    </a:ext>
                  </a:extLst>
                </a:gridCol>
                <a:gridCol w="670494">
                  <a:extLst>
                    <a:ext uri="{9D8B030D-6E8A-4147-A177-3AD203B41FA5}">
                      <a16:colId xmlns:a16="http://schemas.microsoft.com/office/drawing/2014/main" val="3825183914"/>
                    </a:ext>
                  </a:extLst>
                </a:gridCol>
                <a:gridCol w="670494">
                  <a:extLst>
                    <a:ext uri="{9D8B030D-6E8A-4147-A177-3AD203B41FA5}">
                      <a16:colId xmlns:a16="http://schemas.microsoft.com/office/drawing/2014/main" val="3231059095"/>
                    </a:ext>
                  </a:extLst>
                </a:gridCol>
                <a:gridCol w="670494">
                  <a:extLst>
                    <a:ext uri="{9D8B030D-6E8A-4147-A177-3AD203B41FA5}">
                      <a16:colId xmlns:a16="http://schemas.microsoft.com/office/drawing/2014/main" val="3952155546"/>
                    </a:ext>
                  </a:extLst>
                </a:gridCol>
              </a:tblGrid>
              <a:tr h="216766">
                <a:tc gridSpan="14"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억원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992985"/>
                  </a:ext>
                </a:extLst>
              </a:tr>
              <a:tr h="257263">
                <a:tc rowSpan="2"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홈쇼핑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BU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계획</a:t>
                      </a:r>
                    </a:p>
                  </a:txBody>
                  <a:tcPr marL="0" marR="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521534"/>
                  </a:ext>
                </a:extLst>
              </a:tr>
              <a:tr h="257263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</a:t>
                      </a:r>
                    </a:p>
                  </a:txBody>
                  <a:tcPr marL="0" marR="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</a:t>
                      </a:r>
                    </a:p>
                  </a:txBody>
                  <a:tcPr marL="0" marR="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426628"/>
                  </a:ext>
                </a:extLst>
              </a:tr>
              <a:tr h="257263">
                <a:tc rowSpan="2"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취급액</a:t>
                      </a:r>
                      <a:endParaRPr lang="ko-KR" altLang="en-US" sz="11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45,831 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46,453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41,934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40,514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37,852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37,676 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37,315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36,959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36,608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36,300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36,061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35,899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002331"/>
                  </a:ext>
                </a:extLst>
              </a:tr>
              <a:tr h="257263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(+1.9%)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(+1.4%)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(-9.7%)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(-3.4%)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(-6.6%)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(-0.5%)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(-1.0%)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(-1.0%)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(-0.9%)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(-0.8%)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(-0.7%)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(-0.4%)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189127"/>
                  </a:ext>
                </a:extLst>
              </a:tr>
              <a:tr h="2572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1" u="none" strike="noStrike">
                          <a:solidFill>
                            <a:srgbClr val="00B0F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데이터방송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3,738 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4,465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4,288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3,797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3,845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3,590 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3,418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3,351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3,325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3,316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3,308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3,301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252023"/>
                  </a:ext>
                </a:extLst>
              </a:tr>
              <a:tr h="2572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1" u="none" strike="noStrike" dirty="0">
                          <a:solidFill>
                            <a:srgbClr val="00B0F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(+31.6%)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(+19.4%)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(-3.9%)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(-11.4%)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(+1.2%)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(-6.6%)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(-4.8%)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(-1.9%)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(-0.8%)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(-0.3%)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(-0.2%)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(-0.2%)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244750"/>
                  </a:ext>
                </a:extLst>
              </a:tr>
              <a:tr h="2572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매출액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12,271 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12,393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11,311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10,521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10,491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10,600 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10,544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10,488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10,432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10,384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10,346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10,320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516034"/>
                  </a:ext>
                </a:extLst>
              </a:tr>
              <a:tr h="2572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데이터방송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776 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1,032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1,039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1,063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1,171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1,194 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1,156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1,140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1,135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1,135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1,135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1,135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42348"/>
                  </a:ext>
                </a:extLst>
              </a:tr>
              <a:tr h="257263">
                <a:tc rowSpan="2"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영업이익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1,359 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1,426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1,169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1,071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930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914 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870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829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797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774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759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751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214563"/>
                  </a:ext>
                </a:extLst>
              </a:tr>
              <a:tr h="257263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(-13.9%) 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(+4.9%)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(-18.0%)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(-8.4%)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(-13.1%)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(-1.8%)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(-4.7%)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(-4.8%)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(-3.8%)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(-2.9%)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(-2.0%)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(-1.0%)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501284"/>
                  </a:ext>
                </a:extLst>
              </a:tr>
              <a:tr h="257263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연평균성장률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(-9.0%)</a:t>
                      </a:r>
                    </a:p>
                  </a:txBody>
                  <a:tcPr marL="0" marR="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(-3.2%)</a:t>
                      </a:r>
                    </a:p>
                  </a:txBody>
                  <a:tcPr marL="0" marR="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4397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C6D669-7F9F-D465-253C-F09BE67F74A1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86/109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98036731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CA175-83C4-B534-CDC8-1DD338FE6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extLst>
              <a:ext uri="{FF2B5EF4-FFF2-40B4-BE49-F238E27FC236}">
                <a16:creationId xmlns:a16="http://schemas.microsoft.com/office/drawing/2014/main" id="{40331C22-1C43-1F02-92AB-E9A40F68F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53" y="67492"/>
            <a:ext cx="5688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 b="1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ko-KR" sz="1800" dirty="0"/>
              <a:t>[</a:t>
            </a:r>
            <a:r>
              <a:rPr lang="ko-KR" altLang="en-US" sz="1800" dirty="0"/>
              <a:t>참고</a:t>
            </a:r>
            <a:r>
              <a:rPr lang="en-US" altLang="ko-KR" sz="1800" dirty="0"/>
              <a:t>] </a:t>
            </a:r>
            <a:r>
              <a:rPr lang="ko-KR" altLang="en-US" sz="1800" dirty="0"/>
              <a:t>재무계획</a:t>
            </a:r>
            <a:r>
              <a:rPr lang="ko-KR" altLang="en-US" dirty="0"/>
              <a:t> </a:t>
            </a:r>
            <a:r>
              <a:rPr lang="en-US" altLang="ko-KR" sz="1600" dirty="0">
                <a:latin typeface="맑은 고딕" panose="02110004020202020204"/>
              </a:rPr>
              <a:t>(</a:t>
            </a:r>
            <a:r>
              <a:rPr lang="ko-KR" altLang="en-US" sz="1600" dirty="0">
                <a:latin typeface="맑은 고딕" panose="02110004020202020204"/>
              </a:rPr>
              <a:t>전사 별도</a:t>
            </a:r>
            <a:r>
              <a:rPr lang="en-US" altLang="ko-KR" sz="1600" dirty="0">
                <a:latin typeface="맑은 고딕" panose="02110004020202020204"/>
              </a:rPr>
              <a:t>)</a:t>
            </a:r>
            <a:endParaRPr lang="ko-KR" alt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B1393E-F160-2BCB-E167-6672412F1087}"/>
              </a:ext>
            </a:extLst>
          </p:cNvPr>
          <p:cNvSpPr txBox="1"/>
          <p:nvPr/>
        </p:nvSpPr>
        <p:spPr>
          <a:xfrm>
            <a:off x="771784" y="1321965"/>
            <a:ext cx="5521538" cy="107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en-US" altLang="ko-KR" sz="1100" b="1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▶ </a:t>
            </a:r>
            <a:r>
              <a:rPr lang="ko-KR" altLang="en-US" sz="1100" b="1" spc="-50" dirty="0">
                <a:latin typeface="+mn-ea"/>
              </a:rPr>
              <a:t>전사 영업이익이 높으면 </a:t>
            </a:r>
            <a:endParaRPr lang="en-US" altLang="ko-KR" sz="1100" b="1" spc="-50" dirty="0">
              <a:latin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sz="1100" b="1" spc="-50" dirty="0">
                <a:latin typeface="+mn-ea"/>
              </a:rPr>
              <a:t>    </a:t>
            </a:r>
            <a:r>
              <a:rPr lang="ko-KR" altLang="en-US" sz="1100" b="1" spc="-50" dirty="0">
                <a:latin typeface="+mn-ea"/>
              </a:rPr>
              <a:t>공익사업 사회환원율이 낮아져 공익사업 상향 부담 </a:t>
            </a:r>
            <a:endParaRPr lang="en-US" altLang="ko-KR" sz="1100" b="1" spc="-50" dirty="0">
              <a:latin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sz="1100" b="1" spc="-50" dirty="0">
                <a:latin typeface="+mn-ea"/>
              </a:rPr>
              <a:t>     </a:t>
            </a:r>
            <a:r>
              <a:rPr lang="ko-KR" altLang="ko-KR" sz="1100" b="1" spc="-50" dirty="0">
                <a:latin typeface="+mn-ea"/>
              </a:rPr>
              <a:t>→</a:t>
            </a:r>
            <a:r>
              <a:rPr lang="en-US" altLang="ko-KR" sz="1100" b="1" spc="-50" dirty="0">
                <a:latin typeface="+mn-ea"/>
              </a:rPr>
              <a:t> </a:t>
            </a:r>
            <a:r>
              <a:rPr lang="ko-KR" altLang="en-US" sz="1100" b="1" spc="-50" dirty="0" err="1">
                <a:latin typeface="+mn-ea"/>
              </a:rPr>
              <a:t>취급액</a:t>
            </a:r>
            <a:r>
              <a:rPr lang="ko-KR" altLang="en-US" sz="1100" b="1" spc="-50" dirty="0">
                <a:latin typeface="+mn-ea"/>
              </a:rPr>
              <a:t> </a:t>
            </a:r>
            <a:r>
              <a:rPr lang="en-US" altLang="ko-KR" sz="1100" b="1" spc="-50" dirty="0">
                <a:latin typeface="+mn-ea"/>
              </a:rPr>
              <a:t>: 1.5% </a:t>
            </a:r>
            <a:r>
              <a:rPr lang="ko-KR" altLang="en-US" sz="1100" b="1" spc="-50" dirty="0">
                <a:latin typeface="+mn-ea"/>
              </a:rPr>
              <a:t>내외 증가</a:t>
            </a:r>
            <a:endParaRPr lang="en-US" altLang="ko-KR" sz="1100" b="1" spc="-50" dirty="0">
              <a:latin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sz="1100" b="1" spc="-50" dirty="0">
                <a:latin typeface="+mn-ea"/>
              </a:rPr>
              <a:t>     </a:t>
            </a:r>
            <a:r>
              <a:rPr lang="ko-KR" altLang="ko-KR" sz="1100" b="1" spc="-50" dirty="0">
                <a:latin typeface="+mn-ea"/>
              </a:rPr>
              <a:t>→</a:t>
            </a:r>
            <a:r>
              <a:rPr lang="en-US" altLang="ko-KR" sz="1100" b="1" spc="-50" dirty="0">
                <a:latin typeface="+mn-ea"/>
              </a:rPr>
              <a:t> </a:t>
            </a:r>
            <a:r>
              <a:rPr lang="ko-KR" altLang="en-US" sz="1100" b="1" spc="-50" dirty="0">
                <a:latin typeface="+mn-ea"/>
              </a:rPr>
              <a:t>영업이익 </a:t>
            </a:r>
            <a:r>
              <a:rPr lang="en-US" altLang="ko-KR" sz="1100" b="1" spc="-50" dirty="0">
                <a:latin typeface="+mn-ea"/>
              </a:rPr>
              <a:t>: 2032</a:t>
            </a:r>
            <a:r>
              <a:rPr lang="ko-KR" altLang="en-US" sz="1100" b="1" spc="-50" dirty="0">
                <a:latin typeface="+mn-ea"/>
              </a:rPr>
              <a:t>년 </a:t>
            </a:r>
            <a:r>
              <a:rPr lang="en-US" altLang="ko-KR" sz="1100" b="1" spc="-50" dirty="0">
                <a:latin typeface="+mn-ea"/>
              </a:rPr>
              <a:t>3,000</a:t>
            </a:r>
            <a:r>
              <a:rPr lang="ko-KR" altLang="en-US" sz="1100" b="1" spc="-50" dirty="0">
                <a:latin typeface="+mn-ea"/>
              </a:rPr>
              <a:t>억원 </a:t>
            </a:r>
            <a:r>
              <a:rPr lang="en-US" altLang="ko-KR" sz="1100" b="1" spc="-50" dirty="0">
                <a:latin typeface="+mn-ea"/>
              </a:rPr>
              <a:t>(</a:t>
            </a:r>
            <a:r>
              <a:rPr lang="ko-KR" altLang="en-US" sz="1100" b="1" spc="-50" dirty="0">
                <a:latin typeface="+mn-ea"/>
              </a:rPr>
              <a:t>홈쇼핑 </a:t>
            </a:r>
            <a:r>
              <a:rPr lang="en-US" altLang="ko-KR" sz="1100" b="1" spc="-50" dirty="0">
                <a:latin typeface="+mn-ea"/>
              </a:rPr>
              <a:t>BU 750</a:t>
            </a:r>
            <a:r>
              <a:rPr lang="ko-KR" altLang="en-US" sz="1100" b="1" spc="-50" dirty="0">
                <a:latin typeface="+mn-ea"/>
              </a:rPr>
              <a:t>억원 </a:t>
            </a:r>
            <a:r>
              <a:rPr lang="en-US" altLang="ko-KR" sz="1100" b="1" spc="-50" dirty="0">
                <a:latin typeface="+mn-ea"/>
              </a:rPr>
              <a:t>+ </a:t>
            </a:r>
            <a:r>
              <a:rPr lang="ko-KR" altLang="en-US" sz="1100" b="1" spc="-50" dirty="0">
                <a:latin typeface="+mn-ea"/>
              </a:rPr>
              <a:t>편의점</a:t>
            </a:r>
            <a:r>
              <a:rPr lang="en-US" altLang="ko-KR" sz="1100" b="1" spc="-50" dirty="0">
                <a:latin typeface="+mn-ea"/>
              </a:rPr>
              <a:t>/</a:t>
            </a:r>
            <a:r>
              <a:rPr lang="ko-KR" altLang="en-US" sz="1100" b="1" spc="-50" dirty="0">
                <a:latin typeface="+mn-ea"/>
              </a:rPr>
              <a:t>수퍼 </a:t>
            </a:r>
            <a:r>
              <a:rPr lang="en-US" altLang="ko-KR" sz="1100" b="1" spc="-50" dirty="0">
                <a:latin typeface="+mn-ea"/>
              </a:rPr>
              <a:t>BU 2,250</a:t>
            </a:r>
            <a:r>
              <a:rPr lang="ko-KR" altLang="en-US" sz="1100" b="1" spc="-50" dirty="0">
                <a:latin typeface="+mn-ea"/>
              </a:rPr>
              <a:t>억원</a:t>
            </a:r>
            <a:r>
              <a:rPr lang="en-US" altLang="ko-KR" sz="1100" b="1" spc="-50" dirty="0">
                <a:latin typeface="+mn-ea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879198-6BBB-C936-79E3-AC1CC3D01B1B}"/>
              </a:ext>
            </a:extLst>
          </p:cNvPr>
          <p:cNvSpPr txBox="1"/>
          <p:nvPr/>
        </p:nvSpPr>
        <p:spPr>
          <a:xfrm>
            <a:off x="435515" y="690537"/>
            <a:ext cx="1054625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■ 편의점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슈퍼마켓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점포 수 확대 및 </a:t>
            </a:r>
            <a:r>
              <a:rPr lang="ko-KR" altLang="en-US" sz="1200" b="1" dirty="0" err="1">
                <a:latin typeface="+mn-ea"/>
              </a:rPr>
              <a:t>판촉비</a:t>
            </a:r>
            <a:r>
              <a:rPr lang="ko-KR" altLang="en-US" sz="1200" b="1" dirty="0">
                <a:latin typeface="+mn-ea"/>
              </a:rPr>
              <a:t> 증가 영향으로 전사 </a:t>
            </a:r>
            <a:r>
              <a:rPr lang="ko-KR" altLang="en-US" sz="1200" b="1" dirty="0" err="1">
                <a:latin typeface="+mn-ea"/>
              </a:rPr>
              <a:t>취급액</a:t>
            </a:r>
            <a:r>
              <a:rPr lang="ko-KR" altLang="en-US" sz="1200" b="1" dirty="0">
                <a:latin typeface="+mn-ea"/>
              </a:rPr>
              <a:t> 소폭 증가 </a:t>
            </a:r>
            <a:r>
              <a:rPr lang="en-US" altLang="ko-KR" sz="1200" b="1" dirty="0">
                <a:latin typeface="+mn-ea"/>
              </a:rPr>
              <a:t> </a:t>
            </a:r>
          </a:p>
          <a:p>
            <a:pPr>
              <a:spcBef>
                <a:spcPts val="300"/>
              </a:spcBef>
              <a:spcAft>
                <a:spcPts val="300"/>
              </a:spcAft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   영업이익 </a:t>
            </a:r>
            <a:r>
              <a:rPr lang="en-US" altLang="ko-KR" sz="1200" b="1" dirty="0">
                <a:latin typeface="+mn-ea"/>
              </a:rPr>
              <a:t>28</a:t>
            </a:r>
            <a:r>
              <a:rPr lang="ko-KR" altLang="en-US" sz="1200" b="1" dirty="0">
                <a:latin typeface="+mn-ea"/>
              </a:rPr>
              <a:t>년까지 하락 →</a:t>
            </a:r>
            <a:r>
              <a:rPr lang="en-US" altLang="ko-KR" sz="1200" b="1" dirty="0">
                <a:latin typeface="+mn-ea"/>
              </a:rPr>
              <a:t> 29</a:t>
            </a:r>
            <a:r>
              <a:rPr lang="ko-KR" altLang="en-US" sz="1200" b="1" dirty="0">
                <a:latin typeface="+mn-ea"/>
              </a:rPr>
              <a:t>년부터 증가로 작성</a:t>
            </a:r>
            <a:endParaRPr lang="en-US" altLang="ko-KR" sz="12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EB8789-8301-25EF-6878-0BC1FF4A6B38}"/>
              </a:ext>
            </a:extLst>
          </p:cNvPr>
          <p:cNvSpPr txBox="1"/>
          <p:nvPr/>
        </p:nvSpPr>
        <p:spPr>
          <a:xfrm>
            <a:off x="1244603" y="5795016"/>
            <a:ext cx="8289379" cy="30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en-US" altLang="ko-KR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※ 26</a:t>
            </a:r>
            <a:r>
              <a:rPr kumimoji="0" lang="ko-KR" altLang="en-US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년</a:t>
            </a:r>
            <a:r>
              <a:rPr lang="ko-KR" altLang="en-US" sz="1050" spc="-50" dirty="0">
                <a:latin typeface="+mn-ea"/>
              </a:rPr>
              <a:t>은 </a:t>
            </a:r>
            <a:r>
              <a:rPr lang="en-US" altLang="ko-KR" sz="1050" spc="-50" dirty="0">
                <a:latin typeface="+mn-ea"/>
              </a:rPr>
              <a:t>25</a:t>
            </a:r>
            <a:r>
              <a:rPr lang="ko-KR" altLang="en-US" sz="1050" spc="-50" dirty="0">
                <a:latin typeface="+mn-ea"/>
              </a:rPr>
              <a:t>년 말 </a:t>
            </a:r>
            <a:r>
              <a:rPr kumimoji="0" lang="ko-KR" altLang="en-US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수립된 사업계획 반영</a:t>
            </a:r>
            <a:r>
              <a:rPr kumimoji="0" lang="en-US" altLang="ko-KR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, 27~32</a:t>
            </a:r>
            <a:r>
              <a:rPr kumimoji="0" lang="ko-KR" altLang="en-US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년 보수적으로 추정 </a:t>
            </a:r>
            <a:r>
              <a:rPr kumimoji="0" lang="en-US" altLang="ko-KR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(25</a:t>
            </a:r>
            <a:r>
              <a:rPr kumimoji="0" lang="ko-KR" altLang="en-US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년 </a:t>
            </a:r>
            <a:r>
              <a:rPr kumimoji="0" lang="en-US" altLang="ko-KR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8</a:t>
            </a:r>
            <a:r>
              <a:rPr kumimoji="0" lang="ko-KR" altLang="en-US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월 전략 </a:t>
            </a:r>
            <a:r>
              <a:rPr kumimoji="0" lang="en-US" altLang="ko-KR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CM 28</a:t>
            </a:r>
            <a:r>
              <a:rPr kumimoji="0" lang="ko-KR" altLang="en-US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년 </a:t>
            </a:r>
            <a:r>
              <a:rPr kumimoji="0" lang="ko-KR" altLang="en-US" sz="1050" i="0" u="none" strike="noStrike" kern="1200" cap="none" spc="-50" normalizeH="0" baseline="0" noProof="0" dirty="0" err="1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취급액</a:t>
            </a:r>
            <a:r>
              <a:rPr kumimoji="0" lang="ko-KR" altLang="en-US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 </a:t>
            </a:r>
            <a:r>
              <a:rPr lang="en-US" altLang="ko-KR" sz="1050" spc="-50" dirty="0">
                <a:latin typeface="+mn-ea"/>
              </a:rPr>
              <a:t>195,951</a:t>
            </a:r>
            <a:r>
              <a:rPr kumimoji="0" lang="ko-KR" altLang="en-US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억원 영업이익 </a:t>
            </a:r>
            <a:r>
              <a:rPr lang="en-US" altLang="ko-KR" sz="1050" spc="-50" dirty="0">
                <a:latin typeface="+mn-ea"/>
              </a:rPr>
              <a:t>4,000</a:t>
            </a:r>
            <a:r>
              <a:rPr kumimoji="0" lang="ko-KR" altLang="en-US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억원</a:t>
            </a:r>
            <a:r>
              <a:rPr kumimoji="0" lang="en-US" altLang="ko-KR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)</a:t>
            </a:r>
            <a:r>
              <a:rPr kumimoji="0" lang="ko-KR" altLang="en-US" sz="105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 </a:t>
            </a:r>
            <a:endParaRPr lang="en-US" altLang="ko-KR" sz="1050" spc="-5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14109D1-DE1B-5B49-B0D8-EF420F119EEB}"/>
              </a:ext>
            </a:extLst>
          </p:cNvPr>
          <p:cNvSpPr/>
          <p:nvPr/>
        </p:nvSpPr>
        <p:spPr>
          <a:xfrm>
            <a:off x="11191807" y="140877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>
                <a:solidFill>
                  <a:schemeClr val="tx2">
                    <a:lumMod val="75000"/>
                  </a:schemeClr>
                </a:solidFill>
                <a:latin typeface="+mn-ea"/>
              </a:rPr>
              <a:t>CFO</a:t>
            </a:r>
            <a:endParaRPr lang="ko-KR" altLang="en-US" sz="105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D3966E6-086C-73DB-1E79-D7597B6E254D}"/>
              </a:ext>
            </a:extLst>
          </p:cNvPr>
          <p:cNvGraphicFramePr>
            <a:graphicFrameLocks noGrp="1"/>
          </p:cNvGraphicFramePr>
          <p:nvPr/>
        </p:nvGraphicFramePr>
        <p:xfrm>
          <a:off x="1244603" y="2490078"/>
          <a:ext cx="9702794" cy="3254945"/>
        </p:xfrm>
        <a:graphic>
          <a:graphicData uri="http://schemas.openxmlformats.org/drawingml/2006/table">
            <a:tbl>
              <a:tblPr/>
              <a:tblGrid>
                <a:gridCol w="175488">
                  <a:extLst>
                    <a:ext uri="{9D8B030D-6E8A-4147-A177-3AD203B41FA5}">
                      <a16:colId xmlns:a16="http://schemas.microsoft.com/office/drawing/2014/main" val="1950799299"/>
                    </a:ext>
                  </a:extLst>
                </a:gridCol>
                <a:gridCol w="1481378">
                  <a:extLst>
                    <a:ext uri="{9D8B030D-6E8A-4147-A177-3AD203B41FA5}">
                      <a16:colId xmlns:a16="http://schemas.microsoft.com/office/drawing/2014/main" val="817900968"/>
                    </a:ext>
                  </a:extLst>
                </a:gridCol>
                <a:gridCol w="670494">
                  <a:extLst>
                    <a:ext uri="{9D8B030D-6E8A-4147-A177-3AD203B41FA5}">
                      <a16:colId xmlns:a16="http://schemas.microsoft.com/office/drawing/2014/main" val="1996884262"/>
                    </a:ext>
                  </a:extLst>
                </a:gridCol>
                <a:gridCol w="670494">
                  <a:extLst>
                    <a:ext uri="{9D8B030D-6E8A-4147-A177-3AD203B41FA5}">
                      <a16:colId xmlns:a16="http://schemas.microsoft.com/office/drawing/2014/main" val="3943234050"/>
                    </a:ext>
                  </a:extLst>
                </a:gridCol>
                <a:gridCol w="670494">
                  <a:extLst>
                    <a:ext uri="{9D8B030D-6E8A-4147-A177-3AD203B41FA5}">
                      <a16:colId xmlns:a16="http://schemas.microsoft.com/office/drawing/2014/main" val="3569973191"/>
                    </a:ext>
                  </a:extLst>
                </a:gridCol>
                <a:gridCol w="670494">
                  <a:extLst>
                    <a:ext uri="{9D8B030D-6E8A-4147-A177-3AD203B41FA5}">
                      <a16:colId xmlns:a16="http://schemas.microsoft.com/office/drawing/2014/main" val="1231341014"/>
                    </a:ext>
                  </a:extLst>
                </a:gridCol>
                <a:gridCol w="670494">
                  <a:extLst>
                    <a:ext uri="{9D8B030D-6E8A-4147-A177-3AD203B41FA5}">
                      <a16:colId xmlns:a16="http://schemas.microsoft.com/office/drawing/2014/main" val="3301633655"/>
                    </a:ext>
                  </a:extLst>
                </a:gridCol>
                <a:gridCol w="670494">
                  <a:extLst>
                    <a:ext uri="{9D8B030D-6E8A-4147-A177-3AD203B41FA5}">
                      <a16:colId xmlns:a16="http://schemas.microsoft.com/office/drawing/2014/main" val="113721690"/>
                    </a:ext>
                  </a:extLst>
                </a:gridCol>
                <a:gridCol w="670494">
                  <a:extLst>
                    <a:ext uri="{9D8B030D-6E8A-4147-A177-3AD203B41FA5}">
                      <a16:colId xmlns:a16="http://schemas.microsoft.com/office/drawing/2014/main" val="880442631"/>
                    </a:ext>
                  </a:extLst>
                </a:gridCol>
                <a:gridCol w="670494">
                  <a:extLst>
                    <a:ext uri="{9D8B030D-6E8A-4147-A177-3AD203B41FA5}">
                      <a16:colId xmlns:a16="http://schemas.microsoft.com/office/drawing/2014/main" val="706348104"/>
                    </a:ext>
                  </a:extLst>
                </a:gridCol>
                <a:gridCol w="670494">
                  <a:extLst>
                    <a:ext uri="{9D8B030D-6E8A-4147-A177-3AD203B41FA5}">
                      <a16:colId xmlns:a16="http://schemas.microsoft.com/office/drawing/2014/main" val="3292291557"/>
                    </a:ext>
                  </a:extLst>
                </a:gridCol>
                <a:gridCol w="670494">
                  <a:extLst>
                    <a:ext uri="{9D8B030D-6E8A-4147-A177-3AD203B41FA5}">
                      <a16:colId xmlns:a16="http://schemas.microsoft.com/office/drawing/2014/main" val="2339206277"/>
                    </a:ext>
                  </a:extLst>
                </a:gridCol>
                <a:gridCol w="670494">
                  <a:extLst>
                    <a:ext uri="{9D8B030D-6E8A-4147-A177-3AD203B41FA5}">
                      <a16:colId xmlns:a16="http://schemas.microsoft.com/office/drawing/2014/main" val="1447673723"/>
                    </a:ext>
                  </a:extLst>
                </a:gridCol>
                <a:gridCol w="670494">
                  <a:extLst>
                    <a:ext uri="{9D8B030D-6E8A-4147-A177-3AD203B41FA5}">
                      <a16:colId xmlns:a16="http://schemas.microsoft.com/office/drawing/2014/main" val="2533612901"/>
                    </a:ext>
                  </a:extLst>
                </a:gridCol>
              </a:tblGrid>
              <a:tr h="225413">
                <a:tc gridSpan="14"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억원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704983"/>
                  </a:ext>
                </a:extLst>
              </a:tr>
              <a:tr h="275412">
                <a:tc rowSpan="2"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전사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별도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실적</a:t>
                      </a:r>
                    </a:p>
                  </a:txBody>
                  <a:tcPr marL="0" marR="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계획</a:t>
                      </a:r>
                    </a:p>
                  </a:txBody>
                  <a:tcPr marL="0" marR="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811359"/>
                  </a:ext>
                </a:extLst>
              </a:tr>
              <a:tr h="27541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</a:t>
                      </a:r>
                    </a:p>
                  </a:txBody>
                  <a:tcPr marL="0" marR="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</a:t>
                      </a:r>
                    </a:p>
                  </a:txBody>
                  <a:tcPr marL="0" marR="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70558"/>
                  </a:ext>
                </a:extLst>
              </a:tr>
              <a:tr h="275412">
                <a:tc rowSpan="2"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취급액</a:t>
                      </a:r>
                      <a:endParaRPr lang="ko-KR" altLang="en-US" sz="11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154,632 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163,513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164,714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171,269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173,566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176,934 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179,244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181,650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184,309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187,076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190,259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193,824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433825"/>
                  </a:ext>
                </a:extLst>
              </a:tr>
              <a:tr h="27541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(+5.7%)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(+0.7%)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(+4.0%)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(+1.3%)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(+1.9%)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(+1.3%)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(+1.3%)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(+1.5%)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(+1.5%)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(+1.7%)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(+1.9%)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943946"/>
                  </a:ext>
                </a:extLst>
              </a:tr>
              <a:tr h="2754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1" u="none" strike="noStrike">
                          <a:solidFill>
                            <a:srgbClr val="00B0F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홈쇼핑</a:t>
                      </a:r>
                      <a:r>
                        <a:rPr lang="en-US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BU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45,831 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46,453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41,934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40,514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37,852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37,676 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37,315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36,959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36,608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36,300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36,061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35,899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600962"/>
                  </a:ext>
                </a:extLst>
              </a:tr>
              <a:tr h="2754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1" u="none" strike="noStrike" dirty="0">
                          <a:solidFill>
                            <a:srgbClr val="00B0F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(+1.9%)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(+1.4%)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(-9.7%)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(-3.4%)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(-6.6%)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(-0.5%)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(-1.0%)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(-1.0%)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(-0.9%)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(-0.8%)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(-0.7%)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(-0.4%)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041220"/>
                  </a:ext>
                </a:extLst>
              </a:tr>
              <a:tr h="275412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매출액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91,185 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104,097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108,869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113,780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117,746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120,326 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122,164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124,111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126,263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128,504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131,035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133,828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721436"/>
                  </a:ext>
                </a:extLst>
              </a:tr>
              <a:tr h="2754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홈쇼핑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BU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12,271 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12,393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11,311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10,521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10,491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10,600 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10,544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10,488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10,432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10,384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10,346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10,320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261918"/>
                  </a:ext>
                </a:extLst>
              </a:tr>
              <a:tr h="275412">
                <a:tc rowSpan="2"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영업이익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3,050 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3,671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3,150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2,526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2,899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2,722 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2,695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2,649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2,706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2,794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2,899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3,014 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540814"/>
                  </a:ext>
                </a:extLst>
              </a:tr>
              <a:tr h="27541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(+20.4%)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(-14.2%)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(-19.8%)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(+14.7%)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(-6.1%)</a:t>
                      </a:r>
                    </a:p>
                  </a:txBody>
                  <a:tcPr marL="0" marR="7200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(-1.0%)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(-1.7%)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(+2.1%)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(+3.3%)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(+3.8%)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(+4.0%)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33959"/>
                  </a:ext>
                </a:extLst>
              </a:tr>
              <a:tr h="275412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연평균성장률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(-1.3%)</a:t>
                      </a:r>
                    </a:p>
                  </a:txBody>
                  <a:tcPr marL="0" marR="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(+1.7%)</a:t>
                      </a:r>
                    </a:p>
                  </a:txBody>
                  <a:tcPr marL="0" marR="0" marT="0" marB="0" anchor="ctr">
                    <a:lnL w="25400" cap="flat" cmpd="dbl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90255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18007E6-9C6F-CEB0-0256-C4AD4716DD36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87/109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47970161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3ABA1CF-26AC-6A0E-6417-201A7E3373F8}"/>
              </a:ext>
            </a:extLst>
          </p:cNvPr>
          <p:cNvGraphicFramePr>
            <a:graphicFrameLocks noGrp="1"/>
          </p:cNvGraphicFramePr>
          <p:nvPr/>
        </p:nvGraphicFramePr>
        <p:xfrm>
          <a:off x="240073" y="1139489"/>
          <a:ext cx="11725504" cy="53777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41824">
                  <a:extLst>
                    <a:ext uri="{9D8B030D-6E8A-4147-A177-3AD203B41FA5}">
                      <a16:colId xmlns:a16="http://schemas.microsoft.com/office/drawing/2014/main" val="1650677874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615130860"/>
                    </a:ext>
                  </a:extLst>
                </a:gridCol>
              </a:tblGrid>
              <a:tr h="3271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예상 질문</a:t>
                      </a:r>
                    </a:p>
                  </a:txBody>
                  <a:tcPr marL="108000" marR="48000" marT="48000" marB="4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답변</a:t>
                      </a:r>
                    </a:p>
                  </a:txBody>
                  <a:tcPr marL="108000" marR="48000" marT="48000" marB="4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141071"/>
                  </a:ext>
                </a:extLst>
              </a:tr>
              <a:tr h="9338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Q. 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재무제표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부채비율이 타사대비 높은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이유는 무엇인가요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marL="108000" marR="48000" marT="48000" marB="4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100" b="1" dirty="0"/>
                        <a:t>A. 25</a:t>
                      </a:r>
                      <a:r>
                        <a:rPr lang="ko-KR" altLang="en-US" sz="1100" b="1" dirty="0"/>
                        <a:t>년 부채비율은 </a:t>
                      </a:r>
                      <a:r>
                        <a:rPr lang="en-US" altLang="ko-KR" sz="1100" b="1" dirty="0"/>
                        <a:t>114%</a:t>
                      </a:r>
                      <a:r>
                        <a:rPr lang="ko-KR" altLang="en-US" sz="1100" b="1" dirty="0"/>
                        <a:t>지만</a:t>
                      </a:r>
                      <a:r>
                        <a:rPr lang="en-US" altLang="ko-KR" sz="1100" b="1" dirty="0"/>
                        <a:t> (</a:t>
                      </a:r>
                      <a:r>
                        <a:rPr lang="ko-KR" altLang="en-US" sz="1100" b="1" dirty="0"/>
                        <a:t>슈퍼마켓</a:t>
                      </a:r>
                      <a:r>
                        <a:rPr lang="en-US" altLang="ko-KR" sz="1100" b="1" dirty="0"/>
                        <a:t>·</a:t>
                      </a:r>
                      <a:r>
                        <a:rPr lang="ko-KR" altLang="en-US" sz="1100" b="1" dirty="0"/>
                        <a:t>편의점 점포 운영을 위한</a:t>
                      </a:r>
                      <a:r>
                        <a:rPr lang="en-US" altLang="ko-KR" sz="1100" b="1" dirty="0"/>
                        <a:t>)</a:t>
                      </a:r>
                      <a:br>
                        <a:rPr lang="en-US" altLang="ko-KR" sz="1100" b="1" dirty="0"/>
                      </a:br>
                      <a:r>
                        <a:rPr lang="en-US" altLang="ko-KR" sz="1100" b="1" dirty="0"/>
                        <a:t>    </a:t>
                      </a:r>
                      <a:r>
                        <a:rPr lang="ko-KR" altLang="en-US" sz="1100" b="1" dirty="0"/>
                        <a:t>리스부채 제외한 </a:t>
                      </a:r>
                      <a:r>
                        <a:rPr lang="en-US" altLang="ko-KR" sz="1100" b="1" dirty="0"/>
                        <a:t>25</a:t>
                      </a:r>
                      <a:r>
                        <a:rPr lang="ko-KR" altLang="en-US" sz="1100" b="1" dirty="0"/>
                        <a:t>년 조정부채비율은 </a:t>
                      </a:r>
                      <a:r>
                        <a:rPr lang="en-US" altLang="ko-KR" sz="1100" b="1" dirty="0"/>
                        <a:t>57%</a:t>
                      </a:r>
                    </a:p>
                    <a:p>
                      <a:pPr>
                        <a:lnSpc>
                          <a:spcPct val="13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      ※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 뒤 페이지의 상세내용 참조</a:t>
                      </a: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</a:txBody>
                  <a:tcPr marL="1080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174381"/>
                  </a:ext>
                </a:extLst>
              </a:tr>
              <a:tr h="10789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Q. 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손익계산서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23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년에 당기 순손실이 발생한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이유는 무엇인가요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48000" marT="48000" marB="4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100" b="1" dirty="0">
                          <a:latin typeface="+mn-ea"/>
                        </a:rPr>
                        <a:t>A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</a:rPr>
                        <a:t>.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</a:rPr>
                        <a:t> 사업부문 영업 중단과 자회사 지분 매각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</a:rPr>
                        <a:t>인적분할 등으로 발생한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</a:p>
                    <a:p>
                      <a:pPr>
                        <a:lnSpc>
                          <a:spcPct val="12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</a:rPr>
                        <a:t>   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</a:rPr>
                        <a:t>일회성 손실 영향으로 당기 순손실이 발생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1080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9962257"/>
                  </a:ext>
                </a:extLst>
              </a:tr>
              <a:tr h="13417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Q. 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손익계산서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홈쇼핑의 추정 </a:t>
                      </a:r>
                      <a:r>
                        <a:rPr lang="ko-KR" altLang="en-US" sz="1100" b="1" kern="0" dirty="0">
                          <a:latin typeface="+mn-ea"/>
                        </a:rPr>
                        <a:t>매출</a:t>
                      </a:r>
                      <a:r>
                        <a:rPr lang="en-US" altLang="ko-KR" sz="1100" b="1" kern="0" dirty="0">
                          <a:latin typeface="+mn-ea"/>
                        </a:rPr>
                        <a:t>(</a:t>
                      </a:r>
                      <a:r>
                        <a:rPr lang="ko-KR" altLang="en-US" sz="1100" b="1" kern="0" dirty="0">
                          <a:latin typeface="+mn-ea"/>
                        </a:rPr>
                        <a:t>취급</a:t>
                      </a:r>
                      <a:r>
                        <a:rPr lang="en-US" altLang="ko-KR" sz="1100" b="1" kern="0" dirty="0">
                          <a:latin typeface="+mn-ea"/>
                        </a:rPr>
                        <a:t>)</a:t>
                      </a:r>
                      <a:r>
                        <a:rPr lang="ko-KR" altLang="en-US" sz="1100" b="1" kern="0" dirty="0">
                          <a:latin typeface="+mn-ea"/>
                        </a:rPr>
                        <a:t>이 감소하는 이유는 무엇인가요</a:t>
                      </a:r>
                      <a:r>
                        <a:rPr lang="en-US" altLang="ko-KR" sz="1100" b="1" kern="0" dirty="0">
                          <a:latin typeface="+mn-ea"/>
                        </a:rPr>
                        <a:t>?</a:t>
                      </a:r>
                    </a:p>
                    <a:p>
                      <a:pPr latinLnBrk="1">
                        <a:lnSpc>
                          <a:spcPct val="130000"/>
                        </a:lnSpc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48000" marT="48000" marB="4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A. TV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시청률 하락과 모바일 커머스와의 경쟁 심화로 매출감소가 예상되나 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고객이 선호하는 패션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건강기능식품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뷰티 상품군을 강화하여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취급액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방어 예정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3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100" b="1" dirty="0">
                          <a:solidFill>
                            <a:srgbClr val="0000FF"/>
                          </a:solidFill>
                          <a:latin typeface="+mn-ea"/>
                        </a:rPr>
                        <a:t>     ①</a:t>
                      </a:r>
                      <a:r>
                        <a:rPr lang="ko-KR" altLang="en-US" sz="1100" b="1" dirty="0" err="1">
                          <a:solidFill>
                            <a:srgbClr val="0000FF"/>
                          </a:solidFill>
                          <a:latin typeface="+mn-ea"/>
                        </a:rPr>
                        <a:t>트렌디한</a:t>
                      </a:r>
                      <a:r>
                        <a:rPr lang="ko-KR" altLang="en-US" sz="1100" b="1" dirty="0">
                          <a:solidFill>
                            <a:srgbClr val="0000FF"/>
                          </a:solidFill>
                          <a:latin typeface="+mn-ea"/>
                        </a:rPr>
                        <a:t> 상품 소개를 통해 고객 유입 증가</a:t>
                      </a:r>
                      <a:endParaRPr lang="en-US" altLang="ko-KR" sz="1100" b="1" dirty="0">
                        <a:solidFill>
                          <a:srgbClr val="0000FF"/>
                        </a:solidFill>
                        <a:latin typeface="+mn-ea"/>
                      </a:endParaRPr>
                    </a:p>
                    <a:p>
                      <a:pPr>
                        <a:lnSpc>
                          <a:spcPct val="13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100" b="1" dirty="0">
                          <a:solidFill>
                            <a:srgbClr val="0000FF"/>
                          </a:solidFill>
                          <a:latin typeface="+mn-ea"/>
                        </a:rPr>
                        <a:t>     </a:t>
                      </a:r>
                      <a:r>
                        <a:rPr lang="ko-KR" altLang="en-US" sz="1100" b="1" dirty="0">
                          <a:solidFill>
                            <a:srgbClr val="0000FF"/>
                          </a:solidFill>
                          <a:latin typeface="+mn-ea"/>
                        </a:rPr>
                        <a:t>②가성비 보다 고품질 패션 강화</a:t>
                      </a:r>
                      <a:endParaRPr lang="en-US" altLang="ko-KR" sz="1100" b="1" dirty="0">
                        <a:solidFill>
                          <a:srgbClr val="0000FF"/>
                        </a:solidFill>
                        <a:latin typeface="+mn-ea"/>
                      </a:endParaRPr>
                    </a:p>
                    <a:p>
                      <a:pPr>
                        <a:lnSpc>
                          <a:spcPct val="13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100" b="1" dirty="0">
                          <a:solidFill>
                            <a:srgbClr val="0000FF"/>
                          </a:solidFill>
                          <a:latin typeface="+mn-ea"/>
                        </a:rPr>
                        <a:t>     </a:t>
                      </a:r>
                      <a:r>
                        <a:rPr lang="ko-KR" altLang="ko-KR" sz="1100" b="1" dirty="0">
                          <a:solidFill>
                            <a:srgbClr val="0000FF"/>
                          </a:solidFill>
                          <a:latin typeface="+mn-ea"/>
                        </a:rPr>
                        <a:t>③</a:t>
                      </a:r>
                      <a:r>
                        <a:rPr lang="ko-KR" altLang="en-US" sz="1100" b="1" dirty="0">
                          <a:solidFill>
                            <a:srgbClr val="0000FF"/>
                          </a:solidFill>
                          <a:latin typeface="+mn-ea"/>
                        </a:rPr>
                        <a:t>생필품 위주에서 기능성 상품</a:t>
                      </a:r>
                      <a:r>
                        <a:rPr lang="en-US" altLang="ko-KR" sz="1100" b="1" dirty="0">
                          <a:solidFill>
                            <a:srgbClr val="0000FF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rgbClr val="0000FF"/>
                          </a:solidFill>
                          <a:latin typeface="+mn-ea"/>
                        </a:rPr>
                        <a:t>뷰티</a:t>
                      </a:r>
                      <a:r>
                        <a:rPr lang="en-US" altLang="ko-KR" sz="1100" b="1" dirty="0">
                          <a:solidFill>
                            <a:srgbClr val="0000FF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0000FF"/>
                          </a:solidFill>
                          <a:latin typeface="+mn-ea"/>
                        </a:rPr>
                        <a:t>건강</a:t>
                      </a:r>
                      <a:r>
                        <a:rPr lang="en-US" altLang="ko-KR" sz="1100" b="1" dirty="0">
                          <a:solidFill>
                            <a:srgbClr val="0000FF"/>
                          </a:solidFill>
                          <a:latin typeface="+mn-ea"/>
                        </a:rPr>
                        <a:t>) </a:t>
                      </a:r>
                      <a:r>
                        <a:rPr lang="ko-KR" altLang="en-US" sz="1100" b="1" dirty="0">
                          <a:solidFill>
                            <a:srgbClr val="0000FF"/>
                          </a:solidFill>
                          <a:latin typeface="+mn-ea"/>
                        </a:rPr>
                        <a:t>확대</a:t>
                      </a:r>
                      <a:endParaRPr lang="en-US" altLang="ko-KR" sz="1100" b="1" dirty="0">
                        <a:solidFill>
                          <a:srgbClr val="FF0000"/>
                        </a:solidFill>
                      </a:endParaRPr>
                    </a:p>
                  </a:txBody>
                  <a:tcPr marL="1080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22683"/>
                  </a:ext>
                </a:extLst>
              </a:tr>
              <a:tr h="10655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Q. 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손익계산서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홈쇼핑의 추정 영업이익</a:t>
                      </a:r>
                      <a:r>
                        <a:rPr lang="ko-KR" altLang="en-US" sz="1100" b="1" kern="0" dirty="0">
                          <a:latin typeface="+mn-ea"/>
                        </a:rPr>
                        <a:t>이 감소하는 이유는 무엇인가요</a:t>
                      </a:r>
                      <a:r>
                        <a:rPr lang="en-US" altLang="ko-KR" sz="1100" b="1" kern="0" dirty="0">
                          <a:latin typeface="+mn-ea"/>
                        </a:rPr>
                        <a:t>?</a:t>
                      </a:r>
                    </a:p>
                    <a:p>
                      <a:pPr latinLnBrk="1">
                        <a:lnSpc>
                          <a:spcPct val="130000"/>
                        </a:lnSpc>
                      </a:pPr>
                      <a:endParaRPr lang="en-US" altLang="ko-KR" sz="11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48000" marT="48000" marB="4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A.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홈쇼핑 특성상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매출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취급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비해서 제작비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송출수수료 등의 고정비는 크게 줄지 않는 구조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→ 매출 감소폭 대비 고정비 감소폭이 제한적이기에 영업이익 하락 발생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→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상품군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강화와 변동비의 효율화를 통해 </a:t>
                      </a:r>
                      <a:r>
                        <a:rPr lang="en-US" altLang="ko-KR" sz="1100" b="1" dirty="0">
                          <a:solidFill>
                            <a:prstClr val="black"/>
                          </a:solidFill>
                          <a:latin typeface="+mn-ea"/>
                        </a:rPr>
                        <a:t>30~32</a:t>
                      </a:r>
                      <a:r>
                        <a:rPr lang="ko-KR" altLang="en-US" sz="1100" b="1" dirty="0">
                          <a:solidFill>
                            <a:prstClr val="black"/>
                          </a:solidFill>
                          <a:latin typeface="+mn-ea"/>
                        </a:rPr>
                        <a:t>년은 </a:t>
                      </a:r>
                      <a:r>
                        <a:rPr lang="ko-KR" altLang="en-US" sz="1100" b="1" dirty="0">
                          <a:latin typeface="+mn-ea"/>
                        </a:rPr>
                        <a:t>영업이익의</a:t>
                      </a:r>
                      <a:r>
                        <a:rPr lang="ko-KR" altLang="en-US" sz="1100" b="1" dirty="0">
                          <a:solidFill>
                            <a:prstClr val="black"/>
                          </a:solidFill>
                          <a:latin typeface="+mn-ea"/>
                        </a:rPr>
                        <a:t> 완만한 하락 예상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166317"/>
                  </a:ext>
                </a:extLst>
              </a:tr>
              <a:tr h="630287"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Q. 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현금흐름표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자금 조달 운영 계획을 설명해주세요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108000" marR="48000" marT="48000" marB="4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A.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자금은 매출 기반 영업현금흐름으로 전액 조달하는 계획</a:t>
                      </a:r>
                      <a:b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→ 신규 차입 없이 자체 자금 중심으로 보수적 운영 예정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82298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DAF0AAB-BDC8-CFD2-B3FF-5D37AB453551}"/>
              </a:ext>
            </a:extLst>
          </p:cNvPr>
          <p:cNvSpPr txBox="1"/>
          <p:nvPr/>
        </p:nvSpPr>
        <p:spPr>
          <a:xfrm>
            <a:off x="57150" y="321827"/>
            <a:ext cx="11428712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just" latinLnBrk="1">
              <a:lnSpc>
                <a:spcPct val="120000"/>
              </a:lnSpc>
              <a:spcAft>
                <a:spcPts val="0"/>
              </a:spcAf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</a:t>
            </a:r>
            <a:r>
              <a:rPr lang="ko-KR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재무 관련 예상 질문</a:t>
            </a:r>
            <a:endParaRPr lang="en-US" altLang="ko-KR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C576417-633A-4244-3315-C4DD5442762F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>
                <a:solidFill>
                  <a:schemeClr val="tx2">
                    <a:lumMod val="75000"/>
                  </a:schemeClr>
                </a:solidFill>
                <a:latin typeface="+mn-ea"/>
              </a:rPr>
              <a:t>CFO</a:t>
            </a:r>
            <a:endParaRPr lang="ko-KR" altLang="en-US" sz="105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7BD87F-E606-2055-6D99-EF202C8761E3}"/>
              </a:ext>
            </a:extLst>
          </p:cNvPr>
          <p:cNvSpPr txBox="1"/>
          <p:nvPr/>
        </p:nvSpPr>
        <p:spPr>
          <a:xfrm>
            <a:off x="65067" y="19001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6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재무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4ED740-69F8-FEDD-1C01-57206231D562}"/>
              </a:ext>
            </a:extLst>
          </p:cNvPr>
          <p:cNvSpPr txBox="1"/>
          <p:nvPr/>
        </p:nvSpPr>
        <p:spPr>
          <a:xfrm>
            <a:off x="65067" y="838126"/>
            <a:ext cx="49075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■ (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사업계획서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p.212)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재정 및 기술적 능력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3EF34C9-EE17-3D98-1CB2-110CF463430C}"/>
              </a:ext>
            </a:extLst>
          </p:cNvPr>
          <p:cNvGraphicFramePr>
            <a:graphicFrameLocks noGrp="1"/>
          </p:cNvGraphicFramePr>
          <p:nvPr/>
        </p:nvGraphicFramePr>
        <p:xfrm>
          <a:off x="436029" y="2712864"/>
          <a:ext cx="4165601" cy="628650"/>
        </p:xfrm>
        <a:graphic>
          <a:graphicData uri="http://schemas.openxmlformats.org/drawingml/2006/table">
            <a:tbl>
              <a:tblPr/>
              <a:tblGrid>
                <a:gridCol w="1125666">
                  <a:extLst>
                    <a:ext uri="{9D8B030D-6E8A-4147-A177-3AD203B41FA5}">
                      <a16:colId xmlns:a16="http://schemas.microsoft.com/office/drawing/2014/main" val="1121670022"/>
                    </a:ext>
                  </a:extLst>
                </a:gridCol>
                <a:gridCol w="607987">
                  <a:extLst>
                    <a:ext uri="{9D8B030D-6E8A-4147-A177-3AD203B41FA5}">
                      <a16:colId xmlns:a16="http://schemas.microsoft.com/office/drawing/2014/main" val="3965318650"/>
                    </a:ext>
                  </a:extLst>
                </a:gridCol>
                <a:gridCol w="607987">
                  <a:extLst>
                    <a:ext uri="{9D8B030D-6E8A-4147-A177-3AD203B41FA5}">
                      <a16:colId xmlns:a16="http://schemas.microsoft.com/office/drawing/2014/main" val="1419702308"/>
                    </a:ext>
                  </a:extLst>
                </a:gridCol>
                <a:gridCol w="607987">
                  <a:extLst>
                    <a:ext uri="{9D8B030D-6E8A-4147-A177-3AD203B41FA5}">
                      <a16:colId xmlns:a16="http://schemas.microsoft.com/office/drawing/2014/main" val="2151082195"/>
                    </a:ext>
                  </a:extLst>
                </a:gridCol>
                <a:gridCol w="607987">
                  <a:extLst>
                    <a:ext uri="{9D8B030D-6E8A-4147-A177-3AD203B41FA5}">
                      <a16:colId xmlns:a16="http://schemas.microsoft.com/office/drawing/2014/main" val="3820364051"/>
                    </a:ext>
                  </a:extLst>
                </a:gridCol>
                <a:gridCol w="607987">
                  <a:extLst>
                    <a:ext uri="{9D8B030D-6E8A-4147-A177-3AD203B41FA5}">
                      <a16:colId xmlns:a16="http://schemas.microsoft.com/office/drawing/2014/main" val="859714593"/>
                    </a:ext>
                  </a:extLst>
                </a:gridCol>
              </a:tblGrid>
              <a:tr h="209550">
                <a:tc gridSpan="6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백만원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321962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85193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당기순손익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849,216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61,514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-24,548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-60,803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84,117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972699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60B534D-A9BF-A541-DDB8-19300F992C24}"/>
              </a:ext>
            </a:extLst>
          </p:cNvPr>
          <p:cNvGraphicFramePr>
            <a:graphicFrameLocks noGrp="1"/>
          </p:cNvGraphicFramePr>
          <p:nvPr/>
        </p:nvGraphicFramePr>
        <p:xfrm>
          <a:off x="436029" y="1658519"/>
          <a:ext cx="4165601" cy="628650"/>
        </p:xfrm>
        <a:graphic>
          <a:graphicData uri="http://schemas.openxmlformats.org/drawingml/2006/table">
            <a:tbl>
              <a:tblPr/>
              <a:tblGrid>
                <a:gridCol w="1125666">
                  <a:extLst>
                    <a:ext uri="{9D8B030D-6E8A-4147-A177-3AD203B41FA5}">
                      <a16:colId xmlns:a16="http://schemas.microsoft.com/office/drawing/2014/main" val="3698506008"/>
                    </a:ext>
                  </a:extLst>
                </a:gridCol>
                <a:gridCol w="607987">
                  <a:extLst>
                    <a:ext uri="{9D8B030D-6E8A-4147-A177-3AD203B41FA5}">
                      <a16:colId xmlns:a16="http://schemas.microsoft.com/office/drawing/2014/main" val="1366888372"/>
                    </a:ext>
                  </a:extLst>
                </a:gridCol>
                <a:gridCol w="607987">
                  <a:extLst>
                    <a:ext uri="{9D8B030D-6E8A-4147-A177-3AD203B41FA5}">
                      <a16:colId xmlns:a16="http://schemas.microsoft.com/office/drawing/2014/main" val="752053197"/>
                    </a:ext>
                  </a:extLst>
                </a:gridCol>
                <a:gridCol w="607987">
                  <a:extLst>
                    <a:ext uri="{9D8B030D-6E8A-4147-A177-3AD203B41FA5}">
                      <a16:colId xmlns:a16="http://schemas.microsoft.com/office/drawing/2014/main" val="968596258"/>
                    </a:ext>
                  </a:extLst>
                </a:gridCol>
                <a:gridCol w="607987">
                  <a:extLst>
                    <a:ext uri="{9D8B030D-6E8A-4147-A177-3AD203B41FA5}">
                      <a16:colId xmlns:a16="http://schemas.microsoft.com/office/drawing/2014/main" val="933620842"/>
                    </a:ext>
                  </a:extLst>
                </a:gridCol>
                <a:gridCol w="607987">
                  <a:extLst>
                    <a:ext uri="{9D8B030D-6E8A-4147-A177-3AD203B41FA5}">
                      <a16:colId xmlns:a16="http://schemas.microsoft.com/office/drawing/2014/main" val="3470233455"/>
                    </a:ext>
                  </a:extLst>
                </a:gridCol>
              </a:tblGrid>
              <a:tr h="209550">
                <a:tc gridSpan="6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%)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48691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80717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부채비율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86.8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93.5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101.3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123.4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114.2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499192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245D37EF-B03C-D637-C7D3-F7B95557E932}"/>
              </a:ext>
            </a:extLst>
          </p:cNvPr>
          <p:cNvGraphicFramePr>
            <a:graphicFrameLocks noGrp="1"/>
          </p:cNvGraphicFramePr>
          <p:nvPr/>
        </p:nvGraphicFramePr>
        <p:xfrm>
          <a:off x="416491" y="3847941"/>
          <a:ext cx="4776826" cy="836228"/>
        </p:xfrm>
        <a:graphic>
          <a:graphicData uri="http://schemas.openxmlformats.org/drawingml/2006/table">
            <a:tbl>
              <a:tblPr/>
              <a:tblGrid>
                <a:gridCol w="1120761">
                  <a:extLst>
                    <a:ext uri="{9D8B030D-6E8A-4147-A177-3AD203B41FA5}">
                      <a16:colId xmlns:a16="http://schemas.microsoft.com/office/drawing/2014/main" val="2678685357"/>
                    </a:ext>
                  </a:extLst>
                </a:gridCol>
                <a:gridCol w="522295">
                  <a:extLst>
                    <a:ext uri="{9D8B030D-6E8A-4147-A177-3AD203B41FA5}">
                      <a16:colId xmlns:a16="http://schemas.microsoft.com/office/drawing/2014/main" val="2672587086"/>
                    </a:ext>
                  </a:extLst>
                </a:gridCol>
                <a:gridCol w="522295">
                  <a:extLst>
                    <a:ext uri="{9D8B030D-6E8A-4147-A177-3AD203B41FA5}">
                      <a16:colId xmlns:a16="http://schemas.microsoft.com/office/drawing/2014/main" val="1099280453"/>
                    </a:ext>
                  </a:extLst>
                </a:gridCol>
                <a:gridCol w="522295">
                  <a:extLst>
                    <a:ext uri="{9D8B030D-6E8A-4147-A177-3AD203B41FA5}">
                      <a16:colId xmlns:a16="http://schemas.microsoft.com/office/drawing/2014/main" val="130139865"/>
                    </a:ext>
                  </a:extLst>
                </a:gridCol>
                <a:gridCol w="522295">
                  <a:extLst>
                    <a:ext uri="{9D8B030D-6E8A-4147-A177-3AD203B41FA5}">
                      <a16:colId xmlns:a16="http://schemas.microsoft.com/office/drawing/2014/main" val="2731327732"/>
                    </a:ext>
                  </a:extLst>
                </a:gridCol>
                <a:gridCol w="522295">
                  <a:extLst>
                    <a:ext uri="{9D8B030D-6E8A-4147-A177-3AD203B41FA5}">
                      <a16:colId xmlns:a16="http://schemas.microsoft.com/office/drawing/2014/main" val="1891632683"/>
                    </a:ext>
                  </a:extLst>
                </a:gridCol>
                <a:gridCol w="522295">
                  <a:extLst>
                    <a:ext uri="{9D8B030D-6E8A-4147-A177-3AD203B41FA5}">
                      <a16:colId xmlns:a16="http://schemas.microsoft.com/office/drawing/2014/main" val="627148992"/>
                    </a:ext>
                  </a:extLst>
                </a:gridCol>
                <a:gridCol w="522295">
                  <a:extLst>
                    <a:ext uri="{9D8B030D-6E8A-4147-A177-3AD203B41FA5}">
                      <a16:colId xmlns:a16="http://schemas.microsoft.com/office/drawing/2014/main" val="1531036758"/>
                    </a:ext>
                  </a:extLst>
                </a:gridCol>
              </a:tblGrid>
              <a:tr h="209057">
                <a:tc gridSpan="8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%)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043863"/>
                  </a:ext>
                </a:extLst>
              </a:tr>
              <a:tr h="2090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963828"/>
                  </a:ext>
                </a:extLst>
              </a:tr>
              <a:tr h="2090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취급액 증감율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530387"/>
                  </a:ext>
                </a:extLst>
              </a:tr>
              <a:tr h="2090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매출액 증감율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232588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BF134846-BADC-8F63-1823-09C75312979B}"/>
              </a:ext>
            </a:extLst>
          </p:cNvPr>
          <p:cNvGraphicFramePr>
            <a:graphicFrameLocks noGrp="1"/>
          </p:cNvGraphicFramePr>
          <p:nvPr/>
        </p:nvGraphicFramePr>
        <p:xfrm>
          <a:off x="416491" y="5109864"/>
          <a:ext cx="4776825" cy="641504"/>
        </p:xfrm>
        <a:graphic>
          <a:graphicData uri="http://schemas.openxmlformats.org/drawingml/2006/table">
            <a:tbl>
              <a:tblPr/>
              <a:tblGrid>
                <a:gridCol w="1107509">
                  <a:extLst>
                    <a:ext uri="{9D8B030D-6E8A-4147-A177-3AD203B41FA5}">
                      <a16:colId xmlns:a16="http://schemas.microsoft.com/office/drawing/2014/main" val="3374445007"/>
                    </a:ext>
                  </a:extLst>
                </a:gridCol>
                <a:gridCol w="524188">
                  <a:extLst>
                    <a:ext uri="{9D8B030D-6E8A-4147-A177-3AD203B41FA5}">
                      <a16:colId xmlns:a16="http://schemas.microsoft.com/office/drawing/2014/main" val="110745112"/>
                    </a:ext>
                  </a:extLst>
                </a:gridCol>
                <a:gridCol w="524188">
                  <a:extLst>
                    <a:ext uri="{9D8B030D-6E8A-4147-A177-3AD203B41FA5}">
                      <a16:colId xmlns:a16="http://schemas.microsoft.com/office/drawing/2014/main" val="2295644264"/>
                    </a:ext>
                  </a:extLst>
                </a:gridCol>
                <a:gridCol w="524188">
                  <a:extLst>
                    <a:ext uri="{9D8B030D-6E8A-4147-A177-3AD203B41FA5}">
                      <a16:colId xmlns:a16="http://schemas.microsoft.com/office/drawing/2014/main" val="2300846396"/>
                    </a:ext>
                  </a:extLst>
                </a:gridCol>
                <a:gridCol w="524188">
                  <a:extLst>
                    <a:ext uri="{9D8B030D-6E8A-4147-A177-3AD203B41FA5}">
                      <a16:colId xmlns:a16="http://schemas.microsoft.com/office/drawing/2014/main" val="987799357"/>
                    </a:ext>
                  </a:extLst>
                </a:gridCol>
                <a:gridCol w="524188">
                  <a:extLst>
                    <a:ext uri="{9D8B030D-6E8A-4147-A177-3AD203B41FA5}">
                      <a16:colId xmlns:a16="http://schemas.microsoft.com/office/drawing/2014/main" val="3593155706"/>
                    </a:ext>
                  </a:extLst>
                </a:gridCol>
                <a:gridCol w="524188">
                  <a:extLst>
                    <a:ext uri="{9D8B030D-6E8A-4147-A177-3AD203B41FA5}">
                      <a16:colId xmlns:a16="http://schemas.microsoft.com/office/drawing/2014/main" val="2115059944"/>
                    </a:ext>
                  </a:extLst>
                </a:gridCol>
                <a:gridCol w="524188">
                  <a:extLst>
                    <a:ext uri="{9D8B030D-6E8A-4147-A177-3AD203B41FA5}">
                      <a16:colId xmlns:a16="http://schemas.microsoft.com/office/drawing/2014/main" val="2439204920"/>
                    </a:ext>
                  </a:extLst>
                </a:gridCol>
              </a:tblGrid>
              <a:tr h="209550">
                <a:tc gridSpan="8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%)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544062"/>
                  </a:ext>
                </a:extLst>
              </a:tr>
              <a:tr h="2224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03437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영업이익 증감율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-4.7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-4.8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-3.8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-2.9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-2.0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F4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889642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B5221CDC-F84A-C367-61F5-92E5181224F5}"/>
              </a:ext>
            </a:extLst>
          </p:cNvPr>
          <p:cNvSpPr/>
          <p:nvPr/>
        </p:nvSpPr>
        <p:spPr>
          <a:xfrm>
            <a:off x="2780145" y="3140285"/>
            <a:ext cx="1219200" cy="20122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EA0CDA-DC99-D89F-5FE2-2BB15ECB03D2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88/109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9592456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8BC8078-4338-96AD-B5FD-871E4A303A4C}"/>
              </a:ext>
            </a:extLst>
          </p:cNvPr>
          <p:cNvGraphicFramePr>
            <a:graphicFrameLocks noGrp="1"/>
          </p:cNvGraphicFramePr>
          <p:nvPr/>
        </p:nvGraphicFramePr>
        <p:xfrm>
          <a:off x="206711" y="1207703"/>
          <a:ext cx="6847420" cy="2608006"/>
        </p:xfrm>
        <a:graphic>
          <a:graphicData uri="http://schemas.openxmlformats.org/drawingml/2006/table">
            <a:tbl>
              <a:tblPr/>
              <a:tblGrid>
                <a:gridCol w="128204">
                  <a:extLst>
                    <a:ext uri="{9D8B030D-6E8A-4147-A177-3AD203B41FA5}">
                      <a16:colId xmlns:a16="http://schemas.microsoft.com/office/drawing/2014/main" val="369347398"/>
                    </a:ext>
                  </a:extLst>
                </a:gridCol>
                <a:gridCol w="1025635">
                  <a:extLst>
                    <a:ext uri="{9D8B030D-6E8A-4147-A177-3AD203B41FA5}">
                      <a16:colId xmlns:a16="http://schemas.microsoft.com/office/drawing/2014/main" val="2535920226"/>
                    </a:ext>
                  </a:extLst>
                </a:gridCol>
                <a:gridCol w="736352">
                  <a:extLst>
                    <a:ext uri="{9D8B030D-6E8A-4147-A177-3AD203B41FA5}">
                      <a16:colId xmlns:a16="http://schemas.microsoft.com/office/drawing/2014/main" val="2435397716"/>
                    </a:ext>
                  </a:extLst>
                </a:gridCol>
                <a:gridCol w="736352">
                  <a:extLst>
                    <a:ext uri="{9D8B030D-6E8A-4147-A177-3AD203B41FA5}">
                      <a16:colId xmlns:a16="http://schemas.microsoft.com/office/drawing/2014/main" val="1977470890"/>
                    </a:ext>
                  </a:extLst>
                </a:gridCol>
                <a:gridCol w="736352">
                  <a:extLst>
                    <a:ext uri="{9D8B030D-6E8A-4147-A177-3AD203B41FA5}">
                      <a16:colId xmlns:a16="http://schemas.microsoft.com/office/drawing/2014/main" val="1311270507"/>
                    </a:ext>
                  </a:extLst>
                </a:gridCol>
                <a:gridCol w="736352">
                  <a:extLst>
                    <a:ext uri="{9D8B030D-6E8A-4147-A177-3AD203B41FA5}">
                      <a16:colId xmlns:a16="http://schemas.microsoft.com/office/drawing/2014/main" val="367056595"/>
                    </a:ext>
                  </a:extLst>
                </a:gridCol>
                <a:gridCol w="736352">
                  <a:extLst>
                    <a:ext uri="{9D8B030D-6E8A-4147-A177-3AD203B41FA5}">
                      <a16:colId xmlns:a16="http://schemas.microsoft.com/office/drawing/2014/main" val="288099442"/>
                    </a:ext>
                  </a:extLst>
                </a:gridCol>
                <a:gridCol w="670607">
                  <a:extLst>
                    <a:ext uri="{9D8B030D-6E8A-4147-A177-3AD203B41FA5}">
                      <a16:colId xmlns:a16="http://schemas.microsoft.com/office/drawing/2014/main" val="3408694962"/>
                    </a:ext>
                  </a:extLst>
                </a:gridCol>
                <a:gridCol w="670607">
                  <a:extLst>
                    <a:ext uri="{9D8B030D-6E8A-4147-A177-3AD203B41FA5}">
                      <a16:colId xmlns:a16="http://schemas.microsoft.com/office/drawing/2014/main" val="2598341959"/>
                    </a:ext>
                  </a:extLst>
                </a:gridCol>
                <a:gridCol w="670607">
                  <a:extLst>
                    <a:ext uri="{9D8B030D-6E8A-4147-A177-3AD203B41FA5}">
                      <a16:colId xmlns:a16="http://schemas.microsoft.com/office/drawing/2014/main" val="997531961"/>
                    </a:ext>
                  </a:extLst>
                </a:gridCol>
              </a:tblGrid>
              <a:tr h="223933">
                <a:tc gridSpan="10"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백만원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124404"/>
                  </a:ext>
                </a:extLst>
              </a:tr>
              <a:tr h="264897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5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2027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5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2028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5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2029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5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2030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5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2031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5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2032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501143"/>
                  </a:ext>
                </a:extLst>
              </a:tr>
              <a:tr h="264897">
                <a:tc grid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부채총계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3,796,297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3,663,173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3,614,257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3,575,965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3,551,877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3,534,590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3,523,282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3,518,551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876121"/>
                  </a:ext>
                </a:extLst>
              </a:tr>
              <a:tr h="26489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유동리스부채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443,985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436,450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438,931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442,580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447,255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452,628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459,058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465,982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094920"/>
                  </a:ext>
                </a:extLst>
              </a:tr>
              <a:tr h="26489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비유동리스부채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1,467,789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1,478,197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1,486,599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1,498,960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1,514,793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1,532,992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1,554,769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1,578,219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123923"/>
                  </a:ext>
                </a:extLst>
              </a:tr>
              <a:tr h="26489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리스부채 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1,911,774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1,914,647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1,925,530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1,941,540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1,962,048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1,985,620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2,013,828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2,044,201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033498"/>
                  </a:ext>
                </a:extLst>
              </a:tr>
              <a:tr h="264897">
                <a:tc grid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리스부채 제외 부채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1,884,523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1,748,526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1,688,727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1,634,424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1,589,829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1,548,970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1,509,454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1,474,350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636368"/>
                  </a:ext>
                </a:extLst>
              </a:tr>
              <a:tr h="264897">
                <a:tc grid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자본총계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3,325,040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3,438,806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3,552,334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3,653,882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3,756,867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3,871,508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3,986,905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4,108,626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802250"/>
                  </a:ext>
                </a:extLst>
              </a:tr>
              <a:tr h="264897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부채비율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114.2%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106.5%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101.7%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97.9%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94.5%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91.3%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88.4%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85.6%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180678"/>
                  </a:ext>
                </a:extLst>
              </a:tr>
              <a:tr h="264897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조정부채비율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56.7%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50.8%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47.5%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44.7%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42.3%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40.0%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37.9%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35.9%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754173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A7606387-1374-8536-158E-85B5C571BEE9}"/>
              </a:ext>
            </a:extLst>
          </p:cNvPr>
          <p:cNvSpPr/>
          <p:nvPr/>
        </p:nvSpPr>
        <p:spPr>
          <a:xfrm>
            <a:off x="7187465" y="1289308"/>
            <a:ext cx="4832413" cy="151335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40000"/>
              </a:lnSpc>
            </a:pPr>
            <a:endParaRPr lang="ko-KR" altLang="en-US" sz="1200"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DC8312-FB28-6FA7-808A-3FC75D2935E3}"/>
              </a:ext>
            </a:extLst>
          </p:cNvPr>
          <p:cNvSpPr txBox="1"/>
          <p:nvPr/>
        </p:nvSpPr>
        <p:spPr>
          <a:xfrm>
            <a:off x="7297135" y="1326419"/>
            <a:ext cx="4502411" cy="1353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40000"/>
              </a:lnSpc>
              <a:buSzPts val="1200"/>
            </a:pPr>
            <a:r>
              <a:rPr lang="ko-KR" altLang="en-US" sz="1200" b="1" dirty="0">
                <a:highlight>
                  <a:srgbClr val="FFFFFF"/>
                </a:highlight>
                <a:latin typeface="맑은 고딕" panose="020B0503020000020004" pitchFamily="50" charset="-127"/>
              </a:rPr>
              <a:t>① </a:t>
            </a:r>
            <a:r>
              <a:rPr lang="en-US" altLang="ko-KR" sz="1200" b="1" dirty="0">
                <a:highlight>
                  <a:srgbClr val="FFFFFF"/>
                </a:highlight>
                <a:latin typeface="맑은 고딕" panose="020B0503020000020004" pitchFamily="50" charset="-127"/>
              </a:rPr>
              <a:t>'25</a:t>
            </a:r>
            <a:r>
              <a:rPr lang="ko-KR" altLang="en-US" sz="1200" b="1" dirty="0">
                <a:highlight>
                  <a:srgbClr val="FFFFFF"/>
                </a:highlight>
                <a:latin typeface="맑은 고딕" panose="020B0503020000020004" pitchFamily="50" charset="-127"/>
              </a:rPr>
              <a:t>년 당사 부채비율은 </a:t>
            </a:r>
            <a:r>
              <a:rPr lang="en-US" altLang="ko-KR" sz="1200" b="1" dirty="0">
                <a:highlight>
                  <a:srgbClr val="FFFFFF"/>
                </a:highlight>
                <a:latin typeface="맑은 고딕" panose="020B0503020000020004" pitchFamily="50" charset="-127"/>
              </a:rPr>
              <a:t>114%</a:t>
            </a:r>
            <a:r>
              <a:rPr lang="ko-KR" altLang="en-US" sz="1200" b="1" dirty="0">
                <a:highlight>
                  <a:srgbClr val="FFFFFF"/>
                </a:highlight>
                <a:latin typeface="맑은 고딕" panose="020B0503020000020004" pitchFamily="50" charset="-127"/>
              </a:rPr>
              <a:t>로 </a:t>
            </a:r>
            <a:endParaRPr lang="en-US" altLang="ko-KR" sz="1200" b="1" dirty="0">
              <a:highlight>
                <a:srgbClr val="FFFFFF"/>
              </a:highlight>
              <a:latin typeface="맑은 고딕" panose="020B0503020000020004" pitchFamily="50" charset="-127"/>
            </a:endParaRPr>
          </a:p>
          <a:p>
            <a:pPr latinLnBrk="1">
              <a:lnSpc>
                <a:spcPct val="140000"/>
              </a:lnSpc>
              <a:buSzPts val="1200"/>
            </a:pPr>
            <a:r>
              <a:rPr lang="en-US" altLang="ko-KR" sz="1200" b="1" dirty="0">
                <a:highlight>
                  <a:srgbClr val="FFFFFF"/>
                </a:highlight>
                <a:latin typeface="맑은 고딕" panose="020B0503020000020004" pitchFamily="50" charset="-127"/>
              </a:rPr>
              <a:t>    </a:t>
            </a:r>
            <a:r>
              <a:rPr lang="ko-KR" altLang="en-US" sz="1200" b="1" dirty="0">
                <a:highlight>
                  <a:srgbClr val="FFFFFF"/>
                </a:highlight>
                <a:latin typeface="맑은 고딕" panose="020B0503020000020004" pitchFamily="50" charset="-127"/>
              </a:rPr>
              <a:t>동종 유통업계 기업의 </a:t>
            </a:r>
            <a:r>
              <a:rPr lang="en-US" altLang="ko-KR" sz="1200" b="1" dirty="0">
                <a:highlight>
                  <a:srgbClr val="FFFFFF"/>
                </a:highlight>
                <a:latin typeface="맑은 고딕" panose="020B0503020000020004" pitchFamily="50" charset="-127"/>
              </a:rPr>
              <a:t>113~117% </a:t>
            </a:r>
            <a:r>
              <a:rPr lang="ko-KR" altLang="en-US" sz="1200" b="1" dirty="0">
                <a:highlight>
                  <a:srgbClr val="FFFFFF"/>
                </a:highlight>
                <a:latin typeface="맑은 고딕" panose="020B0503020000020004" pitchFamily="50" charset="-127"/>
              </a:rPr>
              <a:t>수준과 유사</a:t>
            </a:r>
            <a:endParaRPr lang="en-US" altLang="ko-KR" sz="1200" b="1" dirty="0">
              <a:highlight>
                <a:srgbClr val="FFFFFF"/>
              </a:highlight>
              <a:latin typeface="맑은 고딕" panose="020B0503020000020004" pitchFamily="50" charset="-127"/>
            </a:endParaRPr>
          </a:p>
          <a:p>
            <a:pPr latinLnBrk="1">
              <a:lnSpc>
                <a:spcPct val="140000"/>
              </a:lnSpc>
              <a:buSzPts val="1200"/>
            </a:pPr>
            <a:r>
              <a:rPr lang="ko-KR" altLang="en-US" sz="1200" b="1" dirty="0">
                <a:highlight>
                  <a:srgbClr val="FFFFFF"/>
                </a:highlight>
                <a:latin typeface="맑은 고딕" panose="020B0503020000020004" pitchFamily="50" charset="-127"/>
              </a:rPr>
              <a:t>    이는 점포 운영을 중심으로 하는 업종 특성이 반영된 결과</a:t>
            </a:r>
            <a:endParaRPr lang="en-US" altLang="ko-KR" sz="1200" b="1" dirty="0">
              <a:highlight>
                <a:srgbClr val="FFFFFF"/>
              </a:highlight>
              <a:latin typeface="맑은 고딕" panose="020B0503020000020004" pitchFamily="50" charset="-127"/>
            </a:endParaRPr>
          </a:p>
          <a:p>
            <a:pPr>
              <a:lnSpc>
                <a:spcPct val="140000"/>
              </a:lnSpc>
              <a:buSzPts val="1200"/>
            </a:pPr>
            <a:r>
              <a:rPr lang="en-US" altLang="ko-KR" sz="1200" b="1" dirty="0">
                <a:highlight>
                  <a:srgbClr val="FFFFFF"/>
                </a:highlight>
                <a:latin typeface="맑은 고딕" panose="020B0503020000020004" pitchFamily="50" charset="-127"/>
              </a:rPr>
              <a:t>    (</a:t>
            </a:r>
            <a:r>
              <a:rPr lang="ko-KR" altLang="en-US" sz="1200" b="1" dirty="0">
                <a:highlight>
                  <a:srgbClr val="FFFFFF"/>
                </a:highlight>
                <a:latin typeface="맑은 고딕" panose="020B0503020000020004" pitchFamily="50" charset="-127"/>
              </a:rPr>
              <a:t>리스부채가 포함된 부채</a:t>
            </a:r>
            <a:r>
              <a:rPr lang="en-US" altLang="ko-KR" sz="1200" b="1" dirty="0">
                <a:highlight>
                  <a:srgbClr val="FFFFFF"/>
                </a:highlight>
                <a:latin typeface="맑은 고딕" panose="020B0503020000020004" pitchFamily="50" charset="-127"/>
              </a:rPr>
              <a:t>)</a:t>
            </a:r>
          </a:p>
          <a:p>
            <a:pPr>
              <a:lnSpc>
                <a:spcPct val="140000"/>
              </a:lnSpc>
              <a:buSzPts val="1200"/>
            </a:pPr>
            <a:r>
              <a:rPr lang="ko-KR" alt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맑은 고딕" panose="020B0503020000020004" pitchFamily="50" charset="-127"/>
              </a:rPr>
              <a:t>②</a:t>
            </a:r>
            <a:r>
              <a:rPr lang="en-US" altLang="ko-KR" sz="1200" b="1" dirty="0">
                <a:solidFill>
                  <a:srgbClr val="000000"/>
                </a:solidFill>
                <a:highlight>
                  <a:srgbClr val="FFFFFF"/>
                </a:highlight>
                <a:latin typeface="맑은 고딕" panose="020B0503020000020004" pitchFamily="50" charset="-127"/>
              </a:rPr>
              <a:t> </a:t>
            </a:r>
            <a:r>
              <a:rPr lang="ko-KR" alt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맑은 고딕" panose="020B0503020000020004" pitchFamily="50" charset="-127"/>
              </a:rPr>
              <a:t>리스부채를 제외한 </a:t>
            </a:r>
            <a:r>
              <a:rPr lang="en-US" altLang="ko-KR" sz="1200" b="1" dirty="0">
                <a:solidFill>
                  <a:srgbClr val="000000"/>
                </a:solidFill>
                <a:highlight>
                  <a:srgbClr val="FFFFFF"/>
                </a:highlight>
                <a:latin typeface="맑은 고딕" panose="020B0503020000020004" pitchFamily="50" charset="-127"/>
              </a:rPr>
              <a:t>'25</a:t>
            </a:r>
            <a:r>
              <a:rPr lang="ko-KR" alt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맑은 고딕" panose="020B0503020000020004" pitchFamily="50" charset="-127"/>
              </a:rPr>
              <a:t>년 조정부채비율은 </a:t>
            </a:r>
            <a:r>
              <a:rPr lang="en-US" altLang="ko-KR" sz="1200" b="1" dirty="0">
                <a:solidFill>
                  <a:srgbClr val="000000"/>
                </a:solidFill>
                <a:highlight>
                  <a:srgbClr val="FFFFFF"/>
                </a:highlight>
                <a:latin typeface="맑은 고딕" panose="020B0503020000020004" pitchFamily="50" charset="-127"/>
              </a:rPr>
              <a:t>57%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D4DCD1-45AA-46D6-0090-6F8A5D670BB9}"/>
              </a:ext>
            </a:extLst>
          </p:cNvPr>
          <p:cNvSpPr txBox="1"/>
          <p:nvPr/>
        </p:nvSpPr>
        <p:spPr>
          <a:xfrm>
            <a:off x="96126" y="986182"/>
            <a:ext cx="562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 eaLnBrk="1" fontAlgn="auto" latinLnBrk="1" hangingPunct="1">
              <a:buClrTx/>
              <a:buSzPts val="1200"/>
            </a:pPr>
            <a:r>
              <a:rPr lang="ko-KR" altLang="en-US" sz="1200" b="1" spc="-70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■ 당사 </a:t>
            </a:r>
            <a:r>
              <a:rPr lang="en-US" altLang="ko-KR" sz="1200" b="1" spc="-70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‘25</a:t>
            </a:r>
            <a:r>
              <a:rPr lang="ko-KR" altLang="en-US" sz="1200" b="1" spc="-70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년 부채비율 및 향후 </a:t>
            </a:r>
            <a:r>
              <a:rPr lang="en-US" altLang="ko-KR" sz="1200" b="1" spc="-70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7</a:t>
            </a:r>
            <a:r>
              <a:rPr lang="ko-KR" altLang="en-US" sz="1200" b="1" spc="-70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개년 추정</a:t>
            </a:r>
            <a:endParaRPr lang="en-US" altLang="ko-KR" sz="1200" b="1" spc="-70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88EFF4-7409-C717-D1AE-A4D9A91C331E}"/>
              </a:ext>
            </a:extLst>
          </p:cNvPr>
          <p:cNvSpPr txBox="1"/>
          <p:nvPr/>
        </p:nvSpPr>
        <p:spPr>
          <a:xfrm>
            <a:off x="85498" y="4367745"/>
            <a:ext cx="24698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 eaLnBrk="1" fontAlgn="auto" latinLnBrk="1" hangingPunct="1">
              <a:buClrTx/>
              <a:buSzPts val="1200"/>
            </a:pPr>
            <a:r>
              <a:rPr lang="ko-KR" altLang="en-US" sz="1200" b="1" spc="-70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■ 동종업계 </a:t>
            </a:r>
            <a:r>
              <a:rPr lang="en-US" altLang="ko-KR" sz="1200" b="1" spc="-70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‘24</a:t>
            </a:r>
            <a:r>
              <a:rPr lang="ko-KR" altLang="en-US" sz="1200" b="1" spc="-70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년 부채비율</a:t>
            </a:r>
            <a:endParaRPr lang="en-US" altLang="ko-KR" sz="1200" b="1" spc="-70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20591F-29CD-1F43-172C-0AC8A7095668}"/>
              </a:ext>
            </a:extLst>
          </p:cNvPr>
          <p:cNvSpPr txBox="1"/>
          <p:nvPr/>
        </p:nvSpPr>
        <p:spPr>
          <a:xfrm>
            <a:off x="206711" y="3875287"/>
            <a:ext cx="14350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+mn-ea"/>
              </a:rPr>
              <a:t>*</a:t>
            </a:r>
            <a:r>
              <a:rPr lang="ko-KR" altLang="en-US" sz="1000" dirty="0">
                <a:latin typeface="+mn-ea"/>
              </a:rPr>
              <a:t>부채비율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부채</a:t>
            </a:r>
            <a:r>
              <a:rPr lang="en-US" altLang="ko-KR" sz="1000" dirty="0">
                <a:latin typeface="+mn-ea"/>
              </a:rPr>
              <a:t>/</a:t>
            </a:r>
            <a:r>
              <a:rPr lang="ko-KR" altLang="en-US" sz="1000" dirty="0">
                <a:latin typeface="+mn-ea"/>
              </a:rPr>
              <a:t>자본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B3C482-FAC0-386C-0DAA-EE435297F358}"/>
              </a:ext>
            </a:extLst>
          </p:cNvPr>
          <p:cNvSpPr txBox="1"/>
          <p:nvPr/>
        </p:nvSpPr>
        <p:spPr>
          <a:xfrm>
            <a:off x="57150" y="321827"/>
            <a:ext cx="10715625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부채비율이 타사대비 높은 이유는 무엇인가요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 (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상세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519302D-A4AF-8BBC-0AB0-C857B9C57E1E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>
                <a:solidFill>
                  <a:schemeClr val="tx2">
                    <a:lumMod val="75000"/>
                  </a:schemeClr>
                </a:solidFill>
                <a:latin typeface="+mn-ea"/>
              </a:rPr>
              <a:t>CFO</a:t>
            </a:r>
            <a:endParaRPr lang="ko-KR" altLang="en-US" sz="105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11603E-CF79-C3EA-4F26-71B30D5ADBE0}"/>
              </a:ext>
            </a:extLst>
          </p:cNvPr>
          <p:cNvSpPr txBox="1"/>
          <p:nvPr/>
        </p:nvSpPr>
        <p:spPr>
          <a:xfrm>
            <a:off x="65067" y="19001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6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재무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8DA0538-D91B-B66F-5F46-F2D33537C0BD}"/>
              </a:ext>
            </a:extLst>
          </p:cNvPr>
          <p:cNvGraphicFramePr>
            <a:graphicFrameLocks noGrp="1"/>
          </p:cNvGraphicFramePr>
          <p:nvPr/>
        </p:nvGraphicFramePr>
        <p:xfrm>
          <a:off x="4348962" y="4644744"/>
          <a:ext cx="3606799" cy="1883466"/>
        </p:xfrm>
        <a:graphic>
          <a:graphicData uri="http://schemas.openxmlformats.org/drawingml/2006/table">
            <a:tbl>
              <a:tblPr/>
              <a:tblGrid>
                <a:gridCol w="1155700">
                  <a:extLst>
                    <a:ext uri="{9D8B030D-6E8A-4147-A177-3AD203B41FA5}">
                      <a16:colId xmlns:a16="http://schemas.microsoft.com/office/drawing/2014/main" val="102882176"/>
                    </a:ext>
                  </a:extLst>
                </a:gridCol>
                <a:gridCol w="817033">
                  <a:extLst>
                    <a:ext uri="{9D8B030D-6E8A-4147-A177-3AD203B41FA5}">
                      <a16:colId xmlns:a16="http://schemas.microsoft.com/office/drawing/2014/main" val="1173707714"/>
                    </a:ext>
                  </a:extLst>
                </a:gridCol>
                <a:gridCol w="817033">
                  <a:extLst>
                    <a:ext uri="{9D8B030D-6E8A-4147-A177-3AD203B41FA5}">
                      <a16:colId xmlns:a16="http://schemas.microsoft.com/office/drawing/2014/main" val="1517917716"/>
                    </a:ext>
                  </a:extLst>
                </a:gridCol>
                <a:gridCol w="817033">
                  <a:extLst>
                    <a:ext uri="{9D8B030D-6E8A-4147-A177-3AD203B41FA5}">
                      <a16:colId xmlns:a16="http://schemas.microsoft.com/office/drawing/2014/main" val="3599998044"/>
                    </a:ext>
                  </a:extLst>
                </a:gridCol>
              </a:tblGrid>
              <a:tr h="222820">
                <a:tc gridSpan="4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억원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729863"/>
                  </a:ext>
                </a:extLst>
              </a:tr>
              <a:tr h="2481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10800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신세계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롯데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이마트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267946"/>
                  </a:ext>
                </a:extLst>
              </a:tr>
              <a:tr h="2481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부채</a:t>
                      </a:r>
                    </a:p>
                  </a:txBody>
                  <a:tcPr marL="10800" marR="72000" marT="9525" marB="1080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47,677 </a:t>
                      </a:r>
                    </a:p>
                  </a:txBody>
                  <a:tcPr marL="9525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162,531 </a:t>
                      </a:r>
                    </a:p>
                  </a:txBody>
                  <a:tcPr marL="9525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105,088 </a:t>
                      </a:r>
                    </a:p>
                  </a:txBody>
                  <a:tcPr marL="10800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700314"/>
                  </a:ext>
                </a:extLst>
              </a:tr>
              <a:tr h="3340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부채</a:t>
                      </a:r>
                      <a:b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리스부채 제외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10800" marR="72000" marT="9525" marB="1080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43,827 </a:t>
                      </a:r>
                    </a:p>
                  </a:txBody>
                  <a:tcPr marL="9525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121,063 </a:t>
                      </a:r>
                    </a:p>
                  </a:txBody>
                  <a:tcPr marL="9525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90,047 </a:t>
                      </a:r>
                    </a:p>
                  </a:txBody>
                  <a:tcPr marL="9525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554297"/>
                  </a:ext>
                </a:extLst>
              </a:tr>
              <a:tr h="2481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자본</a:t>
                      </a:r>
                    </a:p>
                  </a:txBody>
                  <a:tcPr marL="10800" marR="72000" marT="9525" marB="1080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40,675 </a:t>
                      </a:r>
                    </a:p>
                  </a:txBody>
                  <a:tcPr marL="9525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143,522 </a:t>
                      </a:r>
                    </a:p>
                  </a:txBody>
                  <a:tcPr marL="9525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91,468 </a:t>
                      </a:r>
                    </a:p>
                  </a:txBody>
                  <a:tcPr marL="9525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576427"/>
                  </a:ext>
                </a:extLst>
              </a:tr>
              <a:tr h="2481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부채비율</a:t>
                      </a:r>
                    </a:p>
                  </a:txBody>
                  <a:tcPr marL="10800" marR="72000" marT="9525" marB="1080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117%</a:t>
                      </a:r>
                    </a:p>
                  </a:txBody>
                  <a:tcPr marL="9525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113%</a:t>
                      </a:r>
                    </a:p>
                  </a:txBody>
                  <a:tcPr marL="9525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115%</a:t>
                      </a:r>
                    </a:p>
                  </a:txBody>
                  <a:tcPr marL="9525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582362"/>
                  </a:ext>
                </a:extLst>
              </a:tr>
              <a:tr h="3340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부채비율</a:t>
                      </a:r>
                      <a:br>
                        <a:rPr lang="ko-KR" altLang="en-US" sz="10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리스부채 제외</a:t>
                      </a:r>
                      <a:r>
                        <a:rPr lang="en-US" altLang="ko-KR" sz="10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10800" marR="72000" marT="9525" marB="1080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108%</a:t>
                      </a:r>
                    </a:p>
                  </a:txBody>
                  <a:tcPr marL="9525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84%</a:t>
                      </a:r>
                    </a:p>
                  </a:txBody>
                  <a:tcPr marL="9525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98%</a:t>
                      </a:r>
                    </a:p>
                  </a:txBody>
                  <a:tcPr marL="9525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441579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4D082B2D-32B7-E3BF-0AD1-6CB3F2D81649}"/>
              </a:ext>
            </a:extLst>
          </p:cNvPr>
          <p:cNvGraphicFramePr>
            <a:graphicFrameLocks noGrp="1"/>
          </p:cNvGraphicFramePr>
          <p:nvPr/>
        </p:nvGraphicFramePr>
        <p:xfrm>
          <a:off x="180585" y="4669874"/>
          <a:ext cx="3755688" cy="1925972"/>
        </p:xfrm>
        <a:graphic>
          <a:graphicData uri="http://schemas.openxmlformats.org/drawingml/2006/table">
            <a:tbl>
              <a:tblPr/>
              <a:tblGrid>
                <a:gridCol w="1077213">
                  <a:extLst>
                    <a:ext uri="{9D8B030D-6E8A-4147-A177-3AD203B41FA5}">
                      <a16:colId xmlns:a16="http://schemas.microsoft.com/office/drawing/2014/main" val="879394519"/>
                    </a:ext>
                  </a:extLst>
                </a:gridCol>
                <a:gridCol w="892825">
                  <a:extLst>
                    <a:ext uri="{9D8B030D-6E8A-4147-A177-3AD203B41FA5}">
                      <a16:colId xmlns:a16="http://schemas.microsoft.com/office/drawing/2014/main" val="2970506952"/>
                    </a:ext>
                  </a:extLst>
                </a:gridCol>
                <a:gridCol w="892825">
                  <a:extLst>
                    <a:ext uri="{9D8B030D-6E8A-4147-A177-3AD203B41FA5}">
                      <a16:colId xmlns:a16="http://schemas.microsoft.com/office/drawing/2014/main" val="4030253218"/>
                    </a:ext>
                  </a:extLst>
                </a:gridCol>
                <a:gridCol w="892825">
                  <a:extLst>
                    <a:ext uri="{9D8B030D-6E8A-4147-A177-3AD203B41FA5}">
                      <a16:colId xmlns:a16="http://schemas.microsoft.com/office/drawing/2014/main" val="2953302733"/>
                    </a:ext>
                  </a:extLst>
                </a:gridCol>
              </a:tblGrid>
              <a:tr h="216162">
                <a:tc gridSpan="4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억원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754595"/>
                  </a:ext>
                </a:extLst>
              </a:tr>
              <a:tr h="26489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9525" marR="10800" marT="9525" marB="1080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CJ ENM</a:t>
                      </a:r>
                    </a:p>
                  </a:txBody>
                  <a:tcPr marL="9525" marR="108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현대홈쇼핑</a:t>
                      </a:r>
                    </a:p>
                  </a:txBody>
                  <a:tcPr marL="9525" marR="108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롯데홈쇼핑</a:t>
                      </a:r>
                    </a:p>
                  </a:txBody>
                  <a:tcPr marL="9525" marR="108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96693"/>
                  </a:ext>
                </a:extLst>
              </a:tr>
              <a:tr h="26489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부채</a:t>
                      </a:r>
                    </a:p>
                  </a:txBody>
                  <a:tcPr marL="9525" marR="10800" marT="9525" marB="1080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29,449 </a:t>
                      </a:r>
                    </a:p>
                  </a:txBody>
                  <a:tcPr marL="9525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2,656 </a:t>
                      </a:r>
                    </a:p>
                  </a:txBody>
                  <a:tcPr marL="9525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2,830 </a:t>
                      </a:r>
                    </a:p>
                  </a:txBody>
                  <a:tcPr marL="9525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272211"/>
                  </a:ext>
                </a:extLst>
              </a:tr>
              <a:tr h="32395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부채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리스부채 제외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10800" marT="9525" marB="1080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21,383 </a:t>
                      </a:r>
                    </a:p>
                  </a:txBody>
                  <a:tcPr marL="9525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2,441 </a:t>
                      </a:r>
                    </a:p>
                  </a:txBody>
                  <a:tcPr marL="9525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2,704 </a:t>
                      </a:r>
                    </a:p>
                  </a:txBody>
                  <a:tcPr marL="9525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317823"/>
                  </a:ext>
                </a:extLst>
              </a:tr>
              <a:tr h="26489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자본</a:t>
                      </a:r>
                    </a:p>
                  </a:txBody>
                  <a:tcPr marL="9525" marR="10800" marT="9525" marB="1080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25,205 </a:t>
                      </a:r>
                    </a:p>
                  </a:txBody>
                  <a:tcPr marL="9525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16,266 </a:t>
                      </a:r>
                    </a:p>
                  </a:txBody>
                  <a:tcPr marL="9525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12,769 </a:t>
                      </a:r>
                    </a:p>
                  </a:txBody>
                  <a:tcPr marL="9525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043371"/>
                  </a:ext>
                </a:extLst>
              </a:tr>
              <a:tr h="26489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부채비율</a:t>
                      </a:r>
                    </a:p>
                  </a:txBody>
                  <a:tcPr marL="9525" marR="10800" marT="9525" marB="1080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117%</a:t>
                      </a:r>
                    </a:p>
                  </a:txBody>
                  <a:tcPr marL="9525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16%</a:t>
                      </a:r>
                    </a:p>
                  </a:txBody>
                  <a:tcPr marL="9525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22%</a:t>
                      </a:r>
                    </a:p>
                  </a:txBody>
                  <a:tcPr marL="9525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238855"/>
                  </a:ext>
                </a:extLst>
              </a:tr>
              <a:tr h="32395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부채비율</a:t>
                      </a:r>
                      <a:br>
                        <a:rPr lang="ko-KR" altLang="en-US" sz="10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리스부채 제외</a:t>
                      </a:r>
                      <a:r>
                        <a:rPr lang="en-US" altLang="ko-KR" sz="10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10800" marT="9525" marB="1080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85%</a:t>
                      </a:r>
                    </a:p>
                  </a:txBody>
                  <a:tcPr marL="9525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15%</a:t>
                      </a:r>
                    </a:p>
                  </a:txBody>
                  <a:tcPr marL="9525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21%</a:t>
                      </a:r>
                    </a:p>
                  </a:txBody>
                  <a:tcPr marL="9525" marR="72000" marT="9525" marB="108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41631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58D64D6-EF0A-C5D5-17BD-F09AA84293C8}"/>
              </a:ext>
            </a:extLst>
          </p:cNvPr>
          <p:cNvSpPr txBox="1"/>
          <p:nvPr/>
        </p:nvSpPr>
        <p:spPr>
          <a:xfrm>
            <a:off x="4348962" y="4367745"/>
            <a:ext cx="24698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 eaLnBrk="1" fontAlgn="auto" latinLnBrk="1" hangingPunct="1">
              <a:buClrTx/>
              <a:buSzPts val="1200"/>
            </a:pPr>
            <a:r>
              <a:rPr lang="ko-KR" altLang="en-US" sz="1200" b="1" spc="-70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■ 유통업계 </a:t>
            </a:r>
            <a:r>
              <a:rPr lang="en-US" altLang="ko-KR" sz="1200" b="1" spc="-70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‘24</a:t>
            </a:r>
            <a:r>
              <a:rPr lang="ko-KR" altLang="en-US" sz="1200" b="1" spc="-70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년 부채비율</a:t>
            </a:r>
            <a:endParaRPr lang="en-US" altLang="ko-KR" sz="1200" b="1" spc="-70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AFD938B-E556-6FFC-B0A4-0AB8644DB693}"/>
              </a:ext>
            </a:extLst>
          </p:cNvPr>
          <p:cNvSpPr/>
          <p:nvPr/>
        </p:nvSpPr>
        <p:spPr>
          <a:xfrm>
            <a:off x="1491377" y="3270340"/>
            <a:ext cx="5625000" cy="56392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3F681C-B1F0-DD94-54F8-2BE5896DFB81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89/109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43556255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B3813411-FABC-B4B1-1A80-57BBFFD67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008" y="120454"/>
            <a:ext cx="5950708" cy="661708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3A3B6EA-28F0-F554-784F-4D0A34FF5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137" y="120454"/>
            <a:ext cx="948048" cy="661708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DDDE8EA-1776-BA4C-DE90-0B2E267F343E}"/>
              </a:ext>
            </a:extLst>
          </p:cNvPr>
          <p:cNvSpPr txBox="1"/>
          <p:nvPr/>
        </p:nvSpPr>
        <p:spPr>
          <a:xfrm>
            <a:off x="8651631" y="240908"/>
            <a:ext cx="3432216" cy="40291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ko-KR" altLang="en-US" sz="1100" b="1" dirty="0">
                <a:latin typeface="+mn-ea"/>
              </a:rPr>
              <a:t>홈쇼핑 매출 </a:t>
            </a:r>
            <a:r>
              <a:rPr lang="en-US" altLang="ko-KR" sz="1100" b="1" dirty="0">
                <a:latin typeface="+mn-ea"/>
              </a:rPr>
              <a:t>: -0.5% </a:t>
            </a:r>
            <a:r>
              <a:rPr lang="ko-KR" altLang="en-US" sz="1100" b="1" dirty="0">
                <a:latin typeface="+mn-ea"/>
              </a:rPr>
              <a:t>내외로 감소 예상</a:t>
            </a:r>
            <a:endParaRPr lang="en-US" altLang="ko-KR" sz="11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100" b="1" dirty="0">
                <a:latin typeface="+mn-ea"/>
              </a:rPr>
              <a:t>-</a:t>
            </a:r>
            <a:r>
              <a:rPr lang="ko-KR" altLang="en-US" sz="1100" b="1" dirty="0">
                <a:latin typeface="+mn-ea"/>
              </a:rPr>
              <a:t> 원인 </a:t>
            </a:r>
            <a:r>
              <a:rPr lang="en-US" altLang="ko-KR" sz="1100" b="1" dirty="0">
                <a:latin typeface="+mn-ea"/>
              </a:rPr>
              <a:t>: TV </a:t>
            </a:r>
            <a:r>
              <a:rPr lang="ko-KR" altLang="en-US" sz="1100" b="1" dirty="0">
                <a:latin typeface="+mn-ea"/>
              </a:rPr>
              <a:t>시청률 하락과 모바일 커머스 경쟁 심화</a:t>
            </a:r>
            <a:br>
              <a:rPr lang="en-US" altLang="ko-KR" sz="1100" b="1" dirty="0">
                <a:latin typeface="+mn-ea"/>
              </a:rPr>
            </a:br>
            <a:r>
              <a:rPr lang="en-US" altLang="ko-KR" sz="1100" b="1" dirty="0">
                <a:latin typeface="+mn-ea"/>
              </a:rPr>
              <a:t>-</a:t>
            </a:r>
            <a:r>
              <a:rPr lang="ko-KR" altLang="en-US" sz="1100" b="1" dirty="0">
                <a:latin typeface="+mn-ea"/>
              </a:rPr>
              <a:t> </a:t>
            </a:r>
            <a:r>
              <a:rPr lang="ko-KR" altLang="en-US" sz="1100" b="1" dirty="0" err="1">
                <a:latin typeface="+mn-ea"/>
              </a:rPr>
              <a:t>취급액</a:t>
            </a:r>
            <a:r>
              <a:rPr lang="ko-KR" altLang="en-US" sz="1100" b="1" dirty="0">
                <a:latin typeface="+mn-ea"/>
              </a:rPr>
              <a:t> 감소 최소화 방안</a:t>
            </a:r>
            <a:endParaRPr lang="en-US" altLang="ko-KR" sz="11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100" b="1" dirty="0">
                <a:solidFill>
                  <a:srgbClr val="0000FF"/>
                </a:solidFill>
                <a:latin typeface="+mn-ea"/>
              </a:rPr>
              <a:t>  ①</a:t>
            </a:r>
            <a:r>
              <a:rPr lang="ko-KR" altLang="en-US" sz="1100" b="1" dirty="0" err="1">
                <a:solidFill>
                  <a:srgbClr val="0000FF"/>
                </a:solidFill>
                <a:latin typeface="+mn-ea"/>
              </a:rPr>
              <a:t>트렌디한</a:t>
            </a:r>
            <a:r>
              <a:rPr lang="ko-KR" altLang="en-US" sz="1100" b="1" dirty="0">
                <a:solidFill>
                  <a:srgbClr val="0000FF"/>
                </a:solidFill>
                <a:latin typeface="+mn-ea"/>
              </a:rPr>
              <a:t> 상품 소개를 통해 고객 유입 증가</a:t>
            </a:r>
            <a:endParaRPr lang="en-US" altLang="ko-KR" sz="11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100" b="1" dirty="0">
                <a:solidFill>
                  <a:srgbClr val="0000FF"/>
                </a:solidFill>
                <a:latin typeface="+mn-ea"/>
              </a:rPr>
              <a:t>  </a:t>
            </a:r>
            <a:r>
              <a:rPr lang="ko-KR" altLang="en-US" sz="1100" b="1" dirty="0">
                <a:solidFill>
                  <a:srgbClr val="0000FF"/>
                </a:solidFill>
                <a:latin typeface="+mn-ea"/>
              </a:rPr>
              <a:t>②가성비 보다 고품질 패션 강화</a:t>
            </a:r>
            <a:endParaRPr lang="en-US" altLang="ko-KR" sz="11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100" b="1" dirty="0">
                <a:solidFill>
                  <a:srgbClr val="0000FF"/>
                </a:solidFill>
                <a:latin typeface="+mn-ea"/>
              </a:rPr>
              <a:t>  </a:t>
            </a:r>
            <a:r>
              <a:rPr lang="ko-KR" altLang="ko-KR" sz="1100" b="1" dirty="0">
                <a:solidFill>
                  <a:srgbClr val="0000FF"/>
                </a:solidFill>
                <a:latin typeface="+mn-ea"/>
              </a:rPr>
              <a:t>③</a:t>
            </a:r>
            <a:r>
              <a:rPr lang="ko-KR" altLang="en-US" sz="1100" b="1" dirty="0">
                <a:solidFill>
                  <a:srgbClr val="0000FF"/>
                </a:solidFill>
                <a:latin typeface="+mn-ea"/>
              </a:rPr>
              <a:t>생필품 위주에서 기능성 상품</a:t>
            </a:r>
            <a:r>
              <a:rPr lang="en-US" altLang="ko-KR" sz="11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100" b="1" dirty="0">
                <a:solidFill>
                  <a:srgbClr val="0000FF"/>
                </a:solidFill>
                <a:latin typeface="+mn-ea"/>
              </a:rPr>
              <a:t>뷰티</a:t>
            </a:r>
            <a:r>
              <a:rPr lang="en-US" altLang="ko-KR" sz="11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100" b="1" dirty="0">
                <a:solidFill>
                  <a:srgbClr val="0000FF"/>
                </a:solidFill>
                <a:latin typeface="+mn-ea"/>
              </a:rPr>
              <a:t>건강</a:t>
            </a:r>
            <a:r>
              <a:rPr lang="en-US" altLang="ko-KR" sz="1100" b="1" dirty="0">
                <a:solidFill>
                  <a:srgbClr val="0000FF"/>
                </a:solidFill>
                <a:latin typeface="+mn-ea"/>
              </a:rPr>
              <a:t>) </a:t>
            </a:r>
            <a:r>
              <a:rPr lang="ko-KR" altLang="en-US" sz="1100" b="1" dirty="0">
                <a:solidFill>
                  <a:srgbClr val="0000FF"/>
                </a:solidFill>
                <a:latin typeface="+mn-ea"/>
              </a:rPr>
              <a:t>확대</a:t>
            </a:r>
            <a:endParaRPr lang="en-US" altLang="ko-KR" sz="11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11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100" b="1" dirty="0">
                <a:latin typeface="+mn-ea"/>
              </a:rPr>
              <a:t>* </a:t>
            </a:r>
            <a:r>
              <a:rPr lang="ko-KR" altLang="en-US" sz="1100" b="1" dirty="0">
                <a:latin typeface="+mn-ea"/>
              </a:rPr>
              <a:t>방송사업 매출액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ko-KR" altLang="en-US" sz="1100" b="1" dirty="0">
                <a:latin typeface="+mn-ea"/>
              </a:rPr>
              <a:t>수수료</a:t>
            </a:r>
            <a:r>
              <a:rPr lang="en-US" altLang="ko-KR" sz="1100" b="1" dirty="0">
                <a:latin typeface="+mn-ea"/>
              </a:rPr>
              <a:t>) -2% </a:t>
            </a:r>
            <a:r>
              <a:rPr lang="ko-KR" altLang="en-US" sz="1100" b="1" dirty="0">
                <a:latin typeface="+mn-ea"/>
              </a:rPr>
              <a:t>감소 예상</a:t>
            </a:r>
            <a:endParaRPr lang="en-US" altLang="ko-KR" sz="11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100" b="1" dirty="0">
                <a:latin typeface="+mn-ea"/>
              </a:rPr>
              <a:t>* </a:t>
            </a:r>
            <a:r>
              <a:rPr lang="ko-KR" altLang="en-US" sz="1100" b="1" dirty="0">
                <a:latin typeface="+mn-ea"/>
              </a:rPr>
              <a:t>방송상품 매출액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ko-KR" altLang="en-US" sz="1100" b="1" dirty="0" err="1">
                <a:latin typeface="+mn-ea"/>
              </a:rPr>
              <a:t>직매입</a:t>
            </a:r>
            <a:r>
              <a:rPr lang="en-US" altLang="ko-KR" sz="1100" b="1" dirty="0">
                <a:latin typeface="+mn-ea"/>
              </a:rPr>
              <a:t>)</a:t>
            </a:r>
            <a:r>
              <a:rPr lang="ko-KR" altLang="en-US" sz="1100" b="1" dirty="0">
                <a:latin typeface="+mn-ea"/>
              </a:rPr>
              <a:t> </a:t>
            </a:r>
            <a:r>
              <a:rPr lang="en-US" altLang="ko-KR" sz="1100" b="1" dirty="0">
                <a:latin typeface="+mn-ea"/>
              </a:rPr>
              <a:t>-5% </a:t>
            </a:r>
            <a:r>
              <a:rPr lang="ko-KR" altLang="en-US" sz="1100" b="1" dirty="0">
                <a:latin typeface="+mn-ea"/>
              </a:rPr>
              <a:t>감소 예상</a:t>
            </a:r>
            <a:endParaRPr lang="en-US" altLang="ko-KR" sz="11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100" b="1" dirty="0">
                <a:latin typeface="+mn-ea"/>
              </a:rPr>
              <a:t>* </a:t>
            </a:r>
            <a:r>
              <a:rPr lang="ko-KR" altLang="en-US" sz="1100" b="1" dirty="0">
                <a:latin typeface="+mn-ea"/>
              </a:rPr>
              <a:t>모바일</a:t>
            </a:r>
            <a:r>
              <a:rPr lang="en-US" altLang="ko-KR" sz="1100" b="1" dirty="0">
                <a:latin typeface="+mn-ea"/>
              </a:rPr>
              <a:t>/</a:t>
            </a:r>
            <a:r>
              <a:rPr lang="ko-KR" altLang="en-US" sz="1100" b="1" dirty="0">
                <a:latin typeface="+mn-ea"/>
              </a:rPr>
              <a:t>인터넷 매출액 </a:t>
            </a:r>
            <a:r>
              <a:rPr lang="en-US" altLang="ko-KR" sz="1100" b="1" dirty="0">
                <a:latin typeface="+mn-ea"/>
              </a:rPr>
              <a:t>+2% </a:t>
            </a:r>
            <a:r>
              <a:rPr lang="ko-KR" altLang="en-US" sz="1100" b="1" dirty="0">
                <a:latin typeface="+mn-ea"/>
              </a:rPr>
              <a:t>증가 예상</a:t>
            </a:r>
            <a:endParaRPr lang="en-US" altLang="ko-KR" sz="11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100" b="1" dirty="0">
                <a:latin typeface="+mn-ea"/>
              </a:rPr>
              <a:t>   : UI•UX </a:t>
            </a:r>
            <a:r>
              <a:rPr lang="ko-KR" altLang="en-US" sz="1100" b="1" dirty="0">
                <a:latin typeface="+mn-ea"/>
              </a:rPr>
              <a:t>개선</a:t>
            </a:r>
            <a:r>
              <a:rPr lang="en-US" altLang="ko-KR" sz="1100" b="1" dirty="0">
                <a:latin typeface="+mn-ea"/>
              </a:rPr>
              <a:t>, </a:t>
            </a:r>
            <a:r>
              <a:rPr lang="ko-KR" altLang="en-US" sz="1100" b="1" dirty="0">
                <a:latin typeface="+mn-ea"/>
              </a:rPr>
              <a:t>마케팅 강화 </a:t>
            </a:r>
            <a:endParaRPr lang="en-US" altLang="ko-KR" sz="11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100" b="1" dirty="0">
                <a:latin typeface="+mn-ea"/>
              </a:rPr>
              <a:t>*</a:t>
            </a:r>
            <a:r>
              <a:rPr lang="ko-KR" altLang="en-US" sz="1100" b="1" dirty="0">
                <a:latin typeface="+mn-ea"/>
              </a:rPr>
              <a:t>기타매출액</a:t>
            </a:r>
            <a:br>
              <a:rPr lang="en-US" altLang="ko-KR" sz="1100" b="1" dirty="0">
                <a:latin typeface="+mn-ea"/>
              </a:rPr>
            </a:br>
            <a:r>
              <a:rPr lang="en-US" altLang="ko-KR" sz="1100" b="1" dirty="0">
                <a:latin typeface="+mn-ea"/>
              </a:rPr>
              <a:t>   : </a:t>
            </a:r>
            <a:r>
              <a:rPr lang="ko-KR" altLang="en-US" sz="1100" b="1" dirty="0">
                <a:latin typeface="+mn-ea"/>
              </a:rPr>
              <a:t>보험 </a:t>
            </a:r>
            <a:r>
              <a:rPr lang="ko-KR" altLang="en-US" sz="1100" b="1" dirty="0" err="1">
                <a:latin typeface="+mn-ea"/>
              </a:rPr>
              <a:t>아웃바운드</a:t>
            </a:r>
            <a:r>
              <a:rPr lang="ko-KR" altLang="en-US" sz="1100" b="1" dirty="0">
                <a:latin typeface="+mn-ea"/>
              </a:rPr>
              <a:t> 사업 매출 감소 반영</a:t>
            </a:r>
            <a:endParaRPr lang="en-US" altLang="ko-KR" sz="11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11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맑은 고딕" panose="020B0503020000020004" pitchFamily="50" charset="-127"/>
              </a:rPr>
              <a:t>■</a:t>
            </a:r>
            <a:r>
              <a:rPr lang="ko-KR" altLang="en-US" sz="1100" b="1" dirty="0">
                <a:latin typeface="+mn-ea"/>
              </a:rPr>
              <a:t> 리테일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ko-KR" altLang="en-US" sz="1100" b="1" dirty="0">
                <a:latin typeface="+mn-ea"/>
              </a:rPr>
              <a:t>편의점</a:t>
            </a:r>
            <a:r>
              <a:rPr lang="en-US" altLang="ko-KR" sz="1100" b="1" dirty="0">
                <a:latin typeface="+mn-ea"/>
              </a:rPr>
              <a:t>, </a:t>
            </a:r>
            <a:r>
              <a:rPr lang="ko-KR" altLang="en-US" sz="1100" b="1" dirty="0">
                <a:latin typeface="+mn-ea"/>
              </a:rPr>
              <a:t>슈퍼마켓</a:t>
            </a:r>
            <a:r>
              <a:rPr lang="en-US" altLang="ko-KR" sz="1100" b="1" dirty="0">
                <a:latin typeface="+mn-ea"/>
              </a:rPr>
              <a:t>)</a:t>
            </a:r>
            <a:r>
              <a:rPr lang="ko-KR" altLang="en-US" sz="1100" b="1" dirty="0">
                <a:latin typeface="+mn-ea"/>
              </a:rPr>
              <a:t> 매출</a:t>
            </a:r>
            <a:endParaRPr lang="en-US" altLang="ko-KR" sz="11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100" b="1" dirty="0">
                <a:latin typeface="+mn-ea"/>
              </a:rPr>
              <a:t>   : +15% </a:t>
            </a:r>
            <a:r>
              <a:rPr lang="ko-KR" altLang="en-US" sz="1100" b="1" dirty="0">
                <a:latin typeface="+mn-ea"/>
              </a:rPr>
              <a:t>내외 증가 예상</a:t>
            </a:r>
            <a:endParaRPr lang="en-US" altLang="ko-KR" sz="11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    → 매출 성장세 및 규모의 경제로 수익성이 </a:t>
            </a:r>
            <a:endParaRPr lang="en-US" altLang="ko-KR" sz="11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100" b="1" dirty="0">
                <a:latin typeface="+mn-ea"/>
              </a:rPr>
              <a:t>        </a:t>
            </a:r>
            <a:r>
              <a:rPr lang="ko-KR" altLang="en-US" sz="1100" b="1" dirty="0">
                <a:latin typeface="+mn-ea"/>
              </a:rPr>
              <a:t>현재보다 나아질 것으로 추정</a:t>
            </a:r>
            <a:endParaRPr lang="en-US" altLang="ko-KR" sz="1100" b="1" dirty="0">
              <a:latin typeface="+mn-ea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ED72C2E-B1E2-D966-B7F0-2DACEBC4F7A6}"/>
              </a:ext>
            </a:extLst>
          </p:cNvPr>
          <p:cNvCxnSpPr>
            <a:cxnSpLocks/>
          </p:cNvCxnSpPr>
          <p:nvPr/>
        </p:nvCxnSpPr>
        <p:spPr>
          <a:xfrm>
            <a:off x="1596115" y="1768287"/>
            <a:ext cx="689875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A919289-5ED4-B964-E68E-6D4AAD9D6E1B}"/>
              </a:ext>
            </a:extLst>
          </p:cNvPr>
          <p:cNvCxnSpPr>
            <a:cxnSpLocks/>
          </p:cNvCxnSpPr>
          <p:nvPr/>
        </p:nvCxnSpPr>
        <p:spPr>
          <a:xfrm>
            <a:off x="1604824" y="1484752"/>
            <a:ext cx="689875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B1E43AD5-C005-F8D2-F28E-F62CE92F140E}"/>
              </a:ext>
            </a:extLst>
          </p:cNvPr>
          <p:cNvCxnSpPr>
            <a:cxnSpLocks/>
          </p:cNvCxnSpPr>
          <p:nvPr/>
        </p:nvCxnSpPr>
        <p:spPr>
          <a:xfrm>
            <a:off x="1603080" y="3242489"/>
            <a:ext cx="689875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D3B5E8F2-2B9D-C41B-B3CE-6855DA3EC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53" y="120454"/>
            <a:ext cx="1445506" cy="66170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C127E6-E606-C6D3-082A-E6768AC4E702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90/109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41629562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85BF6A-33A8-40BF-6E99-E9CA46D8AB7B}"/>
              </a:ext>
            </a:extLst>
          </p:cNvPr>
          <p:cNvSpPr txBox="1"/>
          <p:nvPr/>
        </p:nvSpPr>
        <p:spPr>
          <a:xfrm>
            <a:off x="57150" y="322415"/>
            <a:ext cx="11428712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방송 시설 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·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기술투자 실적 대비 계획이 감소하는 이유는 무엇인가요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737D81-2947-1516-D5E1-B9DD5DFEBC75}"/>
              </a:ext>
            </a:extLst>
          </p:cNvPr>
          <p:cNvSpPr txBox="1"/>
          <p:nvPr/>
        </p:nvSpPr>
        <p:spPr>
          <a:xfrm>
            <a:off x="65067" y="19389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6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기술적 능력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EE15ED-7A0D-E0CF-479C-44FEA68B3A49}"/>
              </a:ext>
            </a:extLst>
          </p:cNvPr>
          <p:cNvSpPr txBox="1"/>
          <p:nvPr/>
        </p:nvSpPr>
        <p:spPr>
          <a:xfrm>
            <a:off x="6312140" y="1122474"/>
            <a:ext cx="5814793" cy="2666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①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디지털 스튜디오</a:t>
            </a:r>
            <a:r>
              <a:rPr lang="en-US" altLang="ko-KR" sz="1200" b="1" dirty="0">
                <a:latin typeface="+mn-ea"/>
              </a:rPr>
              <a:t>(LED Wall), </a:t>
            </a:r>
            <a:r>
              <a:rPr lang="ko-KR" altLang="en-US" sz="1200" b="1" dirty="0">
                <a:latin typeface="+mn-ea"/>
              </a:rPr>
              <a:t>디지털 영상 제작 장비 등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    디지털 전환을 위한 주요 설비 투자가 상당 부분 완료</a:t>
            </a:r>
            <a:r>
              <a:rPr lang="ko-KR" altLang="en-US" sz="1200" b="1" dirty="0">
                <a:latin typeface="+mn-ea"/>
              </a:rPr>
              <a:t>된 상황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000" dirty="0">
                <a:latin typeface="+mn-ea"/>
              </a:rPr>
              <a:t>     ※ 21</a:t>
            </a:r>
            <a:r>
              <a:rPr lang="ko-KR" altLang="en-US" sz="1000" dirty="0">
                <a:latin typeface="+mn-ea"/>
              </a:rPr>
              <a:t>년</a:t>
            </a:r>
            <a:r>
              <a:rPr lang="en-US" altLang="ko-KR" sz="1000" dirty="0">
                <a:latin typeface="+mn-ea"/>
              </a:rPr>
              <a:t>~25</a:t>
            </a:r>
            <a:r>
              <a:rPr lang="ko-KR" altLang="en-US" sz="1000" dirty="0">
                <a:latin typeface="+mn-ea"/>
              </a:rPr>
              <a:t>년 시설장비 연평균 </a:t>
            </a:r>
            <a:r>
              <a:rPr lang="en-US" altLang="ko-KR" sz="1000" dirty="0">
                <a:latin typeface="+mn-ea"/>
              </a:rPr>
              <a:t>33</a:t>
            </a:r>
            <a:r>
              <a:rPr lang="ko-KR" altLang="en-US" sz="1000" dirty="0">
                <a:latin typeface="+mn-ea"/>
              </a:rPr>
              <a:t>억원 → 향후 연평균 </a:t>
            </a:r>
            <a:r>
              <a:rPr lang="en-US" altLang="ko-KR" sz="1000" dirty="0">
                <a:latin typeface="+mn-ea"/>
              </a:rPr>
              <a:t>13</a:t>
            </a:r>
            <a:r>
              <a:rPr lang="ko-KR" altLang="en-US" sz="1000" dirty="0">
                <a:latin typeface="+mn-ea"/>
              </a:rPr>
              <a:t>억원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1200" b="1" spc="-5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spc="-50" dirty="0">
                <a:latin typeface="+mn-ea"/>
              </a:rPr>
              <a:t>   → 향후에는 시설</a:t>
            </a:r>
            <a:r>
              <a:rPr lang="en-US" altLang="ko-KR" sz="1200" b="1" spc="-50" dirty="0">
                <a:latin typeface="+mn-ea"/>
              </a:rPr>
              <a:t>·</a:t>
            </a:r>
            <a:r>
              <a:rPr lang="ko-KR" altLang="en-US" sz="1200" b="1" spc="-50" dirty="0">
                <a:latin typeface="+mn-ea"/>
              </a:rPr>
              <a:t>장비보다는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기술</a:t>
            </a:r>
            <a:r>
              <a:rPr lang="en-US" altLang="ko-KR" sz="1200" b="1" spc="-50" dirty="0">
                <a:solidFill>
                  <a:srgbClr val="0000FF"/>
                </a:solidFill>
                <a:latin typeface="+mn-ea"/>
              </a:rPr>
              <a:t>·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개발</a:t>
            </a:r>
            <a:r>
              <a:rPr lang="ko-KR" altLang="en-US" sz="1200" b="1" spc="-50" dirty="0">
                <a:latin typeface="+mn-ea"/>
              </a:rPr>
              <a:t>분야에 집중할 계획</a:t>
            </a:r>
            <a:endParaRPr lang="en-US" altLang="ko-KR" sz="1200" b="1" spc="-5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spc="-50" dirty="0">
                <a:latin typeface="+mn-ea"/>
              </a:rPr>
              <a:t>       ※ AI·</a:t>
            </a:r>
            <a:r>
              <a:rPr lang="ko-KR" altLang="en-US" sz="1200" b="1" spc="-50" dirty="0">
                <a:latin typeface="+mn-ea"/>
              </a:rPr>
              <a:t>가상공간 콘텐츠 제작 </a:t>
            </a:r>
            <a:r>
              <a:rPr lang="en-US" altLang="ko-KR" sz="1200" b="1" spc="-50" dirty="0">
                <a:latin typeface="+mn-ea"/>
              </a:rPr>
              <a:t>27</a:t>
            </a:r>
            <a:r>
              <a:rPr lang="ko-KR" altLang="en-US" sz="1200" b="1" spc="-50" dirty="0">
                <a:latin typeface="+mn-ea"/>
              </a:rPr>
              <a:t>억원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spc="-50" dirty="0">
                <a:latin typeface="+mn-ea"/>
              </a:rPr>
              <a:t>          데이터홈쇼핑 양방향 서비스</a:t>
            </a:r>
            <a:r>
              <a:rPr lang="en-US" altLang="ko-KR" sz="1200" b="1" spc="-50" dirty="0">
                <a:latin typeface="+mn-ea"/>
              </a:rPr>
              <a:t>. UI/UX</a:t>
            </a:r>
            <a:r>
              <a:rPr lang="ko-KR" altLang="en-US" sz="1200" b="1" spc="-50" dirty="0">
                <a:latin typeface="+mn-ea"/>
              </a:rPr>
              <a:t>등 </a:t>
            </a:r>
            <a:r>
              <a:rPr lang="en-US" altLang="ko-KR" sz="1200" b="1" spc="-50" dirty="0">
                <a:latin typeface="+mn-ea"/>
              </a:rPr>
              <a:t>35</a:t>
            </a:r>
            <a:r>
              <a:rPr lang="ko-KR" altLang="en-US" sz="1200" b="1" spc="-50" dirty="0">
                <a:latin typeface="+mn-ea"/>
              </a:rPr>
              <a:t>억원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spc="-50" dirty="0">
                <a:latin typeface="+mn-ea"/>
              </a:rPr>
              <a:t>      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보조질문</a:t>
            </a:r>
            <a:r>
              <a:rPr lang="en-US" altLang="ko-KR" sz="1200" b="1" dirty="0">
                <a:latin typeface="+mn-ea"/>
              </a:rPr>
              <a:t>) </a:t>
            </a:r>
            <a:r>
              <a:rPr lang="ko-KR" altLang="en-US" sz="1200" b="1" dirty="0">
                <a:latin typeface="+mn-ea"/>
              </a:rPr>
              <a:t>송출 중단 피해 보상 규정이 있던데 실제 피해 보상 사례가 있나요</a:t>
            </a:r>
            <a:r>
              <a:rPr lang="en-US" altLang="ko-KR" sz="1200" b="1" dirty="0">
                <a:latin typeface="+mn-ea"/>
              </a:rPr>
              <a:t>?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 </a:t>
            </a:r>
            <a:r>
              <a:rPr lang="en-US" altLang="ko-KR" sz="1200" b="1" dirty="0">
                <a:latin typeface="+mn-ea"/>
              </a:rPr>
              <a:t>- </a:t>
            </a:r>
            <a:r>
              <a:rPr lang="ko-KR" altLang="en-US" sz="1200" b="1" dirty="0">
                <a:latin typeface="+mn-ea"/>
              </a:rPr>
              <a:t>송출 중단 사례 없음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1200" b="1" spc="-50" dirty="0"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2B09D66-4D6B-0F91-FF61-B00171598646}"/>
              </a:ext>
            </a:extLst>
          </p:cNvPr>
          <p:cNvSpPr/>
          <p:nvPr/>
        </p:nvSpPr>
        <p:spPr>
          <a:xfrm>
            <a:off x="6273583" y="1004500"/>
            <a:ext cx="5573626" cy="5605305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EE6212-FB97-F5B1-922C-B505FE875556}"/>
              </a:ext>
            </a:extLst>
          </p:cNvPr>
          <p:cNvSpPr txBox="1"/>
          <p:nvPr/>
        </p:nvSpPr>
        <p:spPr>
          <a:xfrm>
            <a:off x="131741" y="898227"/>
            <a:ext cx="49075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■ (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사업계획서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p.217)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방송 시설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·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기술투자 실적 </a:t>
            </a:r>
            <a:r>
              <a:rPr lang="ko-KR" altLang="en-US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및 계획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EE6F80F-07A4-76E8-8930-565F94207F81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편성책임자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9FAA7A-A047-F8B5-1A94-1F47DFD64D1B}"/>
              </a:ext>
            </a:extLst>
          </p:cNvPr>
          <p:cNvSpPr txBox="1"/>
          <p:nvPr/>
        </p:nvSpPr>
        <p:spPr>
          <a:xfrm>
            <a:off x="5390300" y="1145377"/>
            <a:ext cx="88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(</a:t>
            </a:r>
            <a:r>
              <a:rPr lang="ko-KR" altLang="en-US" sz="800" dirty="0"/>
              <a:t>단위</a:t>
            </a:r>
            <a:r>
              <a:rPr lang="en-US" altLang="ko-KR" sz="800" dirty="0"/>
              <a:t>: </a:t>
            </a:r>
            <a:r>
              <a:rPr lang="ko-KR" altLang="en-US" sz="800" dirty="0"/>
              <a:t>백만원</a:t>
            </a:r>
            <a:r>
              <a:rPr lang="en-US" altLang="ko-KR" sz="800" dirty="0"/>
              <a:t>)</a:t>
            </a:r>
            <a:endParaRPr lang="ko-KR" altLang="en-US" sz="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D2B1D0-22EE-C720-78FB-8A6A70EED9B6}"/>
              </a:ext>
            </a:extLst>
          </p:cNvPr>
          <p:cNvSpPr txBox="1"/>
          <p:nvPr/>
        </p:nvSpPr>
        <p:spPr>
          <a:xfrm>
            <a:off x="344792" y="1159880"/>
            <a:ext cx="952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- </a:t>
            </a:r>
            <a:r>
              <a:rPr lang="ko-KR" altLang="en-US" sz="1000" b="1" dirty="0"/>
              <a:t>실적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08972B-E1F9-1360-F4BB-4BD1F309466A}"/>
              </a:ext>
            </a:extLst>
          </p:cNvPr>
          <p:cNvSpPr txBox="1"/>
          <p:nvPr/>
        </p:nvSpPr>
        <p:spPr>
          <a:xfrm>
            <a:off x="5390300" y="5420295"/>
            <a:ext cx="88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(</a:t>
            </a:r>
            <a:r>
              <a:rPr lang="ko-KR" altLang="en-US" sz="800" dirty="0"/>
              <a:t>단위</a:t>
            </a:r>
            <a:r>
              <a:rPr lang="en-US" altLang="ko-KR" sz="800" dirty="0"/>
              <a:t>: </a:t>
            </a:r>
            <a:r>
              <a:rPr lang="ko-KR" altLang="en-US" sz="800" dirty="0"/>
              <a:t>백만원</a:t>
            </a:r>
            <a:r>
              <a:rPr lang="en-US" altLang="ko-KR" sz="800" dirty="0"/>
              <a:t>)</a:t>
            </a:r>
            <a:endParaRPr lang="ko-KR" altLang="en-US" sz="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90C1FB-59C6-A9A5-770E-FC518E3CA6DF}"/>
              </a:ext>
            </a:extLst>
          </p:cNvPr>
          <p:cNvSpPr txBox="1"/>
          <p:nvPr/>
        </p:nvSpPr>
        <p:spPr>
          <a:xfrm>
            <a:off x="344792" y="5449477"/>
            <a:ext cx="952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- </a:t>
            </a:r>
            <a:r>
              <a:rPr lang="ko-KR" altLang="en-US" sz="1000" b="1" dirty="0"/>
              <a:t>계획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8F827A65-9B76-7C35-7D97-0FCB7F83C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87" y="5666021"/>
            <a:ext cx="5707477" cy="1115854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E266F4C-EE5E-BE6A-AFF5-E0DCC7C84B72}"/>
              </a:ext>
            </a:extLst>
          </p:cNvPr>
          <p:cNvSpPr/>
          <p:nvPr/>
        </p:nvSpPr>
        <p:spPr>
          <a:xfrm>
            <a:off x="4972594" y="6481838"/>
            <a:ext cx="1123406" cy="2815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3B83A28-228E-B8BF-1363-B23477B5F1C7}"/>
              </a:ext>
            </a:extLst>
          </p:cNvPr>
          <p:cNvSpPr/>
          <p:nvPr/>
        </p:nvSpPr>
        <p:spPr>
          <a:xfrm>
            <a:off x="5505864" y="5898147"/>
            <a:ext cx="600891" cy="28156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D664709-F65D-9316-E117-FE5E1997A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87" y="2900315"/>
            <a:ext cx="3467251" cy="248913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38174CF-4B11-A6BA-EE0F-51AAD27CE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87" y="1413655"/>
            <a:ext cx="5707477" cy="139775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C6287430-23EF-5E0A-82CF-CDE0D4B502CE}"/>
              </a:ext>
            </a:extLst>
          </p:cNvPr>
          <p:cNvSpPr/>
          <p:nvPr/>
        </p:nvSpPr>
        <p:spPr>
          <a:xfrm>
            <a:off x="4887555" y="2499027"/>
            <a:ext cx="1219200" cy="2815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7B346BF-9564-5B5C-8FC9-68CE7A6BD339}"/>
              </a:ext>
            </a:extLst>
          </p:cNvPr>
          <p:cNvSpPr/>
          <p:nvPr/>
        </p:nvSpPr>
        <p:spPr>
          <a:xfrm>
            <a:off x="5495108" y="1913811"/>
            <a:ext cx="600891" cy="28156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E4823D-5D81-6693-6106-37E3599DD58A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91/109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44138813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78A30-7F64-D6EB-466B-6A8E6909D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551E6-AD12-71BE-2A1E-1084DA9B82A2}"/>
              </a:ext>
            </a:extLst>
          </p:cNvPr>
          <p:cNvSpPr txBox="1"/>
          <p:nvPr/>
        </p:nvSpPr>
        <p:spPr>
          <a:xfrm>
            <a:off x="65108" y="81062"/>
            <a:ext cx="9572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방송 시설 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·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기술투자 실적 상세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72AB3B8-AC1E-6248-BBD6-9D2404ED5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834" y="1008632"/>
            <a:ext cx="4216182" cy="557472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ED4E7BB-1042-CC66-F834-A84FC561B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78" y="757499"/>
            <a:ext cx="5055190" cy="1995226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16329858-30C1-C716-5BD4-A06BF8C8BC1E}"/>
              </a:ext>
            </a:extLst>
          </p:cNvPr>
          <p:cNvGrpSpPr/>
          <p:nvPr/>
        </p:nvGrpSpPr>
        <p:grpSpPr>
          <a:xfrm>
            <a:off x="773657" y="2988940"/>
            <a:ext cx="4898334" cy="3787998"/>
            <a:chOff x="2297775" y="3123898"/>
            <a:chExt cx="4221833" cy="3354407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299D2308-28EB-0BDA-9317-7F2A7AA00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7718"/>
            <a:stretch>
              <a:fillRect/>
            </a:stretch>
          </p:blipFill>
          <p:spPr>
            <a:xfrm>
              <a:off x="2297775" y="3790951"/>
              <a:ext cx="4221833" cy="2687354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00D99CF-6B88-5EC4-772C-D14DC2676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83437"/>
            <a:stretch>
              <a:fillRect/>
            </a:stretch>
          </p:blipFill>
          <p:spPr>
            <a:xfrm>
              <a:off x="2297775" y="3123898"/>
              <a:ext cx="4221833" cy="714678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492EF27-3751-3D7B-F249-AD8E60AFBC83}"/>
              </a:ext>
            </a:extLst>
          </p:cNvPr>
          <p:cNvSpPr txBox="1"/>
          <p:nvPr/>
        </p:nvSpPr>
        <p:spPr>
          <a:xfrm>
            <a:off x="150833" y="678816"/>
            <a:ext cx="726033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en-US" altLang="ko-KR" sz="1100" b="1" dirty="0">
                <a:latin typeface="+mn-ea"/>
              </a:rPr>
              <a:t>(p.217)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AFC6C9-336E-E544-9293-478EB30E1784}"/>
              </a:ext>
            </a:extLst>
          </p:cNvPr>
          <p:cNvSpPr txBox="1"/>
          <p:nvPr/>
        </p:nvSpPr>
        <p:spPr>
          <a:xfrm>
            <a:off x="150833" y="2938542"/>
            <a:ext cx="726032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 </a:t>
            </a:r>
            <a:r>
              <a:rPr lang="en-US" altLang="ko-KR" sz="1100" b="1" dirty="0">
                <a:latin typeface="+mn-ea"/>
              </a:rPr>
              <a:t>(p.295)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697ADC-DDED-B6D7-99FE-B21E06FCE8A2}"/>
              </a:ext>
            </a:extLst>
          </p:cNvPr>
          <p:cNvSpPr txBox="1"/>
          <p:nvPr/>
        </p:nvSpPr>
        <p:spPr>
          <a:xfrm>
            <a:off x="6240463" y="684499"/>
            <a:ext cx="4950583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ko-KR" altLang="en-US" sz="1100" b="1" dirty="0">
                <a:latin typeface="+mn-ea"/>
              </a:rPr>
              <a:t>첨부</a:t>
            </a:r>
            <a:r>
              <a:rPr lang="en-US" altLang="ko-KR" sz="1100" b="1" dirty="0">
                <a:latin typeface="+mn-ea"/>
              </a:rPr>
              <a:t>) </a:t>
            </a:r>
            <a:r>
              <a:rPr lang="ko-KR" altLang="en-US" sz="1100" b="1" dirty="0">
                <a:latin typeface="+mn-ea"/>
              </a:rPr>
              <a:t>방송시설</a:t>
            </a:r>
            <a:r>
              <a:rPr lang="en-US" altLang="ko-KR" sz="1100" b="1" dirty="0">
                <a:latin typeface="+mn-ea"/>
              </a:rPr>
              <a:t>·</a:t>
            </a:r>
            <a:r>
              <a:rPr lang="ko-KR" altLang="en-US" sz="1100" b="1" dirty="0">
                <a:latin typeface="+mn-ea"/>
              </a:rPr>
              <a:t>기술 운용 상세 실적 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6A959BE-B942-7E34-3A63-10B2934F377D}"/>
              </a:ext>
            </a:extLst>
          </p:cNvPr>
          <p:cNvSpPr/>
          <p:nvPr/>
        </p:nvSpPr>
        <p:spPr>
          <a:xfrm>
            <a:off x="7642860" y="1257300"/>
            <a:ext cx="1371600" cy="259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C65C13C-ED47-6D03-A123-621E6523FEBB}"/>
              </a:ext>
            </a:extLst>
          </p:cNvPr>
          <p:cNvSpPr/>
          <p:nvPr/>
        </p:nvSpPr>
        <p:spPr>
          <a:xfrm>
            <a:off x="10553700" y="1257300"/>
            <a:ext cx="357456" cy="259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1C05985-0A4F-5CB6-E97E-3AB10C4CBDEC}"/>
              </a:ext>
            </a:extLst>
          </p:cNvPr>
          <p:cNvSpPr/>
          <p:nvPr/>
        </p:nvSpPr>
        <p:spPr>
          <a:xfrm>
            <a:off x="7642860" y="2021478"/>
            <a:ext cx="1371600" cy="24166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A053A0B-8BF3-B126-3C90-A895141C3F86}"/>
              </a:ext>
            </a:extLst>
          </p:cNvPr>
          <p:cNvSpPr/>
          <p:nvPr/>
        </p:nvSpPr>
        <p:spPr>
          <a:xfrm>
            <a:off x="7650480" y="2514600"/>
            <a:ext cx="1371600" cy="11049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B6C7AE8-7F44-9402-AACD-FB1D6C460FEC}"/>
              </a:ext>
            </a:extLst>
          </p:cNvPr>
          <p:cNvSpPr/>
          <p:nvPr/>
        </p:nvSpPr>
        <p:spPr>
          <a:xfrm>
            <a:off x="10561320" y="2514600"/>
            <a:ext cx="357456" cy="11049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F2EBF74-EF7D-810E-252E-D78253A8FD37}"/>
              </a:ext>
            </a:extLst>
          </p:cNvPr>
          <p:cNvCxnSpPr/>
          <p:nvPr/>
        </p:nvCxnSpPr>
        <p:spPr>
          <a:xfrm>
            <a:off x="2910840" y="1150620"/>
            <a:ext cx="15925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813B8755-4DC2-45D8-3768-2FAEB6F1E205}"/>
              </a:ext>
            </a:extLst>
          </p:cNvPr>
          <p:cNvCxnSpPr/>
          <p:nvPr/>
        </p:nvCxnSpPr>
        <p:spPr>
          <a:xfrm>
            <a:off x="1048315" y="1348740"/>
            <a:ext cx="1447800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1D32D7F-5471-752B-5764-F0BAA66A1A99}"/>
              </a:ext>
            </a:extLst>
          </p:cNvPr>
          <p:cNvCxnSpPr>
            <a:cxnSpLocks/>
          </p:cNvCxnSpPr>
          <p:nvPr/>
        </p:nvCxnSpPr>
        <p:spPr>
          <a:xfrm>
            <a:off x="2534215" y="1348740"/>
            <a:ext cx="925265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45AD77F5-ACC7-EC75-B16D-B6342D23B4C8}"/>
              </a:ext>
            </a:extLst>
          </p:cNvPr>
          <p:cNvSpPr/>
          <p:nvPr/>
        </p:nvSpPr>
        <p:spPr>
          <a:xfrm>
            <a:off x="825910" y="4119153"/>
            <a:ext cx="4747575" cy="1654629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00FF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BAEE8C2-9EFE-D679-5A08-7DDAE233BB42}"/>
              </a:ext>
            </a:extLst>
          </p:cNvPr>
          <p:cNvSpPr/>
          <p:nvPr/>
        </p:nvSpPr>
        <p:spPr>
          <a:xfrm>
            <a:off x="7030767" y="4084317"/>
            <a:ext cx="3880389" cy="1006315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00FF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EDE6E17-CC07-A822-6E87-81AFAFB24FB7}"/>
              </a:ext>
            </a:extLst>
          </p:cNvPr>
          <p:cNvSpPr/>
          <p:nvPr/>
        </p:nvSpPr>
        <p:spPr>
          <a:xfrm>
            <a:off x="10553700" y="2021478"/>
            <a:ext cx="357456" cy="24166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05FAB5A-3B61-1772-D972-5C32C1A2EF70}"/>
              </a:ext>
            </a:extLst>
          </p:cNvPr>
          <p:cNvCxnSpPr>
            <a:cxnSpLocks/>
          </p:cNvCxnSpPr>
          <p:nvPr/>
        </p:nvCxnSpPr>
        <p:spPr>
          <a:xfrm>
            <a:off x="5125254" y="6092734"/>
            <a:ext cx="448231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787011E-36B2-7797-B568-0C47341B1498}"/>
              </a:ext>
            </a:extLst>
          </p:cNvPr>
          <p:cNvCxnSpPr>
            <a:cxnSpLocks/>
          </p:cNvCxnSpPr>
          <p:nvPr/>
        </p:nvCxnSpPr>
        <p:spPr>
          <a:xfrm>
            <a:off x="10606616" y="5365568"/>
            <a:ext cx="304540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8481A97-4D72-1187-19B6-EEAECC367E6D}"/>
              </a:ext>
            </a:extLst>
          </p:cNvPr>
          <p:cNvSpPr txBox="1"/>
          <p:nvPr/>
        </p:nvSpPr>
        <p:spPr>
          <a:xfrm>
            <a:off x="10866521" y="1275237"/>
            <a:ext cx="1118647" cy="242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900" b="1" dirty="0">
                <a:latin typeface="+mn-ea"/>
              </a:rPr>
              <a:t>스튜디오 </a:t>
            </a:r>
            <a:r>
              <a:rPr lang="en-US" altLang="ko-KR" sz="900" b="1" dirty="0">
                <a:latin typeface="+mn-ea"/>
              </a:rPr>
              <a:t>31</a:t>
            </a:r>
            <a:r>
              <a:rPr lang="ko-KR" altLang="en-US" sz="900" b="1" dirty="0">
                <a:latin typeface="+mn-ea"/>
              </a:rPr>
              <a:t>억원</a:t>
            </a:r>
            <a:endParaRPr lang="en-US" altLang="ko-KR" sz="900" b="1" dirty="0"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A0388A-F3A6-1C25-E577-9E0AD7F2806C}"/>
              </a:ext>
            </a:extLst>
          </p:cNvPr>
          <p:cNvSpPr txBox="1"/>
          <p:nvPr/>
        </p:nvSpPr>
        <p:spPr>
          <a:xfrm>
            <a:off x="10866521" y="2016035"/>
            <a:ext cx="1447395" cy="242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900" b="1" dirty="0">
                <a:latin typeface="+mn-ea"/>
              </a:rPr>
              <a:t>디지털 영상제작 </a:t>
            </a:r>
            <a:r>
              <a:rPr lang="en-US" altLang="ko-KR" sz="900" b="1" dirty="0">
                <a:latin typeface="+mn-ea"/>
              </a:rPr>
              <a:t>38</a:t>
            </a:r>
            <a:r>
              <a:rPr lang="ko-KR" altLang="en-US" sz="900" b="1" dirty="0">
                <a:latin typeface="+mn-ea"/>
              </a:rPr>
              <a:t>억원</a:t>
            </a:r>
            <a:endParaRPr lang="en-US" altLang="ko-KR" sz="900" b="1" dirty="0"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B7CFBD-CDC0-53CC-9200-A0939D4EC9A8}"/>
              </a:ext>
            </a:extLst>
          </p:cNvPr>
          <p:cNvSpPr txBox="1"/>
          <p:nvPr/>
        </p:nvSpPr>
        <p:spPr>
          <a:xfrm>
            <a:off x="10892649" y="2929428"/>
            <a:ext cx="1299352" cy="242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900" b="1" dirty="0">
                <a:latin typeface="+mn-ea"/>
              </a:rPr>
              <a:t>송출 안정화 </a:t>
            </a:r>
            <a:r>
              <a:rPr lang="en-US" altLang="ko-KR" sz="900" b="1" dirty="0">
                <a:latin typeface="+mn-ea"/>
              </a:rPr>
              <a:t>28</a:t>
            </a:r>
            <a:r>
              <a:rPr lang="ko-KR" altLang="en-US" sz="900" b="1" dirty="0">
                <a:latin typeface="+mn-ea"/>
              </a:rPr>
              <a:t>억원</a:t>
            </a:r>
            <a:endParaRPr lang="en-US" altLang="ko-KR" sz="900" b="1" dirty="0"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CF84FE-5C6A-E75C-A394-AEAFC4F79AF4}"/>
              </a:ext>
            </a:extLst>
          </p:cNvPr>
          <p:cNvSpPr txBox="1"/>
          <p:nvPr/>
        </p:nvSpPr>
        <p:spPr>
          <a:xfrm>
            <a:off x="10867272" y="5090632"/>
            <a:ext cx="1190765" cy="408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900" b="1" dirty="0">
                <a:latin typeface="+mn-ea"/>
              </a:rPr>
              <a:t>데이터홈쇼핑 </a:t>
            </a:r>
            <a:endParaRPr lang="en-US" altLang="ko-KR" sz="900" b="1" dirty="0">
              <a:latin typeface="+mn-ea"/>
            </a:endParaRPr>
          </a:p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900" b="1" dirty="0">
                <a:latin typeface="+mn-ea"/>
              </a:rPr>
              <a:t>기술</a:t>
            </a:r>
            <a:r>
              <a:rPr lang="en-US" altLang="ko-KR" sz="900" b="1" dirty="0">
                <a:latin typeface="+mn-ea"/>
              </a:rPr>
              <a:t>·</a:t>
            </a:r>
            <a:r>
              <a:rPr lang="ko-KR" altLang="en-US" sz="900" b="1" dirty="0">
                <a:latin typeface="+mn-ea"/>
              </a:rPr>
              <a:t>개발 </a:t>
            </a:r>
            <a:r>
              <a:rPr lang="en-US" altLang="ko-KR" sz="900" b="1" dirty="0">
                <a:latin typeface="+mn-ea"/>
              </a:rPr>
              <a:t>25</a:t>
            </a:r>
            <a:r>
              <a:rPr lang="ko-KR" altLang="en-US" sz="900" b="1" dirty="0">
                <a:latin typeface="+mn-ea"/>
              </a:rPr>
              <a:t>억원</a:t>
            </a:r>
            <a:endParaRPr lang="en-US" altLang="ko-KR" sz="900" b="1" dirty="0"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FF596A-2702-1E88-CD0B-11498D89AA7F}"/>
              </a:ext>
            </a:extLst>
          </p:cNvPr>
          <p:cNvSpPr txBox="1"/>
          <p:nvPr/>
        </p:nvSpPr>
        <p:spPr>
          <a:xfrm>
            <a:off x="10864210" y="4369351"/>
            <a:ext cx="1190765" cy="408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900" b="1" dirty="0">
                <a:latin typeface="+mn-ea"/>
              </a:rPr>
              <a:t>데이터홈쇼핑 </a:t>
            </a:r>
            <a:endParaRPr lang="en-US" altLang="ko-KR" sz="900" b="1" dirty="0">
              <a:latin typeface="+mn-ea"/>
            </a:endParaRPr>
          </a:p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900" b="1" dirty="0">
                <a:latin typeface="+mn-ea"/>
              </a:rPr>
              <a:t>특화 기술 </a:t>
            </a:r>
            <a:r>
              <a:rPr lang="en-US" altLang="ko-KR" sz="900" b="1" dirty="0">
                <a:latin typeface="+mn-ea"/>
              </a:rPr>
              <a:t>55</a:t>
            </a:r>
            <a:r>
              <a:rPr lang="ko-KR" altLang="en-US" sz="900" b="1" dirty="0">
                <a:latin typeface="+mn-ea"/>
              </a:rPr>
              <a:t>억원</a:t>
            </a:r>
            <a:endParaRPr lang="en-US" altLang="ko-KR" sz="900" b="1" dirty="0"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206326-2F60-4AB2-6D94-310C433B0549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92/109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07919306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D669E2-D1F3-4BBC-A426-BBD3C5DBAA64}"/>
              </a:ext>
            </a:extLst>
          </p:cNvPr>
          <p:cNvSpPr txBox="1"/>
          <p:nvPr/>
        </p:nvSpPr>
        <p:spPr>
          <a:xfrm>
            <a:off x="65108" y="81062"/>
            <a:ext cx="9572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방송 시설 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·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기술투자 계획 상세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97F52B5-77A5-E76C-D544-16F0D6E02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91" y="706900"/>
            <a:ext cx="4601438" cy="247901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E3CA2F1-948E-BF91-D21B-0E4378935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091" y="3299631"/>
            <a:ext cx="4601438" cy="354878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D188D95-4A62-A588-3677-91D896767E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8436"/>
          <a:stretch>
            <a:fillRect/>
          </a:stretch>
        </p:blipFill>
        <p:spPr>
          <a:xfrm>
            <a:off x="812459" y="3210244"/>
            <a:ext cx="4165370" cy="27235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3E0E329-CFBE-7462-D553-93EE407270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182" y="1000883"/>
            <a:ext cx="4127668" cy="57760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7D753FF-62D9-0077-4C40-877617C68BF9}"/>
              </a:ext>
            </a:extLst>
          </p:cNvPr>
          <p:cNvSpPr txBox="1"/>
          <p:nvPr/>
        </p:nvSpPr>
        <p:spPr>
          <a:xfrm>
            <a:off x="150833" y="678816"/>
            <a:ext cx="726033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en-US" altLang="ko-KR" sz="1100" b="1" dirty="0">
                <a:latin typeface="+mn-ea"/>
              </a:rPr>
              <a:t>(p.217)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720C8D-4BDB-359D-D0E7-11C27A48F655}"/>
              </a:ext>
            </a:extLst>
          </p:cNvPr>
          <p:cNvSpPr txBox="1"/>
          <p:nvPr/>
        </p:nvSpPr>
        <p:spPr>
          <a:xfrm>
            <a:off x="150833" y="3213906"/>
            <a:ext cx="726032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 </a:t>
            </a:r>
            <a:r>
              <a:rPr lang="en-US" altLang="ko-KR" sz="1100" b="1" dirty="0">
                <a:latin typeface="+mn-ea"/>
              </a:rPr>
              <a:t>(p.295)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C15B53-C617-1A44-34E0-390555F8A940}"/>
              </a:ext>
            </a:extLst>
          </p:cNvPr>
          <p:cNvSpPr txBox="1"/>
          <p:nvPr/>
        </p:nvSpPr>
        <p:spPr>
          <a:xfrm>
            <a:off x="6240463" y="684499"/>
            <a:ext cx="4950583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ko-KR" altLang="en-US" sz="1100" b="1" dirty="0">
                <a:latin typeface="+mn-ea"/>
              </a:rPr>
              <a:t>첨부</a:t>
            </a:r>
            <a:r>
              <a:rPr lang="en-US" altLang="ko-KR" sz="1100" b="1" dirty="0">
                <a:latin typeface="+mn-ea"/>
              </a:rPr>
              <a:t>) </a:t>
            </a:r>
            <a:r>
              <a:rPr lang="ko-KR" altLang="en-US" sz="1100" b="1" dirty="0">
                <a:latin typeface="+mn-ea"/>
              </a:rPr>
              <a:t>방송시설</a:t>
            </a:r>
            <a:r>
              <a:rPr lang="en-US" altLang="ko-KR" sz="1100" b="1" dirty="0">
                <a:latin typeface="+mn-ea"/>
              </a:rPr>
              <a:t>·</a:t>
            </a:r>
            <a:r>
              <a:rPr lang="ko-KR" altLang="en-US" sz="1100" b="1" dirty="0">
                <a:latin typeface="+mn-ea"/>
              </a:rPr>
              <a:t>기술 운용 상세 계획 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6190ADE-201C-9D09-A1ED-3E2260CC12EA}"/>
              </a:ext>
            </a:extLst>
          </p:cNvPr>
          <p:cNvSpPr/>
          <p:nvPr/>
        </p:nvSpPr>
        <p:spPr>
          <a:xfrm>
            <a:off x="7216140" y="2981994"/>
            <a:ext cx="967740" cy="12623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E8CBEB-CD8B-260E-5BB5-363E9E9A8B0E}"/>
              </a:ext>
            </a:extLst>
          </p:cNvPr>
          <p:cNvSpPr/>
          <p:nvPr/>
        </p:nvSpPr>
        <p:spPr>
          <a:xfrm>
            <a:off x="10230534" y="2991838"/>
            <a:ext cx="357456" cy="12623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0D6DC6-ACE6-3558-7973-FF3B23E3F37F}"/>
              </a:ext>
            </a:extLst>
          </p:cNvPr>
          <p:cNvSpPr/>
          <p:nvPr/>
        </p:nvSpPr>
        <p:spPr>
          <a:xfrm>
            <a:off x="7208520" y="1269222"/>
            <a:ext cx="967740" cy="54687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622872A-4B12-24BA-E630-75109611E08D}"/>
              </a:ext>
            </a:extLst>
          </p:cNvPr>
          <p:cNvSpPr/>
          <p:nvPr/>
        </p:nvSpPr>
        <p:spPr>
          <a:xfrm>
            <a:off x="10222914" y="1279066"/>
            <a:ext cx="357456" cy="54687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911E3A1-542F-9FB5-F507-456281135B4B}"/>
              </a:ext>
            </a:extLst>
          </p:cNvPr>
          <p:cNvSpPr/>
          <p:nvPr/>
        </p:nvSpPr>
        <p:spPr>
          <a:xfrm>
            <a:off x="7208520" y="1857024"/>
            <a:ext cx="967740" cy="111512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80B88D1-1EF5-A27A-19AF-ED164467E034}"/>
              </a:ext>
            </a:extLst>
          </p:cNvPr>
          <p:cNvSpPr/>
          <p:nvPr/>
        </p:nvSpPr>
        <p:spPr>
          <a:xfrm>
            <a:off x="10222914" y="1866868"/>
            <a:ext cx="357456" cy="111512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6511EDF-2016-4800-8153-27FD4B9D2E1D}"/>
              </a:ext>
            </a:extLst>
          </p:cNvPr>
          <p:cNvCxnSpPr/>
          <p:nvPr/>
        </p:nvCxnSpPr>
        <p:spPr>
          <a:xfrm>
            <a:off x="2705100" y="1120140"/>
            <a:ext cx="15925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754C741-EFE0-A2E8-3FC9-F18F0B47E624}"/>
              </a:ext>
            </a:extLst>
          </p:cNvPr>
          <p:cNvCxnSpPr>
            <a:cxnSpLocks/>
          </p:cNvCxnSpPr>
          <p:nvPr/>
        </p:nvCxnSpPr>
        <p:spPr>
          <a:xfrm>
            <a:off x="2406015" y="1279066"/>
            <a:ext cx="1449705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7A6EFDE6-0018-E546-F2D2-82338B8CD279}"/>
              </a:ext>
            </a:extLst>
          </p:cNvPr>
          <p:cNvCxnSpPr>
            <a:cxnSpLocks/>
          </p:cNvCxnSpPr>
          <p:nvPr/>
        </p:nvCxnSpPr>
        <p:spPr>
          <a:xfrm>
            <a:off x="1057275" y="1783483"/>
            <a:ext cx="1236345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38721E15-59AA-59F0-ADC1-BBA3159134D1}"/>
              </a:ext>
            </a:extLst>
          </p:cNvPr>
          <p:cNvSpPr/>
          <p:nvPr/>
        </p:nvSpPr>
        <p:spPr>
          <a:xfrm>
            <a:off x="807092" y="3672082"/>
            <a:ext cx="4601438" cy="1431141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00FF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E1D1ACB-AAFF-E1D5-1868-A800095B03B7}"/>
              </a:ext>
            </a:extLst>
          </p:cNvPr>
          <p:cNvSpPr/>
          <p:nvPr/>
        </p:nvSpPr>
        <p:spPr>
          <a:xfrm>
            <a:off x="7208520" y="4712081"/>
            <a:ext cx="3371850" cy="876698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00FF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9700A1D-C346-B671-D781-B422A8B7E45C}"/>
              </a:ext>
            </a:extLst>
          </p:cNvPr>
          <p:cNvCxnSpPr>
            <a:cxnSpLocks/>
          </p:cNvCxnSpPr>
          <p:nvPr/>
        </p:nvCxnSpPr>
        <p:spPr>
          <a:xfrm>
            <a:off x="4960298" y="5387340"/>
            <a:ext cx="448231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1DD06E3-E124-1149-727B-96D9AF2684C4}"/>
              </a:ext>
            </a:extLst>
          </p:cNvPr>
          <p:cNvCxnSpPr>
            <a:cxnSpLocks/>
          </p:cNvCxnSpPr>
          <p:nvPr/>
        </p:nvCxnSpPr>
        <p:spPr>
          <a:xfrm>
            <a:off x="10230534" y="5879374"/>
            <a:ext cx="357456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88C0A6A-F236-8352-DBC9-FD2D46BD7B7B}"/>
              </a:ext>
            </a:extLst>
          </p:cNvPr>
          <p:cNvSpPr/>
          <p:nvPr/>
        </p:nvSpPr>
        <p:spPr>
          <a:xfrm>
            <a:off x="4960298" y="5844538"/>
            <a:ext cx="448231" cy="3370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9F08E8-98A8-DF38-D068-55865F9CE1B3}"/>
              </a:ext>
            </a:extLst>
          </p:cNvPr>
          <p:cNvSpPr txBox="1"/>
          <p:nvPr/>
        </p:nvSpPr>
        <p:spPr>
          <a:xfrm>
            <a:off x="10523310" y="1421602"/>
            <a:ext cx="1668690" cy="242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900" b="1" dirty="0">
                <a:latin typeface="+mn-ea"/>
              </a:rPr>
              <a:t>디지털스튜디오 구축 </a:t>
            </a:r>
            <a:r>
              <a:rPr lang="en-US" altLang="ko-KR" sz="900" b="1" dirty="0">
                <a:latin typeface="+mn-ea"/>
              </a:rPr>
              <a:t>21</a:t>
            </a:r>
            <a:r>
              <a:rPr lang="ko-KR" altLang="en-US" sz="900" b="1" dirty="0">
                <a:latin typeface="+mn-ea"/>
              </a:rPr>
              <a:t>억원</a:t>
            </a:r>
            <a:endParaRPr lang="en-US" altLang="ko-KR" sz="900" b="1" dirty="0">
              <a:latin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E1FB43-6D57-F119-892B-2AF31F243371}"/>
              </a:ext>
            </a:extLst>
          </p:cNvPr>
          <p:cNvSpPr txBox="1"/>
          <p:nvPr/>
        </p:nvSpPr>
        <p:spPr>
          <a:xfrm>
            <a:off x="10552018" y="2355256"/>
            <a:ext cx="1564185" cy="242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900" b="1" dirty="0">
                <a:latin typeface="+mn-ea"/>
              </a:rPr>
              <a:t>송출 안정화 부문 </a:t>
            </a:r>
            <a:r>
              <a:rPr lang="en-US" altLang="ko-KR" sz="900" b="1" dirty="0">
                <a:latin typeface="+mn-ea"/>
              </a:rPr>
              <a:t>25</a:t>
            </a:r>
            <a:r>
              <a:rPr lang="ko-KR" altLang="en-US" sz="900" b="1" dirty="0">
                <a:latin typeface="+mn-ea"/>
              </a:rPr>
              <a:t>억원</a:t>
            </a:r>
            <a:endParaRPr lang="en-US" altLang="ko-KR" sz="900" b="1" dirty="0"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99FF5C4-F1DD-E792-572A-C0DD2C5272BE}"/>
              </a:ext>
            </a:extLst>
          </p:cNvPr>
          <p:cNvSpPr txBox="1"/>
          <p:nvPr/>
        </p:nvSpPr>
        <p:spPr>
          <a:xfrm>
            <a:off x="10552018" y="3394247"/>
            <a:ext cx="1639981" cy="408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en-US" altLang="ko-KR" sz="900" b="1" dirty="0">
                <a:latin typeface="+mn-ea"/>
              </a:rPr>
              <a:t>AI·</a:t>
            </a:r>
            <a:r>
              <a:rPr lang="ko-KR" altLang="en-US" sz="900" b="1" dirty="0">
                <a:latin typeface="+mn-ea"/>
              </a:rPr>
              <a:t>가상공간 </a:t>
            </a:r>
            <a:endParaRPr lang="en-US" altLang="ko-KR" sz="900" b="1" dirty="0">
              <a:latin typeface="+mn-ea"/>
            </a:endParaRPr>
          </a:p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900" b="1" dirty="0">
                <a:latin typeface="+mn-ea"/>
              </a:rPr>
              <a:t>콘텐츠 제작 </a:t>
            </a:r>
            <a:r>
              <a:rPr lang="en-US" altLang="ko-KR" sz="900" b="1" dirty="0">
                <a:latin typeface="+mn-ea"/>
              </a:rPr>
              <a:t>27</a:t>
            </a:r>
            <a:r>
              <a:rPr lang="ko-KR" altLang="en-US" sz="900" b="1" dirty="0">
                <a:latin typeface="+mn-ea"/>
              </a:rPr>
              <a:t>억원</a:t>
            </a:r>
            <a:endParaRPr lang="en-US" altLang="ko-KR" sz="900" b="1" dirty="0">
              <a:latin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2B54A4D-D2A2-1239-09FE-7EF029576B27}"/>
              </a:ext>
            </a:extLst>
          </p:cNvPr>
          <p:cNvSpPr txBox="1"/>
          <p:nvPr/>
        </p:nvSpPr>
        <p:spPr>
          <a:xfrm>
            <a:off x="10564917" y="4963935"/>
            <a:ext cx="1639981" cy="408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900" b="1" dirty="0">
                <a:latin typeface="+mn-ea"/>
              </a:rPr>
              <a:t>데이터홈쇼핑</a:t>
            </a:r>
            <a:endParaRPr lang="en-US" altLang="ko-KR" sz="900" b="1" dirty="0">
              <a:latin typeface="+mn-ea"/>
            </a:endParaRPr>
          </a:p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900" b="1" dirty="0">
                <a:latin typeface="+mn-ea"/>
              </a:rPr>
              <a:t>특화 기술 </a:t>
            </a:r>
            <a:r>
              <a:rPr lang="en-US" altLang="ko-KR" sz="900" b="1" dirty="0">
                <a:latin typeface="+mn-ea"/>
              </a:rPr>
              <a:t>35</a:t>
            </a:r>
            <a:r>
              <a:rPr lang="ko-KR" altLang="en-US" sz="900" b="1" dirty="0">
                <a:latin typeface="+mn-ea"/>
              </a:rPr>
              <a:t>억원</a:t>
            </a:r>
            <a:endParaRPr lang="en-US" altLang="ko-KR" sz="900" b="1" dirty="0">
              <a:latin typeface="+mn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0E14DC5-96A9-A6D6-1F2A-EA192EAB6298}"/>
              </a:ext>
            </a:extLst>
          </p:cNvPr>
          <p:cNvSpPr txBox="1"/>
          <p:nvPr/>
        </p:nvSpPr>
        <p:spPr>
          <a:xfrm>
            <a:off x="10566855" y="5570383"/>
            <a:ext cx="1190765" cy="408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900" b="1" dirty="0">
                <a:latin typeface="+mn-ea"/>
              </a:rPr>
              <a:t>데이터홈쇼핑 </a:t>
            </a:r>
            <a:endParaRPr lang="en-US" altLang="ko-KR" sz="900" b="1" dirty="0">
              <a:latin typeface="+mn-ea"/>
            </a:endParaRPr>
          </a:p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900" b="1" dirty="0">
                <a:latin typeface="+mn-ea"/>
              </a:rPr>
              <a:t>기술</a:t>
            </a:r>
            <a:r>
              <a:rPr lang="en-US" altLang="ko-KR" sz="900" b="1" dirty="0">
                <a:latin typeface="+mn-ea"/>
              </a:rPr>
              <a:t>·</a:t>
            </a:r>
            <a:r>
              <a:rPr lang="ko-KR" altLang="en-US" sz="900" b="1" dirty="0">
                <a:latin typeface="+mn-ea"/>
              </a:rPr>
              <a:t>개발 </a:t>
            </a:r>
            <a:r>
              <a:rPr lang="en-US" altLang="ko-KR" sz="900" b="1" dirty="0">
                <a:latin typeface="+mn-ea"/>
              </a:rPr>
              <a:t>33</a:t>
            </a:r>
            <a:r>
              <a:rPr lang="ko-KR" altLang="en-US" sz="900" b="1" dirty="0">
                <a:latin typeface="+mn-ea"/>
              </a:rPr>
              <a:t>억원</a:t>
            </a:r>
            <a:endParaRPr lang="en-US" altLang="ko-KR" sz="900" b="1" dirty="0"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8A7A40-A52D-BE3B-3FEC-9431C41B189C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93/109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43436812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2EB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4000" b="1" dirty="0">
                <a:solidFill>
                  <a:schemeClr val="tx1"/>
                </a:solidFill>
                <a:latin typeface="+mn-ea"/>
              </a:rPr>
              <a:t>7</a:t>
            </a:r>
            <a:r>
              <a:rPr lang="ko-KR" altLang="en-US" sz="4000" b="1" dirty="0">
                <a:solidFill>
                  <a:schemeClr val="tx1"/>
                </a:solidFill>
                <a:latin typeface="+mn-ea"/>
              </a:rPr>
              <a:t>장</a:t>
            </a:r>
            <a:r>
              <a:rPr lang="en-US" altLang="ko-KR" sz="4000" b="1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4000" b="1" dirty="0">
                <a:solidFill>
                  <a:schemeClr val="tx1"/>
                </a:solidFill>
                <a:latin typeface="+mn-ea"/>
              </a:rPr>
              <a:t>시청자</a:t>
            </a:r>
            <a:r>
              <a:rPr lang="en-US" altLang="ko-KR" sz="4000" b="1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4000" b="1" dirty="0">
                <a:solidFill>
                  <a:schemeClr val="tx1"/>
                </a:solidFill>
                <a:latin typeface="+mn-ea"/>
              </a:rPr>
              <a:t>소비자 권익 보호</a:t>
            </a:r>
            <a:endParaRPr lang="en-US" altLang="ko-KR" sz="40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428452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3CD8696F-B84F-4961-819A-D00499F39721}"/>
              </a:ext>
            </a:extLst>
          </p:cNvPr>
          <p:cNvSpPr txBox="1"/>
          <p:nvPr/>
        </p:nvSpPr>
        <p:spPr>
          <a:xfrm>
            <a:off x="6312140" y="1040151"/>
            <a:ext cx="5676700" cy="3352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고객 의견 청취 확대</a:t>
            </a:r>
            <a:r>
              <a:rPr lang="en-US" altLang="ko-KR" sz="1200" b="1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소비자 관점에서 불만을 해소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서비스 개선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하기 위해선</a:t>
            </a:r>
            <a:r>
              <a:rPr lang="en-US" altLang="ko-KR" sz="1200" b="1" dirty="0">
                <a:latin typeface="+mn-ea"/>
              </a:rPr>
              <a:t>,</a:t>
            </a:r>
          </a:p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200" b="1" u="sng" dirty="0">
                <a:solidFill>
                  <a:srgbClr val="0000FF"/>
                </a:solidFill>
                <a:latin typeface="+mn-ea"/>
              </a:rPr>
              <a:t>고객의 </a:t>
            </a:r>
            <a:r>
              <a:rPr lang="ko-KR" altLang="en-US" sz="1200" b="1" u="sng">
                <a:solidFill>
                  <a:srgbClr val="0000FF"/>
                </a:solidFill>
                <a:latin typeface="+mn-ea"/>
              </a:rPr>
              <a:t>의견</a:t>
            </a:r>
            <a:r>
              <a:rPr lang="ko-KR" altLang="en-US" sz="1200" b="1" u="sng">
                <a:latin typeface="+mn-ea"/>
              </a:rPr>
              <a:t>을 청취하는 것이 중요하기에</a:t>
            </a:r>
            <a:endParaRPr lang="en-US" altLang="ko-KR" sz="1200" b="1" u="sng" dirty="0">
              <a:latin typeface="+mn-ea"/>
            </a:endParaRPr>
          </a:p>
          <a:p>
            <a:pPr>
              <a:lnSpc>
                <a:spcPct val="15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① </a:t>
            </a:r>
            <a:r>
              <a:rPr lang="ko-KR" altLang="en-US" sz="1200" b="1" u="sng" dirty="0">
                <a:latin typeface="+mn-ea"/>
              </a:rPr>
              <a:t>고객조사 전담부서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 err="1">
                <a:latin typeface="+mn-ea"/>
              </a:rPr>
              <a:t>고객인사이트팀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를 신설해서 적극적으로 의견청취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② </a:t>
            </a:r>
            <a:r>
              <a:rPr lang="ko-KR" altLang="en-US" sz="1200" b="1" dirty="0">
                <a:latin typeface="+mn-ea"/>
              </a:rPr>
              <a:t>콜센터 등으로 접수되는 불만은 </a:t>
            </a:r>
            <a:r>
              <a:rPr lang="ko-KR" altLang="en-US" sz="1200" b="1" u="sng" dirty="0">
                <a:latin typeface="+mn-ea"/>
              </a:rPr>
              <a:t>매일 분석하여 전사적으로 공유하고 개선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③ 매일 쌓이는 </a:t>
            </a:r>
            <a:r>
              <a:rPr lang="en-US" altLang="ko-KR" sz="1200" b="1" dirty="0">
                <a:latin typeface="+mn-ea"/>
              </a:rPr>
              <a:t>2</a:t>
            </a:r>
            <a:r>
              <a:rPr lang="ko-KR" altLang="en-US" sz="1200" b="1" dirty="0">
                <a:latin typeface="+mn-ea"/>
              </a:rPr>
              <a:t>만</a:t>
            </a:r>
            <a:r>
              <a:rPr lang="en-US" altLang="ko-KR" sz="1200" b="1" dirty="0">
                <a:latin typeface="+mn-ea"/>
              </a:rPr>
              <a:t>5</a:t>
            </a:r>
            <a:r>
              <a:rPr lang="ko-KR" altLang="en-US" sz="1200" b="1" dirty="0">
                <a:latin typeface="+mn-ea"/>
              </a:rPr>
              <a:t>천개 </a:t>
            </a:r>
            <a:r>
              <a:rPr lang="ko-KR" altLang="en-US" sz="1200" b="1" u="sng">
                <a:latin typeface="+mn-ea"/>
              </a:rPr>
              <a:t>상품평을</a:t>
            </a:r>
            <a:r>
              <a:rPr lang="ko-KR" altLang="en-US" sz="1200" b="1">
                <a:latin typeface="+mn-ea"/>
              </a:rPr>
              <a:t> 분석하여</a:t>
            </a:r>
            <a:endParaRPr lang="en-US" altLang="ko-KR" sz="1200" b="1">
              <a:latin typeface="+mn-ea"/>
            </a:endParaRPr>
          </a:p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en-US" altLang="ko-KR" sz="1200" b="1">
                <a:latin typeface="+mn-ea"/>
              </a:rPr>
              <a:t>   (</a:t>
            </a:r>
            <a:r>
              <a:rPr lang="ko-KR" altLang="en-US" sz="1200" b="1" dirty="0">
                <a:latin typeface="+mn-ea"/>
              </a:rPr>
              <a:t>표출하지 않았지만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u="sng" dirty="0">
                <a:latin typeface="+mn-ea"/>
              </a:rPr>
              <a:t>잠재 </a:t>
            </a:r>
            <a:r>
              <a:rPr lang="ko-KR" altLang="en-US" sz="1200" b="1" u="sng">
                <a:latin typeface="+mn-ea"/>
              </a:rPr>
              <a:t>불만까지 개선하려고 노력</a:t>
            </a:r>
            <a:endParaRPr lang="en-US" altLang="ko-KR" sz="1200" b="1" u="sng" dirty="0">
              <a:latin typeface="+mn-ea"/>
            </a:endParaRPr>
          </a:p>
          <a:p>
            <a:pPr>
              <a:lnSpc>
                <a:spcPct val="15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→ </a:t>
            </a:r>
            <a:r>
              <a:rPr lang="ko-KR" altLang="en-US" sz="1200" b="1" dirty="0">
                <a:latin typeface="+mn-ea"/>
              </a:rPr>
              <a:t>전사적으로 공유하여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모든 팀이 참여하고 문제 해결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50000"/>
              </a:lnSpc>
              <a:tabLst>
                <a:tab pos="558800" algn="l"/>
              </a:tabLst>
            </a:pPr>
            <a:r>
              <a:rPr lang="ko-KR" altLang="en-US" sz="1200" b="1">
                <a:latin typeface="+mn-ea"/>
              </a:rPr>
              <a:t>    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8AC49E8-A327-493B-840C-9F5998833961}"/>
              </a:ext>
            </a:extLst>
          </p:cNvPr>
          <p:cNvSpPr/>
          <p:nvPr/>
        </p:nvSpPr>
        <p:spPr>
          <a:xfrm>
            <a:off x="6239350" y="928409"/>
            <a:ext cx="5581176" cy="5704166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9AB3C4-347D-C5B8-5E62-5923404DADE1}"/>
              </a:ext>
            </a:extLst>
          </p:cNvPr>
          <p:cNvSpPr txBox="1"/>
          <p:nvPr/>
        </p:nvSpPr>
        <p:spPr>
          <a:xfrm>
            <a:off x="66675" y="322615"/>
            <a:ext cx="11428712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just" latinLnBrk="1">
              <a:lnSpc>
                <a:spcPct val="120000"/>
              </a:lnSpc>
              <a:spcAft>
                <a:spcPts val="0"/>
              </a:spcAf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(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종합답변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)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소비자 불만 개선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소비자 보호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을 위한 방안은 무엇인가요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49EB2C-CC48-EDD4-7ACF-8EF1F6ECD61D}"/>
              </a:ext>
            </a:extLst>
          </p:cNvPr>
          <p:cNvSpPr txBox="1"/>
          <p:nvPr/>
        </p:nvSpPr>
        <p:spPr>
          <a:xfrm>
            <a:off x="65067" y="19589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7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시청자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소비자 보호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C2C2B22-9345-C89B-FE8D-C28628407485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홈쇼핑</a:t>
            </a:r>
            <a:r>
              <a:rPr lang="en-US" altLang="ko-KR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BU</a:t>
            </a:r>
            <a:r>
              <a:rPr lang="ko-KR" altLang="en-US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장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8D56080-8F44-B09E-684A-0638B601E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42" y="1197201"/>
            <a:ext cx="3450388" cy="577393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7B8BFAB-D5DB-CE22-3A6C-A8FACAD66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58" y="3437775"/>
            <a:ext cx="3560171" cy="336238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DE140FB-E562-86C5-5A7E-5AD1F6466DD9}"/>
              </a:ext>
            </a:extLst>
          </p:cNvPr>
          <p:cNvSpPr txBox="1"/>
          <p:nvPr/>
        </p:nvSpPr>
        <p:spPr>
          <a:xfrm>
            <a:off x="65067" y="886320"/>
            <a:ext cx="4950583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고객 </a:t>
            </a:r>
            <a:r>
              <a:rPr lang="en-US" altLang="ko-KR" sz="1100" b="1" dirty="0">
                <a:latin typeface="+mn-ea"/>
              </a:rPr>
              <a:t>VOC </a:t>
            </a:r>
            <a:r>
              <a:rPr lang="ko-KR" altLang="en-US" sz="1100" b="1" dirty="0">
                <a:latin typeface="+mn-ea"/>
              </a:rPr>
              <a:t>분석 및 임직원 공유 사례 → </a:t>
            </a:r>
            <a:r>
              <a:rPr lang="ko-KR" altLang="en-US" sz="1100" b="1" dirty="0" err="1">
                <a:latin typeface="+mn-ea"/>
              </a:rPr>
              <a:t>선제적</a:t>
            </a:r>
            <a:r>
              <a:rPr lang="ko-KR" altLang="en-US" sz="1100" b="1" dirty="0">
                <a:latin typeface="+mn-ea"/>
              </a:rPr>
              <a:t> 개선을 위한 노력</a:t>
            </a:r>
            <a:endParaRPr lang="en-US" altLang="ko-KR" sz="1000" dirty="0">
              <a:latin typeface="+mn-ea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8B36CA6-085D-4CD8-C857-F3FB9D146AD8}"/>
              </a:ext>
            </a:extLst>
          </p:cNvPr>
          <p:cNvCxnSpPr>
            <a:cxnSpLocks/>
          </p:cNvCxnSpPr>
          <p:nvPr/>
        </p:nvCxnSpPr>
        <p:spPr>
          <a:xfrm>
            <a:off x="2117366" y="6245501"/>
            <a:ext cx="109609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5B789F02-B726-0331-46B5-369BC0F6D2DE}"/>
              </a:ext>
            </a:extLst>
          </p:cNvPr>
          <p:cNvCxnSpPr>
            <a:cxnSpLocks/>
          </p:cNvCxnSpPr>
          <p:nvPr/>
        </p:nvCxnSpPr>
        <p:spPr>
          <a:xfrm>
            <a:off x="2766785" y="6441444"/>
            <a:ext cx="70664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87B5D889-D909-CEFB-7B00-61C82C9AA4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642" y="1761725"/>
            <a:ext cx="5749491" cy="1718803"/>
          </a:xfrm>
          <a:prstGeom prst="rect">
            <a:avLst/>
          </a:prstGeom>
        </p:spPr>
      </p:pic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7D293A02-A948-E5BA-4C95-8F680B4ED240}"/>
              </a:ext>
            </a:extLst>
          </p:cNvPr>
          <p:cNvCxnSpPr>
            <a:cxnSpLocks/>
          </p:cNvCxnSpPr>
          <p:nvPr/>
        </p:nvCxnSpPr>
        <p:spPr>
          <a:xfrm>
            <a:off x="944038" y="2074092"/>
            <a:ext cx="76284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D448B50-F920-C795-910F-FBD3AC3A2682}"/>
              </a:ext>
            </a:extLst>
          </p:cNvPr>
          <p:cNvCxnSpPr>
            <a:cxnSpLocks/>
          </p:cNvCxnSpPr>
          <p:nvPr/>
        </p:nvCxnSpPr>
        <p:spPr>
          <a:xfrm>
            <a:off x="2120836" y="3232332"/>
            <a:ext cx="76284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4B0430D-256C-7F88-2120-712DD1AFC3BB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94/109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77529118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572A7E-D6A6-5212-930D-91055E852473}"/>
              </a:ext>
            </a:extLst>
          </p:cNvPr>
          <p:cNvSpPr txBox="1"/>
          <p:nvPr/>
        </p:nvSpPr>
        <p:spPr>
          <a:xfrm>
            <a:off x="65108" y="81062"/>
            <a:ext cx="9572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소비자 불만처리 개선 실적 및 </a:t>
            </a:r>
            <a:r>
              <a:rPr lang="ko-KR" altLang="en-US" b="1" dirty="0" err="1">
                <a:solidFill>
                  <a:schemeClr val="bg1"/>
                </a:solidFill>
                <a:latin typeface="+mn-ea"/>
              </a:rPr>
              <a:t>개획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F82A66-ADBF-2E3A-1D16-EE57F9FCF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90" y="887362"/>
            <a:ext cx="3735746" cy="56197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9CBCBDB-2D0D-C423-F56D-F84D92C27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338" y="900623"/>
            <a:ext cx="3680809" cy="56197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80A042-E713-B82A-054F-5591398693F7}"/>
              </a:ext>
            </a:extLst>
          </p:cNvPr>
          <p:cNvSpPr txBox="1"/>
          <p:nvPr/>
        </p:nvSpPr>
        <p:spPr>
          <a:xfrm>
            <a:off x="230188" y="611902"/>
            <a:ext cx="4950583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(p.242)</a:t>
            </a:r>
            <a:r>
              <a:rPr lang="ko-KR" altLang="en-US" sz="1100" b="1" dirty="0">
                <a:latin typeface="+mn-ea"/>
              </a:rPr>
              <a:t>소비자 불만처리 실적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12668D-AC39-664B-BB0D-BFA4F0C3D1C9}"/>
              </a:ext>
            </a:extLst>
          </p:cNvPr>
          <p:cNvSpPr txBox="1"/>
          <p:nvPr/>
        </p:nvSpPr>
        <p:spPr>
          <a:xfrm>
            <a:off x="4288232" y="629832"/>
            <a:ext cx="4950583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(p.244)</a:t>
            </a:r>
            <a:r>
              <a:rPr lang="ko-KR" altLang="en-US" sz="1100" b="1" dirty="0">
                <a:latin typeface="+mn-ea"/>
              </a:rPr>
              <a:t>소비자 불만처리 계획</a:t>
            </a:r>
            <a:endParaRPr lang="en-US" altLang="ko-KR" sz="1000" dirty="0">
              <a:latin typeface="+mn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F3E2B9C-1F97-16E4-D81E-CEA03343C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7849" y="1084730"/>
            <a:ext cx="3735746" cy="55493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427D1E6-C5EF-EC2A-E07C-CF8F4CCF7091}"/>
              </a:ext>
            </a:extLst>
          </p:cNvPr>
          <p:cNvSpPr txBox="1"/>
          <p:nvPr/>
        </p:nvSpPr>
        <p:spPr>
          <a:xfrm>
            <a:off x="8197849" y="659589"/>
            <a:ext cx="3875089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(p.245)</a:t>
            </a:r>
            <a:r>
              <a:rPr lang="ko-KR" altLang="en-US" sz="1100" b="1" dirty="0">
                <a:latin typeface="+mn-ea"/>
              </a:rPr>
              <a:t>소비자 불만처리 계획</a:t>
            </a:r>
            <a:r>
              <a:rPr lang="en-US" altLang="ko-KR" sz="1100" b="1" dirty="0">
                <a:latin typeface="+mn-ea"/>
              </a:rPr>
              <a:t> </a:t>
            </a:r>
            <a:endParaRPr lang="en-US" altLang="ko-KR" sz="1000" dirty="0">
              <a:latin typeface="+mn-ea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ED040AD-F068-AB06-4533-5FB34AC68FA1}"/>
              </a:ext>
            </a:extLst>
          </p:cNvPr>
          <p:cNvCxnSpPr>
            <a:cxnSpLocks/>
          </p:cNvCxnSpPr>
          <p:nvPr/>
        </p:nvCxnSpPr>
        <p:spPr>
          <a:xfrm>
            <a:off x="1919398" y="4712788"/>
            <a:ext cx="159015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68FCC85-63B8-ACAF-601C-E5C7024568CE}"/>
              </a:ext>
            </a:extLst>
          </p:cNvPr>
          <p:cNvCxnSpPr>
            <a:cxnSpLocks/>
          </p:cNvCxnSpPr>
          <p:nvPr/>
        </p:nvCxnSpPr>
        <p:spPr>
          <a:xfrm>
            <a:off x="1888920" y="5831839"/>
            <a:ext cx="159015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D2B7347-5E46-B7E7-4D5F-55FAA4AF215F}"/>
              </a:ext>
            </a:extLst>
          </p:cNvPr>
          <p:cNvCxnSpPr>
            <a:cxnSpLocks/>
          </p:cNvCxnSpPr>
          <p:nvPr/>
        </p:nvCxnSpPr>
        <p:spPr>
          <a:xfrm>
            <a:off x="1928103" y="5949403"/>
            <a:ext cx="159015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7314240-F8DA-0513-8F2D-521FB7B1C05F}"/>
              </a:ext>
            </a:extLst>
          </p:cNvPr>
          <p:cNvCxnSpPr>
            <a:cxnSpLocks/>
          </p:cNvCxnSpPr>
          <p:nvPr/>
        </p:nvCxnSpPr>
        <p:spPr>
          <a:xfrm>
            <a:off x="1923746" y="6066967"/>
            <a:ext cx="159015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04A6AE1-9A69-DD00-DE37-E1B7AFC70A05}"/>
              </a:ext>
            </a:extLst>
          </p:cNvPr>
          <p:cNvCxnSpPr>
            <a:cxnSpLocks/>
          </p:cNvCxnSpPr>
          <p:nvPr/>
        </p:nvCxnSpPr>
        <p:spPr>
          <a:xfrm>
            <a:off x="1823597" y="2448556"/>
            <a:ext cx="159015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607CFB9-2622-5D2C-4DC4-FACA683114D1}"/>
              </a:ext>
            </a:extLst>
          </p:cNvPr>
          <p:cNvCxnSpPr>
            <a:cxnSpLocks/>
          </p:cNvCxnSpPr>
          <p:nvPr/>
        </p:nvCxnSpPr>
        <p:spPr>
          <a:xfrm>
            <a:off x="1375106" y="1599470"/>
            <a:ext cx="203864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28A6B03-7B2C-FB4B-4A4E-8CFC40F21947}"/>
              </a:ext>
            </a:extLst>
          </p:cNvPr>
          <p:cNvCxnSpPr>
            <a:cxnSpLocks/>
          </p:cNvCxnSpPr>
          <p:nvPr/>
        </p:nvCxnSpPr>
        <p:spPr>
          <a:xfrm>
            <a:off x="5816484" y="3341188"/>
            <a:ext cx="107199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9D80A85-553D-4F9B-9262-43D7B8B469F4}"/>
              </a:ext>
            </a:extLst>
          </p:cNvPr>
          <p:cNvCxnSpPr>
            <a:cxnSpLocks/>
          </p:cNvCxnSpPr>
          <p:nvPr/>
        </p:nvCxnSpPr>
        <p:spPr>
          <a:xfrm>
            <a:off x="5816484" y="3789679"/>
            <a:ext cx="85428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C5CC91-548F-45B8-65DF-FEEECDE7D0EE}"/>
              </a:ext>
            </a:extLst>
          </p:cNvPr>
          <p:cNvCxnSpPr>
            <a:cxnSpLocks/>
          </p:cNvCxnSpPr>
          <p:nvPr/>
        </p:nvCxnSpPr>
        <p:spPr>
          <a:xfrm>
            <a:off x="4432664" y="5335450"/>
            <a:ext cx="67926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6E54369A-AE68-4F73-DC2A-C2B72A54959B}"/>
              </a:ext>
            </a:extLst>
          </p:cNvPr>
          <p:cNvCxnSpPr>
            <a:cxnSpLocks/>
          </p:cNvCxnSpPr>
          <p:nvPr/>
        </p:nvCxnSpPr>
        <p:spPr>
          <a:xfrm>
            <a:off x="10071464" y="1673496"/>
            <a:ext cx="67926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1732FB3-BE36-2060-D2DF-4D987BD9E21D}"/>
              </a:ext>
            </a:extLst>
          </p:cNvPr>
          <p:cNvCxnSpPr>
            <a:cxnSpLocks/>
          </p:cNvCxnSpPr>
          <p:nvPr/>
        </p:nvCxnSpPr>
        <p:spPr>
          <a:xfrm>
            <a:off x="9849395" y="2592250"/>
            <a:ext cx="9927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33488B52-449C-92D4-DE6E-C343807DB881}"/>
              </a:ext>
            </a:extLst>
          </p:cNvPr>
          <p:cNvCxnSpPr>
            <a:cxnSpLocks/>
          </p:cNvCxnSpPr>
          <p:nvPr/>
        </p:nvCxnSpPr>
        <p:spPr>
          <a:xfrm>
            <a:off x="10463350" y="3136535"/>
            <a:ext cx="9927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9D5B7501-1F29-B5B5-D802-FA913D0AF54B}"/>
              </a:ext>
            </a:extLst>
          </p:cNvPr>
          <p:cNvCxnSpPr>
            <a:cxnSpLocks/>
          </p:cNvCxnSpPr>
          <p:nvPr/>
        </p:nvCxnSpPr>
        <p:spPr>
          <a:xfrm>
            <a:off x="9914708" y="3245393"/>
            <a:ext cx="9927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2295A5FE-266E-6155-9955-6767452E39ED}"/>
              </a:ext>
            </a:extLst>
          </p:cNvPr>
          <p:cNvCxnSpPr>
            <a:cxnSpLocks/>
          </p:cNvCxnSpPr>
          <p:nvPr/>
        </p:nvCxnSpPr>
        <p:spPr>
          <a:xfrm>
            <a:off x="10267407" y="3371666"/>
            <a:ext cx="9927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AA33475-D269-A51D-8D81-2CA32A266C7F}"/>
              </a:ext>
            </a:extLst>
          </p:cNvPr>
          <p:cNvCxnSpPr>
            <a:cxnSpLocks/>
          </p:cNvCxnSpPr>
          <p:nvPr/>
        </p:nvCxnSpPr>
        <p:spPr>
          <a:xfrm>
            <a:off x="10062756" y="3489230"/>
            <a:ext cx="9927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F42E0A74-6E4F-B4BD-0AA8-95D1D21BD445}"/>
              </a:ext>
            </a:extLst>
          </p:cNvPr>
          <p:cNvCxnSpPr>
            <a:cxnSpLocks/>
          </p:cNvCxnSpPr>
          <p:nvPr/>
        </p:nvCxnSpPr>
        <p:spPr>
          <a:xfrm>
            <a:off x="9945187" y="3615503"/>
            <a:ext cx="9927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9CCED846-5C1A-7E49-B034-4826E97D964F}"/>
              </a:ext>
            </a:extLst>
          </p:cNvPr>
          <p:cNvCxnSpPr>
            <a:cxnSpLocks/>
          </p:cNvCxnSpPr>
          <p:nvPr/>
        </p:nvCxnSpPr>
        <p:spPr>
          <a:xfrm>
            <a:off x="5245651" y="1399175"/>
            <a:ext cx="53599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13CA7594-8C7F-4212-C36F-A6638A855CAD}"/>
              </a:ext>
            </a:extLst>
          </p:cNvPr>
          <p:cNvCxnSpPr>
            <a:cxnSpLocks/>
          </p:cNvCxnSpPr>
          <p:nvPr/>
        </p:nvCxnSpPr>
        <p:spPr>
          <a:xfrm>
            <a:off x="5215607" y="1538513"/>
            <a:ext cx="53599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58CADDA-124B-56DB-91A5-C8C914498EBB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95/109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22121903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BA6D8-2D08-4A28-2FF7-9C684FA12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F560970-D66C-1A76-0933-85CBFEDF6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79" y="945114"/>
            <a:ext cx="4027171" cy="58209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B0B607-61A1-B7D2-23EC-6D7DCEEB8A28}"/>
              </a:ext>
            </a:extLst>
          </p:cNvPr>
          <p:cNvSpPr txBox="1"/>
          <p:nvPr/>
        </p:nvSpPr>
        <p:spPr>
          <a:xfrm>
            <a:off x="133863" y="616932"/>
            <a:ext cx="4950583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tabLst>
                <a:tab pos="558800" algn="l"/>
              </a:tabLst>
            </a:pPr>
            <a:r>
              <a:rPr lang="ko-KR" altLang="en-US" sz="1100" b="1" dirty="0">
                <a:latin typeface="+mn-ea"/>
              </a:rPr>
              <a:t>■ 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ko-KR" altLang="en-US" sz="1100" b="1" dirty="0">
                <a:latin typeface="+mn-ea"/>
              </a:rPr>
              <a:t>사업계획서 </a:t>
            </a:r>
            <a:r>
              <a:rPr lang="en-US" altLang="ko-KR" sz="1100" b="1" dirty="0">
                <a:latin typeface="+mn-ea"/>
              </a:rPr>
              <a:t>p.243)</a:t>
            </a:r>
            <a:r>
              <a:rPr lang="ko-KR" altLang="en-US" sz="1100" b="1" dirty="0">
                <a:latin typeface="+mn-ea"/>
              </a:rPr>
              <a:t>소비자중심경영 중소기업 협력사 전파</a:t>
            </a:r>
            <a:endParaRPr lang="en-US" altLang="ko-KR" sz="10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0EF6A-42FE-764E-48BF-92DC239AE7F8}"/>
              </a:ext>
            </a:extLst>
          </p:cNvPr>
          <p:cNvSpPr txBox="1"/>
          <p:nvPr/>
        </p:nvSpPr>
        <p:spPr>
          <a:xfrm>
            <a:off x="65108" y="81062"/>
            <a:ext cx="9572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소비자중심경영 중소기업 협력사 전파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EC7B30-D683-3736-FF6C-9F459065098E}"/>
              </a:ext>
            </a:extLst>
          </p:cNvPr>
          <p:cNvSpPr txBox="1"/>
          <p:nvPr/>
        </p:nvSpPr>
        <p:spPr>
          <a:xfrm>
            <a:off x="5103496" y="945114"/>
            <a:ext cx="6600825" cy="4303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latin typeface="+mn-ea"/>
              </a:rPr>
              <a:t>①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소비자중심경영</a:t>
            </a:r>
            <a:r>
              <a:rPr lang="en-US" altLang="ko-KR" sz="1200" b="1" dirty="0">
                <a:latin typeface="+mn-ea"/>
              </a:rPr>
              <a:t>(CCM : Consumer Centered Management) </a:t>
            </a:r>
            <a:r>
              <a:rPr lang="ko-KR" altLang="en-US" sz="1200" b="1" dirty="0">
                <a:latin typeface="+mn-ea"/>
              </a:rPr>
              <a:t>인증 제도 개요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ko-KR" altLang="en-US" sz="1200" b="1" dirty="0">
                <a:latin typeface="+mn-ea"/>
              </a:rPr>
              <a:t>    </a:t>
            </a:r>
            <a:r>
              <a:rPr lang="en-US" altLang="ko-KR" sz="1200" b="1" dirty="0">
                <a:latin typeface="+mn-ea"/>
              </a:rPr>
              <a:t>- </a:t>
            </a:r>
            <a:r>
              <a:rPr lang="ko-KR" altLang="en-US" sz="1200" b="1" dirty="0">
                <a:latin typeface="+mn-ea"/>
              </a:rPr>
              <a:t>기업이 수행하는 모든 활동을 소비자 중심으로 </a:t>
            </a:r>
            <a:r>
              <a:rPr lang="ko-KR" altLang="en-US" sz="1200" b="1">
                <a:latin typeface="+mn-ea"/>
              </a:rPr>
              <a:t>구성하고 경영활동을 개선하는지를 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200" b="1">
                <a:latin typeface="+mn-ea"/>
              </a:rPr>
              <a:t>      3</a:t>
            </a:r>
            <a:r>
              <a:rPr lang="ko-KR" altLang="en-US" sz="1200" b="1" dirty="0">
                <a:latin typeface="+mn-ea"/>
              </a:rPr>
              <a:t>년 마다 평가하는 국가공인 인증제도 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200" b="1">
                <a:latin typeface="+mn-ea"/>
              </a:rPr>
              <a:t>      (</a:t>
            </a:r>
            <a:r>
              <a:rPr lang="ko-KR" altLang="en-US" sz="1200" b="1" dirty="0">
                <a:latin typeface="+mn-ea"/>
              </a:rPr>
              <a:t>인증기간 </a:t>
            </a:r>
            <a:r>
              <a:rPr lang="en-US" altLang="ko-KR" sz="1200" b="1" dirty="0">
                <a:latin typeface="+mn-ea"/>
              </a:rPr>
              <a:t>: 2024</a:t>
            </a:r>
            <a:r>
              <a:rPr lang="ko-KR" altLang="en-US" sz="1200" b="1" dirty="0">
                <a:latin typeface="+mn-ea"/>
              </a:rPr>
              <a:t>년 </a:t>
            </a:r>
            <a:r>
              <a:rPr lang="en-US" altLang="ko-KR" sz="1200" b="1" dirty="0">
                <a:latin typeface="+mn-ea"/>
              </a:rPr>
              <a:t>1</a:t>
            </a:r>
            <a:r>
              <a:rPr lang="ko-KR" altLang="en-US" sz="1200" b="1" dirty="0">
                <a:latin typeface="+mn-ea"/>
              </a:rPr>
              <a:t>월 </a:t>
            </a:r>
            <a:r>
              <a:rPr lang="en-US" altLang="ko-KR" sz="1200" b="1" dirty="0">
                <a:latin typeface="+mn-ea"/>
              </a:rPr>
              <a:t>1</a:t>
            </a:r>
            <a:r>
              <a:rPr lang="ko-KR" altLang="en-US" sz="1200" b="1" dirty="0">
                <a:latin typeface="+mn-ea"/>
              </a:rPr>
              <a:t>일 </a:t>
            </a:r>
            <a:r>
              <a:rPr lang="en-US" altLang="ko-KR" sz="1200" b="1" dirty="0">
                <a:latin typeface="+mn-ea"/>
              </a:rPr>
              <a:t>~ 2026</a:t>
            </a:r>
            <a:r>
              <a:rPr lang="ko-KR" altLang="en-US" sz="1200" b="1" dirty="0">
                <a:latin typeface="+mn-ea"/>
              </a:rPr>
              <a:t>년 </a:t>
            </a:r>
            <a:r>
              <a:rPr lang="en-US" altLang="ko-KR" sz="1200" b="1" dirty="0">
                <a:latin typeface="+mn-ea"/>
              </a:rPr>
              <a:t>12</a:t>
            </a:r>
            <a:r>
              <a:rPr lang="ko-KR" altLang="en-US" sz="1200" b="1" dirty="0">
                <a:latin typeface="+mn-ea"/>
              </a:rPr>
              <a:t>월 </a:t>
            </a:r>
            <a:r>
              <a:rPr lang="en-US" altLang="ko-KR" sz="1200" b="1" dirty="0">
                <a:latin typeface="+mn-ea"/>
              </a:rPr>
              <a:t>31</a:t>
            </a:r>
            <a:r>
              <a:rPr lang="ko-KR" altLang="en-US" sz="1200" b="1" dirty="0">
                <a:latin typeface="+mn-ea"/>
              </a:rPr>
              <a:t>일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 err="1">
                <a:latin typeface="+mn-ea"/>
              </a:rPr>
              <a:t>재인증</a:t>
            </a:r>
            <a:r>
              <a:rPr lang="ko-KR" altLang="en-US" sz="1200" b="1" dirty="0">
                <a:latin typeface="+mn-ea"/>
              </a:rPr>
              <a:t> 준비중</a:t>
            </a:r>
            <a:r>
              <a:rPr lang="en-US" altLang="ko-KR" sz="1200" b="1" dirty="0">
                <a:latin typeface="+mn-ea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en-US" altLang="ko-KR" sz="1200">
                <a:latin typeface="+mn-ea"/>
              </a:rPr>
              <a:t>      </a:t>
            </a:r>
            <a:r>
              <a:rPr lang="en-US" altLang="ko-KR" sz="1000">
                <a:latin typeface="+mn-ea"/>
              </a:rPr>
              <a:t>※ (</a:t>
            </a:r>
            <a:r>
              <a:rPr lang="ko-KR" altLang="en-US" sz="1000" dirty="0">
                <a:latin typeface="+mn-ea"/>
              </a:rPr>
              <a:t>인증기관</a:t>
            </a:r>
            <a:r>
              <a:rPr lang="en-US" altLang="ko-KR" sz="1000">
                <a:latin typeface="+mn-ea"/>
              </a:rPr>
              <a:t>) </a:t>
            </a:r>
            <a:r>
              <a:rPr lang="ko-KR" altLang="en-US" sz="1000">
                <a:latin typeface="+mn-ea"/>
              </a:rPr>
              <a:t>공정거래위원회 </a:t>
            </a:r>
            <a:r>
              <a:rPr lang="en-US" altLang="ko-KR" sz="1000">
                <a:latin typeface="+mn-ea"/>
              </a:rPr>
              <a:t>/ (</a:t>
            </a:r>
            <a:r>
              <a:rPr lang="ko-KR" altLang="en-US" sz="1000" dirty="0">
                <a:latin typeface="+mn-ea"/>
              </a:rPr>
              <a:t>운영기관</a:t>
            </a:r>
            <a:r>
              <a:rPr lang="en-US" altLang="ko-KR" sz="1000" dirty="0">
                <a:latin typeface="+mn-ea"/>
              </a:rPr>
              <a:t>) </a:t>
            </a:r>
            <a:r>
              <a:rPr lang="ko-KR" altLang="en-US" sz="1000" dirty="0">
                <a:latin typeface="+mn-ea"/>
              </a:rPr>
              <a:t>한국소비자원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30000"/>
              </a:lnSpc>
            </a:pPr>
            <a:endParaRPr lang="en-US" altLang="ko-KR" sz="1200" b="1" u="sng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+mn-ea"/>
              </a:rPr>
              <a:t>② 소비자중심경영 인증 평가 항목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+mn-ea"/>
              </a:rPr>
              <a:t>    -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리더십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CCM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체계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CCM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운영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성과관리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200" b="1" u="sng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>
                <a:latin typeface="+mn-ea"/>
              </a:rPr>
              <a:t>③ </a:t>
            </a:r>
            <a:r>
              <a:rPr lang="en-US" altLang="ko-KR" sz="1200" b="1">
                <a:latin typeface="+mn-ea"/>
              </a:rPr>
              <a:t>(</a:t>
            </a:r>
            <a:r>
              <a:rPr lang="ko-KR" altLang="en-US" sz="1200" b="1">
                <a:latin typeface="+mn-ea"/>
              </a:rPr>
              <a:t>과거 당사가 </a:t>
            </a:r>
            <a:r>
              <a:rPr lang="en-US" altLang="ko-KR" sz="1200" b="1">
                <a:latin typeface="+mn-ea"/>
              </a:rPr>
              <a:t>CCM </a:t>
            </a:r>
            <a:r>
              <a:rPr lang="ko-KR" altLang="en-US" sz="1200" b="1">
                <a:latin typeface="+mn-ea"/>
              </a:rPr>
              <a:t>인증받으면서</a:t>
            </a:r>
            <a:r>
              <a:rPr lang="en-US" altLang="ko-KR" sz="1200" b="1">
                <a:latin typeface="+mn-ea"/>
              </a:rPr>
              <a:t>,</a:t>
            </a:r>
            <a:r>
              <a:rPr lang="ko-KR" altLang="en-US" sz="1200" b="1">
                <a:latin typeface="+mn-ea"/>
              </a:rPr>
              <a:t> 협력사에게도 전파해달라는 요청에 따라</a:t>
            </a:r>
            <a:r>
              <a:rPr lang="en-US" altLang="ko-KR" sz="1200" b="1">
                <a:latin typeface="+mn-ea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rgbClr val="0000FF"/>
                </a:solidFill>
                <a:latin typeface="+mn-ea"/>
              </a:rPr>
              <a:t>    </a:t>
            </a:r>
            <a:r>
              <a:rPr lang="ko-KR" altLang="en-US" sz="1200" b="1">
                <a:latin typeface="+mn-ea"/>
              </a:rPr>
              <a:t>당사 중소기업 협력사에게 </a:t>
            </a:r>
            <a:r>
              <a:rPr lang="en-US" altLang="ko-KR" sz="1200" b="1">
                <a:solidFill>
                  <a:srgbClr val="0000FF"/>
                </a:solidFill>
                <a:latin typeface="+mn-ea"/>
              </a:rPr>
              <a:t>CCM</a:t>
            </a:r>
            <a:r>
              <a:rPr lang="ko-KR" altLang="en-US" sz="1200" b="1">
                <a:solidFill>
                  <a:srgbClr val="0000FF"/>
                </a:solidFill>
                <a:latin typeface="+mn-ea"/>
              </a:rPr>
              <a:t>을 전파하고 컨설팅과 인증 비용 지원</a:t>
            </a:r>
            <a:endParaRPr lang="en-US" altLang="ko-KR" sz="1200" b="1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rgbClr val="0000FF"/>
                </a:solidFill>
                <a:latin typeface="+mn-ea"/>
              </a:rPr>
              <a:t>    </a:t>
            </a:r>
            <a:r>
              <a:rPr lang="en-US" altLang="ko-KR" sz="1200" b="1">
                <a:latin typeface="+mn-ea"/>
              </a:rPr>
              <a:t>- 15</a:t>
            </a:r>
            <a:r>
              <a:rPr lang="ko-KR" altLang="en-US" sz="1200" b="1">
                <a:latin typeface="+mn-ea"/>
              </a:rPr>
              <a:t>개사 컨설팅 지원 → 오트리푸드빌리지</a:t>
            </a:r>
            <a:r>
              <a:rPr lang="en-US" altLang="ko-KR" sz="1200" b="1">
                <a:latin typeface="+mn-ea"/>
              </a:rPr>
              <a:t>, </a:t>
            </a:r>
            <a:r>
              <a:rPr lang="ko-KR" altLang="en-US" sz="1200" b="1">
                <a:latin typeface="+mn-ea"/>
              </a:rPr>
              <a:t>송원산지애사과</a:t>
            </a:r>
            <a:r>
              <a:rPr lang="en-US" altLang="ko-KR" sz="1200" b="1">
                <a:latin typeface="+mn-ea"/>
              </a:rPr>
              <a:t> </a:t>
            </a:r>
            <a:r>
              <a:rPr lang="ko-KR" altLang="en-US" sz="1200" b="1">
                <a:latin typeface="+mn-ea"/>
              </a:rPr>
              <a:t>등 </a:t>
            </a:r>
            <a:r>
              <a:rPr lang="en-US" altLang="ko-KR" sz="1200" b="1">
                <a:latin typeface="+mn-ea"/>
              </a:rPr>
              <a:t>5</a:t>
            </a:r>
            <a:r>
              <a:rPr lang="ko-KR" altLang="en-US" sz="1200" b="1">
                <a:latin typeface="+mn-ea"/>
              </a:rPr>
              <a:t>개사 인증 획득</a:t>
            </a:r>
            <a:endParaRPr lang="en-US" altLang="ko-KR" sz="1200" b="1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200" b="1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>
                <a:latin typeface="+mn-ea"/>
              </a:rPr>
              <a:t>    → </a:t>
            </a:r>
            <a:r>
              <a:rPr lang="en-US" altLang="ko-KR" sz="1200" b="1">
                <a:latin typeface="+mn-ea"/>
              </a:rPr>
              <a:t>(</a:t>
            </a:r>
            <a:r>
              <a:rPr lang="ko-KR" altLang="en-US" sz="1200" b="1">
                <a:latin typeface="+mn-ea"/>
              </a:rPr>
              <a:t>지원효과</a:t>
            </a:r>
            <a:r>
              <a:rPr lang="en-US" altLang="ko-KR" sz="1200" b="1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b="1">
                <a:latin typeface="+mn-ea"/>
              </a:rPr>
              <a:t>        </a:t>
            </a:r>
            <a:r>
              <a:rPr lang="ko-KR" altLang="en-US" sz="1200" b="1">
                <a:latin typeface="+mn-ea"/>
              </a:rPr>
              <a:t>당사 중소기업 협력사의 </a:t>
            </a:r>
            <a:r>
              <a:rPr lang="en-US" altLang="ko-KR" sz="1200" b="1">
                <a:latin typeface="+mn-ea"/>
              </a:rPr>
              <a:t>CS, </a:t>
            </a:r>
            <a:r>
              <a:rPr lang="ko-KR" altLang="en-US" sz="1200" b="1">
                <a:latin typeface="+mn-ea"/>
              </a:rPr>
              <a:t>품질관리 역량 향상으로 고객 만족도 개선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+mn-ea"/>
              </a:rPr>
              <a:t>   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C0597DB-DD0C-FC82-892E-8A659E073239}"/>
              </a:ext>
            </a:extLst>
          </p:cNvPr>
          <p:cNvSpPr/>
          <p:nvPr/>
        </p:nvSpPr>
        <p:spPr>
          <a:xfrm>
            <a:off x="4952999" y="692151"/>
            <a:ext cx="6867526" cy="5879896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141A706-A976-7A89-E0A4-0038FE9CF354}"/>
              </a:ext>
            </a:extLst>
          </p:cNvPr>
          <p:cNvSpPr/>
          <p:nvPr/>
        </p:nvSpPr>
        <p:spPr>
          <a:xfrm>
            <a:off x="1375954" y="1227909"/>
            <a:ext cx="3048000" cy="3892731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D1ED3F-FF64-81EF-4E91-56D74D7CAFE9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96/109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21600382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1C590-4BD2-5FEC-1C77-091432B8D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874A7098-F70F-766D-512D-EAC9AEEA9033}"/>
              </a:ext>
            </a:extLst>
          </p:cNvPr>
          <p:cNvSpPr txBox="1"/>
          <p:nvPr/>
        </p:nvSpPr>
        <p:spPr>
          <a:xfrm>
            <a:off x="6174919" y="1007600"/>
            <a:ext cx="5798204" cy="5511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불만 사유별 </a:t>
            </a:r>
            <a:r>
              <a:rPr lang="ko-KR" altLang="en-US" sz="1200" b="1" u="sng" dirty="0">
                <a:latin typeface="+mn-ea"/>
              </a:rPr>
              <a:t>비중만 제시된 것임</a:t>
            </a:r>
            <a:endParaRPr lang="en-US" altLang="ko-KR" sz="1200" b="1" u="sng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→ 주문수량 대비 </a:t>
            </a:r>
            <a:r>
              <a:rPr lang="ko-KR" altLang="en-US" sz="1200" b="1" dirty="0">
                <a:solidFill>
                  <a:srgbClr val="1919E5"/>
                </a:solidFill>
                <a:latin typeface="+mn-ea"/>
              </a:rPr>
              <a:t>불만 접수율은 매년 </a:t>
            </a:r>
            <a:r>
              <a:rPr lang="en-US" altLang="ko-KR" sz="1200" b="1" dirty="0">
                <a:solidFill>
                  <a:srgbClr val="1919E5"/>
                </a:solidFill>
                <a:latin typeface="+mn-ea"/>
              </a:rPr>
              <a:t>1% </a:t>
            </a:r>
            <a:r>
              <a:rPr lang="ko-KR" altLang="en-US" sz="1200" b="1" dirty="0">
                <a:solidFill>
                  <a:srgbClr val="1919E5"/>
                </a:solidFill>
                <a:latin typeface="+mn-ea"/>
              </a:rPr>
              <a:t>내외 </a:t>
            </a:r>
            <a:r>
              <a:rPr lang="ko-KR" altLang="en-US" sz="1200" b="1" dirty="0">
                <a:latin typeface="+mn-ea"/>
              </a:rPr>
              <a:t>유지 중이나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</a:t>
            </a:r>
            <a:r>
              <a:rPr lang="ko-KR" altLang="en-US" sz="1200" b="1" dirty="0">
                <a:latin typeface="+mn-ea"/>
              </a:rPr>
              <a:t>불만율을 더 줄이기 위해 노력 중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주요 </a:t>
            </a:r>
            <a:r>
              <a:rPr lang="ko-KR" altLang="en-US" sz="1000" dirty="0">
                <a:latin typeface="+mn-ea"/>
              </a:rPr>
              <a:t>불만 및 </a:t>
            </a:r>
            <a:r>
              <a:rPr lang="ko-KR" altLang="en-US" sz="1000">
                <a:latin typeface="+mn-ea"/>
              </a:rPr>
              <a:t>개선 내용</a:t>
            </a:r>
            <a:r>
              <a:rPr lang="en-US" altLang="ko-KR" sz="1000" dirty="0">
                <a:latin typeface="+mn-ea"/>
              </a:rPr>
              <a:t>)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① 품질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불만 中 </a:t>
            </a:r>
            <a:r>
              <a:rPr lang="en-US" altLang="ko-KR" sz="1200" b="1" dirty="0">
                <a:latin typeface="+mn-ea"/>
              </a:rPr>
              <a:t>: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사이즈불만족</a:t>
            </a:r>
            <a:r>
              <a:rPr lang="ko-KR" altLang="en-US" sz="1200" b="1" dirty="0">
                <a:latin typeface="+mn-ea"/>
              </a:rPr>
              <a:t> </a:t>
            </a:r>
            <a:r>
              <a:rPr lang="en-US" altLang="ko-KR" sz="1200" b="1" dirty="0">
                <a:latin typeface="+mn-ea"/>
              </a:rPr>
              <a:t>21.3%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    </a:t>
            </a:r>
            <a:r>
              <a:rPr lang="en-US" altLang="ko-KR" sz="1200" b="1" dirty="0">
                <a:latin typeface="+mn-ea"/>
              </a:rPr>
              <a:t>- </a:t>
            </a:r>
            <a:r>
              <a:rPr lang="ko-KR" altLang="en-US" sz="1200" b="1" dirty="0">
                <a:latin typeface="+mn-ea"/>
              </a:rPr>
              <a:t>의류 특성상 같은 사이즈라도 브랜드마다 편차 </a:t>
            </a:r>
            <a:r>
              <a:rPr lang="ko-KR" altLang="en-US" sz="1200" b="1">
                <a:latin typeface="+mn-ea"/>
              </a:rPr>
              <a:t>발생 </a:t>
            </a:r>
            <a:endParaRPr lang="en-US" altLang="ko-KR" sz="1200" b="1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>
                <a:latin typeface="+mn-ea"/>
              </a:rPr>
              <a:t>      → </a:t>
            </a:r>
            <a:r>
              <a:rPr lang="en-US" altLang="ko-KR" sz="1200" b="1">
                <a:latin typeface="+mn-ea"/>
              </a:rPr>
              <a:t>(</a:t>
            </a:r>
            <a:r>
              <a:rPr lang="ko-KR" altLang="en-US" sz="1200" b="1">
                <a:latin typeface="+mn-ea"/>
              </a:rPr>
              <a:t>협력사와</a:t>
            </a:r>
            <a:r>
              <a:rPr lang="en-US" altLang="ko-KR" sz="1200" b="1">
                <a:latin typeface="+mn-ea"/>
              </a:rPr>
              <a:t>)</a:t>
            </a:r>
            <a:r>
              <a:rPr lang="ko-KR" altLang="en-US" sz="1200" b="1" u="sng">
                <a:latin typeface="+mn-ea"/>
              </a:rPr>
              <a:t>사이즈를 표준화 </a:t>
            </a:r>
            <a:endParaRPr lang="en-US" altLang="ko-KR" sz="1200" b="1" u="sng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>
                <a:latin typeface="+mn-ea"/>
              </a:rPr>
              <a:t>      </a:t>
            </a:r>
            <a:r>
              <a:rPr lang="ko-KR" altLang="en-US" sz="1200" b="1">
                <a:latin typeface="+mn-ea"/>
              </a:rPr>
              <a:t>→ </a:t>
            </a:r>
            <a:r>
              <a:rPr lang="en-US" altLang="ko-KR" sz="1200" b="1">
                <a:latin typeface="+mn-ea"/>
              </a:rPr>
              <a:t>(</a:t>
            </a:r>
            <a:r>
              <a:rPr lang="ko-KR" altLang="en-US" sz="1200" b="1">
                <a:latin typeface="+mn-ea"/>
              </a:rPr>
              <a:t>고객에게</a:t>
            </a:r>
            <a:r>
              <a:rPr lang="en-US" altLang="ko-KR" sz="1200" b="1">
                <a:latin typeface="+mn-ea"/>
              </a:rPr>
              <a:t>)</a:t>
            </a:r>
            <a:r>
              <a:rPr lang="ko-KR" altLang="en-US" sz="1200" b="1" u="sng">
                <a:latin typeface="+mn-ea"/>
              </a:rPr>
              <a:t>의류 </a:t>
            </a:r>
            <a:r>
              <a:rPr lang="ko-KR" altLang="en-US" sz="1200" b="1" u="sng" dirty="0">
                <a:latin typeface="+mn-ea"/>
              </a:rPr>
              <a:t>사이즈 비교 서비스 </a:t>
            </a:r>
            <a:r>
              <a:rPr lang="ko-KR" altLang="en-US" sz="1200" b="1" dirty="0">
                <a:latin typeface="+mn-ea"/>
              </a:rPr>
              <a:t>구축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>
                <a:solidFill>
                  <a:srgbClr val="0000FF"/>
                </a:solidFill>
                <a:latin typeface="+mn-ea"/>
              </a:rPr>
              <a:t>       </a:t>
            </a:r>
            <a:r>
              <a:rPr lang="en-US" altLang="ko-KR" sz="1000">
                <a:latin typeface="+mn-ea"/>
              </a:rPr>
              <a:t>※ </a:t>
            </a:r>
            <a:r>
              <a:rPr lang="ko-KR" altLang="en-US" sz="1000">
                <a:latin typeface="+mn-ea"/>
              </a:rPr>
              <a:t>사이즈 표준화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바지 </a:t>
            </a:r>
            <a:r>
              <a:rPr lang="en-US" altLang="ko-KR" sz="1000">
                <a:latin typeface="+mn-ea"/>
              </a:rPr>
              <a:t>200</a:t>
            </a:r>
            <a:r>
              <a:rPr lang="ko-KR" altLang="en-US" sz="1000">
                <a:latin typeface="+mn-ea"/>
              </a:rPr>
              <a:t>여개 치수 전수 조사 </a:t>
            </a:r>
            <a:r>
              <a:rPr lang="en-US" altLang="ko-KR" sz="1000">
                <a:latin typeface="+mn-ea"/>
              </a:rPr>
              <a:t>+ </a:t>
            </a:r>
            <a:r>
              <a:rPr lang="ko-KR" altLang="en-US" sz="1000">
                <a:latin typeface="+mn-ea"/>
              </a:rPr>
              <a:t>공인기관 인체 치수 </a:t>
            </a:r>
            <a:r>
              <a:rPr lang="en-US" altLang="ko-KR" sz="1000">
                <a:latin typeface="+mn-ea"/>
              </a:rPr>
              <a:t>→ </a:t>
            </a:r>
            <a:r>
              <a:rPr lang="ko-KR" altLang="en-US" sz="1000">
                <a:latin typeface="+mn-ea"/>
              </a:rPr>
              <a:t>표준 수치 마련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000">
                <a:latin typeface="+mn-ea"/>
              </a:rPr>
              <a:t>        ※ </a:t>
            </a:r>
            <a:r>
              <a:rPr lang="ko-KR" altLang="en-US" sz="1000" dirty="0">
                <a:latin typeface="+mn-ea"/>
              </a:rPr>
              <a:t>의류 사이즈 비교 서비스 </a:t>
            </a:r>
            <a:r>
              <a:rPr lang="en-US" altLang="ko-KR" sz="1000" dirty="0">
                <a:latin typeface="+mn-ea"/>
              </a:rPr>
              <a:t>(25 9</a:t>
            </a:r>
            <a:r>
              <a:rPr lang="ko-KR" altLang="en-US" sz="1000" dirty="0">
                <a:latin typeface="+mn-ea"/>
              </a:rPr>
              <a:t>월 오픈</a:t>
            </a:r>
            <a:r>
              <a:rPr lang="en-US" altLang="ko-KR" sz="1000" dirty="0">
                <a:latin typeface="+mn-ea"/>
              </a:rPr>
              <a:t>,</a:t>
            </a:r>
            <a:r>
              <a:rPr lang="ko-KR" altLang="en-US" sz="1000" dirty="0">
                <a:latin typeface="+mn-ea"/>
              </a:rPr>
              <a:t> 서비스 이용 고객 수</a:t>
            </a:r>
            <a:r>
              <a:rPr lang="en-US" altLang="ko-KR" sz="1000" dirty="0">
                <a:latin typeface="+mn-ea"/>
              </a:rPr>
              <a:t> </a:t>
            </a:r>
            <a:r>
              <a:rPr lang="ko-KR" altLang="en-US" sz="1000" dirty="0">
                <a:latin typeface="+mn-ea"/>
              </a:rPr>
              <a:t>약 </a:t>
            </a:r>
            <a:r>
              <a:rPr lang="en-US" altLang="ko-KR" sz="1000" dirty="0">
                <a:latin typeface="+mn-ea"/>
              </a:rPr>
              <a:t>1,200</a:t>
            </a:r>
            <a:r>
              <a:rPr lang="ko-KR" altLang="en-US" sz="1000" dirty="0">
                <a:latin typeface="+mn-ea"/>
              </a:rPr>
              <a:t>명</a:t>
            </a:r>
            <a:r>
              <a:rPr lang="en-US" altLang="ko-KR" sz="1000" dirty="0">
                <a:latin typeface="+mn-ea"/>
              </a:rPr>
              <a:t>/</a:t>
            </a:r>
            <a:r>
              <a:rPr lang="ko-KR" altLang="en-US" sz="1000" dirty="0">
                <a:latin typeface="+mn-ea"/>
              </a:rPr>
              <a:t>일</a:t>
            </a:r>
            <a:r>
              <a:rPr lang="en-US" altLang="ko-KR" sz="1200" dirty="0">
                <a:latin typeface="+mn-ea"/>
              </a:rPr>
              <a:t>)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1200">
              <a:solidFill>
                <a:srgbClr val="1919E5"/>
              </a:solidFill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>
                <a:solidFill>
                  <a:srgbClr val="1919E5"/>
                </a:solidFill>
                <a:latin typeface="+mn-ea"/>
              </a:rPr>
              <a:t>  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② 기능 불만 </a:t>
            </a:r>
            <a:r>
              <a:rPr lang="en-US" altLang="ko-KR" sz="1200" b="1">
                <a:latin typeface="+mn-ea"/>
              </a:rPr>
              <a:t>:  </a:t>
            </a:r>
            <a:r>
              <a:rPr lang="ko-KR" altLang="en-US" sz="1200" b="1">
                <a:solidFill>
                  <a:srgbClr val="0000FF"/>
                </a:solidFill>
                <a:latin typeface="+mn-ea"/>
              </a:rPr>
              <a:t>소형가전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작동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·</a:t>
            </a:r>
            <a:r>
              <a:rPr lang="ko-KR" altLang="en-US" sz="1200" b="1">
                <a:solidFill>
                  <a:srgbClr val="0000FF"/>
                </a:solidFill>
                <a:latin typeface="+mn-ea"/>
              </a:rPr>
              <a:t>기능 불만족 </a:t>
            </a:r>
            <a:r>
              <a:rPr lang="en-US" altLang="ko-KR" sz="1200" b="1">
                <a:latin typeface="+mn-ea"/>
              </a:rPr>
              <a:t>77% 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>
                <a:latin typeface="+mn-ea"/>
              </a:rPr>
              <a:t>    - </a:t>
            </a:r>
            <a:r>
              <a:rPr lang="ko-KR" altLang="en-US" sz="1200" b="1">
                <a:latin typeface="+mn-ea"/>
              </a:rPr>
              <a:t>두유제조기 등 소형가전 판매가 증가하면서 </a:t>
            </a:r>
            <a:endParaRPr lang="en-US" altLang="ko-KR" sz="1200" b="1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>
                <a:latin typeface="+mn-ea"/>
              </a:rPr>
              <a:t>      </a:t>
            </a:r>
            <a:r>
              <a:rPr lang="ko-KR" altLang="en-US" sz="1200" b="1">
                <a:latin typeface="+mn-ea"/>
              </a:rPr>
              <a:t>실제 기능 불량</a:t>
            </a:r>
            <a:r>
              <a:rPr lang="en-US" altLang="ko-KR" sz="1200" b="1">
                <a:latin typeface="+mn-ea"/>
              </a:rPr>
              <a:t>, </a:t>
            </a:r>
            <a:r>
              <a:rPr lang="ko-KR" altLang="en-US" sz="1200" b="1">
                <a:latin typeface="+mn-ea"/>
              </a:rPr>
              <a:t>체감상 성능 미흡</a:t>
            </a:r>
            <a:r>
              <a:rPr lang="en-US" altLang="ko-KR" sz="1200" b="1">
                <a:latin typeface="+mn-ea"/>
              </a:rPr>
              <a:t>, </a:t>
            </a:r>
            <a:r>
              <a:rPr lang="ko-KR" altLang="en-US" sz="1200" b="1">
                <a:latin typeface="+mn-ea"/>
              </a:rPr>
              <a:t>작동의 어려움 등에 의해 불만 증가</a:t>
            </a:r>
            <a:endParaRPr lang="en-US" altLang="ko-KR" sz="1200" b="1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1200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>
                <a:latin typeface="+mn-ea"/>
              </a:rPr>
              <a:t>  </a:t>
            </a:r>
            <a:r>
              <a:rPr lang="ko-KR" altLang="en-US" sz="1200" b="1">
                <a:latin typeface="+mn-ea"/>
              </a:rPr>
              <a:t>    →</a:t>
            </a:r>
            <a:r>
              <a:rPr lang="en-US" altLang="ko-KR" sz="1200" b="1">
                <a:latin typeface="+mn-ea"/>
              </a:rPr>
              <a:t> </a:t>
            </a:r>
            <a:r>
              <a:rPr lang="ko-KR" altLang="en-US" sz="1200" b="1">
                <a:latin typeface="+mn-ea"/>
              </a:rPr>
              <a:t>현장점검 </a:t>
            </a:r>
            <a:r>
              <a:rPr lang="ko-KR" altLang="en-US" sz="1200" b="1" dirty="0">
                <a:latin typeface="+mn-ea"/>
              </a:rPr>
              <a:t>및 입고검사 시 샘플검사</a:t>
            </a:r>
            <a:r>
              <a:rPr lang="en-US" altLang="ko-KR" sz="1200" b="1" dirty="0">
                <a:latin typeface="+mn-ea"/>
              </a:rPr>
              <a:t> 2</a:t>
            </a:r>
            <a:r>
              <a:rPr lang="ko-KR" altLang="en-US" sz="1200" b="1">
                <a:latin typeface="+mn-ea"/>
              </a:rPr>
              <a:t>배 확대 </a:t>
            </a:r>
            <a:r>
              <a:rPr lang="en-US" altLang="ko-KR" sz="1000">
                <a:latin typeface="+mn-ea"/>
              </a:rPr>
              <a:t>(2025</a:t>
            </a:r>
            <a:r>
              <a:rPr lang="ko-KR" altLang="en-US" sz="1000">
                <a:latin typeface="+mn-ea"/>
              </a:rPr>
              <a:t>년부터</a:t>
            </a:r>
            <a:r>
              <a:rPr lang="en-US" altLang="ko-KR" sz="1000">
                <a:latin typeface="+mn-ea"/>
              </a:rPr>
              <a:t>)</a:t>
            </a:r>
            <a:br>
              <a:rPr lang="en-US" altLang="ko-KR" sz="1000">
                <a:solidFill>
                  <a:srgbClr val="FF0000"/>
                </a:solidFill>
                <a:latin typeface="+mn-ea"/>
              </a:rPr>
            </a:br>
            <a:r>
              <a:rPr lang="en-US" altLang="ko-KR" sz="1200" b="1">
                <a:solidFill>
                  <a:srgbClr val="FF0000"/>
                </a:solidFill>
                <a:latin typeface="+mn-ea"/>
              </a:rPr>
              <a:t>      </a:t>
            </a:r>
            <a:r>
              <a:rPr lang="ko-KR" altLang="en-US" sz="1200" b="1">
                <a:latin typeface="+mn-ea"/>
              </a:rPr>
              <a:t>→</a:t>
            </a:r>
            <a:r>
              <a:rPr lang="en-US" altLang="ko-KR" sz="1200" b="1">
                <a:latin typeface="+mn-ea"/>
              </a:rPr>
              <a:t> </a:t>
            </a:r>
            <a:r>
              <a:rPr lang="ko-KR" altLang="en-US" sz="1200" b="1">
                <a:latin typeface="+mn-ea"/>
              </a:rPr>
              <a:t>조작법 동영상 제작</a:t>
            </a:r>
            <a:r>
              <a:rPr lang="en-US" altLang="ko-KR" sz="1200" b="1">
                <a:latin typeface="+mn-ea"/>
              </a:rPr>
              <a:t>(</a:t>
            </a:r>
            <a:r>
              <a:rPr lang="en-US" altLang="ko-KR" sz="1200" b="1" dirty="0">
                <a:latin typeface="+mn-ea"/>
              </a:rPr>
              <a:t>QR</a:t>
            </a:r>
            <a:r>
              <a:rPr lang="ko-KR" altLang="en-US" sz="1200" b="1" dirty="0">
                <a:latin typeface="+mn-ea"/>
              </a:rPr>
              <a:t>코드 </a:t>
            </a:r>
            <a:r>
              <a:rPr lang="en-US" altLang="ko-KR" sz="1200" b="1" dirty="0">
                <a:latin typeface="+mn-ea"/>
              </a:rPr>
              <a:t>or LMS </a:t>
            </a:r>
            <a:r>
              <a:rPr lang="ko-KR" altLang="en-US" sz="1200" b="1">
                <a:latin typeface="+mn-ea"/>
              </a:rPr>
              <a:t>문자</a:t>
            </a:r>
            <a:r>
              <a:rPr lang="en-US" altLang="ko-KR" sz="1200" b="1">
                <a:latin typeface="+mn-ea"/>
              </a:rPr>
              <a:t>), </a:t>
            </a:r>
            <a:r>
              <a:rPr lang="ko-KR" altLang="en-US" sz="1200" b="1">
                <a:latin typeface="+mn-ea"/>
              </a:rPr>
              <a:t>안내 </a:t>
            </a:r>
            <a:r>
              <a:rPr lang="ko-KR" altLang="en-US" sz="1200" b="1" err="1">
                <a:latin typeface="+mn-ea"/>
              </a:rPr>
              <a:t>삽지</a:t>
            </a:r>
            <a:r>
              <a:rPr lang="ko-KR" altLang="en-US" sz="1200" b="1">
                <a:latin typeface="+mn-ea"/>
              </a:rPr>
              <a:t> 추가</a:t>
            </a:r>
            <a:endParaRPr lang="en-US" altLang="ko-KR" sz="1200" b="1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>
                <a:latin typeface="+mn-ea"/>
              </a:rPr>
              <a:t>      </a:t>
            </a:r>
            <a:r>
              <a:rPr lang="ko-KR" altLang="ko-KR" sz="1000">
                <a:latin typeface="+mn-ea"/>
              </a:rPr>
              <a:t>※</a:t>
            </a:r>
            <a:r>
              <a:rPr lang="en-US" altLang="ko-KR" sz="1000">
                <a:latin typeface="+mn-ea"/>
              </a:rPr>
              <a:t> </a:t>
            </a:r>
            <a:r>
              <a:rPr lang="ko-KR" altLang="en-US" sz="1000">
                <a:latin typeface="+mn-ea"/>
              </a:rPr>
              <a:t>두유제조기</a:t>
            </a:r>
            <a:endParaRPr lang="en-US" altLang="ko-KR" sz="100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000">
                <a:latin typeface="+mn-ea"/>
              </a:rPr>
              <a:t>           - </a:t>
            </a:r>
            <a:r>
              <a:rPr lang="ko-KR" altLang="en-US" sz="1000">
                <a:latin typeface="+mn-ea"/>
              </a:rPr>
              <a:t>㈜에쎄르 </a:t>
            </a:r>
            <a:r>
              <a:rPr lang="en-US" altLang="ko-KR" sz="1000">
                <a:latin typeface="+mn-ea"/>
              </a:rPr>
              <a:t>'</a:t>
            </a:r>
            <a:r>
              <a:rPr lang="ko-KR" altLang="en-US" sz="1000">
                <a:latin typeface="+mn-ea"/>
              </a:rPr>
              <a:t>베스트하임</a:t>
            </a:r>
            <a:r>
              <a:rPr lang="en-US" altLang="ko-KR" sz="1000">
                <a:latin typeface="+mn-ea"/>
              </a:rPr>
              <a:t>' 23</a:t>
            </a:r>
            <a:r>
              <a:rPr lang="ko-KR" altLang="en-US" sz="1000">
                <a:latin typeface="+mn-ea"/>
              </a:rPr>
              <a:t>년 데이터홈쇼핑 론칭</a:t>
            </a:r>
            <a:r>
              <a:rPr lang="en-US" altLang="ko-KR" sz="1000">
                <a:latin typeface="+mn-ea"/>
              </a:rPr>
              <a:t>, 24</a:t>
            </a:r>
            <a:r>
              <a:rPr lang="ko-KR" altLang="en-US" sz="1000">
                <a:latin typeface="+mn-ea"/>
              </a:rPr>
              <a:t>년 </a:t>
            </a:r>
            <a:r>
              <a:rPr lang="en-US" altLang="ko-KR" sz="1000">
                <a:latin typeface="+mn-ea"/>
              </a:rPr>
              <a:t>37</a:t>
            </a:r>
            <a:r>
              <a:rPr lang="ko-KR" altLang="en-US" sz="1000">
                <a:latin typeface="+mn-ea"/>
              </a:rPr>
              <a:t>회</a:t>
            </a:r>
            <a:r>
              <a:rPr lang="en-US" altLang="ko-KR" sz="1000">
                <a:latin typeface="+mn-ea"/>
              </a:rPr>
              <a:t>, 25</a:t>
            </a:r>
            <a:r>
              <a:rPr lang="ko-KR" altLang="en-US" sz="1000">
                <a:latin typeface="+mn-ea"/>
              </a:rPr>
              <a:t>년 </a:t>
            </a:r>
            <a:r>
              <a:rPr lang="en-US" altLang="ko-KR" sz="1000">
                <a:latin typeface="+mn-ea"/>
              </a:rPr>
              <a:t>6</a:t>
            </a:r>
            <a:r>
              <a:rPr lang="ko-KR" altLang="en-US" sz="1000">
                <a:latin typeface="+mn-ea"/>
              </a:rPr>
              <a:t>회</a:t>
            </a:r>
            <a:endParaRPr lang="en-US" altLang="ko-KR" sz="100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000">
                <a:latin typeface="+mn-ea"/>
              </a:rPr>
              <a:t>           </a:t>
            </a:r>
            <a:r>
              <a:rPr lang="en-US" altLang="ko-KR" sz="1000">
                <a:latin typeface="+mn-ea"/>
              </a:rPr>
              <a:t>- </a:t>
            </a:r>
            <a:r>
              <a:rPr lang="ko-KR" altLang="en-US" sz="1000">
                <a:latin typeface="+mn-ea"/>
              </a:rPr>
              <a:t>㈜씨엔디상사 </a:t>
            </a:r>
            <a:r>
              <a:rPr lang="en-US" altLang="ko-KR" sz="1000">
                <a:latin typeface="+mn-ea"/>
              </a:rPr>
              <a:t>'</a:t>
            </a:r>
            <a:r>
              <a:rPr lang="ko-KR" altLang="en-US" sz="1000">
                <a:latin typeface="+mn-ea"/>
              </a:rPr>
              <a:t>스칸디노티아</a:t>
            </a:r>
            <a:r>
              <a:rPr lang="en-US" altLang="ko-KR" sz="1000">
                <a:latin typeface="+mn-ea"/>
              </a:rPr>
              <a:t>'</a:t>
            </a: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23</a:t>
            </a:r>
            <a:r>
              <a:rPr lang="ko-KR" altLang="en-US" sz="1000">
                <a:latin typeface="+mn-ea"/>
              </a:rPr>
              <a:t>년 데이터홈쇼핑 론칭</a:t>
            </a:r>
            <a:r>
              <a:rPr lang="en-US" altLang="ko-KR" sz="1000">
                <a:latin typeface="+mn-ea"/>
              </a:rPr>
              <a:t>, 24</a:t>
            </a:r>
            <a:r>
              <a:rPr lang="ko-KR" altLang="en-US" sz="1000">
                <a:latin typeface="+mn-ea"/>
              </a:rPr>
              <a:t>년 </a:t>
            </a:r>
            <a:r>
              <a:rPr lang="en-US" altLang="ko-KR" sz="1000">
                <a:latin typeface="+mn-ea"/>
              </a:rPr>
              <a:t>34</a:t>
            </a:r>
            <a:r>
              <a:rPr lang="ko-KR" altLang="en-US" sz="1000">
                <a:latin typeface="+mn-ea"/>
              </a:rPr>
              <a:t>회</a:t>
            </a:r>
            <a:r>
              <a:rPr lang="en-US" altLang="ko-KR" sz="1000">
                <a:latin typeface="+mn-ea"/>
              </a:rPr>
              <a:t>, 25</a:t>
            </a:r>
            <a:r>
              <a:rPr lang="ko-KR" altLang="en-US" sz="1000">
                <a:latin typeface="+mn-ea"/>
              </a:rPr>
              <a:t>년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회</a:t>
            </a:r>
            <a:endParaRPr lang="en-US" altLang="ko-KR" sz="1000" dirty="0">
              <a:latin typeface="+mn-ea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05F7E73-E22A-283E-210F-119C744603A8}"/>
              </a:ext>
            </a:extLst>
          </p:cNvPr>
          <p:cNvSpPr/>
          <p:nvPr/>
        </p:nvSpPr>
        <p:spPr>
          <a:xfrm>
            <a:off x="6096000" y="886321"/>
            <a:ext cx="5877123" cy="5746254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9727CD-DC15-9243-1DCB-1A75323D0230}"/>
              </a:ext>
            </a:extLst>
          </p:cNvPr>
          <p:cNvSpPr txBox="1"/>
          <p:nvPr/>
        </p:nvSpPr>
        <p:spPr>
          <a:xfrm>
            <a:off x="136608" y="876795"/>
            <a:ext cx="32680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■ (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사업계획서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p.240)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불만처리 사유별 비율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EC3C8F-6D46-837E-FCE8-DA5BED79AE03}"/>
              </a:ext>
            </a:extLst>
          </p:cNvPr>
          <p:cNvSpPr txBox="1"/>
          <p:nvPr/>
        </p:nvSpPr>
        <p:spPr>
          <a:xfrm>
            <a:off x="66675" y="322615"/>
            <a:ext cx="11428712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just" latinLnBrk="1">
              <a:lnSpc>
                <a:spcPct val="120000"/>
              </a:lnSpc>
              <a:spcAft>
                <a:spcPts val="0"/>
              </a:spcAf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소비자 불만 중 품질과 배송 불만이 많은데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그 사유와 개선 방안은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155CD4-D01F-8B92-20AE-A207A8A95069}"/>
              </a:ext>
            </a:extLst>
          </p:cNvPr>
          <p:cNvSpPr txBox="1"/>
          <p:nvPr/>
        </p:nvSpPr>
        <p:spPr>
          <a:xfrm>
            <a:off x="65067" y="19589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7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시청자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소비자 보호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FEE1D8-1A5A-4600-92AF-8BCEB0692106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홈쇼핑</a:t>
            </a:r>
            <a:r>
              <a:rPr lang="en-US" altLang="ko-KR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BU</a:t>
            </a:r>
            <a:r>
              <a:rPr lang="ko-KR" altLang="en-US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장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0371BE82-6F46-6CD5-EFEA-A3BB22C63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850" y="1143797"/>
            <a:ext cx="5570643" cy="4177983"/>
          </a:xfrm>
          <a:prstGeom prst="rect">
            <a:avLst/>
          </a:prstGeom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98F33BD-6E15-F233-A78D-591AF127CDB0}"/>
              </a:ext>
            </a:extLst>
          </p:cNvPr>
          <p:cNvGraphicFramePr>
            <a:graphicFrameLocks noGrp="1"/>
          </p:cNvGraphicFramePr>
          <p:nvPr/>
        </p:nvGraphicFramePr>
        <p:xfrm>
          <a:off x="297807" y="5550215"/>
          <a:ext cx="5566686" cy="996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186">
                  <a:extLst>
                    <a:ext uri="{9D8B030D-6E8A-4147-A177-3AD203B41FA5}">
                      <a16:colId xmlns:a16="http://schemas.microsoft.com/office/drawing/2014/main" val="3395521001"/>
                    </a:ext>
                  </a:extLst>
                </a:gridCol>
                <a:gridCol w="87718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77186">
                  <a:extLst>
                    <a:ext uri="{9D8B030D-6E8A-4147-A177-3AD203B41FA5}">
                      <a16:colId xmlns:a16="http://schemas.microsoft.com/office/drawing/2014/main" val="1471039421"/>
                    </a:ext>
                  </a:extLst>
                </a:gridCol>
                <a:gridCol w="877186">
                  <a:extLst>
                    <a:ext uri="{9D8B030D-6E8A-4147-A177-3AD203B41FA5}">
                      <a16:colId xmlns:a16="http://schemas.microsoft.com/office/drawing/2014/main" val="3394648726"/>
                    </a:ext>
                  </a:extLst>
                </a:gridCol>
                <a:gridCol w="877186">
                  <a:extLst>
                    <a:ext uri="{9D8B030D-6E8A-4147-A177-3AD203B41FA5}">
                      <a16:colId xmlns:a16="http://schemas.microsoft.com/office/drawing/2014/main" val="618984332"/>
                    </a:ext>
                  </a:extLst>
                </a:gridCol>
              </a:tblGrid>
              <a:tr h="2407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2021</a:t>
                      </a:r>
                      <a:endParaRPr lang="ko-KR" altLang="en-US" sz="1000" b="1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2022</a:t>
                      </a:r>
                      <a:endParaRPr lang="ko-KR" altLang="en-US" sz="1000" b="1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  <a:endParaRPr lang="ko-KR" altLang="en-US" sz="1000" b="1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2024</a:t>
                      </a:r>
                      <a:endParaRPr lang="ko-KR" altLang="en-US" sz="1000" b="1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2025</a:t>
                      </a:r>
                      <a:endParaRPr lang="ko-KR" altLang="en-US" sz="1000" b="1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불만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SR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율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1.01%</a:t>
                      </a:r>
                      <a:endParaRPr lang="ko-KR" altLang="en-US" sz="10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0.97%</a:t>
                      </a:r>
                      <a:endParaRPr lang="ko-KR" altLang="en-US" sz="10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0.91%</a:t>
                      </a:r>
                      <a:endParaRPr lang="ko-KR" altLang="en-US" sz="10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1.07%</a:t>
                      </a:r>
                      <a:endParaRPr lang="ko-KR" altLang="en-US" sz="10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1.00%</a:t>
                      </a:r>
                      <a:endParaRPr lang="ko-KR" altLang="en-US" sz="10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불만 </a:t>
                      </a:r>
                      <a:r>
                        <a:rPr lang="en-US" altLang="ko-KR" sz="1000" b="1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SR </a:t>
                      </a:r>
                      <a:r>
                        <a:rPr lang="ko-KR" altLang="en-US" sz="1000" b="1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건수</a:t>
                      </a:r>
                      <a:r>
                        <a:rPr lang="en-US" altLang="ko-KR" sz="1000" b="1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  <a:r>
                        <a:rPr lang="en-US" altLang="ko-KR" sz="1000" b="1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b="1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346,719</a:t>
                      </a:r>
                    </a:p>
                  </a:txBody>
                  <a:tcPr marL="9525" marR="9525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323,580</a:t>
                      </a:r>
                    </a:p>
                  </a:txBody>
                  <a:tcPr marL="9525" marR="9525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271,698</a:t>
                      </a:r>
                    </a:p>
                  </a:txBody>
                  <a:tcPr marL="9525" marR="9525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317,190</a:t>
                      </a:r>
                    </a:p>
                  </a:txBody>
                  <a:tcPr marL="9525" marR="9525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307,784</a:t>
                      </a:r>
                    </a:p>
                  </a:txBody>
                  <a:tcPr marL="9525" marR="9525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방송주문수량</a:t>
                      </a:r>
                      <a:r>
                        <a:rPr lang="en-US" altLang="ko-KR" sz="1000" b="1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천건</a:t>
                      </a:r>
                      <a:r>
                        <a:rPr lang="en-US" altLang="ko-KR" sz="1000" b="1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b="1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34,359</a:t>
                      </a:r>
                    </a:p>
                  </a:txBody>
                  <a:tcPr marL="9525" marR="9525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33,189</a:t>
                      </a:r>
                    </a:p>
                  </a:txBody>
                  <a:tcPr marL="9525" marR="9525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29,889</a:t>
                      </a:r>
                    </a:p>
                  </a:txBody>
                  <a:tcPr marL="9525" marR="9525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29,713</a:t>
                      </a:r>
                    </a:p>
                  </a:txBody>
                  <a:tcPr marL="9525" marR="9525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30,804</a:t>
                      </a:r>
                    </a:p>
                  </a:txBody>
                  <a:tcPr marL="9525" marR="9525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894297"/>
                  </a:ext>
                </a:extLst>
              </a:tr>
            </a:tbl>
          </a:graphicData>
        </a:graphic>
      </p:graphicFrame>
      <p:sp>
        <p:nvSpPr>
          <p:cNvPr id="14" name="TextBox 1">
            <a:extLst>
              <a:ext uri="{FF2B5EF4-FFF2-40B4-BE49-F238E27FC236}">
                <a16:creationId xmlns:a16="http://schemas.microsoft.com/office/drawing/2014/main" id="{DE8C4DA7-8413-6454-35D5-79C16410F9CE}"/>
              </a:ext>
            </a:extLst>
          </p:cNvPr>
          <p:cNvSpPr txBox="1"/>
          <p:nvPr/>
        </p:nvSpPr>
        <p:spPr>
          <a:xfrm>
            <a:off x="218888" y="6599018"/>
            <a:ext cx="3106941" cy="25898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8890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굴림" panose="020B0600000101010101" pitchFamily="50" charset="-127"/>
              </a:rPr>
              <a:t>-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굴림" panose="020B0600000101010101" pitchFamily="50" charset="-127"/>
              </a:rPr>
              <a:t>불만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굴림" panose="020B0600000101010101" pitchFamily="50" charset="-127"/>
              </a:rPr>
              <a:t>SR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굴림" panose="020B0600000101010101" pitchFamily="50" charset="-127"/>
              </a:rPr>
              <a:t>율 수식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굴림" panose="020B0600000101010101" pitchFamily="50" charset="-127"/>
              </a:rPr>
              <a:t>: (</a:t>
            </a: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굴림" panose="020B0600000101010101" pitchFamily="50" charset="-127"/>
              </a:rPr>
              <a:t>방송소싱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굴림" panose="020B0600000101010101" pitchFamily="50" charset="-127"/>
              </a:rPr>
              <a:t>)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굴림" panose="020B0600000101010101" pitchFamily="50" charset="-127"/>
              </a:rPr>
              <a:t>불만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굴림" panose="020B0600000101010101" pitchFamily="50" charset="-127"/>
              </a:rPr>
              <a:t>SR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굴림" panose="020B0600000101010101" pitchFamily="50" charset="-127"/>
              </a:rPr>
              <a:t>건수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굴림" panose="020B0600000101010101" pitchFamily="50" charset="-127"/>
              </a:rPr>
              <a:t>/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굴림" panose="020B0600000101010101" pitchFamily="50" charset="-127"/>
              </a:rPr>
              <a:t>총주문수량</a:t>
            </a:r>
            <a:endParaRPr kumimoji="0" lang="ko-KR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굴림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876F4D-590D-7BD3-906D-4C4611BF079B}"/>
              </a:ext>
            </a:extLst>
          </p:cNvPr>
          <p:cNvSpPr txBox="1"/>
          <p:nvPr/>
        </p:nvSpPr>
        <p:spPr>
          <a:xfrm>
            <a:off x="218877" y="5304094"/>
            <a:ext cx="32680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■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연간 </a:t>
            </a:r>
            <a:r>
              <a:rPr lang="ko-KR" altLang="en-US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불만 </a:t>
            </a:r>
            <a:r>
              <a:rPr lang="en-US" altLang="ko-KR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SR</a:t>
            </a:r>
            <a:r>
              <a:rPr lang="ko-KR" altLang="en-US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율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5CF35-61DC-C0C6-A689-E6637557E31D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97/109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88088799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F5B8A-7D6B-A4D4-5ED9-934B32534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8B707C25-D50A-0999-9C2F-56FB196ACD60}"/>
              </a:ext>
            </a:extLst>
          </p:cNvPr>
          <p:cNvSpPr txBox="1"/>
          <p:nvPr/>
        </p:nvSpPr>
        <p:spPr>
          <a:xfrm>
            <a:off x="5904554" y="1202807"/>
            <a:ext cx="5976937" cy="5107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③ 배송 불만 中 </a:t>
            </a:r>
            <a:r>
              <a:rPr lang="en-US" altLang="ko-KR" sz="1200" b="1" dirty="0">
                <a:latin typeface="+mn-ea"/>
              </a:rPr>
              <a:t>: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배송일자 문의 및 배송지연 </a:t>
            </a:r>
            <a:r>
              <a:rPr lang="en-US" altLang="ko-KR" sz="1200" b="1" dirty="0">
                <a:latin typeface="+mn-ea"/>
              </a:rPr>
              <a:t>93.0%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- </a:t>
            </a:r>
            <a:r>
              <a:rPr lang="ko-KR" altLang="en-US" sz="1200" b="1" dirty="0">
                <a:latin typeface="+mn-ea"/>
              </a:rPr>
              <a:t>비중과 건수 모두 감소하고 있으며 </a:t>
            </a:r>
            <a:r>
              <a:rPr lang="en-US" altLang="ko-KR" sz="1050" dirty="0">
                <a:latin typeface="+mn-ea"/>
              </a:rPr>
              <a:t>(21</a:t>
            </a:r>
            <a:r>
              <a:rPr lang="ko-KR" altLang="en-US" sz="1050" dirty="0">
                <a:latin typeface="+mn-ea"/>
              </a:rPr>
              <a:t>년 </a:t>
            </a:r>
            <a:r>
              <a:rPr lang="en-US" altLang="ko-KR" sz="1050" dirty="0">
                <a:latin typeface="+mn-ea"/>
              </a:rPr>
              <a:t>18.5% → 11.3%)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- (</a:t>
            </a:r>
            <a:r>
              <a:rPr lang="ko-KR" altLang="en-US" sz="1200" b="1" dirty="0">
                <a:latin typeface="+mn-ea"/>
              </a:rPr>
              <a:t>인프라</a:t>
            </a:r>
            <a:r>
              <a:rPr lang="en-US" altLang="ko-KR" sz="1200" b="1" dirty="0">
                <a:latin typeface="+mn-ea"/>
              </a:rPr>
              <a:t>) </a:t>
            </a:r>
            <a:r>
              <a:rPr lang="ko-KR" altLang="en-US" sz="1200" b="1" dirty="0">
                <a:latin typeface="+mn-ea"/>
              </a:rPr>
              <a:t>군포물류센터를 신축하여 물류 과정을 자동화했고</a:t>
            </a:r>
            <a:r>
              <a:rPr lang="en-US" altLang="ko-KR" sz="1200" b="1" dirty="0">
                <a:latin typeface="+mn-ea"/>
              </a:rPr>
              <a:t>,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  (</a:t>
            </a:r>
            <a:r>
              <a:rPr lang="ko-KR" altLang="en-US" sz="1200" b="1" dirty="0">
                <a:latin typeface="+mn-ea"/>
              </a:rPr>
              <a:t>배송서비스 개선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solidFill>
                  <a:srgbClr val="1919E5"/>
                </a:solidFill>
                <a:latin typeface="+mn-ea"/>
              </a:rPr>
              <a:t> 내일도착 서비스 확대 등 </a:t>
            </a:r>
            <a:r>
              <a:rPr lang="ko-KR" altLang="en-US" sz="1200" b="1" dirty="0">
                <a:latin typeface="+mn-ea"/>
              </a:rPr>
              <a:t>배송서비스 지속 개선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    </a:t>
            </a:r>
            <a:r>
              <a:rPr lang="ko-KR" altLang="en-US" sz="1200" b="1" dirty="0">
                <a:latin typeface="+mn-ea"/>
              </a:rPr>
              <a:t> 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고객의 배송 서비스 요구 수준이 높기에</a:t>
            </a:r>
            <a:r>
              <a:rPr lang="en-US" altLang="ko-KR" sz="1200" b="1" dirty="0">
                <a:latin typeface="+mn-ea"/>
              </a:rPr>
              <a:t>)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  </a:t>
            </a:r>
            <a:r>
              <a:rPr lang="ko-KR" altLang="en-US" sz="1200" b="1" dirty="0">
                <a:latin typeface="+mn-ea"/>
              </a:rPr>
              <a:t>→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데이터를 활용한 정확한 배송 예정 시간 안내와 배송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  </a:t>
            </a:r>
            <a:r>
              <a:rPr lang="ko-KR" altLang="en-US" sz="1200" b="1" dirty="0">
                <a:latin typeface="+mn-ea"/>
              </a:rPr>
              <a:t>→ </a:t>
            </a:r>
            <a:r>
              <a:rPr lang="en-US" altLang="ko-KR" sz="1200" b="1" dirty="0">
                <a:latin typeface="+mn-ea"/>
              </a:rPr>
              <a:t>AI </a:t>
            </a:r>
            <a:r>
              <a:rPr lang="ko-KR" altLang="en-US" sz="1200" b="1" dirty="0">
                <a:latin typeface="+mn-ea"/>
              </a:rPr>
              <a:t>기술 활용 빠른 출고시스템으로 배송 시간 단축 등 적극적으로 개선 예정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④ 수거불만 中 </a:t>
            </a:r>
            <a:r>
              <a:rPr lang="en-US" altLang="ko-KR" sz="1200" b="1">
                <a:latin typeface="+mn-ea"/>
              </a:rPr>
              <a:t>: </a:t>
            </a:r>
            <a:r>
              <a:rPr lang="ko-KR" altLang="en-US" sz="1200" b="1">
                <a:solidFill>
                  <a:srgbClr val="0000FF"/>
                </a:solidFill>
                <a:latin typeface="+mn-ea"/>
              </a:rPr>
              <a:t>수거일자 문의 및 수거지연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 </a:t>
            </a:r>
            <a:r>
              <a:rPr lang="en-US" altLang="ko-KR" sz="1200" b="1">
                <a:latin typeface="+mn-ea"/>
              </a:rPr>
              <a:t>- </a:t>
            </a:r>
            <a:r>
              <a:rPr lang="ko-KR" altLang="en-US" sz="1200" b="1">
                <a:latin typeface="+mn-ea"/>
              </a:rPr>
              <a:t>수거일자 </a:t>
            </a:r>
            <a:r>
              <a:rPr lang="ko-KR" altLang="en-US" sz="1200" b="1" dirty="0">
                <a:latin typeface="+mn-ea"/>
              </a:rPr>
              <a:t>문의와 수거지연에 대한 불만 </a:t>
            </a:r>
            <a:r>
              <a:rPr lang="ko-KR" altLang="en-US" sz="1200" b="1">
                <a:latin typeface="+mn-ea"/>
              </a:rPr>
              <a:t>증가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>
                <a:latin typeface="+mn-ea"/>
              </a:rPr>
              <a:t>          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급격히 비중이 증가한 이유는</a:t>
            </a:r>
            <a:r>
              <a:rPr lang="en-US" altLang="ko-KR" sz="1000">
                <a:latin typeface="+mn-ea"/>
              </a:rPr>
              <a:t>)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  </a:t>
            </a:r>
            <a:r>
              <a:rPr lang="ko-KR" altLang="en-US" sz="1200" b="1" dirty="0">
                <a:latin typeface="+mn-ea"/>
              </a:rPr>
              <a:t>→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타이트하게 관리하고자 당사 수거지연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불만처리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 기준을 </a:t>
            </a:r>
            <a:r>
              <a:rPr lang="en-US" altLang="ko-KR" sz="1200" b="1" dirty="0">
                <a:latin typeface="+mn-ea"/>
              </a:rPr>
              <a:t>4</a:t>
            </a:r>
            <a:r>
              <a:rPr lang="ko-KR" altLang="en-US" sz="1200" b="1" dirty="0">
                <a:latin typeface="+mn-ea"/>
              </a:rPr>
              <a:t>일→</a:t>
            </a:r>
            <a:r>
              <a:rPr lang="en-US" altLang="ko-KR" sz="1200" b="1" dirty="0">
                <a:latin typeface="+mn-ea"/>
              </a:rPr>
              <a:t>2</a:t>
            </a:r>
            <a:r>
              <a:rPr lang="ko-KR" altLang="en-US" sz="1200" b="1">
                <a:latin typeface="+mn-ea"/>
              </a:rPr>
              <a:t>일로 강화</a:t>
            </a:r>
            <a:endParaRPr lang="en-US" altLang="ko-KR" sz="1200" b="1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>
                <a:latin typeface="+mn-ea"/>
              </a:rPr>
              <a:t>          </a:t>
            </a:r>
            <a:r>
              <a:rPr lang="en-US" altLang="ko-KR" sz="1000">
                <a:latin typeface="+mn-ea"/>
              </a:rPr>
              <a:t>※ </a:t>
            </a:r>
            <a:r>
              <a:rPr lang="ko-KR" altLang="en-US" sz="1000">
                <a:latin typeface="+mn-ea"/>
              </a:rPr>
              <a:t>수거불만 건수 </a:t>
            </a:r>
            <a:r>
              <a:rPr lang="en-US" altLang="ko-KR" sz="1000">
                <a:latin typeface="+mn-ea"/>
              </a:rPr>
              <a:t>: 22</a:t>
            </a:r>
            <a:r>
              <a:rPr lang="ko-KR" altLang="en-US" sz="1000">
                <a:latin typeface="+mn-ea"/>
              </a:rPr>
              <a:t>년 </a:t>
            </a:r>
            <a:r>
              <a:rPr lang="en-US" altLang="ko-KR" sz="1000">
                <a:latin typeface="+mn-ea"/>
              </a:rPr>
              <a:t>11,705</a:t>
            </a:r>
            <a:r>
              <a:rPr lang="ko-KR" altLang="en-US" sz="1000">
                <a:latin typeface="+mn-ea"/>
              </a:rPr>
              <a:t>건 </a:t>
            </a:r>
            <a:r>
              <a:rPr lang="en-US" altLang="ko-KR" sz="1000">
                <a:latin typeface="+mn-ea"/>
              </a:rPr>
              <a:t>/ 23</a:t>
            </a:r>
            <a:r>
              <a:rPr lang="ko-KR" altLang="en-US" sz="1000">
                <a:latin typeface="+mn-ea"/>
              </a:rPr>
              <a:t>년 </a:t>
            </a:r>
            <a:r>
              <a:rPr lang="en-US" altLang="ko-KR" sz="1000">
                <a:latin typeface="+mn-ea"/>
              </a:rPr>
              <a:t>12,171</a:t>
            </a:r>
            <a:r>
              <a:rPr lang="ko-KR" altLang="en-US" sz="1000">
                <a:latin typeface="+mn-ea"/>
              </a:rPr>
              <a:t>건 </a:t>
            </a:r>
            <a:r>
              <a:rPr lang="en-US" altLang="ko-KR" sz="1000">
                <a:latin typeface="+mn-ea"/>
              </a:rPr>
              <a:t>→ 24</a:t>
            </a:r>
            <a:r>
              <a:rPr lang="ko-KR" altLang="en-US" sz="1000">
                <a:latin typeface="+mn-ea"/>
              </a:rPr>
              <a:t>년 </a:t>
            </a:r>
            <a:r>
              <a:rPr lang="en-US" altLang="ko-KR" sz="1000">
                <a:latin typeface="+mn-ea"/>
              </a:rPr>
              <a:t>21,720</a:t>
            </a:r>
            <a:r>
              <a:rPr lang="ko-KR" altLang="en-US" sz="1000">
                <a:latin typeface="+mn-ea"/>
              </a:rPr>
              <a:t>건</a:t>
            </a:r>
            <a:r>
              <a:rPr lang="en-US" altLang="ko-KR" sz="1000">
                <a:latin typeface="+mn-ea"/>
              </a:rPr>
              <a:t>, 25</a:t>
            </a:r>
            <a:r>
              <a:rPr lang="ko-KR" altLang="en-US" sz="1000">
                <a:latin typeface="+mn-ea"/>
              </a:rPr>
              <a:t>년 </a:t>
            </a:r>
            <a:r>
              <a:rPr lang="en-US" altLang="ko-KR" sz="1000">
                <a:latin typeface="+mn-ea"/>
              </a:rPr>
              <a:t>30,976</a:t>
            </a:r>
            <a:r>
              <a:rPr lang="ko-KR" altLang="en-US" sz="1000">
                <a:latin typeface="+mn-ea"/>
              </a:rPr>
              <a:t>건 </a:t>
            </a:r>
            <a:endParaRPr lang="en-US" altLang="ko-KR" sz="1000">
              <a:latin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58800" algn="l"/>
              </a:tabLst>
              <a:defRPr/>
            </a:pPr>
            <a:r>
              <a:rPr lang="en-US" altLang="ko-KR" sz="1200" b="1">
                <a:latin typeface="+mn-ea"/>
              </a:rPr>
              <a:t>          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  <a:cs typeface="+mn-cs"/>
              </a:rPr>
              <a:t>          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>
                <a:latin typeface="+mn-ea"/>
              </a:rPr>
              <a:t>        (</a:t>
            </a:r>
            <a:r>
              <a:rPr lang="ko-KR" altLang="en-US" sz="1200" b="1">
                <a:latin typeface="+mn-ea"/>
              </a:rPr>
              <a:t>고객 의견 청취 결과 </a:t>
            </a:r>
            <a:r>
              <a:rPr lang="en-US" altLang="ko-KR" sz="1200" b="1">
                <a:latin typeface="+mn-ea"/>
              </a:rPr>
              <a:t>: 86% </a:t>
            </a:r>
            <a:r>
              <a:rPr lang="ko-KR" altLang="en-US" sz="1200" b="1">
                <a:latin typeface="+mn-ea"/>
              </a:rPr>
              <a:t>고객이 수거일 지정 서비스 필요</a:t>
            </a:r>
            <a:r>
              <a:rPr lang="en-US" altLang="ko-KR" sz="1200" b="1">
                <a:latin typeface="+mn-ea"/>
              </a:rPr>
              <a:t> </a:t>
            </a:r>
            <a:r>
              <a:rPr lang="ko-KR" altLang="en-US" sz="1200" b="1">
                <a:latin typeface="+mn-ea"/>
              </a:rPr>
              <a:t>의견</a:t>
            </a:r>
            <a:r>
              <a:rPr lang="en-US" altLang="ko-KR" sz="1200" b="1">
                <a:latin typeface="+mn-ea"/>
              </a:rPr>
              <a:t>)</a:t>
            </a:r>
            <a:r>
              <a:rPr lang="ko-KR" altLang="en-US" sz="1200" b="1">
                <a:latin typeface="+mn-ea"/>
              </a:rPr>
              <a:t>  </a:t>
            </a:r>
            <a:endParaRPr lang="en-US" altLang="ko-KR" sz="1200" b="1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>
                <a:latin typeface="+mn-ea"/>
              </a:rPr>
              <a:t>      </a:t>
            </a:r>
            <a:r>
              <a:rPr lang="ko-KR" altLang="en-US" sz="1200" b="1">
                <a:latin typeface="+mn-ea"/>
              </a:rPr>
              <a:t>→</a:t>
            </a:r>
            <a:r>
              <a:rPr lang="en-US" altLang="ko-KR" sz="1200" b="1">
                <a:latin typeface="+mn-ea"/>
              </a:rPr>
              <a:t> 26</a:t>
            </a:r>
            <a:r>
              <a:rPr lang="ko-KR" altLang="en-US" sz="1200" b="1">
                <a:latin typeface="+mn-ea"/>
              </a:rPr>
              <a:t>년 </a:t>
            </a:r>
            <a:r>
              <a:rPr lang="en-US" altLang="ko-KR" sz="1200" b="1">
                <a:latin typeface="+mn-ea"/>
              </a:rPr>
              <a:t>4</a:t>
            </a:r>
            <a:r>
              <a:rPr lang="ko-KR" altLang="en-US" sz="1200" b="1">
                <a:latin typeface="+mn-ea"/>
              </a:rPr>
              <a:t>월부터 수거일 지정 서비스 개시</a:t>
            </a:r>
            <a:endParaRPr lang="en-US" altLang="ko-KR" sz="1200" b="1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>
                <a:latin typeface="+mn-ea"/>
              </a:rPr>
              <a:t>      </a:t>
            </a:r>
            <a:r>
              <a:rPr lang="ko-KR" altLang="en-US" sz="1200" b="1" dirty="0">
                <a:latin typeface="+mn-ea"/>
              </a:rPr>
              <a:t>→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수거요청시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수거예정일 안내 및 수거당일 방문시간 안내 등 소통 강화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  </a:t>
            </a:r>
            <a:r>
              <a:rPr lang="ko-KR" altLang="en-US" sz="1200" b="1">
                <a:latin typeface="+mn-ea"/>
              </a:rPr>
              <a:t>→ 일일 수거 모니터링 통해 택배사와 지속 점검 예정 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      </a:t>
            </a:r>
            <a:endParaRPr lang="en-US" altLang="ko-KR" sz="1200" dirty="0">
              <a:latin typeface="+mn-ea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73BC36C-58A2-49E0-44A8-27088DACA33B}"/>
              </a:ext>
            </a:extLst>
          </p:cNvPr>
          <p:cNvSpPr/>
          <p:nvPr/>
        </p:nvSpPr>
        <p:spPr>
          <a:xfrm>
            <a:off x="5843588" y="981075"/>
            <a:ext cx="5976937" cy="5554310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F0B5AD-9D04-3048-3166-50E242199296}"/>
              </a:ext>
            </a:extLst>
          </p:cNvPr>
          <p:cNvSpPr txBox="1"/>
          <p:nvPr/>
        </p:nvSpPr>
        <p:spPr>
          <a:xfrm>
            <a:off x="66675" y="322615"/>
            <a:ext cx="11428712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just" latinLnBrk="1">
              <a:lnSpc>
                <a:spcPct val="120000"/>
              </a:lnSpc>
              <a:spcAft>
                <a:spcPts val="0"/>
              </a:spcAf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소비자 불만 중 품질과 배송 불만이 많은데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그 사유와 개선 방안은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?(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불만 관리 방안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8D8938-BAB2-B457-3ADB-4F51E67AB5FC}"/>
              </a:ext>
            </a:extLst>
          </p:cNvPr>
          <p:cNvSpPr txBox="1"/>
          <p:nvPr/>
        </p:nvSpPr>
        <p:spPr>
          <a:xfrm>
            <a:off x="65067" y="19589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7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시청자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소비자 보호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BB575CF-D61D-38C6-94F2-6EA5526DFEFE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홈쇼핑</a:t>
            </a:r>
            <a:r>
              <a:rPr lang="en-US" altLang="ko-KR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BU</a:t>
            </a:r>
            <a:r>
              <a:rPr lang="ko-KR" altLang="en-US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장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F92F3526-EAFD-DB56-CC64-E99E109A3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75" y="1230887"/>
            <a:ext cx="5244394" cy="39332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99D84B-A095-6BD6-F857-AA45123AB071}"/>
              </a:ext>
            </a:extLst>
          </p:cNvPr>
          <p:cNvSpPr txBox="1"/>
          <p:nvPr/>
        </p:nvSpPr>
        <p:spPr>
          <a:xfrm>
            <a:off x="136608" y="929049"/>
            <a:ext cx="32680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■ (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사업계획서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p.240)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불만처리 사유별 비율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0463A03-143F-FD4F-70AB-9B1ED6C286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159" y="5204411"/>
            <a:ext cx="3107572" cy="15186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0F0C15-C13C-6AD8-94BE-57012B80F4E8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98/109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87758152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AF0AAB-BDC8-CFD2-B3FF-5D37AB453551}"/>
              </a:ext>
            </a:extLst>
          </p:cNvPr>
          <p:cNvSpPr txBox="1"/>
          <p:nvPr/>
        </p:nvSpPr>
        <p:spPr>
          <a:xfrm>
            <a:off x="57150" y="341665"/>
            <a:ext cx="11428712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just" latinLnBrk="1">
              <a:lnSpc>
                <a:spcPct val="120000"/>
              </a:lnSpc>
              <a:spcAft>
                <a:spcPts val="0"/>
              </a:spcAf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AI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상담센터로 전환하고 있는데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, AI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상담이 소비자에게 더 불편을 주지 않을까요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499DAD-2850-196C-6D49-C0C8F4249BE8}"/>
              </a:ext>
            </a:extLst>
          </p:cNvPr>
          <p:cNvSpPr txBox="1"/>
          <p:nvPr/>
        </p:nvSpPr>
        <p:spPr>
          <a:xfrm>
            <a:off x="65067" y="19589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7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시청자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소비자 보호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351449-B127-400D-37E7-A296C7468ABF}"/>
              </a:ext>
            </a:extLst>
          </p:cNvPr>
          <p:cNvSpPr txBox="1"/>
          <p:nvPr/>
        </p:nvSpPr>
        <p:spPr>
          <a:xfrm>
            <a:off x="5907431" y="1167900"/>
            <a:ext cx="5976243" cy="3594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>
                <a:latin typeface="+mn-ea"/>
              </a:rPr>
              <a:t>① </a:t>
            </a:r>
            <a:r>
              <a:rPr lang="ko-KR" altLang="en-US" sz="1200" b="1">
                <a:latin typeface="+mn-ea"/>
              </a:rPr>
              <a:t>고객 응대 속도</a:t>
            </a:r>
            <a:r>
              <a:rPr lang="en-US" altLang="ko-KR" sz="1200" b="1">
                <a:latin typeface="+mn-ea"/>
              </a:rPr>
              <a:t>, </a:t>
            </a:r>
            <a:r>
              <a:rPr lang="ko-KR" altLang="en-US" sz="1200" b="1">
                <a:latin typeface="+mn-ea"/>
              </a:rPr>
              <a:t>접근성을 높이기 위한 </a:t>
            </a:r>
            <a:r>
              <a:rPr lang="ko-KR" altLang="en-US" sz="1200" b="1">
                <a:solidFill>
                  <a:srgbClr val="0000FF"/>
                </a:solidFill>
                <a:latin typeface="+mn-ea"/>
              </a:rPr>
              <a:t>서비스 개선 차원</a:t>
            </a:r>
            <a:endParaRPr lang="en-US" altLang="ko-KR" sz="1200" b="1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>
                <a:latin typeface="+mn-ea"/>
              </a:rPr>
              <a:t>    - (</a:t>
            </a:r>
            <a:r>
              <a:rPr lang="ko-KR" altLang="en-US" sz="1200" b="1">
                <a:latin typeface="+mn-ea"/>
              </a:rPr>
              <a:t>현재</a:t>
            </a:r>
            <a:r>
              <a:rPr lang="en-US" altLang="ko-KR" sz="1200" b="1">
                <a:latin typeface="+mn-ea"/>
              </a:rPr>
              <a:t>)</a:t>
            </a:r>
            <a:r>
              <a:rPr lang="ko-KR" altLang="en-US" sz="1200" b="1">
                <a:latin typeface="+mn-ea"/>
              </a:rPr>
              <a:t>주문 </a:t>
            </a:r>
            <a:r>
              <a:rPr lang="en-US" altLang="ko-KR" sz="1200" b="1">
                <a:latin typeface="+mn-ea"/>
              </a:rPr>
              <a:t>(</a:t>
            </a:r>
            <a:r>
              <a:rPr lang="ko-KR" altLang="en-US" sz="1200" b="1">
                <a:latin typeface="+mn-ea"/>
              </a:rPr>
              <a:t>향후</a:t>
            </a:r>
            <a:r>
              <a:rPr lang="en-US" altLang="ko-KR" sz="1200" b="1">
                <a:latin typeface="+mn-ea"/>
              </a:rPr>
              <a:t>)</a:t>
            </a:r>
            <a:r>
              <a:rPr lang="ko-KR" altLang="en-US" sz="1200" b="1">
                <a:latin typeface="+mn-ea"/>
              </a:rPr>
              <a:t>주문취소</a:t>
            </a:r>
            <a:r>
              <a:rPr lang="en-US" altLang="ko-KR" sz="1200" b="1">
                <a:latin typeface="+mn-ea"/>
              </a:rPr>
              <a:t>,</a:t>
            </a:r>
            <a:r>
              <a:rPr lang="ko-KR" altLang="en-US" sz="1200" b="1">
                <a:latin typeface="+mn-ea"/>
              </a:rPr>
              <a:t> 반품요청 등 반복적이고 표준화된 문의는</a:t>
            </a:r>
            <a:endParaRPr lang="en-US" altLang="ko-KR" sz="1200" b="1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>
                <a:latin typeface="+mn-ea"/>
              </a:rPr>
              <a:t>       AI</a:t>
            </a:r>
            <a:r>
              <a:rPr lang="ko-KR" altLang="en-US" sz="1200" b="1">
                <a:latin typeface="+mn-ea"/>
              </a:rPr>
              <a:t>가 신속히 처리하여 대기시간을 줄이고</a:t>
            </a:r>
            <a:endParaRPr lang="en-US" altLang="ko-KR" sz="1200" b="1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>
                <a:latin typeface="+mn-ea"/>
              </a:rPr>
              <a:t>    - </a:t>
            </a:r>
            <a:r>
              <a:rPr lang="ko-KR" altLang="en-US" sz="1200" b="1">
                <a:latin typeface="+mn-ea"/>
              </a:rPr>
              <a:t>불만 사항은 상담사가 응대</a:t>
            </a:r>
            <a:endParaRPr lang="en-US" altLang="ko-KR" sz="1200" b="1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>
                <a:latin typeface="+mn-ea"/>
              </a:rPr>
              <a:t>② AI</a:t>
            </a:r>
            <a:r>
              <a:rPr lang="ko-KR" altLang="en-US" sz="1200" b="1">
                <a:latin typeface="+mn-ea"/>
              </a:rPr>
              <a:t>는 상담사 </a:t>
            </a:r>
            <a:r>
              <a:rPr lang="ko-KR" altLang="en-US" sz="1200" b="1" dirty="0">
                <a:latin typeface="+mn-ea"/>
              </a:rPr>
              <a:t>대체 서비스가 아닌 </a:t>
            </a:r>
            <a:r>
              <a:rPr lang="ko-KR" altLang="en-US" sz="1200" b="1" dirty="0">
                <a:solidFill>
                  <a:srgbClr val="1919E5"/>
                </a:solidFill>
                <a:latin typeface="+mn-ea"/>
              </a:rPr>
              <a:t>추가 선택이 가능한 </a:t>
            </a:r>
            <a:r>
              <a:rPr lang="ko-KR" altLang="en-US" sz="1200" b="1">
                <a:solidFill>
                  <a:srgbClr val="1919E5"/>
                </a:solidFill>
                <a:latin typeface="+mn-ea"/>
              </a:rPr>
              <a:t>보완적 서비스로 운영 중</a:t>
            </a:r>
            <a:endParaRPr lang="en-US" altLang="ko-KR" sz="1200" b="1" dirty="0">
              <a:solidFill>
                <a:srgbClr val="1919E5"/>
              </a:solidFill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>
                <a:latin typeface="+mn-ea"/>
              </a:rPr>
              <a:t>    - AI </a:t>
            </a:r>
            <a:r>
              <a:rPr lang="ko-KR" altLang="en-US" sz="1200" b="1">
                <a:latin typeface="+mn-ea"/>
              </a:rPr>
              <a:t>상담 </a:t>
            </a:r>
            <a:r>
              <a:rPr lang="ko-KR" altLang="en-US" sz="1200" b="1" dirty="0">
                <a:latin typeface="+mn-ea"/>
              </a:rPr>
              <a:t>선택 방식</a:t>
            </a:r>
            <a:endParaRPr lang="en-US" altLang="ko-KR" sz="10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000" b="1">
                <a:solidFill>
                  <a:srgbClr val="000000"/>
                </a:solidFill>
                <a:latin typeface="+mn-ea"/>
              </a:rPr>
              <a:t>       </a:t>
            </a:r>
            <a:r>
              <a:rPr lang="ko-KR" altLang="en-US" sz="1000">
                <a:solidFill>
                  <a:srgbClr val="000000"/>
                </a:solidFill>
                <a:latin typeface="+mn-ea"/>
              </a:rPr>
              <a:t>예</a:t>
            </a:r>
            <a:r>
              <a:rPr lang="en-US" altLang="ko-KR" sz="1000" dirty="0">
                <a:solidFill>
                  <a:srgbClr val="000000"/>
                </a:solidFill>
                <a:latin typeface="+mn-ea"/>
              </a:rPr>
              <a:t>)</a:t>
            </a:r>
            <a:r>
              <a:rPr lang="ko-KR" altLang="en-US" sz="10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+mn-ea"/>
              </a:rPr>
              <a:t>AI</a:t>
            </a:r>
            <a:r>
              <a:rPr lang="ko-KR" altLang="en-US" sz="1000" dirty="0">
                <a:solidFill>
                  <a:srgbClr val="000000"/>
                </a:solidFill>
                <a:latin typeface="+mn-ea"/>
              </a:rPr>
              <a:t>상담주문</a:t>
            </a:r>
            <a:r>
              <a:rPr lang="en-US" altLang="ko-KR" sz="1000" dirty="0">
                <a:solidFill>
                  <a:srgbClr val="000000"/>
                </a:solidFill>
                <a:latin typeface="+mn-ea"/>
              </a:rPr>
              <a:t> 1</a:t>
            </a:r>
            <a:r>
              <a:rPr lang="ko-KR" altLang="en-US" sz="1000" dirty="0">
                <a:solidFill>
                  <a:srgbClr val="000000"/>
                </a:solidFill>
                <a:latin typeface="+mn-ea"/>
              </a:rPr>
              <a:t>번</a:t>
            </a:r>
            <a:r>
              <a:rPr lang="en-US" altLang="ko-KR" sz="10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+mn-ea"/>
              </a:rPr>
              <a:t>자동주문</a:t>
            </a:r>
            <a:r>
              <a:rPr lang="en-US" altLang="ko-KR" sz="1000" dirty="0">
                <a:solidFill>
                  <a:srgbClr val="000000"/>
                </a:solidFill>
                <a:latin typeface="+mn-ea"/>
              </a:rPr>
              <a:t> 2</a:t>
            </a:r>
            <a:r>
              <a:rPr lang="ko-KR" altLang="en-US" sz="1000" dirty="0">
                <a:solidFill>
                  <a:srgbClr val="000000"/>
                </a:solidFill>
                <a:latin typeface="+mn-ea"/>
              </a:rPr>
              <a:t>번</a:t>
            </a:r>
            <a:r>
              <a:rPr lang="en-US" altLang="ko-KR" sz="10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+mn-ea"/>
              </a:rPr>
              <a:t>상담주문</a:t>
            </a:r>
            <a:r>
              <a:rPr lang="en-US" altLang="ko-KR" sz="1000" dirty="0">
                <a:solidFill>
                  <a:srgbClr val="000000"/>
                </a:solidFill>
                <a:latin typeface="+mn-ea"/>
              </a:rPr>
              <a:t> 3</a:t>
            </a:r>
            <a:r>
              <a:rPr lang="ko-KR" altLang="en-US" sz="1000" dirty="0">
                <a:solidFill>
                  <a:srgbClr val="000000"/>
                </a:solidFill>
                <a:latin typeface="+mn-ea"/>
              </a:rPr>
              <a:t>번</a:t>
            </a:r>
            <a:endParaRPr lang="en-US" altLang="ko-KR" sz="10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ko-KR" altLang="en-US" sz="1200" b="1">
                <a:latin typeface="+mn-ea"/>
              </a:rPr>
              <a:t>   →</a:t>
            </a:r>
            <a:r>
              <a:rPr lang="en-US" altLang="ko-KR" sz="1200" b="1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간편 문의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주문 등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는 대기 없이 빠른 해결 가능 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>
                <a:latin typeface="+mn-ea"/>
              </a:rPr>
              <a:t>       </a:t>
            </a:r>
            <a:r>
              <a:rPr lang="ko-KR" altLang="en-US" sz="1200" b="1" dirty="0">
                <a:latin typeface="+mn-ea"/>
              </a:rPr>
              <a:t>고객 불만은 </a:t>
            </a:r>
            <a:r>
              <a:rPr lang="ko-KR" altLang="en-US" sz="1200" b="1">
                <a:latin typeface="+mn-ea"/>
              </a:rPr>
              <a:t>상담사가 대응</a:t>
            </a:r>
            <a:endParaRPr lang="en-US" altLang="ko-KR" sz="1200" b="1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ko-KR" altLang="en-US" sz="1200" b="1">
                <a:latin typeface="+mn-ea"/>
              </a:rPr>
              <a:t>   → 콜센터 이용 고객에 대한 의견 청취와 모니터링을 실시할 예정이며</a:t>
            </a:r>
            <a:endParaRPr lang="en-US" altLang="ko-KR" sz="1200" b="1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>
                <a:latin typeface="+mn-ea"/>
              </a:rPr>
              <a:t>       </a:t>
            </a:r>
            <a:r>
              <a:rPr lang="ko-KR" altLang="en-US" sz="1200" b="1">
                <a:latin typeface="+mn-ea"/>
              </a:rPr>
              <a:t>특히 </a:t>
            </a:r>
            <a:r>
              <a:rPr lang="ko-KR" altLang="en-US" sz="1200" b="1" u="sng">
                <a:latin typeface="+mn-ea"/>
              </a:rPr>
              <a:t>고령층</a:t>
            </a:r>
            <a:r>
              <a:rPr lang="en-US" altLang="ko-KR" sz="1200" b="1" u="sng">
                <a:latin typeface="+mn-ea"/>
              </a:rPr>
              <a:t>, </a:t>
            </a:r>
            <a:r>
              <a:rPr lang="ko-KR" altLang="en-US" sz="1200" b="1" u="sng">
                <a:latin typeface="+mn-ea"/>
              </a:rPr>
              <a:t>장애인분들이 이용에 불편이 없도록 지속 개선 예정</a:t>
            </a:r>
            <a:endParaRPr lang="en-US" altLang="ko-KR" sz="1200" b="1" u="sng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000">
                <a:latin typeface="+mn-ea"/>
              </a:rPr>
              <a:t>       ※ </a:t>
            </a:r>
            <a:r>
              <a:rPr lang="ko-KR" altLang="en-US" sz="1000">
                <a:latin typeface="+mn-ea"/>
              </a:rPr>
              <a:t>음성형 </a:t>
            </a:r>
            <a:r>
              <a:rPr lang="en-US" altLang="ko-KR" sz="1000">
                <a:latin typeface="+mn-ea"/>
              </a:rPr>
              <a:t>AI </a:t>
            </a:r>
            <a:r>
              <a:rPr lang="ko-KR" altLang="en-US" sz="1000">
                <a:latin typeface="+mn-ea"/>
              </a:rPr>
              <a:t>주문상담 서비스 이용 현황 </a:t>
            </a:r>
            <a:r>
              <a:rPr lang="en-US" altLang="ko-KR" sz="1000">
                <a:latin typeface="+mn-ea"/>
              </a:rPr>
              <a:t>: 2025</a:t>
            </a:r>
            <a:r>
              <a:rPr lang="ko-KR" altLang="en-US" sz="1000">
                <a:latin typeface="+mn-ea"/>
              </a:rPr>
              <a:t>년 기준 </a:t>
            </a:r>
            <a:r>
              <a:rPr lang="en-US" altLang="ko-KR" sz="1000">
                <a:latin typeface="+mn-ea"/>
              </a:rPr>
              <a:t>90,338</a:t>
            </a:r>
            <a:r>
              <a:rPr lang="ko-KR" altLang="en-US" sz="1000">
                <a:latin typeface="+mn-ea"/>
              </a:rPr>
              <a:t>건 이용</a:t>
            </a:r>
            <a:endParaRPr lang="en-US" altLang="ko-KR" sz="100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3726664-8CAF-3E8A-53C4-6A0705B9CC43}"/>
              </a:ext>
            </a:extLst>
          </p:cNvPr>
          <p:cNvSpPr/>
          <p:nvPr/>
        </p:nvSpPr>
        <p:spPr>
          <a:xfrm>
            <a:off x="5843588" y="981075"/>
            <a:ext cx="5976243" cy="549720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E9461F0-72B7-32E2-44B8-6BE24A7BA02F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홈쇼핑</a:t>
            </a:r>
            <a:r>
              <a:rPr lang="en-US" altLang="ko-KR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BU</a:t>
            </a:r>
            <a:r>
              <a:rPr lang="ko-KR" altLang="en-US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E43281-D74D-92A4-5DF6-62E9302EDF64}"/>
              </a:ext>
            </a:extLst>
          </p:cNvPr>
          <p:cNvSpPr txBox="1"/>
          <p:nvPr/>
        </p:nvSpPr>
        <p:spPr>
          <a:xfrm>
            <a:off x="134938" y="906290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■ </a:t>
            </a:r>
            <a:r>
              <a:rPr lang="en-US" altLang="ko-KR" sz="11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(</a:t>
            </a:r>
            <a:r>
              <a:rPr lang="ko-KR" altLang="en-US" sz="11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사업계획서 </a:t>
            </a:r>
            <a:r>
              <a:rPr lang="en-US" altLang="ko-KR" sz="11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p.238)AI</a:t>
            </a:r>
            <a:r>
              <a:rPr lang="ko-KR" altLang="en-US" sz="11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상담센터 단계적 구축</a:t>
            </a:r>
            <a:endParaRPr lang="ko-KR" altLang="en-US" sz="11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84AE142-21A6-5CB5-F4DC-2F3454C80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48" y="1222624"/>
            <a:ext cx="3869122" cy="5333914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FFEF4C7-D9ED-135E-DA45-D4979348C921}"/>
              </a:ext>
            </a:extLst>
          </p:cNvPr>
          <p:cNvCxnSpPr>
            <a:cxnSpLocks/>
          </p:cNvCxnSpPr>
          <p:nvPr/>
        </p:nvCxnSpPr>
        <p:spPr>
          <a:xfrm>
            <a:off x="2437905" y="3033686"/>
            <a:ext cx="74503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05CE589-4234-797E-94F1-04D8CBA97FEB}"/>
              </a:ext>
            </a:extLst>
          </p:cNvPr>
          <p:cNvCxnSpPr>
            <a:cxnSpLocks/>
          </p:cNvCxnSpPr>
          <p:nvPr/>
        </p:nvCxnSpPr>
        <p:spPr>
          <a:xfrm>
            <a:off x="2442257" y="3769562"/>
            <a:ext cx="99762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25B110C-D4CF-31F2-B325-4F1CF8B14F51}"/>
              </a:ext>
            </a:extLst>
          </p:cNvPr>
          <p:cNvSpPr txBox="1"/>
          <p:nvPr/>
        </p:nvSpPr>
        <p:spPr>
          <a:xfrm>
            <a:off x="11608526" y="6635877"/>
            <a:ext cx="583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99/109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3608485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A3125-8FBD-94EF-C80A-7BAC843C0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A3FD46-BC27-4213-454F-ADEE50A7CF31}"/>
              </a:ext>
            </a:extLst>
          </p:cNvPr>
          <p:cNvSpPr txBox="1"/>
          <p:nvPr/>
        </p:nvSpPr>
        <p:spPr>
          <a:xfrm>
            <a:off x="66675" y="322215"/>
            <a:ext cx="11428712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시청자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·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소비자 보호 관한 질문</a:t>
            </a:r>
            <a:endParaRPr lang="en-US" altLang="ko-KR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6628E3-0991-40F1-22B9-9634F96E0DA8}"/>
              </a:ext>
            </a:extLst>
          </p:cNvPr>
          <p:cNvSpPr txBox="1"/>
          <p:nvPr/>
        </p:nvSpPr>
        <p:spPr>
          <a:xfrm>
            <a:off x="65067" y="9864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7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시청자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소비자 보호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410F099-4288-EF4D-F07C-80D521263E71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홈쇼핑</a:t>
            </a:r>
            <a:r>
              <a:rPr lang="en-US" altLang="ko-KR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BU</a:t>
            </a:r>
            <a:r>
              <a:rPr lang="ko-KR" altLang="en-US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장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4C5DC6D-A7B9-C153-6F94-334987848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748" y="2537791"/>
            <a:ext cx="4312938" cy="1103099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5CE4532-EBB7-4D32-2A8F-557E719742BB}"/>
              </a:ext>
            </a:extLst>
          </p:cNvPr>
          <p:cNvGraphicFramePr>
            <a:graphicFrameLocks noGrp="1"/>
          </p:cNvGraphicFramePr>
          <p:nvPr/>
        </p:nvGraphicFramePr>
        <p:xfrm>
          <a:off x="391813" y="904680"/>
          <a:ext cx="11428712" cy="56806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76873">
                  <a:extLst>
                    <a:ext uri="{9D8B030D-6E8A-4147-A177-3AD203B41FA5}">
                      <a16:colId xmlns:a16="http://schemas.microsoft.com/office/drawing/2014/main" val="1650677874"/>
                    </a:ext>
                  </a:extLst>
                </a:gridCol>
                <a:gridCol w="6551839">
                  <a:extLst>
                    <a:ext uri="{9D8B030D-6E8A-4147-A177-3AD203B41FA5}">
                      <a16:colId xmlns:a16="http://schemas.microsoft.com/office/drawing/2014/main" val="2615130860"/>
                    </a:ext>
                  </a:extLst>
                </a:gridCol>
              </a:tblGrid>
              <a:tr h="2709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예상 질문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답변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141071"/>
                  </a:ext>
                </a:extLst>
              </a:tr>
              <a:tr h="2525501"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Q. (p.230)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콜센터 불만처리 인원이 감소하고 있는데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소비자 불만처리를 적극적으로 해결하기 위해서 인원을 늘려야 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하는것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아닌가요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marL="46800" marR="48000" marT="48000" marB="48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1100" b="1" dirty="0">
                          <a:latin typeface="+mn-ea"/>
                        </a:rPr>
                        <a:t>A.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소비자 불만을 </a:t>
                      </a:r>
                      <a:r>
                        <a:rPr lang="ko-KR" altLang="en-US" sz="1100" b="1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선제적이고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근본적인 해결을 위해 </a:t>
                      </a:r>
                      <a:r>
                        <a:rPr lang="ko-KR" altLang="en-US" sz="1100" b="1" u="sng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전담 부서 인력은 유지해 왔음</a:t>
                      </a:r>
                      <a:endParaRPr lang="en-US" altLang="ko-KR" sz="1100" b="1" u="sng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58800" algn="l"/>
                        </a:tabLst>
                        <a:defRPr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고객 응대를 전담하는 콜센터의 인력은 </a:t>
                      </a:r>
                      <a:r>
                        <a:rPr lang="ko-KR" altLang="en-US" sz="1100" b="1" u="sng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단순 문의 감소 및 디지털 기반 상담 서비스 확대로 </a:t>
                      </a:r>
                      <a:endParaRPr lang="en-US" altLang="ko-KR" sz="1100" b="1" u="sng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58800" algn="l"/>
                        </a:tabLst>
                        <a:defRPr/>
                      </a:pPr>
                      <a:r>
                        <a:rPr lang="en-US" altLang="ko-KR" sz="1100" b="1" u="non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ko-KR" altLang="en-US" sz="1100" b="1" u="sng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자연스럽게 축소되었으나</a:t>
                      </a:r>
                      <a:r>
                        <a:rPr lang="en-US" altLang="ko-KR" sz="1100" b="1" u="sng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u="sng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콜센터 응답율은 유지</a:t>
                      </a:r>
                    </a:p>
                    <a:p>
                      <a:pPr marL="0" indent="0">
                        <a:lnSpc>
                          <a:spcPct val="130000"/>
                        </a:lnSpc>
                        <a:buNone/>
                        <a:tabLst>
                          <a:tab pos="558800" algn="l"/>
                        </a:tabLst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(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모바일 상담센터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ARS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자동 응대 시스템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고객 셀프 처리 기능 등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>
                        <a:lnSpc>
                          <a:spcPct val="130000"/>
                        </a:lnSpc>
                        <a:buNone/>
                        <a:tabLst>
                          <a:tab pos="558800" algn="l"/>
                        </a:tabLst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→ 콜센터 전담 인원은 불만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분쟁 등 전문적인 상담에 보다 집중할 수 있도록 운영</a:t>
                      </a:r>
                      <a:endParaRPr lang="en-US" altLang="ko-KR" sz="11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  <a:buNone/>
                        <a:tabLst>
                          <a:tab pos="558800" algn="l"/>
                        </a:tabLst>
                      </a:pPr>
                      <a:endParaRPr lang="en-US" altLang="ko-KR" sz="5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  <a:buNone/>
                        <a:tabLst>
                          <a:tab pos="558800" algn="l"/>
                        </a:tabLst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※ GSTS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연간 응답률 현황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  <a:buNone/>
                        <a:tabLst>
                          <a:tab pos="558800" algn="l"/>
                        </a:tabLst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>
                        <a:lnSpc>
                          <a:spcPct val="130000"/>
                        </a:lnSpc>
                        <a:tabLst>
                          <a:tab pos="558800" algn="l"/>
                        </a:tabLst>
                      </a:pPr>
                      <a:endParaRPr lang="en-US" altLang="ko-KR" sz="1100" b="1" dirty="0">
                        <a:solidFill>
                          <a:srgbClr val="1919E5"/>
                        </a:solidFill>
                        <a:latin typeface="+mn-ea"/>
                      </a:endParaRPr>
                    </a:p>
                    <a:p>
                      <a:pPr>
                        <a:lnSpc>
                          <a:spcPct val="130000"/>
                        </a:lnSpc>
                        <a:tabLst>
                          <a:tab pos="558800" algn="l"/>
                        </a:tabLst>
                      </a:pPr>
                      <a:endParaRPr lang="en-US" altLang="ko-KR" sz="1100" dirty="0">
                        <a:solidFill>
                          <a:srgbClr val="1919E5"/>
                        </a:solidFill>
                      </a:endParaRPr>
                    </a:p>
                  </a:txBody>
                  <a:tcPr marL="468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9264614"/>
                  </a:ext>
                </a:extLst>
              </a:tr>
              <a:tr h="10498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Q.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최근 알부민에 대한 소비자 이슈가 있는데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소비자 보호를 위한 </a:t>
                      </a:r>
                      <a:r>
                        <a:rPr lang="ko-KR" altLang="en-US" sz="11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조치는</a:t>
                      </a:r>
                      <a:r>
                        <a:rPr lang="en-US" altLang="ko-KR" sz="11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※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혈청추출 알부민과 난백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계란흰자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알부민이 기능∙효과가 상이함에도 혼재 사용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800" marR="48000" marT="48000" marB="48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40000"/>
                        </a:lnSpc>
                        <a:tabLst>
                          <a:tab pos="558800" algn="l"/>
                        </a:tabLst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1100" b="1" dirty="0">
                          <a:latin typeface="+mn-ea"/>
                        </a:rPr>
                        <a:t>A.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최근 알부민 관련 소비자 이슈에 대해 당사도 엄중하게 인식</a:t>
                      </a:r>
                      <a:endParaRPr lang="en-US" altLang="ko-KR" sz="11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40000"/>
                        </a:lnSpc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당사는 소비자에게 오인될 수 있는 정보가 </a:t>
                      </a:r>
                      <a:r>
                        <a:rPr lang="ko-KR" altLang="en-US" sz="11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제공되지 않도록</a:t>
                      </a:r>
                      <a:r>
                        <a:rPr lang="en-US" altLang="ko-KR" sz="11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1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ko-KR" sz="11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ko-KR" altLang="en-US" sz="11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재점검하여 관련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법령 및 가이드라인을 준수하여 상품 </a:t>
                      </a:r>
                      <a:r>
                        <a:rPr lang="ko-KR" altLang="en-US" sz="11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소개 중</a:t>
                      </a:r>
                      <a:endParaRPr lang="en-US" altLang="ko-KR" sz="11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40000"/>
                        </a:lnSpc>
                      </a:pPr>
                      <a:endParaRPr lang="en-US" altLang="ko-KR" sz="11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ko-KR" sz="11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ko-KR" altLang="en-US" sz="11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특히</a:t>
                      </a:r>
                      <a:r>
                        <a:rPr lang="en-US" altLang="ko-KR" sz="11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사전에 </a:t>
                      </a:r>
                      <a:r>
                        <a:rPr lang="ko-KR" altLang="en-US" sz="1100" b="1" kern="120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의료</a:t>
                      </a:r>
                      <a:r>
                        <a:rPr lang="en-US" altLang="ko-KR" sz="1100" b="1" kern="120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식품 등 외부전문가 </a:t>
                      </a:r>
                      <a:r>
                        <a:rPr lang="en-US" altLang="ko-KR" sz="1100" b="1" kern="120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100" b="1" kern="120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인으로 구성된 허위과장방지위원회 심의 절차를 통해</a:t>
                      </a:r>
                      <a:endParaRPr lang="en-US" altLang="ko-KR" sz="1100" b="1" kern="120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40000"/>
                        </a:lnSpc>
                      </a:pPr>
                      <a:r>
                        <a:rPr lang="ko-KR" altLang="en-US" sz="11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①</a:t>
                      </a:r>
                      <a:r>
                        <a:rPr lang="ko-KR" altLang="en-US" sz="1100" b="1"/>
                        <a:t>건강기능식품이 </a:t>
                      </a:r>
                      <a:r>
                        <a:rPr lang="ko-KR" altLang="en-US" sz="1100" b="1" dirty="0"/>
                        <a:t>아닌 </a:t>
                      </a:r>
                      <a:r>
                        <a:rPr lang="ko-KR" altLang="en-US" sz="1100" b="1" u="sng"/>
                        <a:t>일반식품인 점과 함량을 명확히 고지하고</a:t>
                      </a:r>
                      <a:endParaRPr lang="en-US" altLang="ko-KR" sz="1100" b="1" u="sng"/>
                    </a:p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ko-KR" sz="1100" b="1"/>
                        <a:t>     ②</a:t>
                      </a:r>
                      <a:r>
                        <a:rPr lang="ko-KR" altLang="en-US" sz="1100" b="1"/>
                        <a:t>효능 효과 오인이 없도록 </a:t>
                      </a:r>
                      <a:r>
                        <a:rPr lang="ko-KR" altLang="en-US" sz="1100" b="1" u="sng"/>
                        <a:t>표현 재점검 완료 </a:t>
                      </a:r>
                      <a:r>
                        <a:rPr lang="en-US" altLang="ko-KR" sz="1100" b="1"/>
                        <a:t>(</a:t>
                      </a:r>
                      <a:r>
                        <a:rPr lang="ko-KR" altLang="en-US" sz="1100" b="1"/>
                        <a:t>혈청 알부민 정보</a:t>
                      </a:r>
                      <a:r>
                        <a:rPr lang="en-US" altLang="ko-KR" sz="1100" b="1"/>
                        <a:t>, </a:t>
                      </a:r>
                      <a:r>
                        <a:rPr lang="ko-KR" altLang="en-US" sz="1100" b="1"/>
                        <a:t>의사출연 제외하고 운영</a:t>
                      </a:r>
                      <a:r>
                        <a:rPr lang="en-US" altLang="ko-KR" sz="1100" b="1"/>
                        <a:t>)</a:t>
                      </a:r>
                    </a:p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ko-KR" sz="1100" b="1"/>
                        <a:t>     </a:t>
                      </a:r>
                    </a:p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ko-KR" sz="1100" b="1"/>
                        <a:t>      → (</a:t>
                      </a:r>
                      <a:r>
                        <a:rPr lang="ko-KR" altLang="en-US" sz="1100" b="1"/>
                        <a:t>추가로 강하게 이슈 제기하면</a:t>
                      </a:r>
                      <a:r>
                        <a:rPr lang="en-US" altLang="ko-KR" sz="1100" b="1"/>
                        <a:t>)</a:t>
                      </a:r>
                    </a:p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ko-KR" sz="1100" b="1"/>
                        <a:t>          </a:t>
                      </a:r>
                      <a:r>
                        <a:rPr lang="ko-KR" altLang="en-US" sz="1100" b="1" u="sng"/>
                        <a:t>내부 심의 프로세스를 다시 한번 점검하고</a:t>
                      </a:r>
                      <a:endParaRPr lang="en-US" altLang="ko-KR" sz="1100" b="1" u="sng"/>
                    </a:p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ko-KR" sz="1100" b="1"/>
                        <a:t>          </a:t>
                      </a:r>
                      <a:r>
                        <a:rPr lang="ko-KR" altLang="en-US" sz="1100" b="1" u="sng"/>
                        <a:t>객관적 시각으로 볼 수 있는 외부 전문가 위원회 심의 절차를 강화하여</a:t>
                      </a:r>
                      <a:endParaRPr lang="en-US" altLang="ko-KR" sz="1100" b="1" u="sng"/>
                    </a:p>
                    <a:p>
                      <a:pPr>
                        <a:lnSpc>
                          <a:spcPct val="140000"/>
                        </a:lnSpc>
                      </a:pPr>
                      <a:r>
                        <a:rPr lang="ko-KR" altLang="en-US" sz="1100" b="1"/>
                        <a:t>          소비자 우려가 없도록 철저히 관리하겠음</a:t>
                      </a:r>
                      <a:r>
                        <a:rPr lang="en-US" altLang="ko-KR" sz="1100" b="1"/>
                        <a:t>   </a:t>
                      </a: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</a:txBody>
                  <a:tcPr marL="468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3023243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497AE21F-4595-74B5-29AA-3B5FCDDF4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31" y="1971175"/>
            <a:ext cx="4414726" cy="1270604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C36574E-7A4D-03ED-CFD3-5AD21E2C8CBC}"/>
              </a:ext>
            </a:extLst>
          </p:cNvPr>
          <p:cNvCxnSpPr>
            <a:cxnSpLocks/>
          </p:cNvCxnSpPr>
          <p:nvPr/>
        </p:nvCxnSpPr>
        <p:spPr>
          <a:xfrm>
            <a:off x="6627223" y="3361509"/>
            <a:ext cx="393046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F492CFF0-6F2A-4C2A-983B-C14B9CA90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33" y="5469427"/>
            <a:ext cx="3423285" cy="10727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BED714-41EE-B44E-0501-A9FDB4EADA2F}"/>
              </a:ext>
            </a:extLst>
          </p:cNvPr>
          <p:cNvSpPr txBox="1"/>
          <p:nvPr/>
        </p:nvSpPr>
        <p:spPr>
          <a:xfrm>
            <a:off x="11563927" y="6635877"/>
            <a:ext cx="6280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100/109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62819746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BF566E1-10A8-0E60-2EE6-8DA022BAB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531" y="4030394"/>
            <a:ext cx="4307008" cy="25581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892806-9288-FB86-6CA8-2E918CBC0B57}"/>
              </a:ext>
            </a:extLst>
          </p:cNvPr>
          <p:cNvSpPr txBox="1"/>
          <p:nvPr/>
        </p:nvSpPr>
        <p:spPr>
          <a:xfrm>
            <a:off x="66675" y="322215"/>
            <a:ext cx="11428712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장애인 및 디지털 소외계층을 위한 보호 계획은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무엇인가요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7BBF7B-6977-8189-412F-46DBE0B67FE6}"/>
              </a:ext>
            </a:extLst>
          </p:cNvPr>
          <p:cNvSpPr txBox="1"/>
          <p:nvPr/>
        </p:nvSpPr>
        <p:spPr>
          <a:xfrm>
            <a:off x="65067" y="9864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7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시청자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소비자 보호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33849F-947F-3068-9822-07CD07857AD3}"/>
              </a:ext>
            </a:extLst>
          </p:cNvPr>
          <p:cNvSpPr txBox="1"/>
          <p:nvPr/>
        </p:nvSpPr>
        <p:spPr>
          <a:xfrm>
            <a:off x="125413" y="3772445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■ </a:t>
            </a:r>
            <a:r>
              <a:rPr lang="en-US" altLang="ko-KR" sz="11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(</a:t>
            </a:r>
            <a:r>
              <a:rPr lang="ko-KR" altLang="en-US" sz="11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사업계획서 </a:t>
            </a:r>
            <a:r>
              <a:rPr lang="en-US" altLang="ko-KR" sz="11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p.237)</a:t>
            </a:r>
            <a:r>
              <a:rPr lang="ko-KR" altLang="en-US" sz="11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디지털 소외계층</a:t>
            </a:r>
            <a:r>
              <a:rPr lang="en-US" altLang="ko-KR" sz="11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(</a:t>
            </a:r>
            <a:r>
              <a:rPr lang="ko-KR" altLang="en-US" sz="11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장애인</a:t>
            </a:r>
            <a:r>
              <a:rPr lang="en-US" altLang="ko-KR" sz="11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,</a:t>
            </a:r>
            <a:r>
              <a:rPr lang="ko-KR" altLang="en-US" sz="11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시니어</a:t>
            </a:r>
            <a:r>
              <a:rPr lang="en-US" altLang="ko-KR" sz="11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)</a:t>
            </a:r>
            <a:r>
              <a:rPr lang="ko-KR" altLang="en-US" sz="11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 서비스 개선</a:t>
            </a:r>
            <a:endParaRPr lang="ko-KR" altLang="en-US" sz="11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6F92D93-40C7-F3A1-4E66-82E8DB787CDB}"/>
              </a:ext>
            </a:extLst>
          </p:cNvPr>
          <p:cNvSpPr/>
          <p:nvPr/>
        </p:nvSpPr>
        <p:spPr>
          <a:xfrm>
            <a:off x="5843588" y="981075"/>
            <a:ext cx="5976937" cy="5651500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b="1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D09E59-1D22-9376-B768-3CD456B9E94F}"/>
              </a:ext>
            </a:extLst>
          </p:cNvPr>
          <p:cNvSpPr txBox="1"/>
          <p:nvPr/>
        </p:nvSpPr>
        <p:spPr>
          <a:xfrm>
            <a:off x="5946136" y="1232951"/>
            <a:ext cx="5874389" cy="4146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방송시청과 거래과정에서 불편함이 없도록 노력 하고 있음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방송시청</a:t>
            </a:r>
            <a:r>
              <a:rPr lang="en-US" altLang="ko-KR" sz="1200" dirty="0">
                <a:latin typeface="+mn-ea"/>
              </a:rPr>
              <a:t>)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- </a:t>
            </a:r>
            <a:r>
              <a:rPr lang="ko-KR" altLang="en-US" sz="1200" b="1" dirty="0">
                <a:latin typeface="+mn-ea"/>
              </a:rPr>
              <a:t>음성을 자막으로 자동 변환하는 자막시스템을 도입하여 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  방송프로그램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90%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이상 자막 제공 중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- </a:t>
            </a:r>
            <a:r>
              <a:rPr lang="ko-KR" altLang="en-US" sz="1200" b="1" dirty="0">
                <a:latin typeface="+mn-ea"/>
              </a:rPr>
              <a:t>일부 프로그램에서는 </a:t>
            </a:r>
            <a:r>
              <a:rPr lang="ko-KR" altLang="en-US" sz="1200" b="1" dirty="0" err="1">
                <a:latin typeface="+mn-ea"/>
              </a:rPr>
              <a:t>수어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청각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와 화면해설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시각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도 함께 제공 중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거래과정</a:t>
            </a:r>
            <a:r>
              <a:rPr lang="en-US" altLang="ko-KR" sz="1200" dirty="0">
                <a:latin typeface="+mn-ea"/>
              </a:rPr>
              <a:t>)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고령층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 </a:t>
            </a:r>
            <a:r>
              <a:rPr lang="ko-KR" altLang="en-US" sz="1200" b="1" dirty="0" err="1">
                <a:solidFill>
                  <a:srgbClr val="0000FF"/>
                </a:solidFill>
                <a:latin typeface="+mn-ea"/>
              </a:rPr>
              <a:t>느림말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ARS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도입 예정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장애인</a:t>
            </a:r>
            <a:r>
              <a:rPr lang="en-US" altLang="ko-KR" sz="1200" b="1" dirty="0">
                <a:latin typeface="+mn-ea"/>
              </a:rPr>
              <a:t>) </a:t>
            </a:r>
            <a:r>
              <a:rPr lang="ko-KR" altLang="en-US" sz="1200" b="1" dirty="0">
                <a:latin typeface="+mn-ea"/>
              </a:rPr>
              <a:t>콜센터 내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전담 상담사 </a:t>
            </a:r>
            <a:r>
              <a:rPr lang="ko-KR" altLang="en-US" sz="1200" b="1" dirty="0">
                <a:latin typeface="+mn-ea"/>
              </a:rPr>
              <a:t>배치하여 지원 중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        </a:t>
            </a:r>
            <a:r>
              <a:rPr lang="ko-KR" altLang="en-US" sz="1200" b="1" dirty="0">
                <a:latin typeface="+mn-ea"/>
              </a:rPr>
              <a:t>모바일 접근이 어려운 </a:t>
            </a:r>
            <a:r>
              <a:rPr lang="ko-KR" altLang="en-US" sz="1200" b="1" dirty="0" err="1">
                <a:latin typeface="+mn-ea"/>
              </a:rPr>
              <a:t>저시력자를</a:t>
            </a:r>
            <a:r>
              <a:rPr lang="ko-KR" altLang="en-US" sz="1200" b="1" dirty="0">
                <a:latin typeface="+mn-ea"/>
              </a:rPr>
              <a:t> 위해</a:t>
            </a:r>
            <a:r>
              <a:rPr lang="en-US" altLang="ko-KR" sz="1200" b="1" dirty="0">
                <a:latin typeface="+mn-ea"/>
              </a:rPr>
              <a:t>, 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         </a:t>
            </a:r>
            <a:r>
              <a:rPr lang="ko-KR" altLang="en-US" sz="1200" b="1" dirty="0">
                <a:latin typeface="+mn-ea"/>
              </a:rPr>
              <a:t>전화 주문시에도 모바일 주문과 동일한 할인 혜택 적용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모바일 이용이 많으시기에</a:t>
            </a:r>
            <a:r>
              <a:rPr lang="en-US" altLang="ko-KR" sz="1200" dirty="0">
                <a:latin typeface="+mn-ea"/>
              </a:rPr>
              <a:t>)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- </a:t>
            </a:r>
            <a:r>
              <a:rPr lang="ko-KR" altLang="en-US" sz="1200" b="1" dirty="0">
                <a:latin typeface="+mn-ea"/>
              </a:rPr>
              <a:t>모바일 사용에도 불편함이 없도록</a:t>
            </a:r>
            <a:r>
              <a:rPr lang="en-US" altLang="ko-KR" sz="1200" b="1" dirty="0">
                <a:latin typeface="+mn-ea"/>
              </a:rPr>
              <a:t>, </a:t>
            </a: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</a:t>
            </a:r>
            <a:r>
              <a:rPr lang="ko-KR" altLang="en-US" sz="1200" b="1" dirty="0">
                <a:latin typeface="+mn-ea"/>
              </a:rPr>
              <a:t>명도나 채도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가독성을 높이고 </a:t>
            </a:r>
            <a:r>
              <a:rPr lang="ko-KR" altLang="en-US" sz="1200" b="1" dirty="0" err="1">
                <a:solidFill>
                  <a:srgbClr val="0000FF"/>
                </a:solidFill>
                <a:latin typeface="+mn-ea"/>
              </a:rPr>
              <a:t>대체텍스트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 제공 중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3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</a:t>
            </a:r>
            <a:r>
              <a:rPr lang="ko-KR" altLang="ko-KR" sz="1000" dirty="0">
                <a:latin typeface="+mn-ea"/>
              </a:rPr>
              <a:t>※</a:t>
            </a:r>
            <a:r>
              <a:rPr lang="en-US" altLang="ko-KR" sz="1000" dirty="0">
                <a:latin typeface="+mn-ea"/>
              </a:rPr>
              <a:t> </a:t>
            </a:r>
            <a:r>
              <a:rPr lang="ko-KR" altLang="en-US" sz="1000" dirty="0" err="1">
                <a:latin typeface="+mn-ea"/>
              </a:rPr>
              <a:t>저시력자는</a:t>
            </a:r>
            <a:r>
              <a:rPr lang="ko-KR" altLang="en-US" sz="1000" dirty="0">
                <a:latin typeface="+mn-ea"/>
              </a:rPr>
              <a:t> 모바일 </a:t>
            </a:r>
            <a:r>
              <a:rPr lang="en-US" altLang="ko-KR" sz="1000" dirty="0">
                <a:latin typeface="+mn-ea"/>
              </a:rPr>
              <a:t>App </a:t>
            </a:r>
            <a:r>
              <a:rPr lang="ko-KR" altLang="en-US" sz="1000" dirty="0">
                <a:latin typeface="+mn-ea"/>
              </a:rPr>
              <a:t>내 텍스트 또는 </a:t>
            </a:r>
            <a:r>
              <a:rPr lang="ko-KR" altLang="en-US" sz="1000" dirty="0" err="1">
                <a:latin typeface="+mn-ea"/>
              </a:rPr>
              <a:t>대체텍스트를</a:t>
            </a:r>
            <a:r>
              <a:rPr lang="ko-KR" altLang="en-US" sz="1000" dirty="0">
                <a:latin typeface="+mn-ea"/>
              </a:rPr>
              <a:t> 읽어주는 프로그램 이용 </a:t>
            </a:r>
            <a:endParaRPr lang="en-US" altLang="ko-KR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6F72CD3-AAC6-5409-86CA-7C691D552265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홈쇼핑</a:t>
            </a:r>
            <a:r>
              <a:rPr lang="en-US" altLang="ko-KR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BU</a:t>
            </a:r>
            <a:r>
              <a:rPr lang="ko-KR" altLang="en-US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장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8C2BD03-66EC-C626-801D-02E0B22EE1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30"/>
          <a:stretch>
            <a:fillRect/>
          </a:stretch>
        </p:blipFill>
        <p:spPr>
          <a:xfrm>
            <a:off x="519983" y="1382329"/>
            <a:ext cx="4307008" cy="210859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28BDAF3-B979-4BFB-962A-970900F2FBBA}"/>
              </a:ext>
            </a:extLst>
          </p:cNvPr>
          <p:cNvSpPr txBox="1"/>
          <p:nvPr/>
        </p:nvSpPr>
        <p:spPr>
          <a:xfrm>
            <a:off x="125413" y="928806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■ </a:t>
            </a:r>
            <a:r>
              <a:rPr lang="en-US" altLang="ko-KR" sz="11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(</a:t>
            </a:r>
            <a:r>
              <a:rPr lang="ko-KR" altLang="en-US" sz="11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사업계획서 </a:t>
            </a:r>
            <a:r>
              <a:rPr lang="en-US" altLang="ko-KR" sz="11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p.149)</a:t>
            </a:r>
            <a:r>
              <a:rPr lang="ko-KR" altLang="en-US" sz="11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장애인 방송 운영</a:t>
            </a:r>
            <a:endParaRPr lang="ko-KR" altLang="en-US" sz="1100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9D201E0-1A7D-34EB-8901-31277B63D0C5}"/>
              </a:ext>
            </a:extLst>
          </p:cNvPr>
          <p:cNvCxnSpPr/>
          <p:nvPr/>
        </p:nvCxnSpPr>
        <p:spPr>
          <a:xfrm>
            <a:off x="2241967" y="5239817"/>
            <a:ext cx="12192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5C1D651-4AA7-4AFD-8A19-26BCA2B26DAB}"/>
              </a:ext>
            </a:extLst>
          </p:cNvPr>
          <p:cNvCxnSpPr>
            <a:cxnSpLocks/>
          </p:cNvCxnSpPr>
          <p:nvPr/>
        </p:nvCxnSpPr>
        <p:spPr>
          <a:xfrm>
            <a:off x="2228902" y="5679608"/>
            <a:ext cx="141514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D3F8BAC-179A-3A61-92D9-030B7FF340C2}"/>
              </a:ext>
            </a:extLst>
          </p:cNvPr>
          <p:cNvCxnSpPr>
            <a:cxnSpLocks/>
          </p:cNvCxnSpPr>
          <p:nvPr/>
        </p:nvCxnSpPr>
        <p:spPr>
          <a:xfrm>
            <a:off x="2525487" y="2612052"/>
            <a:ext cx="141514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80A5F2F-7D14-5D64-B7B4-323337E57767}"/>
              </a:ext>
            </a:extLst>
          </p:cNvPr>
          <p:cNvCxnSpPr>
            <a:cxnSpLocks/>
          </p:cNvCxnSpPr>
          <p:nvPr/>
        </p:nvCxnSpPr>
        <p:spPr>
          <a:xfrm>
            <a:off x="2312124" y="2755743"/>
            <a:ext cx="9848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8FDC151-7357-58C3-5DA1-8BF0F131112A}"/>
              </a:ext>
            </a:extLst>
          </p:cNvPr>
          <p:cNvCxnSpPr>
            <a:cxnSpLocks/>
          </p:cNvCxnSpPr>
          <p:nvPr/>
        </p:nvCxnSpPr>
        <p:spPr>
          <a:xfrm>
            <a:off x="2241967" y="3265185"/>
            <a:ext cx="98045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4EBF489-1E72-ABF6-6A31-B035BC4B074B}"/>
              </a:ext>
            </a:extLst>
          </p:cNvPr>
          <p:cNvCxnSpPr>
            <a:cxnSpLocks/>
          </p:cNvCxnSpPr>
          <p:nvPr/>
        </p:nvCxnSpPr>
        <p:spPr>
          <a:xfrm>
            <a:off x="2241967" y="3138911"/>
            <a:ext cx="162411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379A4E-5865-DE83-823C-EB7110FE9E76}"/>
              </a:ext>
            </a:extLst>
          </p:cNvPr>
          <p:cNvSpPr txBox="1"/>
          <p:nvPr/>
        </p:nvSpPr>
        <p:spPr>
          <a:xfrm>
            <a:off x="11563927" y="6635877"/>
            <a:ext cx="6280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101/109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01238407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9AFE2-B1B9-036D-4E93-B27350D47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81E1B13-E937-EFE7-F513-A730890CAE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215050"/>
              </p:ext>
            </p:extLst>
          </p:nvPr>
        </p:nvGraphicFramePr>
        <p:xfrm>
          <a:off x="610237" y="1014162"/>
          <a:ext cx="10763756" cy="55351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7897">
                  <a:extLst>
                    <a:ext uri="{9D8B030D-6E8A-4147-A177-3AD203B41FA5}">
                      <a16:colId xmlns:a16="http://schemas.microsoft.com/office/drawing/2014/main" val="4049201456"/>
                    </a:ext>
                  </a:extLst>
                </a:gridCol>
                <a:gridCol w="957897">
                  <a:extLst>
                    <a:ext uri="{9D8B030D-6E8A-4147-A177-3AD203B41FA5}">
                      <a16:colId xmlns:a16="http://schemas.microsoft.com/office/drawing/2014/main" val="1113840530"/>
                    </a:ext>
                  </a:extLst>
                </a:gridCol>
                <a:gridCol w="4580708">
                  <a:extLst>
                    <a:ext uri="{9D8B030D-6E8A-4147-A177-3AD203B41FA5}">
                      <a16:colId xmlns:a16="http://schemas.microsoft.com/office/drawing/2014/main" val="1891986853"/>
                    </a:ext>
                  </a:extLst>
                </a:gridCol>
                <a:gridCol w="4267254">
                  <a:extLst>
                    <a:ext uri="{9D8B030D-6E8A-4147-A177-3AD203B41FA5}">
                      <a16:colId xmlns:a16="http://schemas.microsoft.com/office/drawing/2014/main" val="2358122020"/>
                    </a:ext>
                  </a:extLst>
                </a:gridCol>
              </a:tblGrid>
              <a:tr h="35958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 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처분</a:t>
                      </a:r>
                      <a:endParaRPr lang="en-US" altLang="ko-KR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46800" marB="46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위반 내용</a:t>
                      </a:r>
                      <a:endParaRPr lang="en-US" altLang="ko-KR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46800" marB="46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재발 방지 조치</a:t>
                      </a:r>
                      <a:endParaRPr lang="en-US" altLang="ko-KR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46800" marB="46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794100"/>
                  </a:ext>
                </a:extLst>
              </a:tr>
              <a:tr h="92525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정보</a:t>
                      </a:r>
                      <a:endParaRPr lang="en-US" altLang="ko-KR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통신망법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(21.04.06)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과태료</a:t>
                      </a:r>
                      <a:endParaRPr lang="en-US" altLang="ko-KR" sz="11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(375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당사가 임의 부여한 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이벤트 적립금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 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소멸 안내 </a:t>
                      </a:r>
                      <a:r>
                        <a:rPr lang="en-US" altLang="ko-KR" sz="1100" b="1" u="sng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('</a:t>
                      </a:r>
                      <a:r>
                        <a:rPr lang="ko-KR" altLang="en-US" sz="1100" b="1" u="sng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정보 </a:t>
                      </a:r>
                      <a:r>
                        <a:rPr lang="ko-KR" altLang="en-US" sz="1100" b="1" u="sng" spc="-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제공성</a:t>
                      </a:r>
                      <a:r>
                        <a:rPr lang="en-US" altLang="ko-KR" sz="1100" b="1" u="sng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100" b="1" u="sng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판단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→  </a:t>
                      </a:r>
                      <a:r>
                        <a:rPr lang="ko-KR" altLang="en-US" sz="1100" b="1" u="sng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정부는 광고성으로 판단하여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고객 동의 없는 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광고성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정보 전송 위반</a:t>
                      </a:r>
                      <a:endParaRPr lang="en-US" altLang="ko-KR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광고성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와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1100" b="1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정보성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을 명확히 구분​</a:t>
                      </a:r>
                    </a:p>
                    <a:p>
                      <a:pPr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신규 메시지는 법무 사전검토 후 발송으로 절차 강화​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097707"/>
                  </a:ext>
                </a:extLst>
              </a:tr>
              <a:tr h="7999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정보</a:t>
                      </a:r>
                      <a:endParaRPr lang="en-US" altLang="ko-KR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통신망법</a:t>
                      </a:r>
                      <a:endParaRPr lang="en-US" altLang="ko-KR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(21.11.19)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과태료</a:t>
                      </a:r>
                      <a:endParaRPr lang="en-US" altLang="ko-KR" sz="11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(375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고객 메일 발송 </a:t>
                      </a:r>
                      <a:r>
                        <a:rPr lang="ko-KR" altLang="en-US" sz="1100" b="1" u="sng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시스템 개선 중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메일 수신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거부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’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기능 누락</a:t>
                      </a:r>
                      <a:endParaRPr lang="en-US" altLang="ko-KR" sz="1100" b="1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→ 수신거부 기능 제공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의무 위반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발송 전 수신거부 여부 자동 확인 로직을 적용​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544479"/>
                  </a:ext>
                </a:extLst>
              </a:tr>
              <a:tr h="7999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정보</a:t>
                      </a:r>
                      <a:endParaRPr lang="en-US" altLang="ko-KR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통신망법</a:t>
                      </a:r>
                      <a:endParaRPr lang="en-US" altLang="ko-KR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(23.09.07)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과태료</a:t>
                      </a:r>
                      <a:endParaRPr lang="en-US" altLang="ko-KR" sz="11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(1,500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u="sng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실시간 수신 거부 데이터가 관리되지 않아</a:t>
                      </a:r>
                      <a:endParaRPr lang="en-US" altLang="ko-KR" sz="1100" b="1" u="sng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'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광고성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' 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정보 수신 거부한 일부 고객에게 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광고성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정보 잘못 전송</a:t>
                      </a:r>
                      <a:endParaRPr lang="en-US" altLang="ko-KR" sz="1100" b="1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indent="-10800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광고성 수신 동의 로직 개선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24h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실시간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570687"/>
                  </a:ext>
                </a:extLst>
              </a:tr>
              <a:tr h="92525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개인정보</a:t>
                      </a:r>
                      <a:endParaRPr lang="en-US" altLang="ko-KR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보호법</a:t>
                      </a:r>
                      <a:endParaRPr lang="en-US" altLang="ko-KR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(24.05.01)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공표명령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과태료</a:t>
                      </a:r>
                      <a:endParaRPr lang="en-US" altLang="ko-KR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(720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안드로이드에서 브라우저 강제 종료 후 재실행 시 이전 페이지가 노출되며 로그인 정보 미존재 상태에서 고객번호가 ‘</a:t>
                      </a:r>
                      <a:r>
                        <a:rPr lang="en-US" altLang="ko-KR" sz="1100" b="1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0’</a:t>
                      </a:r>
                      <a:r>
                        <a:rPr lang="ko-KR" altLang="en-US" sz="1100" b="1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으로 처리되나</a:t>
                      </a:r>
                      <a:r>
                        <a:rPr lang="en-US" altLang="ko-KR" sz="1100" b="1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108000" indent="-10800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시스템 내 고객번호 ‘</a:t>
                      </a:r>
                      <a:r>
                        <a:rPr lang="en-US" altLang="ko-KR" sz="1100" b="1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0’ </a:t>
                      </a:r>
                      <a:r>
                        <a:rPr lang="ko-KR" altLang="en-US" sz="1100" b="1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정보가 존재하여 개인정보 노출</a:t>
                      </a:r>
                      <a:endParaRPr lang="en-US" altLang="ko-KR" sz="1100" b="1" kern="1200" spc="-5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indent="-10800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시스템 오류 개선</a:t>
                      </a:r>
                      <a:endParaRPr lang="en-US" altLang="ko-KR" sz="11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497051"/>
                  </a:ext>
                </a:extLst>
              </a:tr>
              <a:tr h="7999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정보</a:t>
                      </a:r>
                      <a:endParaRPr lang="en-US" altLang="ko-KR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통신망법</a:t>
                      </a:r>
                      <a:endParaRPr lang="en-US" altLang="ko-KR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(25.07.21)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과태료</a:t>
                      </a:r>
                      <a:endParaRPr lang="en-US" altLang="ko-KR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(750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홈페이지 공격 인지 후 </a:t>
                      </a:r>
                      <a:r>
                        <a:rPr lang="ko-KR" altLang="en-US" sz="1100" b="1" i="0" u="sng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차단 등 긴급 조치 과정에서 시간 소요</a:t>
                      </a:r>
                      <a:endParaRPr lang="en-US" altLang="ko-KR" sz="1100" b="1" i="0" u="sng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→ 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침해사고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신고기한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(24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 이내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미준수</a:t>
                      </a:r>
                      <a:endParaRPr lang="en-US" altLang="ko-KR" sz="1100" b="1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내부 신고 기준 개선​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3910354"/>
                  </a:ext>
                </a:extLst>
              </a:tr>
              <a:tr h="92525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정보</a:t>
                      </a:r>
                      <a:endParaRPr lang="en-US" altLang="ko-KR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통신망법</a:t>
                      </a:r>
                      <a:endParaRPr lang="en-US" altLang="ko-KR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(25.10.30)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과태료</a:t>
                      </a:r>
                      <a:endParaRPr lang="en-US" altLang="ko-KR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(750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i="0" u="sng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GSTS </a:t>
                      </a:r>
                      <a:r>
                        <a:rPr lang="ko-KR" altLang="en-US" sz="1100" b="1" i="0" u="sng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상담사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통해 수신 거부 의사 밝혔으나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미반영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1100" b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100" b="0">
                          <a:latin typeface="+mn-ea"/>
                          <a:ea typeface="+mn-ea"/>
                        </a:rPr>
                        <a:t>생년월일</a:t>
                      </a:r>
                      <a:r>
                        <a:rPr lang="en-US" altLang="ko-KR" sz="1100" b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100" b="0">
                          <a:latin typeface="+mn-ea"/>
                          <a:ea typeface="+mn-ea"/>
                        </a:rPr>
                        <a:t>주소 추가 정보 확인하는 과정에서 통화 종료</a:t>
                      </a:r>
                      <a:r>
                        <a:rPr lang="en-US" altLang="ko-KR" sz="1100" b="0">
                          <a:latin typeface="+mn-ea"/>
                          <a:ea typeface="+mn-ea"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1100" b="1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→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수신자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동의 없이 광고성 정보 전송</a:t>
                      </a:r>
                      <a:endParaRPr lang="en-US" altLang="ko-KR" sz="1100" b="1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상담원 대상 처리 응대 지침 재교육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45887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FF035B3-79C0-CF4C-C6DA-C64858A4B180}"/>
              </a:ext>
            </a:extLst>
          </p:cNvPr>
          <p:cNvSpPr txBox="1"/>
          <p:nvPr/>
        </p:nvSpPr>
        <p:spPr>
          <a:xfrm>
            <a:off x="65108" y="81062"/>
            <a:ext cx="9572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개인정보 및 정보통신망법 제재 상세 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(2021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년 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~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현재일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29718A-659A-4E70-61CF-01E75AEC9EA0}"/>
              </a:ext>
            </a:extLst>
          </p:cNvPr>
          <p:cNvSpPr txBox="1"/>
          <p:nvPr/>
        </p:nvSpPr>
        <p:spPr>
          <a:xfrm>
            <a:off x="154601" y="655448"/>
            <a:ext cx="3953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latin typeface="+mn-ea"/>
              </a:rPr>
              <a:t>■</a:t>
            </a:r>
            <a:r>
              <a:rPr lang="en-US" altLang="ko-KR" sz="1100" b="1" dirty="0">
                <a:latin typeface="+mn-ea"/>
              </a:rPr>
              <a:t> (</a:t>
            </a:r>
            <a:r>
              <a:rPr lang="ko-KR" altLang="en-US" sz="1100" b="1" dirty="0">
                <a:latin typeface="+mn-ea"/>
              </a:rPr>
              <a:t>사업계획서 </a:t>
            </a:r>
            <a:r>
              <a:rPr lang="en-US" altLang="ko-KR" sz="1100" b="1" dirty="0">
                <a:latin typeface="+mn-ea"/>
              </a:rPr>
              <a:t>p.44)</a:t>
            </a:r>
            <a:r>
              <a:rPr lang="ko-KR" altLang="en-US" sz="1100" b="1" dirty="0">
                <a:latin typeface="+mn-ea"/>
              </a:rPr>
              <a:t>개인정보 관련 </a:t>
            </a:r>
            <a:r>
              <a:rPr lang="en-US" altLang="ko-KR" sz="1100" b="1" dirty="0">
                <a:latin typeface="+mn-ea"/>
              </a:rPr>
              <a:t>: 6</a:t>
            </a:r>
            <a:r>
              <a:rPr lang="ko-KR" altLang="en-US" sz="1100" b="1" dirty="0">
                <a:latin typeface="+mn-ea"/>
              </a:rPr>
              <a:t>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EF6287-E896-1739-969F-C664A352BE54}"/>
              </a:ext>
            </a:extLst>
          </p:cNvPr>
          <p:cNvSpPr txBox="1"/>
          <p:nvPr/>
        </p:nvSpPr>
        <p:spPr>
          <a:xfrm>
            <a:off x="11563927" y="6635877"/>
            <a:ext cx="6280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102/109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39444530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E2EB37-7046-0CFE-34F6-CCB111ADB8DA}"/>
              </a:ext>
            </a:extLst>
          </p:cNvPr>
          <p:cNvSpPr txBox="1"/>
          <p:nvPr/>
        </p:nvSpPr>
        <p:spPr>
          <a:xfrm>
            <a:off x="66675" y="322215"/>
            <a:ext cx="11428712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just" latinLnBrk="1">
              <a:lnSpc>
                <a:spcPct val="120000"/>
              </a:lnSpc>
              <a:spcAft>
                <a:spcPts val="0"/>
              </a:spcAf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개인정보 이슈가 많은데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개인정보보호를 위한 운영방안은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?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7F6A98-AFCC-858D-C5AC-879596033052}"/>
              </a:ext>
            </a:extLst>
          </p:cNvPr>
          <p:cNvSpPr txBox="1"/>
          <p:nvPr/>
        </p:nvSpPr>
        <p:spPr>
          <a:xfrm>
            <a:off x="65067" y="19389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7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시청자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소비자 보호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97E2F01-32AD-AC17-5C43-ED45AEE5AC4C}"/>
              </a:ext>
            </a:extLst>
          </p:cNvPr>
          <p:cNvSpPr/>
          <p:nvPr/>
        </p:nvSpPr>
        <p:spPr>
          <a:xfrm>
            <a:off x="5843588" y="1021462"/>
            <a:ext cx="5976937" cy="559841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DCD368-E0F9-145A-EEFB-E2A65C15C832}"/>
              </a:ext>
            </a:extLst>
          </p:cNvPr>
          <p:cNvSpPr txBox="1"/>
          <p:nvPr/>
        </p:nvSpPr>
        <p:spPr>
          <a:xfrm>
            <a:off x="5981699" y="1173130"/>
            <a:ext cx="5982789" cy="4197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개인정보의 중요성</a:t>
            </a:r>
            <a:r>
              <a:rPr lang="en-US" altLang="ko-KR" sz="1200" b="1" dirty="0">
                <a:latin typeface="+mn-ea"/>
              </a:rPr>
              <a:t>)</a:t>
            </a: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ko-KR" altLang="en-US" sz="1200" b="1" u="sng" dirty="0">
                <a:latin typeface="+mn-ea"/>
              </a:rPr>
              <a:t>홈쇼핑은 </a:t>
            </a:r>
            <a:r>
              <a:rPr lang="ko-KR" altLang="en-US" sz="1200" b="1" u="sng" dirty="0" err="1">
                <a:latin typeface="+mn-ea"/>
              </a:rPr>
              <a:t>비대면</a:t>
            </a:r>
            <a:r>
              <a:rPr lang="ko-KR" altLang="en-US" sz="1200" b="1" u="sng" dirty="0">
                <a:latin typeface="+mn-ea"/>
              </a:rPr>
              <a:t> 특성상 고객과의 신</a:t>
            </a:r>
            <a:r>
              <a:rPr lang="ko-KR" altLang="en-US" sz="1200" b="1" dirty="0">
                <a:latin typeface="+mn-ea"/>
              </a:rPr>
              <a:t>뢰가 가장 중요하기에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개인정보는 철저히 보호되어야 함 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조치사항</a:t>
            </a:r>
            <a:r>
              <a:rPr lang="en-US" altLang="ko-KR" sz="1200" b="1" dirty="0">
                <a:latin typeface="+mn-ea"/>
              </a:rPr>
              <a:t>)</a:t>
            </a: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①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조직과 인력부터 확대</a:t>
            </a:r>
            <a:r>
              <a:rPr lang="ko-KR" altLang="en-US" sz="1200" b="1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(2025. 9)</a:t>
            </a:r>
            <a:endParaRPr lang="ko-KR" altLang="en-US" sz="1200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 </a:t>
            </a:r>
            <a:r>
              <a:rPr lang="en-US" altLang="ko-KR" sz="1200" b="1" dirty="0">
                <a:latin typeface="+mn-ea"/>
              </a:rPr>
              <a:t>- </a:t>
            </a:r>
            <a:r>
              <a:rPr lang="ko-KR" altLang="en-US" sz="1200" b="1" dirty="0">
                <a:latin typeface="+mn-ea"/>
              </a:rPr>
              <a:t>대표이사 직할로 조직 격상 및 분야별 세분화 </a:t>
            </a:r>
            <a:r>
              <a:rPr lang="en-US" altLang="ko-KR" sz="1200" b="1" dirty="0">
                <a:latin typeface="+mn-ea"/>
              </a:rPr>
              <a:t>: </a:t>
            </a:r>
            <a:r>
              <a:rPr lang="en-US" altLang="ko-KR" sz="1200" b="1" u="sng" dirty="0">
                <a:latin typeface="+mn-ea"/>
              </a:rPr>
              <a:t>1</a:t>
            </a:r>
            <a:r>
              <a:rPr lang="ko-KR" altLang="en-US" sz="1200" b="1" u="sng" dirty="0">
                <a:latin typeface="+mn-ea"/>
              </a:rPr>
              <a:t>실 </a:t>
            </a:r>
            <a:r>
              <a:rPr lang="en-US" altLang="ko-KR" sz="1200" b="1" u="sng" dirty="0">
                <a:latin typeface="+mn-ea"/>
              </a:rPr>
              <a:t>1</a:t>
            </a:r>
            <a:r>
              <a:rPr lang="ko-KR" altLang="en-US" sz="1200" b="1" u="sng" dirty="0">
                <a:latin typeface="+mn-ea"/>
              </a:rPr>
              <a:t>팀 → </a:t>
            </a:r>
            <a:r>
              <a:rPr lang="en-US" altLang="ko-KR" sz="1200" b="1" u="sng" dirty="0">
                <a:latin typeface="+mn-ea"/>
              </a:rPr>
              <a:t>1</a:t>
            </a:r>
            <a:r>
              <a:rPr lang="ko-KR" altLang="en-US" sz="1200" b="1" u="sng" dirty="0">
                <a:latin typeface="+mn-ea"/>
              </a:rPr>
              <a:t>부문 </a:t>
            </a:r>
            <a:r>
              <a:rPr lang="en-US" altLang="ko-KR" sz="1200" b="1" u="sng" dirty="0">
                <a:latin typeface="+mn-ea"/>
              </a:rPr>
              <a:t>3</a:t>
            </a:r>
            <a:r>
              <a:rPr lang="ko-KR" altLang="en-US" sz="1200" b="1" u="sng" dirty="0">
                <a:latin typeface="+mn-ea"/>
              </a:rPr>
              <a:t>팀</a:t>
            </a:r>
            <a:endParaRPr lang="en-US" altLang="ko-KR" sz="1200" b="1" u="sng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- </a:t>
            </a:r>
            <a:r>
              <a:rPr lang="ko-KR" altLang="en-US" sz="1200" b="1" dirty="0">
                <a:latin typeface="+mn-ea"/>
              </a:rPr>
              <a:t>개인정보보호 </a:t>
            </a:r>
            <a:r>
              <a:rPr lang="en-US" altLang="ko-KR" sz="1200" b="1" u="sng" dirty="0">
                <a:latin typeface="+mn-ea"/>
              </a:rPr>
              <a:t>25</a:t>
            </a:r>
            <a:r>
              <a:rPr lang="ko-KR" altLang="en-US" sz="1200" b="1" u="sng" dirty="0">
                <a:latin typeface="+mn-ea"/>
              </a:rPr>
              <a:t>년 경력의 외부 전문가</a:t>
            </a:r>
            <a:r>
              <a:rPr lang="ko-KR" altLang="en-US" sz="1200" b="1" dirty="0">
                <a:latin typeface="+mn-ea"/>
              </a:rPr>
              <a:t>를 개인정보보호 책임자로 선임 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</a:t>
            </a: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②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객관적인 평가</a:t>
            </a: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 </a:t>
            </a:r>
            <a:r>
              <a:rPr lang="en-US" altLang="ko-KR" sz="1200" b="1" dirty="0">
                <a:latin typeface="+mn-ea"/>
              </a:rPr>
              <a:t>- </a:t>
            </a:r>
            <a:r>
              <a:rPr lang="ko-KR" altLang="en-US" sz="1200" b="1" u="sng" dirty="0">
                <a:latin typeface="+mn-ea"/>
              </a:rPr>
              <a:t>김</a:t>
            </a:r>
            <a:r>
              <a:rPr lang="en-US" altLang="ko-KR" sz="1200" b="1" u="sng" dirty="0">
                <a:latin typeface="+mn-ea"/>
              </a:rPr>
              <a:t>&amp;</a:t>
            </a:r>
            <a:r>
              <a:rPr lang="ko-KR" altLang="en-US" sz="1200" b="1" u="sng" dirty="0">
                <a:latin typeface="+mn-ea"/>
              </a:rPr>
              <a:t>장 법률사무소</a:t>
            </a:r>
            <a:r>
              <a:rPr lang="ko-KR" altLang="en-US" sz="1200" b="1" dirty="0">
                <a:latin typeface="+mn-ea"/>
              </a:rPr>
              <a:t>와 함께 관리체계 전체를 다시 점검하고 계획을 수립 </a:t>
            </a:r>
            <a:r>
              <a:rPr lang="en-US" altLang="ko-KR" sz="1200" dirty="0">
                <a:latin typeface="+mn-ea"/>
              </a:rPr>
              <a:t>(2025)</a:t>
            </a: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- (</a:t>
            </a:r>
            <a:r>
              <a:rPr lang="ko-KR" altLang="en-US" sz="1200" b="1" dirty="0">
                <a:latin typeface="+mn-ea"/>
              </a:rPr>
              <a:t>상시 기구로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 </a:t>
            </a:r>
            <a:r>
              <a:rPr lang="ko-KR" altLang="en-US" sz="1200" b="1" u="sng" dirty="0">
                <a:latin typeface="+mn-ea"/>
              </a:rPr>
              <a:t>외부 전문가로 구성된 자문위원회</a:t>
            </a:r>
            <a:r>
              <a:rPr lang="ko-KR" altLang="en-US" sz="1200" b="1" dirty="0">
                <a:latin typeface="+mn-ea"/>
              </a:rPr>
              <a:t> 신설 </a:t>
            </a:r>
            <a:r>
              <a:rPr lang="en-US" altLang="ko-KR" sz="1200" dirty="0">
                <a:latin typeface="+mn-ea"/>
              </a:rPr>
              <a:t>(2025. 4)</a:t>
            </a: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endParaRPr lang="en-US" altLang="ko-KR" sz="12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향후방향</a:t>
            </a:r>
            <a:r>
              <a:rPr lang="en-US" altLang="ko-KR" sz="1200" b="1" dirty="0">
                <a:latin typeface="+mn-ea"/>
              </a:rPr>
              <a:t>)</a:t>
            </a: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경영진이 솔선수범해서 개인정보 보호에 대한 경각심을 높이는 활동 강화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ko-KR" altLang="en-US" sz="1200" b="1" dirty="0">
                <a:latin typeface="+mn-ea"/>
              </a:rPr>
              <a:t>전문성 강화와 취약점 개선을 위해 적극적으로 투자할 계획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0F13BA4-1368-48E3-B379-8711CD58876E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CFO</a:t>
            </a:r>
            <a:endParaRPr lang="ko-KR" altLang="en-US" sz="105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76E4FCA-48CA-967A-3212-A569B00952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946"/>
          <a:stretch>
            <a:fillRect/>
          </a:stretch>
        </p:blipFill>
        <p:spPr>
          <a:xfrm>
            <a:off x="1019277" y="1173163"/>
            <a:ext cx="3962298" cy="55213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B6D075-FD6A-C8A7-6601-E96CC5D3C66D}"/>
              </a:ext>
            </a:extLst>
          </p:cNvPr>
          <p:cNvSpPr txBox="1"/>
          <p:nvPr/>
        </p:nvSpPr>
        <p:spPr>
          <a:xfrm>
            <a:off x="130349" y="877405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■ </a:t>
            </a:r>
            <a:r>
              <a:rPr lang="en-US" altLang="ko-KR" sz="11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(</a:t>
            </a:r>
            <a:r>
              <a:rPr lang="ko-KR" altLang="en-US" sz="11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사업계획서 </a:t>
            </a:r>
            <a:r>
              <a:rPr lang="en-US" altLang="ko-KR" sz="11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p.275)</a:t>
            </a:r>
            <a:r>
              <a:rPr lang="ko-KR" altLang="en-US" sz="1100" b="1" dirty="0">
                <a:latin typeface="+mn-ea"/>
              </a:rPr>
              <a:t>개인정보보호를 위한 계획</a:t>
            </a:r>
            <a:endParaRPr lang="ko-KR" altLang="en-US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D554BF-3052-DB10-A463-E9290EB32086}"/>
              </a:ext>
            </a:extLst>
          </p:cNvPr>
          <p:cNvSpPr txBox="1"/>
          <p:nvPr/>
        </p:nvSpPr>
        <p:spPr>
          <a:xfrm>
            <a:off x="11563927" y="6635877"/>
            <a:ext cx="6280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103/109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01024944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1149AEF-D4C2-971D-AA5E-AF9DCD73B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183" y="654050"/>
            <a:ext cx="4065784" cy="518493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C236D0B-22EE-D8C2-6A0A-96DDC2026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035" y="611088"/>
            <a:ext cx="4065784" cy="61658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8CB6BB9-474F-877F-9F28-0BC6118A63E7}"/>
              </a:ext>
            </a:extLst>
          </p:cNvPr>
          <p:cNvSpPr txBox="1"/>
          <p:nvPr/>
        </p:nvSpPr>
        <p:spPr>
          <a:xfrm>
            <a:off x="65108" y="81062"/>
            <a:ext cx="9572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개인정보보호를 위한 계획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사업계획서 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p.276)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768AC39-8C24-DA4C-565F-BAA5EF71A12D}"/>
              </a:ext>
            </a:extLst>
          </p:cNvPr>
          <p:cNvCxnSpPr/>
          <p:nvPr/>
        </p:nvCxnSpPr>
        <p:spPr>
          <a:xfrm>
            <a:off x="3204754" y="2046514"/>
            <a:ext cx="115824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61017B7-A9B4-B1F7-03BE-3080BEBB53FC}"/>
              </a:ext>
            </a:extLst>
          </p:cNvPr>
          <p:cNvCxnSpPr>
            <a:cxnSpLocks/>
          </p:cNvCxnSpPr>
          <p:nvPr/>
        </p:nvCxnSpPr>
        <p:spPr>
          <a:xfrm>
            <a:off x="3187336" y="3757747"/>
            <a:ext cx="40059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08FE49E-91A9-D3A3-213F-1636C13436FC}"/>
              </a:ext>
            </a:extLst>
          </p:cNvPr>
          <p:cNvCxnSpPr>
            <a:cxnSpLocks/>
          </p:cNvCxnSpPr>
          <p:nvPr/>
        </p:nvCxnSpPr>
        <p:spPr>
          <a:xfrm>
            <a:off x="3217814" y="3230878"/>
            <a:ext cx="40059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36AF3FB-E483-C1C1-D288-8F6FBF9F48B7}"/>
              </a:ext>
            </a:extLst>
          </p:cNvPr>
          <p:cNvCxnSpPr>
            <a:cxnSpLocks/>
          </p:cNvCxnSpPr>
          <p:nvPr/>
        </p:nvCxnSpPr>
        <p:spPr>
          <a:xfrm>
            <a:off x="3831761" y="2834635"/>
            <a:ext cx="80119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A269E79-1622-E76A-FCC8-E91DD8468AFB}"/>
              </a:ext>
            </a:extLst>
          </p:cNvPr>
          <p:cNvCxnSpPr>
            <a:cxnSpLocks/>
          </p:cNvCxnSpPr>
          <p:nvPr/>
        </p:nvCxnSpPr>
        <p:spPr>
          <a:xfrm>
            <a:off x="3187332" y="5503812"/>
            <a:ext cx="129758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A0D2D47-6A15-56AB-2BAF-3F71ABAB0A46}"/>
              </a:ext>
            </a:extLst>
          </p:cNvPr>
          <p:cNvCxnSpPr>
            <a:cxnSpLocks/>
          </p:cNvCxnSpPr>
          <p:nvPr/>
        </p:nvCxnSpPr>
        <p:spPr>
          <a:xfrm>
            <a:off x="8033652" y="1920235"/>
            <a:ext cx="239921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46017D4-8264-7D59-4394-589273FC3F64}"/>
              </a:ext>
            </a:extLst>
          </p:cNvPr>
          <p:cNvSpPr txBox="1"/>
          <p:nvPr/>
        </p:nvSpPr>
        <p:spPr>
          <a:xfrm>
            <a:off x="11563927" y="6635877"/>
            <a:ext cx="6280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104/109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11939577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6CB10-1D96-3490-C292-E9570D719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C27A30-502D-1116-1962-E4E7C22259C1}"/>
              </a:ext>
            </a:extLst>
          </p:cNvPr>
          <p:cNvSpPr txBox="1"/>
          <p:nvPr/>
        </p:nvSpPr>
        <p:spPr>
          <a:xfrm>
            <a:off x="66675" y="322215"/>
            <a:ext cx="11428712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just" latinLnBrk="1">
              <a:lnSpc>
                <a:spcPct val="120000"/>
              </a:lnSpc>
              <a:spcAft>
                <a:spcPts val="0"/>
              </a:spcAft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개인정보 관련 추가 질문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7248E1-1790-7A50-8461-B726DC5E4224}"/>
              </a:ext>
            </a:extLst>
          </p:cNvPr>
          <p:cNvSpPr txBox="1"/>
          <p:nvPr/>
        </p:nvSpPr>
        <p:spPr>
          <a:xfrm>
            <a:off x="65067" y="19389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7</a:t>
            </a:r>
            <a:r>
              <a:rPr lang="ko-KR" altLang="en-US" sz="105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시청자</a:t>
            </a:r>
            <a:r>
              <a:rPr lang="en-US" altLang="ko-KR" sz="105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050" b="1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소비자 보호</a:t>
            </a:r>
            <a:endParaRPr lang="en-US" altLang="ko-KR" sz="1050" b="1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82B9A6A-3DF6-5CBB-E67B-66734FA5C1B4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CFO</a:t>
            </a:r>
            <a:endParaRPr lang="ko-KR" altLang="en-US" sz="1050" b="1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8DCD66F-1373-29C7-8767-DC4B434DD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45201"/>
              </p:ext>
            </p:extLst>
          </p:nvPr>
        </p:nvGraphicFramePr>
        <p:xfrm>
          <a:off x="371856" y="958669"/>
          <a:ext cx="11448288" cy="33063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29697">
                  <a:extLst>
                    <a:ext uri="{9D8B030D-6E8A-4147-A177-3AD203B41FA5}">
                      <a16:colId xmlns:a16="http://schemas.microsoft.com/office/drawing/2014/main" val="4084230787"/>
                    </a:ext>
                  </a:extLst>
                </a:gridCol>
                <a:gridCol w="6118591">
                  <a:extLst>
                    <a:ext uri="{9D8B030D-6E8A-4147-A177-3AD203B41FA5}">
                      <a16:colId xmlns:a16="http://schemas.microsoft.com/office/drawing/2014/main" val="708294289"/>
                    </a:ext>
                  </a:extLst>
                </a:gridCol>
              </a:tblGrid>
              <a:tr h="2700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예상 질문</a:t>
                      </a:r>
                    </a:p>
                  </a:txBody>
                  <a:tcPr marL="48000" marR="48000" marT="48000" marB="4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답변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670966"/>
                  </a:ext>
                </a:extLst>
              </a:tr>
              <a:tr h="3036310"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Q. (p.274)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외부 해킹 방지 시스템을 운영한다고 하는데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침해사고가 일어난 원인은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marL="46800" marR="48000" marT="48000" marB="4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4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A.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안랩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연계 </a:t>
                      </a: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비정상 외부 침입</a:t>
                      </a:r>
                      <a:r>
                        <a:rPr lang="en-US" altLang="ko-KR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u="sng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로그인시도</a:t>
                      </a: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등</a:t>
                      </a:r>
                      <a:r>
                        <a:rPr lang="en-US" altLang="ko-KR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대한 모니터링과 방지시스템을 가지고 있으나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marL="0" indent="0" latinLnBrk="1">
                        <a:lnSpc>
                          <a:spcPct val="14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금번 사고는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lnSpc>
                          <a:spcPct val="14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외부로부터 탈취한 계정 정보를 가지고 정상적인 로그인을 시도한 케이스로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marL="0" indent="0" latinLnBrk="1">
                        <a:lnSpc>
                          <a:spcPct val="14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특히 다수의 서로 다른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IP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1~2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회씩 나누어 시도한 형태이기에 탐지 어려움  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lnSpc>
                          <a:spcPct val="14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조치사항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indent="0" latinLnBrk="1">
                        <a:lnSpc>
                          <a:spcPct val="14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①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외에 추가 인증 절차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본인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또는 기기확인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도입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lnSpc>
                          <a:spcPct val="14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②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정상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로그인인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경우에도 이상 여부 탐지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lnSpc>
                          <a:spcPct val="14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※ GS25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홈페이지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24.12~25.1 10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일간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만명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GSSHOP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홈페이지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24.6~25.2 240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일간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158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만명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800" marR="48000" marT="48000" marB="48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3422021"/>
                  </a:ext>
                </a:extLst>
              </a:tr>
            </a:tbl>
          </a:graphicData>
        </a:graphic>
      </p:graphicFrame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DE23B5-DFCB-D2E0-03A7-FA2D71426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565" y="1673094"/>
            <a:ext cx="4340531" cy="24506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3EAFBB-391B-24FC-CB53-12412E36A1FB}"/>
              </a:ext>
            </a:extLst>
          </p:cNvPr>
          <p:cNvSpPr txBox="1"/>
          <p:nvPr/>
        </p:nvSpPr>
        <p:spPr>
          <a:xfrm>
            <a:off x="11563927" y="6635877"/>
            <a:ext cx="6280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105/109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52031920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2EB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4000" b="1" dirty="0">
                <a:solidFill>
                  <a:schemeClr val="tx1"/>
                </a:solidFill>
                <a:latin typeface="+mn-ea"/>
              </a:rPr>
              <a:t>8</a:t>
            </a:r>
            <a:r>
              <a:rPr lang="ko-KR" altLang="en-US" sz="4000" b="1" dirty="0">
                <a:solidFill>
                  <a:schemeClr val="tx1"/>
                </a:solidFill>
                <a:latin typeface="+mn-ea"/>
              </a:rPr>
              <a:t>장</a:t>
            </a:r>
            <a:r>
              <a:rPr lang="en-US" altLang="ko-KR" sz="4000" b="1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4000" b="1" dirty="0">
                <a:solidFill>
                  <a:schemeClr val="tx1"/>
                </a:solidFill>
                <a:latin typeface="+mn-ea"/>
              </a:rPr>
              <a:t>방송 발전</a:t>
            </a:r>
            <a:endParaRPr lang="en-US" altLang="ko-KR" sz="40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1890714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BD3FD-7BE3-62B5-0384-E1C62311B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A5D2BF-58FC-5A3C-90C8-BDC1F997697B}"/>
              </a:ext>
            </a:extLst>
          </p:cNvPr>
          <p:cNvSpPr txBox="1"/>
          <p:nvPr/>
        </p:nvSpPr>
        <p:spPr>
          <a:xfrm>
            <a:off x="66675" y="322215"/>
            <a:ext cx="10623479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Q. </a:t>
            </a:r>
            <a:r>
              <a:rPr lang="ko-KR" altLang="en-US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방송발전 지원 계획이 줄어드는데</a:t>
            </a:r>
            <a:r>
              <a:rPr lang="en-US" altLang="ko-KR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이유는 무엇인가요</a:t>
            </a:r>
            <a:r>
              <a:rPr lang="en-US" altLang="ko-KR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?</a:t>
            </a:r>
            <a:endParaRPr lang="en-US" altLang="ko-KR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295665-20C7-17B0-80AB-86C88F51397B}"/>
              </a:ext>
            </a:extLst>
          </p:cNvPr>
          <p:cNvSpPr/>
          <p:nvPr/>
        </p:nvSpPr>
        <p:spPr>
          <a:xfrm>
            <a:off x="11258482" y="379722"/>
            <a:ext cx="821676" cy="25334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dirty="0">
                <a:solidFill>
                  <a:schemeClr val="tx1"/>
                </a:solidFill>
                <a:latin typeface="+mn-ea"/>
              </a:rPr>
              <a:t>홈쇼핑</a:t>
            </a:r>
            <a:r>
              <a:rPr lang="en-US" altLang="ko-KR" sz="1050" b="1" dirty="0">
                <a:solidFill>
                  <a:schemeClr val="tx1"/>
                </a:solidFill>
                <a:latin typeface="+mn-ea"/>
              </a:rPr>
              <a:t>BU</a:t>
            </a:r>
            <a:r>
              <a:rPr lang="ko-KR" altLang="en-US" sz="1050" b="1" dirty="0">
                <a:solidFill>
                  <a:schemeClr val="tx1"/>
                </a:solidFill>
                <a:latin typeface="+mn-ea"/>
              </a:rPr>
              <a:t>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3AE414-D02A-CDA4-E164-B5F058449B3A}"/>
              </a:ext>
            </a:extLst>
          </p:cNvPr>
          <p:cNvSpPr txBox="1"/>
          <p:nvPr/>
        </p:nvSpPr>
        <p:spPr>
          <a:xfrm>
            <a:off x="65067" y="19100"/>
            <a:ext cx="3562090" cy="2539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tabLst>
                <a:tab pos="558800" algn="l"/>
              </a:tabLst>
            </a:pP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제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8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장</a:t>
            </a:r>
            <a:r>
              <a:rPr lang="en-US" altLang="ko-KR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050" b="1" dirty="0">
                <a:ln>
                  <a:solidFill>
                    <a:schemeClr val="bg1">
                      <a:lumMod val="50000"/>
                      <a:alpha val="20000"/>
                    </a:schemeClr>
                  </a:solidFill>
                </a:ln>
                <a:latin typeface="+mn-ea"/>
              </a:rPr>
              <a:t>방송발전</a:t>
            </a:r>
            <a:endParaRPr lang="en-US" altLang="ko-KR" sz="1050" b="1" dirty="0">
              <a:ln>
                <a:solidFill>
                  <a:schemeClr val="bg1">
                    <a:lumMod val="50000"/>
                    <a:alpha val="20000"/>
                  </a:schemeClr>
                </a:solidFill>
              </a:ln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E078884-8E17-133A-0B84-56B782E0B8AC}"/>
              </a:ext>
            </a:extLst>
          </p:cNvPr>
          <p:cNvSpPr/>
          <p:nvPr/>
        </p:nvSpPr>
        <p:spPr>
          <a:xfrm>
            <a:off x="6094740" y="973836"/>
            <a:ext cx="5725785" cy="565873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dirty="0">
                <a:latin typeface="+mn-ea"/>
              </a:rPr>
              <a:t> </a:t>
            </a:r>
            <a:endParaRPr lang="ko-KR" altLang="en-US" sz="1200" dirty="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D7C48F-B9AB-F569-88D9-CA9992076636}"/>
              </a:ext>
            </a:extLst>
          </p:cNvPr>
          <p:cNvSpPr txBox="1"/>
          <p:nvPr/>
        </p:nvSpPr>
        <p:spPr>
          <a:xfrm>
            <a:off x="6176962" y="1023611"/>
            <a:ext cx="6015038" cy="404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ko-KR" altLang="en-US" sz="1200" b="1">
                <a:latin typeface="+mn-ea"/>
              </a:rPr>
              <a:t>① 사업 종료 및 확장 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200" b="1" dirty="0">
                <a:latin typeface="+mn-ea"/>
              </a:rPr>
              <a:t>   </a:t>
            </a:r>
            <a:r>
              <a:rPr lang="en-US" altLang="ko-KR" sz="1200" b="1">
                <a:latin typeface="+mn-ea"/>
              </a:rPr>
              <a:t>- </a:t>
            </a:r>
            <a:r>
              <a:rPr lang="ko-KR" altLang="en-US" sz="1200" b="1">
                <a:latin typeface="+mn-ea"/>
              </a:rPr>
              <a:t>방송발전분야 대학교</a:t>
            </a:r>
            <a:r>
              <a:rPr lang="en-US" altLang="ko-KR" sz="1200" b="1">
                <a:latin typeface="+mn-ea"/>
              </a:rPr>
              <a:t>, </a:t>
            </a:r>
            <a:r>
              <a:rPr lang="ko-KR" altLang="en-US" sz="1200" b="1">
                <a:latin typeface="+mn-ea"/>
              </a:rPr>
              <a:t>연구소 연계 </a:t>
            </a:r>
            <a:r>
              <a:rPr lang="ko-KR" altLang="en-US" sz="1200" b="1" u="sng" dirty="0">
                <a:latin typeface="+mn-ea"/>
              </a:rPr>
              <a:t>신기술 </a:t>
            </a:r>
            <a:r>
              <a:rPr lang="ko-KR" altLang="en-US" sz="1200" b="1" u="sng">
                <a:latin typeface="+mn-ea"/>
              </a:rPr>
              <a:t>연구 사업 종료</a:t>
            </a:r>
            <a:r>
              <a:rPr lang="en-US" altLang="ko-KR" sz="1000">
                <a:latin typeface="+mn-ea"/>
              </a:rPr>
              <a:t>(</a:t>
            </a:r>
            <a:r>
              <a:rPr lang="en-US" altLang="ko-KR" sz="1000" dirty="0">
                <a:latin typeface="+mn-ea"/>
              </a:rPr>
              <a:t>1.5</a:t>
            </a:r>
            <a:r>
              <a:rPr lang="ko-KR" altLang="en-US" sz="1000" dirty="0">
                <a:latin typeface="+mn-ea"/>
              </a:rPr>
              <a:t>억원</a:t>
            </a:r>
            <a:r>
              <a:rPr lang="en-US" altLang="ko-KR" sz="1000">
                <a:latin typeface="+mn-ea"/>
              </a:rPr>
              <a:t>) </a:t>
            </a: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en-US" altLang="ko-KR" sz="1000" b="1">
                <a:latin typeface="+mn-ea"/>
              </a:rPr>
              <a:t>       </a:t>
            </a:r>
            <a:r>
              <a:rPr lang="en-US" altLang="ko-KR" sz="1200" b="1">
                <a:latin typeface="+mn-ea"/>
              </a:rPr>
              <a:t>→ </a:t>
            </a:r>
            <a:r>
              <a:rPr lang="en-US" altLang="ko-KR" sz="1200" b="1" dirty="0">
                <a:latin typeface="+mn-ea"/>
              </a:rPr>
              <a:t>GS</a:t>
            </a:r>
            <a:r>
              <a:rPr lang="ko-KR" altLang="en-US" sz="1200" b="1">
                <a:latin typeface="+mn-ea"/>
              </a:rPr>
              <a:t>챌린지로 대체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금액 </a:t>
            </a:r>
            <a:r>
              <a:rPr lang="ko-KR" altLang="en-US" sz="1000" dirty="0" err="1">
                <a:latin typeface="+mn-ea"/>
              </a:rPr>
              <a:t>미반영</a:t>
            </a:r>
            <a:r>
              <a:rPr lang="en-US" altLang="ko-KR" sz="1000" dirty="0">
                <a:latin typeface="+mn-ea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58800" algn="l"/>
              </a:tabLst>
              <a:defRPr/>
            </a:pPr>
            <a:r>
              <a:rPr lang="en-US" altLang="ko-KR" sz="1200" b="1">
                <a:latin typeface="+mn-ea"/>
              </a:rPr>
              <a:t>   - </a:t>
            </a:r>
            <a:r>
              <a:rPr lang="ko-KR" altLang="en-US" sz="1200" b="1">
                <a:latin typeface="+mn-ea"/>
              </a:rPr>
              <a:t>방송발전분야 영상을 </a:t>
            </a:r>
            <a:r>
              <a:rPr lang="ko-KR" altLang="en-US" sz="1200" b="1" dirty="0">
                <a:latin typeface="+mn-ea"/>
              </a:rPr>
              <a:t>활용한 환경 </a:t>
            </a:r>
            <a:r>
              <a:rPr lang="ko-KR" altLang="en-US" sz="1200" b="1">
                <a:latin typeface="+mn-ea"/>
              </a:rPr>
              <a:t>공익 캠페인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(4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억원 중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2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억원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) </a:t>
            </a:r>
          </a:p>
          <a:p>
            <a:pPr marL="0" marR="0" lvl="0" indent="0" algn="l" defTabSz="914400" rtl="0" eaLnBrk="1" fontAlgn="auto" latinLnBrk="1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58800" algn="l"/>
              </a:tabLst>
              <a:defRPr/>
            </a:pPr>
            <a:r>
              <a:rPr lang="en-US" altLang="ko-KR" sz="1200">
                <a:solidFill>
                  <a:prstClr val="black"/>
                </a:solidFill>
                <a:latin typeface="+mn-ea"/>
              </a:rPr>
              <a:t>      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→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일반 공익사업분야 </a:t>
            </a:r>
            <a:r>
              <a:rPr lang="ko-KR" altLang="en-US" sz="1200" b="1">
                <a:solidFill>
                  <a:prstClr val="black"/>
                </a:solidFill>
                <a:latin typeface="+mn-ea"/>
              </a:rPr>
              <a:t>소외계층</a:t>
            </a:r>
            <a:r>
              <a:rPr lang="en-US" altLang="ko-KR" sz="1200" b="1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200" b="1" u="sng">
                <a:solidFill>
                  <a:prstClr val="black"/>
                </a:solidFill>
                <a:latin typeface="+mn-ea"/>
              </a:rPr>
              <a:t>지역사회 공익 캠페인으로</a:t>
            </a:r>
            <a:r>
              <a:rPr kumimoji="0" lang="en-US" altLang="ko-KR" sz="12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r>
              <a:rPr lang="ko-KR" altLang="en-US" sz="1200" b="1" u="sng">
                <a:solidFill>
                  <a:prstClr val="black"/>
                </a:solidFill>
                <a:latin typeface="+mn-ea"/>
              </a:rPr>
              <a:t>확장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(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2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억원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)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  </a:t>
            </a:r>
            <a:endParaRPr lang="en-US" altLang="ko-KR" sz="1000" b="1" dirty="0">
              <a:solidFill>
                <a:prstClr val="black"/>
              </a:solidFill>
              <a:latin typeface="+mn-ea"/>
            </a:endParaRPr>
          </a:p>
          <a:p>
            <a:pPr lvl="0">
              <a:lnSpc>
                <a:spcPct val="140000"/>
              </a:lnSpc>
              <a:tabLst>
                <a:tab pos="558800" algn="l"/>
              </a:tabLst>
              <a:defRPr/>
            </a:pPr>
            <a:r>
              <a:rPr lang="en-US" altLang="ko-KR" sz="1200" b="1">
                <a:solidFill>
                  <a:prstClr val="black"/>
                </a:solidFill>
                <a:latin typeface="+mn-ea"/>
              </a:rPr>
              <a:t>   </a:t>
            </a:r>
            <a:r>
              <a:rPr lang="en-US" altLang="ko-KR" sz="1200" b="1">
                <a:latin typeface="+mn-ea"/>
              </a:rPr>
              <a:t> - </a:t>
            </a:r>
            <a:r>
              <a:rPr lang="ko-KR" altLang="en-US" sz="1200" b="1">
                <a:latin typeface="+mn-ea"/>
              </a:rPr>
              <a:t>영업이익 대비 사회환원율에 따라</a:t>
            </a:r>
            <a:r>
              <a:rPr lang="en-US" altLang="ko-KR" sz="1200" b="1">
                <a:latin typeface="+mn-ea"/>
              </a:rPr>
              <a:t>, </a:t>
            </a:r>
            <a:r>
              <a:rPr lang="ko-KR" altLang="en-US" sz="1200" b="1" u="sng">
                <a:latin typeface="+mn-ea"/>
              </a:rPr>
              <a:t>여러 중복 학술 사업 조정</a:t>
            </a:r>
            <a:r>
              <a:rPr lang="en-US" altLang="ko-KR" sz="1000" u="sng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1200" b="1" u="sng">
                <a:solidFill>
                  <a:prstClr val="black"/>
                </a:solidFill>
                <a:latin typeface="+mn-ea"/>
              </a:rPr>
              <a:t>  </a:t>
            </a:r>
          </a:p>
          <a:p>
            <a:pPr marL="0" marR="0" lvl="0" indent="0" algn="l" defTabSz="914400" rtl="0" eaLnBrk="1" fontAlgn="auto" latinLnBrk="1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58800" algn="l"/>
              </a:tabLst>
              <a:defRPr/>
            </a:pPr>
            <a:r>
              <a:rPr lang="en-US" altLang="ko-KR" sz="1200" b="1">
                <a:solidFill>
                  <a:prstClr val="black"/>
                </a:solidFill>
                <a:latin typeface="+mn-ea"/>
              </a:rPr>
              <a:t>                                                           </a:t>
            </a:r>
            <a:r>
              <a:rPr lang="ko-KR" altLang="en-US" sz="1200" b="1">
                <a:solidFill>
                  <a:prstClr val="black"/>
                </a:solidFill>
                <a:latin typeface="+mn-ea"/>
              </a:rPr>
              <a:t> 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>
              <a:lnSpc>
                <a:spcPct val="140000"/>
              </a:lnSpc>
              <a:tabLst>
                <a:tab pos="558800" algn="l"/>
              </a:tabLst>
            </a:pPr>
            <a:r>
              <a:rPr lang="ko-KR" altLang="en-US" sz="1200" b="1">
                <a:latin typeface="+mn-ea"/>
              </a:rPr>
              <a:t>② 방송발전분야 핵심 </a:t>
            </a:r>
            <a:r>
              <a:rPr lang="ko-KR" altLang="en-US" sz="1200" b="1" dirty="0">
                <a:latin typeface="+mn-ea"/>
              </a:rPr>
              <a:t>사업은 지속 유지</a:t>
            </a:r>
            <a:br>
              <a:rPr lang="en-US" altLang="ko-KR" sz="1200" b="1" dirty="0">
                <a:latin typeface="+mn-ea"/>
              </a:rPr>
            </a:br>
            <a:r>
              <a:rPr lang="en-US" altLang="ko-KR" sz="1200" b="1" dirty="0">
                <a:latin typeface="+mn-ea"/>
              </a:rPr>
              <a:t>   - (</a:t>
            </a:r>
            <a:r>
              <a:rPr lang="ko-KR" altLang="en-US" sz="1200" b="1" dirty="0">
                <a:latin typeface="+mn-ea"/>
              </a:rPr>
              <a:t>미래세대</a:t>
            </a:r>
            <a:r>
              <a:rPr lang="en-US" altLang="ko-KR" sz="1200" b="1" dirty="0">
                <a:latin typeface="+mn-ea"/>
              </a:rPr>
              <a:t>)16</a:t>
            </a:r>
            <a:r>
              <a:rPr lang="ko-KR" altLang="en-US" sz="1200" b="1" dirty="0">
                <a:latin typeface="+mn-ea"/>
              </a:rPr>
              <a:t>년부터 </a:t>
            </a:r>
            <a:r>
              <a:rPr lang="ko-KR" altLang="en-US" sz="1200" b="1" dirty="0" err="1">
                <a:latin typeface="+mn-ea"/>
              </a:rPr>
              <a:t>초중고등</a:t>
            </a:r>
            <a:r>
              <a:rPr lang="ko-KR" altLang="en-US" sz="1200" b="1" spc="-50" dirty="0" err="1">
                <a:latin typeface="+mn-ea"/>
              </a:rPr>
              <a:t>학생</a:t>
            </a:r>
            <a:r>
              <a:rPr lang="ko-KR" altLang="en-US" sz="1200" b="1" spc="-50" dirty="0">
                <a:latin typeface="+mn-ea"/>
              </a:rPr>
              <a:t> 미디어 체험 </a:t>
            </a:r>
            <a:r>
              <a:rPr lang="en-US" altLang="ko-KR" sz="1200" b="1" spc="-50" dirty="0">
                <a:latin typeface="+mn-ea"/>
              </a:rPr>
              <a:t>'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미디어 나눔 버스</a:t>
            </a:r>
            <a:r>
              <a:rPr lang="en-US" altLang="ko-KR" sz="1200" b="1" spc="-50" dirty="0">
                <a:latin typeface="+mn-ea"/>
              </a:rPr>
              <a:t>' </a:t>
            </a:r>
            <a:r>
              <a:rPr lang="ko-KR" altLang="en-US" sz="1200" b="1" spc="-50" dirty="0">
                <a:latin typeface="+mn-ea"/>
              </a:rPr>
              <a:t>지원</a:t>
            </a:r>
            <a:endParaRPr lang="en-US" altLang="ko-KR" sz="1200" b="1" spc="-50" dirty="0">
              <a:latin typeface="+mn-ea"/>
            </a:endParaRPr>
          </a:p>
          <a:p>
            <a:pPr marR="0" lvl="0" algn="just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 spc="-50" dirty="0">
                <a:latin typeface="+mn-ea"/>
              </a:rPr>
              <a:t>    - (</a:t>
            </a:r>
            <a:r>
              <a:rPr lang="ko-KR" altLang="en-US" sz="1200" b="1" spc="-50" dirty="0">
                <a:latin typeface="+mn-ea"/>
              </a:rPr>
              <a:t>인재육성</a:t>
            </a:r>
            <a:r>
              <a:rPr lang="en-US" altLang="ko-KR" sz="1200" b="1" spc="-50" dirty="0">
                <a:latin typeface="+mn-ea"/>
              </a:rPr>
              <a:t>)17</a:t>
            </a:r>
            <a:r>
              <a:rPr lang="ko-KR" altLang="en-US" sz="1200" b="1" spc="-50" dirty="0">
                <a:latin typeface="+mn-ea"/>
              </a:rPr>
              <a:t>년부터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시간강사 등 신진학자</a:t>
            </a:r>
            <a:r>
              <a:rPr lang="ko-KR" altLang="en-US" sz="1200" b="1" spc="-50" dirty="0">
                <a:latin typeface="+mn-ea"/>
              </a:rPr>
              <a:t> 학술지 등재 지원 </a:t>
            </a:r>
            <a:r>
              <a:rPr kumimoji="0" lang="en-US" altLang="ko-KR" sz="1200" b="1" i="0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(66</a:t>
            </a:r>
            <a:r>
              <a:rPr kumimoji="0" lang="ko-KR" altLang="en-US" sz="1200" b="1" i="0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명 지원</a:t>
            </a:r>
            <a:r>
              <a:rPr kumimoji="0" lang="en-US" altLang="ko-KR" sz="1200" b="1" i="0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)</a:t>
            </a:r>
            <a:endParaRPr lang="en-US" altLang="ko-KR" sz="1200" b="1" spc="-50" dirty="0"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200" b="1" spc="-50" dirty="0">
                <a:latin typeface="+mn-ea"/>
              </a:rPr>
              <a:t>                    18</a:t>
            </a:r>
            <a:r>
              <a:rPr lang="ko-KR" altLang="en-US" sz="1200" b="1" spc="-50" dirty="0">
                <a:latin typeface="+mn-ea"/>
              </a:rPr>
              <a:t>년부터 </a:t>
            </a:r>
            <a:r>
              <a:rPr lang="ko-KR" altLang="en-US" sz="1200" b="1" spc="-50" dirty="0">
                <a:solidFill>
                  <a:srgbClr val="0000FF"/>
                </a:solidFill>
                <a:latin typeface="+mn-ea"/>
              </a:rPr>
              <a:t>방송 미디어 전공 대학</a:t>
            </a:r>
            <a:r>
              <a:rPr lang="ko-KR" altLang="en-US" sz="1200" b="1" spc="-50" dirty="0">
                <a:latin typeface="+mn-ea"/>
              </a:rPr>
              <a:t>생 장학금 지원 </a:t>
            </a:r>
            <a:r>
              <a:rPr lang="en-US" altLang="ko-KR" sz="1200" b="1" spc="-50" dirty="0">
                <a:latin typeface="+mn-ea"/>
              </a:rPr>
              <a:t>(420</a:t>
            </a:r>
            <a:r>
              <a:rPr lang="ko-KR" altLang="en-US" sz="1200" b="1" spc="-50" dirty="0">
                <a:latin typeface="+mn-ea"/>
              </a:rPr>
              <a:t>명 지원</a:t>
            </a:r>
            <a:r>
              <a:rPr lang="en-US" altLang="ko-KR" sz="1200" b="1" spc="-50" dirty="0">
                <a:latin typeface="+mn-ea"/>
              </a:rPr>
              <a:t>)</a:t>
            </a:r>
          </a:p>
          <a:p>
            <a:pPr marL="0" marR="0" lvl="0" indent="0" algn="just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   - (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산학협력</a:t>
            </a: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)</a:t>
            </a:r>
            <a:r>
              <a:rPr kumimoji="0" lang="ko-KR" altLang="en-US" sz="1200" b="1" i="0" u="none" strike="noStrike" kern="1200" cap="none" spc="-5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cs typeface="+mn-cs"/>
              </a:rPr>
              <a:t>학계와 협력한 </a:t>
            </a:r>
            <a:r>
              <a:rPr kumimoji="0" lang="ko-KR" altLang="en-US" sz="12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기초 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연구 지원</a:t>
            </a: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</a:p>
          <a:p>
            <a:pPr marL="0" marR="0" lvl="0" indent="0" algn="just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1" spc="-50" dirty="0">
              <a:solidFill>
                <a:prstClr val="black"/>
              </a:solidFill>
              <a:latin typeface="+mn-ea"/>
            </a:endParaRPr>
          </a:p>
          <a:p>
            <a:pPr marL="0" marR="0" lvl="0" indent="0" algn="just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spc="-50" dirty="0">
                <a:solidFill>
                  <a:prstClr val="black"/>
                </a:solidFill>
                <a:latin typeface="+mn-ea"/>
              </a:rPr>
              <a:t>③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지역사회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지역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SO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 연계 공익 영상 제작과 같은 신규 항목</a:t>
            </a:r>
            <a:r>
              <a:rPr lang="ko-KR" altLang="en-US" sz="1200" b="1" dirty="0">
                <a:latin typeface="+mn-ea"/>
              </a:rPr>
              <a:t>도 신설하는 등 </a:t>
            </a:r>
            <a:endParaRPr lang="en-US" altLang="ko-KR" sz="1200" b="1" dirty="0">
              <a:latin typeface="+mn-ea"/>
            </a:endParaRPr>
          </a:p>
          <a:p>
            <a:pPr marL="0" marR="0" lvl="0" indent="0" algn="just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latin typeface="+mn-ea"/>
              </a:rPr>
              <a:t>    </a:t>
            </a:r>
            <a:r>
              <a:rPr lang="ko-KR" altLang="en-US" sz="1200" b="1" dirty="0">
                <a:latin typeface="+mn-ea"/>
              </a:rPr>
              <a:t>방송산업이 발전할 수 있도록 많은 기여 할 예정</a:t>
            </a:r>
            <a:endParaRPr kumimoji="0" lang="en-US" altLang="ko-KR" sz="1200" b="1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pic>
        <p:nvPicPr>
          <p:cNvPr id="26" name="그림 25" descr="텍스트, 번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77AD3D-77B2-452E-CD2D-6F28DE60D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30" y="1475671"/>
            <a:ext cx="5823334" cy="154806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07F828E-9DA0-D2DB-B8BE-F1BACFEA265A}"/>
              </a:ext>
            </a:extLst>
          </p:cNvPr>
          <p:cNvSpPr txBox="1"/>
          <p:nvPr/>
        </p:nvSpPr>
        <p:spPr>
          <a:xfrm>
            <a:off x="111842" y="1012632"/>
            <a:ext cx="57481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■ (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사업계획서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p.281)</a:t>
            </a:r>
            <a:r>
              <a:rPr lang="ko-KR" altLang="en-US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방송발전</a:t>
            </a:r>
            <a:r>
              <a:rPr lang="en-US" altLang="ko-KR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+(</a:t>
            </a:r>
            <a:r>
              <a:rPr lang="ko-KR" altLang="en-US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사업계획서 </a:t>
            </a:r>
            <a:r>
              <a:rPr lang="en-US" altLang="ko-KR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p.291)</a:t>
            </a:r>
            <a:r>
              <a:rPr lang="ko-KR" altLang="en-US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방송영상산업 발전 실적 및 계획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F6BE31-02A9-4FCF-0A06-308CB38342B0}"/>
              </a:ext>
            </a:extLst>
          </p:cNvPr>
          <p:cNvSpPr txBox="1"/>
          <p:nvPr/>
        </p:nvSpPr>
        <p:spPr>
          <a:xfrm>
            <a:off x="4882392" y="1274242"/>
            <a:ext cx="10978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/>
              <a:t>(</a:t>
            </a:r>
            <a:r>
              <a:rPr lang="ko-KR" altLang="en-US" sz="800" dirty="0"/>
              <a:t>단위</a:t>
            </a:r>
            <a:r>
              <a:rPr lang="en-US" altLang="ko-KR" sz="800" dirty="0"/>
              <a:t>: </a:t>
            </a:r>
            <a:r>
              <a:rPr lang="ko-KR" altLang="en-US" sz="800" dirty="0"/>
              <a:t>백만원</a:t>
            </a:r>
            <a:r>
              <a:rPr lang="en-US" altLang="ko-KR" sz="800" dirty="0"/>
              <a:t>/%)</a:t>
            </a:r>
            <a:endParaRPr lang="ko-KR" altLang="en-US" sz="8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4C4C6F9-8FAD-D166-969D-E82167FAEC1A}"/>
              </a:ext>
            </a:extLst>
          </p:cNvPr>
          <p:cNvSpPr/>
          <p:nvPr/>
        </p:nvSpPr>
        <p:spPr>
          <a:xfrm>
            <a:off x="5261884" y="1763429"/>
            <a:ext cx="680280" cy="213691"/>
          </a:xfrm>
          <a:prstGeom prst="rect">
            <a:avLst/>
          </a:prstGeom>
          <a:noFill/>
          <a:ln>
            <a:solidFill>
              <a:srgbClr val="1919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3C1F6EC-437F-D40E-A56B-51324C8A6B4D}"/>
              </a:ext>
            </a:extLst>
          </p:cNvPr>
          <p:cNvSpPr/>
          <p:nvPr/>
        </p:nvSpPr>
        <p:spPr>
          <a:xfrm>
            <a:off x="5261884" y="2590299"/>
            <a:ext cx="680280" cy="213691"/>
          </a:xfrm>
          <a:prstGeom prst="rect">
            <a:avLst/>
          </a:prstGeom>
          <a:noFill/>
          <a:ln>
            <a:solidFill>
              <a:srgbClr val="1919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3B6CF18D-79EE-4DB2-DE15-E0BD94AA2D34}"/>
              </a:ext>
            </a:extLst>
          </p:cNvPr>
          <p:cNvSpPr/>
          <p:nvPr/>
        </p:nvSpPr>
        <p:spPr>
          <a:xfrm>
            <a:off x="4698270" y="2747266"/>
            <a:ext cx="463437" cy="2990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7BEC2AD-A581-0246-39F9-60B6E5E2D516}"/>
              </a:ext>
            </a:extLst>
          </p:cNvPr>
          <p:cNvSpPr/>
          <p:nvPr/>
        </p:nvSpPr>
        <p:spPr>
          <a:xfrm>
            <a:off x="5396505" y="2747266"/>
            <a:ext cx="463437" cy="2990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C000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145DB333-6967-2DC4-3E3C-7E47850960D4}"/>
              </a:ext>
            </a:extLst>
          </p:cNvPr>
          <p:cNvCxnSpPr>
            <a:cxnSpLocks/>
            <a:stCxn id="3" idx="6"/>
            <a:endCxn id="8" idx="2"/>
          </p:cNvCxnSpPr>
          <p:nvPr/>
        </p:nvCxnSpPr>
        <p:spPr>
          <a:xfrm>
            <a:off x="5161707" y="2896790"/>
            <a:ext cx="234798" cy="0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8CB8633-0AEB-4CA4-709B-E268715A4CD3}"/>
              </a:ext>
            </a:extLst>
          </p:cNvPr>
          <p:cNvSpPr txBox="1"/>
          <p:nvPr/>
        </p:nvSpPr>
        <p:spPr>
          <a:xfrm>
            <a:off x="11563927" y="6635877"/>
            <a:ext cx="6280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106/109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13669541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BE6EB-0AE8-0291-A3B3-19D93A906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2249C2-AD59-4FD7-A2E6-D8B9A48C2980}"/>
              </a:ext>
            </a:extLst>
          </p:cNvPr>
          <p:cNvSpPr txBox="1"/>
          <p:nvPr/>
        </p:nvSpPr>
        <p:spPr>
          <a:xfrm>
            <a:off x="65108" y="81062"/>
            <a:ext cx="9572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방송발전 및 </a:t>
            </a:r>
            <a:r>
              <a:rPr lang="ko-KR" altLang="en-US" b="1" dirty="0">
                <a:solidFill>
                  <a:schemeClr val="bg1"/>
                </a:solidFill>
                <a:latin typeface="맑은 고딕" panose="020B0503020000020004" pitchFamily="50" charset="-127"/>
                <a:cs typeface="굴림" panose="020B0600000101010101" pitchFamily="50" charset="-127"/>
              </a:rPr>
              <a:t>방송영상산업 발전 실적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및 계획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CCF6F57-5071-0E80-F465-F76D0200B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049837"/>
              </p:ext>
            </p:extLst>
          </p:nvPr>
        </p:nvGraphicFramePr>
        <p:xfrm>
          <a:off x="391932" y="776038"/>
          <a:ext cx="11538811" cy="58572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831">
                  <a:extLst>
                    <a:ext uri="{9D8B030D-6E8A-4147-A177-3AD203B41FA5}">
                      <a16:colId xmlns:a16="http://schemas.microsoft.com/office/drawing/2014/main" val="2070204698"/>
                    </a:ext>
                  </a:extLst>
                </a:gridCol>
                <a:gridCol w="599831">
                  <a:extLst>
                    <a:ext uri="{9D8B030D-6E8A-4147-A177-3AD203B41FA5}">
                      <a16:colId xmlns:a16="http://schemas.microsoft.com/office/drawing/2014/main" val="4049201456"/>
                    </a:ext>
                  </a:extLst>
                </a:gridCol>
                <a:gridCol w="599831">
                  <a:extLst>
                    <a:ext uri="{9D8B030D-6E8A-4147-A177-3AD203B41FA5}">
                      <a16:colId xmlns:a16="http://schemas.microsoft.com/office/drawing/2014/main" val="2053800587"/>
                    </a:ext>
                  </a:extLst>
                </a:gridCol>
                <a:gridCol w="599831">
                  <a:extLst>
                    <a:ext uri="{9D8B030D-6E8A-4147-A177-3AD203B41FA5}">
                      <a16:colId xmlns:a16="http://schemas.microsoft.com/office/drawing/2014/main" val="1113840530"/>
                    </a:ext>
                  </a:extLst>
                </a:gridCol>
                <a:gridCol w="599831">
                  <a:extLst>
                    <a:ext uri="{9D8B030D-6E8A-4147-A177-3AD203B41FA5}">
                      <a16:colId xmlns:a16="http://schemas.microsoft.com/office/drawing/2014/main" val="2635055077"/>
                    </a:ext>
                  </a:extLst>
                </a:gridCol>
                <a:gridCol w="5273942">
                  <a:extLst>
                    <a:ext uri="{9D8B030D-6E8A-4147-A177-3AD203B41FA5}">
                      <a16:colId xmlns:a16="http://schemas.microsoft.com/office/drawing/2014/main" val="1891986853"/>
                    </a:ext>
                  </a:extLst>
                </a:gridCol>
                <a:gridCol w="896221">
                  <a:extLst>
                    <a:ext uri="{9D8B030D-6E8A-4147-A177-3AD203B41FA5}">
                      <a16:colId xmlns:a16="http://schemas.microsoft.com/office/drawing/2014/main" val="763032003"/>
                    </a:ext>
                  </a:extLst>
                </a:gridCol>
                <a:gridCol w="2369493">
                  <a:extLst>
                    <a:ext uri="{9D8B030D-6E8A-4147-A177-3AD203B41FA5}">
                      <a16:colId xmlns:a16="http://schemas.microsoft.com/office/drawing/2014/main" val="2358122020"/>
                    </a:ext>
                  </a:extLst>
                </a:gridCol>
              </a:tblGrid>
              <a:tr h="284271"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endParaRPr lang="ko-KR" altLang="en-US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endParaRPr lang="ko-KR" altLang="en-US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latinLnBrk="1">
                        <a:lnSpc>
                          <a:spcPct val="11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46800" marB="46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latinLnBrk="1">
                        <a:lnSpc>
                          <a:spcPct val="11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46800" marB="46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</a:t>
                      </a:r>
                      <a:endParaRPr lang="en-US" altLang="ko-KR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46800" marB="46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연평균 실적</a:t>
                      </a:r>
                      <a:endParaRPr lang="en-US" altLang="ko-KR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46800" marB="46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연평균 계획</a:t>
                      </a:r>
                      <a:endParaRPr lang="en-US" altLang="ko-KR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46800" marB="46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794100"/>
                  </a:ext>
                </a:extLst>
              </a:tr>
              <a:tr h="336418">
                <a:tc rowSpan="1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1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공익사업</a:t>
                      </a:r>
                      <a:endParaRPr lang="ko-KR" altLang="en-US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소외계층 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전사 관점의 소외계층</a:t>
                      </a:r>
                      <a:r>
                        <a:rPr lang="en-US" altLang="ko-KR" sz="11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1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지역사회 공익사업 </a:t>
                      </a:r>
                      <a:r>
                        <a:rPr lang="en-US" altLang="ko-KR" sz="10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(ESG</a:t>
                      </a:r>
                      <a:r>
                        <a:rPr lang="ko-KR" altLang="en-US" sz="10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파트</a:t>
                      </a:r>
                      <a:r>
                        <a:rPr lang="en-US" altLang="ko-KR" sz="10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2,447</a:t>
                      </a:r>
                      <a:r>
                        <a:rPr lang="ko-KR" altLang="en-US" sz="11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백만원</a:t>
                      </a:r>
                      <a:endParaRPr lang="en-US" altLang="ko-KR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2,680</a:t>
                      </a:r>
                      <a:r>
                        <a:rPr lang="ko-KR" altLang="en-US" sz="11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</a:t>
                      </a:r>
                      <a:r>
                        <a:rPr lang="ko-KR" altLang="en-US" sz="1100" b="0" i="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만원</a:t>
                      </a:r>
                      <a:endParaRPr lang="en-US" altLang="ko-KR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808006"/>
                  </a:ext>
                </a:extLst>
              </a:tr>
              <a:tr h="608855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0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방송발전</a:t>
                      </a:r>
                      <a:endParaRPr lang="en-US" altLang="ko-KR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지원</a:t>
                      </a:r>
                      <a:endParaRPr lang="en-US" altLang="ko-KR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1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100" b="1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방송발전</a:t>
                      </a:r>
                      <a:endParaRPr lang="en-US" altLang="ko-KR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방송기술</a:t>
                      </a:r>
                      <a:endParaRPr lang="en-US" altLang="ko-KR" sz="1100" b="1" spc="-5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분야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1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해외 </a:t>
                      </a:r>
                      <a:endParaRPr lang="en-US" altLang="ko-KR" sz="1100" b="1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40000"/>
                        </a:lnSpc>
                        <a:buNone/>
                      </a:pPr>
                      <a:r>
                        <a:rPr lang="ko-KR" altLang="en-US" sz="1100" b="1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연수 지원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국내 방송기술 전문가 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 내외 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NHK 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참관 지원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ko-KR" sz="11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1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학회</a:t>
                      </a:r>
                      <a:r>
                        <a:rPr lang="en-US" altLang="ko-KR" sz="11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정부기관 한국전자통신연구원 등 참여 </a:t>
                      </a:r>
                      <a:endParaRPr lang="en-US" altLang="ko-KR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1100" b="1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백만원</a:t>
                      </a:r>
                      <a:endParaRPr lang="en-US" altLang="ko-KR" sz="1100" b="1" spc="-5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​</a:t>
                      </a:r>
                      <a:r>
                        <a:rPr lang="en-US" altLang="ko-KR" sz="1100" b="1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100" b="1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백만원</a:t>
                      </a:r>
                      <a:endParaRPr lang="ko-KR" altLang="en-US" sz="1100" b="1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097707"/>
                  </a:ext>
                </a:extLst>
              </a:tr>
              <a:tr h="6088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미디어</a:t>
                      </a:r>
                      <a:endParaRPr lang="en-US" altLang="ko-KR" sz="1100" b="1" spc="-50" baseline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나눔버스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spc="-50" baseline="0" dirty="0" err="1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방미통위</a:t>
                      </a:r>
                      <a:r>
                        <a:rPr lang="ko-KR" altLang="en-US" sz="1100" b="1" kern="1200" spc="-5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산하 시청자미디어재단 </a:t>
                      </a:r>
                      <a:r>
                        <a:rPr lang="ko-KR" altLang="en-US" sz="1100" b="1" u="sng" kern="1200" spc="-5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미디어 </a:t>
                      </a:r>
                      <a:r>
                        <a:rPr lang="ko-KR" altLang="en-US" sz="1100" b="1" u="sng" kern="1200" spc="-50" baseline="0" dirty="0" err="1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나눔버스</a:t>
                      </a:r>
                      <a:r>
                        <a:rPr lang="ko-KR" altLang="en-US" sz="1100" b="1" u="sng" kern="1200" spc="-5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지원</a:t>
                      </a:r>
                      <a:r>
                        <a:rPr lang="ko-KR" altLang="en-US" sz="1100" b="1" kern="1200" spc="-5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spc="-5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(16</a:t>
                      </a:r>
                      <a:r>
                        <a:rPr lang="ko-KR" altLang="en-US" sz="1000" b="0" kern="1200" spc="-5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년 버스 제작 </a:t>
                      </a:r>
                      <a:r>
                        <a:rPr lang="en-US" altLang="ko-KR" sz="1000" b="0" kern="1200" spc="-5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000" b="0" kern="1200" spc="-5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억원 지원</a:t>
                      </a:r>
                      <a:r>
                        <a:rPr lang="en-US" altLang="ko-KR" sz="1000" b="0" kern="1200" spc="-5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10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농촌산간</a:t>
                      </a:r>
                      <a:r>
                        <a:rPr lang="en-US" altLang="ko-KR" sz="110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spc="-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초중고등학생</a:t>
                      </a:r>
                      <a:r>
                        <a:rPr lang="ko-KR" altLang="en-US" sz="110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대상 미디어 체험 제공 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35</a:t>
                      </a:r>
                      <a:r>
                        <a:rPr lang="ko-KR" altLang="en-US" sz="1100" b="1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백만원</a:t>
                      </a:r>
                      <a:endParaRPr lang="ko-KR" altLang="en-US" sz="1100" b="1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1100" b="1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백만원 </a:t>
                      </a:r>
                      <a:endParaRPr lang="ko-KR" altLang="en-US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544479"/>
                  </a:ext>
                </a:extLst>
              </a:tr>
              <a:tr h="6088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방송관련</a:t>
                      </a:r>
                      <a:endParaRPr lang="en-US" altLang="ko-KR" sz="1100" b="1" spc="-5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연구개발</a:t>
                      </a:r>
                      <a:endParaRPr lang="ko-KR" altLang="en-US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학술저술</a:t>
                      </a:r>
                      <a:endParaRPr lang="en-US" altLang="ko-KR" sz="1100" b="1" spc="-5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지원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③학회 학술 지원</a:t>
                      </a:r>
                      <a:r>
                        <a:rPr lang="en-US" altLang="ko-KR" sz="1100" b="1" kern="1200" spc="-5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 spc="-5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소규모 연구회 지원</a:t>
                      </a:r>
                      <a:r>
                        <a:rPr lang="en-US" altLang="ko-KR" sz="1100" b="1" kern="1200" spc="-5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 spc="-5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교수 저술 지원 중 중복사업 조정</a:t>
                      </a:r>
                      <a:endParaRPr lang="en-US" altLang="ko-KR" sz="1100" b="1" kern="1200" spc="-5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※ </a:t>
                      </a: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향후 </a:t>
                      </a:r>
                      <a:r>
                        <a:rPr lang="en-US" altLang="ko-KR" sz="105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기존 방송관련학회 규모 축소</a:t>
                      </a:r>
                      <a:r>
                        <a:rPr lang="en-US" altLang="ko-KR" sz="105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유통경영학회 규모 확대</a:t>
                      </a:r>
                      <a:endParaRPr lang="en-US" altLang="ko-KR" sz="1050" b="0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146</a:t>
                      </a:r>
                      <a:r>
                        <a:rPr lang="ko-KR" altLang="en-US" sz="1100" b="1" kern="1200" spc="-5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백만원</a:t>
                      </a:r>
                      <a:endParaRPr lang="en-US" altLang="ko-KR" sz="1100" b="1" kern="1200" spc="-5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spc="-50" baseline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115</a:t>
                      </a:r>
                      <a:r>
                        <a:rPr lang="ko-KR" altLang="en-US" sz="1100" b="1" spc="-50" baseline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백만원</a:t>
                      </a:r>
                      <a:endParaRPr lang="ko-KR" altLang="en-US" sz="1100" b="1" spc="-5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570687"/>
                  </a:ext>
                </a:extLst>
              </a:tr>
              <a:tr h="6088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당사</a:t>
                      </a:r>
                      <a:endParaRPr lang="en-US" altLang="ko-KR" sz="1100" b="1" spc="-5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Biz </a:t>
                      </a:r>
                      <a:r>
                        <a:rPr lang="ko-KR" altLang="en-US" sz="1100" b="1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연계</a:t>
                      </a:r>
                      <a:endParaRPr lang="en-US" altLang="ko-KR" sz="1100" b="1" spc="-5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데이터방송 기초 연구 지원 </a:t>
                      </a:r>
                      <a:endParaRPr lang="en-US" altLang="ko-KR" sz="1100" b="1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indent="-10800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u="none" spc="-5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①</a:t>
                      </a:r>
                      <a:r>
                        <a:rPr lang="ko-KR" altLang="en-US" sz="1100" b="1" kern="1200" spc="-5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신기술 연구 사업 종료 </a:t>
                      </a:r>
                      <a:r>
                        <a:rPr lang="en-US" altLang="ko-KR" sz="100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(AX</a:t>
                      </a:r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본부</a:t>
                      </a:r>
                      <a:r>
                        <a:rPr lang="en-US" altLang="ko-KR" sz="100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lang="ko-KR" altLang="en-US" sz="1100" b="1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백만원</a:t>
                      </a:r>
                      <a:endParaRPr lang="en-US" altLang="ko-KR" sz="1100" b="1" kern="1200" spc="-5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kern="1200" spc="-50" baseline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150</a:t>
                      </a:r>
                      <a:r>
                        <a:rPr lang="ko-KR" altLang="en-US" sz="1100" b="1" kern="1200" spc="-50" baseline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백만원</a:t>
                      </a:r>
                      <a:endParaRPr lang="en-US" altLang="ko-KR" sz="1100" b="1" kern="1200" spc="-50" baseline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u="none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100" b="1" u="none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백만원</a:t>
                      </a:r>
                      <a:endParaRPr lang="en-US" altLang="ko-KR" sz="1100" b="1" u="none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u="none" spc="-50" baseline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GS</a:t>
                      </a:r>
                      <a:r>
                        <a:rPr lang="ko-KR" altLang="en-US" sz="1100" b="1" u="none" spc="-5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챌린지로 대체</a:t>
                      </a:r>
                      <a:endParaRPr lang="en-US" altLang="ko-KR" sz="1100" b="1" u="none" spc="-5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497051"/>
                  </a:ext>
                </a:extLst>
              </a:tr>
              <a:tr h="6088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방송인력</a:t>
                      </a:r>
                      <a:endParaRPr lang="en-US" altLang="ko-KR" sz="1100" b="1" spc="-5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육성지원</a:t>
                      </a:r>
                      <a:endParaRPr lang="ko-KR" altLang="en-US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인재육성</a:t>
                      </a:r>
                      <a:endParaRPr lang="ko-KR" altLang="en-US" sz="1100" b="1" spc="-50" baseline="0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spc="-5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방송 미디어 전공 </a:t>
                      </a:r>
                      <a:r>
                        <a:rPr lang="ko-KR" altLang="en-US" sz="1100" b="1" u="sng" kern="1200" spc="-5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대학생 장학금 지원 </a:t>
                      </a:r>
                      <a:r>
                        <a:rPr lang="en-US" altLang="ko-KR" sz="1000" b="0" u="none" kern="1200" spc="-5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(18</a:t>
                      </a:r>
                      <a:r>
                        <a:rPr lang="ko-KR" altLang="en-US" sz="1000" b="0" u="none" kern="1200" spc="-5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년부터 </a:t>
                      </a:r>
                      <a:r>
                        <a:rPr lang="en-US" altLang="ko-KR" sz="1000" b="0" u="none" kern="1200" spc="-5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420</a:t>
                      </a:r>
                      <a:r>
                        <a:rPr lang="ko-KR" altLang="en-US" sz="1000" b="0" u="none" kern="1200" spc="-5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명 지원</a:t>
                      </a:r>
                      <a:r>
                        <a:rPr lang="en-US" altLang="ko-KR" sz="1000" b="0" u="none" kern="1200" spc="-5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indent="-108000" algn="just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u="sng" kern="1200" spc="-5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시간강사 등 신진학자 학술지 등재 지원 </a:t>
                      </a:r>
                      <a:r>
                        <a:rPr lang="en-US" altLang="ko-KR" sz="1000" b="0" u="none" kern="1200" spc="-5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(17</a:t>
                      </a:r>
                      <a:r>
                        <a:rPr lang="ko-KR" altLang="en-US" sz="1000" b="0" u="none" kern="1200" spc="-5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년부터 </a:t>
                      </a:r>
                      <a:r>
                        <a:rPr lang="en-US" altLang="ko-KR" sz="1000" b="0" u="none" kern="1200" spc="-5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66</a:t>
                      </a:r>
                      <a:r>
                        <a:rPr lang="ko-KR" altLang="en-US" sz="1000" b="0" u="none" kern="1200" spc="-5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명 지원</a:t>
                      </a:r>
                      <a:r>
                        <a:rPr lang="en-US" altLang="ko-KR" sz="1000" b="0" u="none" kern="1200" spc="-50" baseline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r>
                        <a:rPr lang="ko-KR" altLang="en-US" sz="1100" b="1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백만원</a:t>
                      </a:r>
                      <a:endParaRPr lang="en-US" altLang="ko-KR" sz="1100" b="1" kern="1200" spc="-5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  <a:r>
                        <a:rPr lang="ko-KR" altLang="en-US" sz="1100" b="1" kern="1200" spc="-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백만원</a:t>
                      </a:r>
                      <a:endParaRPr lang="en-US" altLang="ko-KR" sz="1100" b="1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i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r>
                        <a:rPr lang="ko-KR" altLang="en-US" sz="1100" b="1" i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백만원</a:t>
                      </a:r>
                      <a:endParaRPr lang="en-US" altLang="ko-KR" sz="1100" b="1" i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i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1100" b="1" i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백만원​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3910354"/>
                  </a:ext>
                </a:extLst>
              </a:tr>
              <a:tr h="3364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방송영상산업육성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방송 중고장비 공익채널에 기부 </a:t>
                      </a:r>
                      <a:r>
                        <a:rPr lang="en-US" altLang="ko-KR" sz="100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영상제작부문</a:t>
                      </a:r>
                      <a:r>
                        <a:rPr lang="en-US" altLang="ko-KR" sz="100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altLang="ko-KR" sz="1100" b="0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발생 시</a:t>
                      </a:r>
                      <a:endParaRPr lang="en-US" altLang="ko-KR" sz="1100" b="1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발생 시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769892"/>
                  </a:ext>
                </a:extLst>
              </a:tr>
              <a:tr h="56164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②</a:t>
                      </a:r>
                      <a:r>
                        <a:rPr lang="ko-KR" altLang="en-US" sz="1100" b="1" i="0" u="none" strike="noStrike" kern="1200" spc="-50" baseline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영상 콘텐츠 활용 공익 캠페인 사업 확장 </a:t>
                      </a:r>
                      <a:r>
                        <a:rPr lang="en-US" altLang="ko-KR" sz="1000" b="0" i="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(ESG</a:t>
                      </a:r>
                      <a:r>
                        <a:rPr lang="ko-KR" altLang="en-US" sz="1000" b="0" i="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파트</a:t>
                      </a:r>
                      <a:r>
                        <a:rPr lang="en-US" altLang="ko-KR" sz="100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kern="1200" spc="-5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400</a:t>
                      </a:r>
                      <a:r>
                        <a:rPr lang="ko-KR" altLang="en-US" sz="1100" b="1" kern="1200" spc="-5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백만원</a:t>
                      </a:r>
                      <a:endParaRPr lang="en-US" altLang="ko-KR" sz="1100" b="1" kern="1200" spc="-5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200</a:t>
                      </a: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백만원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200</a:t>
                      </a:r>
                      <a:r>
                        <a:rPr lang="ko-KR" alt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백만원 일반 공익사업으로 확장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458872"/>
                  </a:ext>
                </a:extLst>
              </a:tr>
              <a:tr h="3364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u="none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지역사회</a:t>
                      </a:r>
                      <a:r>
                        <a:rPr lang="en-US" altLang="ko-KR" sz="1100" b="1" u="none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u="none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r>
                        <a:rPr lang="en-US" altLang="ko-KR" sz="1100" b="1" u="none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SO </a:t>
                      </a:r>
                      <a:r>
                        <a:rPr lang="ko-KR" altLang="en-US" sz="1100" b="1" u="none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연계 공익 영상 제작 지원 </a:t>
                      </a:r>
                      <a:r>
                        <a:rPr lang="en-US" altLang="ko-KR" sz="1000" b="0" i="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미디어마케팅팀</a:t>
                      </a:r>
                      <a:r>
                        <a:rPr lang="en-US" altLang="ko-KR" sz="1000" b="0" i="0" u="none" strike="noStrike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신설</a:t>
                      </a: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)15</a:t>
                      </a: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백만원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084040"/>
                  </a:ext>
                </a:extLst>
              </a:tr>
              <a:tr h="3364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u="none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소비자 권익보호 관련 콘텐츠 공모전</a:t>
                      </a:r>
                      <a:r>
                        <a:rPr lang="en-US" altLang="ko-KR" sz="1100" b="1" u="none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000" b="1" i="0" u="none" strike="noStrike" kern="1200" spc="-5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백만원</a:t>
                      </a:r>
                      <a:endParaRPr lang="en-US" altLang="ko-KR" sz="1100" b="1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백만원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4177649"/>
                  </a:ext>
                </a:extLst>
              </a:tr>
              <a:tr h="3103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957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백만원</a:t>
                      </a:r>
                      <a:endParaRPr lang="en-US" altLang="ko-KR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520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백만원</a:t>
                      </a:r>
                      <a:endParaRPr lang="en-US" altLang="ko-KR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38104"/>
                  </a:ext>
                </a:extLst>
              </a:tr>
              <a:tr h="310335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08000" indent="-10800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100" b="1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3,405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백만원</a:t>
                      </a:r>
                      <a:endParaRPr lang="en-US" altLang="ko-KR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3,200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백만원</a:t>
                      </a:r>
                      <a:endParaRPr lang="en-US" altLang="ko-KR" sz="1100" b="1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61912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4B52D39-FD7B-884E-AFEA-5D3ED82BB9D9}"/>
              </a:ext>
            </a:extLst>
          </p:cNvPr>
          <p:cNvSpPr txBox="1"/>
          <p:nvPr/>
        </p:nvSpPr>
        <p:spPr>
          <a:xfrm>
            <a:off x="11563927" y="6635877"/>
            <a:ext cx="6280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107/109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31615908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AC19022-1391-9342-EF51-5C268766332B}"/>
              </a:ext>
            </a:extLst>
          </p:cNvPr>
          <p:cNvSpPr txBox="1"/>
          <p:nvPr/>
        </p:nvSpPr>
        <p:spPr>
          <a:xfrm>
            <a:off x="181858" y="691793"/>
            <a:ext cx="34757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■ (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사업계획서 </a:t>
            </a: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p.287, 303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)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신기술 연구 </a:t>
            </a: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협업 사업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1993DF-22DF-2D6E-F436-0859AE17B683}"/>
              </a:ext>
            </a:extLst>
          </p:cNvPr>
          <p:cNvSpPr txBox="1"/>
          <p:nvPr/>
        </p:nvSpPr>
        <p:spPr>
          <a:xfrm>
            <a:off x="6240463" y="728726"/>
            <a:ext cx="32680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■ (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사업계획서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p.330) </a:t>
            </a: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GS Challenge</a:t>
            </a: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로 전환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1D5E11D-2356-3D8B-6DBD-6546922AD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463" y="1268668"/>
            <a:ext cx="5677110" cy="453421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E383DC7-4C52-C44A-7CC9-9B710CE092AB}"/>
              </a:ext>
            </a:extLst>
          </p:cNvPr>
          <p:cNvSpPr txBox="1"/>
          <p:nvPr/>
        </p:nvSpPr>
        <p:spPr>
          <a:xfrm>
            <a:off x="65108" y="81062"/>
            <a:ext cx="9572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신기술 </a:t>
            </a:r>
            <a:r>
              <a:rPr lang="ko-KR" altLang="en-US" b="1" dirty="0" err="1">
                <a:solidFill>
                  <a:schemeClr val="bg1"/>
                </a:solidFill>
                <a:latin typeface="+mn-ea"/>
              </a:rPr>
              <a:t>연구협업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대체 사업</a:t>
            </a: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C983271E-CEBD-21E0-26F7-0978E79FD7CE}"/>
              </a:ext>
            </a:extLst>
          </p:cNvPr>
          <p:cNvSpPr/>
          <p:nvPr/>
        </p:nvSpPr>
        <p:spPr>
          <a:xfrm>
            <a:off x="5678424" y="2020824"/>
            <a:ext cx="417576" cy="255179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9A9633E-04F4-E3B2-217A-EAED17BAD7D5}"/>
              </a:ext>
            </a:extLst>
          </p:cNvPr>
          <p:cNvCxnSpPr/>
          <p:nvPr/>
        </p:nvCxnSpPr>
        <p:spPr>
          <a:xfrm>
            <a:off x="8386353" y="5695405"/>
            <a:ext cx="49638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E1E9F538-EF6C-6BDC-2767-B123A607B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398" y="1036864"/>
            <a:ext cx="5191563" cy="22493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20CB99-7DE6-6B85-F72E-49836757BB1A}"/>
              </a:ext>
            </a:extLst>
          </p:cNvPr>
          <p:cNvSpPr txBox="1"/>
          <p:nvPr/>
        </p:nvSpPr>
        <p:spPr>
          <a:xfrm>
            <a:off x="11563927" y="6635877"/>
            <a:ext cx="6280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108/109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86082777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83C88-8E0D-4BDD-BF4E-8DD8E8BB2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15B5A97-1A48-BF88-CC20-4038A9F30E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88" t="7291"/>
          <a:stretch>
            <a:fillRect/>
          </a:stretch>
        </p:blipFill>
        <p:spPr>
          <a:xfrm>
            <a:off x="403859" y="862430"/>
            <a:ext cx="3569643" cy="56416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DED94A-1F0F-0D0E-A575-FD2E3DE30F4F}"/>
              </a:ext>
            </a:extLst>
          </p:cNvPr>
          <p:cNvSpPr txBox="1"/>
          <p:nvPr/>
        </p:nvSpPr>
        <p:spPr>
          <a:xfrm>
            <a:off x="214878" y="578763"/>
            <a:ext cx="44714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■</a:t>
            </a:r>
            <a:r>
              <a:rPr lang="en-US" altLang="ko-KR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(p.298)</a:t>
            </a:r>
            <a:r>
              <a:rPr lang="ko-KR" altLang="en-US" sz="1100" b="1" dirty="0"/>
              <a:t> 데이터홈쇼핑 클라우드 활용 서비스 개선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629542D-352B-6E32-E86C-5DE64CC726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503" t="3284"/>
          <a:stretch>
            <a:fillRect/>
          </a:stretch>
        </p:blipFill>
        <p:spPr>
          <a:xfrm>
            <a:off x="4454482" y="862430"/>
            <a:ext cx="3370120" cy="569572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9336014-C0AA-203F-C34D-389C2C6E4F78}"/>
              </a:ext>
            </a:extLst>
          </p:cNvPr>
          <p:cNvSpPr txBox="1"/>
          <p:nvPr/>
        </p:nvSpPr>
        <p:spPr>
          <a:xfrm>
            <a:off x="4170953" y="578763"/>
            <a:ext cx="44714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■</a:t>
            </a:r>
            <a:r>
              <a:rPr lang="en-US" altLang="ko-KR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(p.301)</a:t>
            </a:r>
            <a:r>
              <a:rPr lang="ko-KR" altLang="en-US" sz="1100" b="1" dirty="0"/>
              <a:t> 데이터영역 비디오 커머스 활성화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988110B-68DE-9C27-47E8-5964231941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582" y="862430"/>
            <a:ext cx="3370120" cy="587113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3769F05-CF17-8C1E-3294-53E648D5EA26}"/>
              </a:ext>
            </a:extLst>
          </p:cNvPr>
          <p:cNvSpPr txBox="1"/>
          <p:nvPr/>
        </p:nvSpPr>
        <p:spPr>
          <a:xfrm>
            <a:off x="8040824" y="578763"/>
            <a:ext cx="44714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■</a:t>
            </a:r>
            <a:r>
              <a:rPr lang="en-US" altLang="ko-KR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(p.302)</a:t>
            </a:r>
            <a:r>
              <a:rPr lang="ko-KR" altLang="en-US" sz="1100" b="1" dirty="0"/>
              <a:t> 데이터영역 개인화 서비스 확대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EBEC30-8419-9A57-7A4B-FC9D2022AECC}"/>
              </a:ext>
            </a:extLst>
          </p:cNvPr>
          <p:cNvSpPr txBox="1"/>
          <p:nvPr/>
        </p:nvSpPr>
        <p:spPr>
          <a:xfrm>
            <a:off x="65108" y="81062"/>
            <a:ext cx="9572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참고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데이터방송 특화 기술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C39A655-EE93-C36D-271A-2295859EC5E1}"/>
              </a:ext>
            </a:extLst>
          </p:cNvPr>
          <p:cNvCxnSpPr/>
          <p:nvPr/>
        </p:nvCxnSpPr>
        <p:spPr>
          <a:xfrm>
            <a:off x="1532708" y="4615544"/>
            <a:ext cx="173300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ECFF62D-5569-0A69-60AA-9BF5F397CE78}"/>
              </a:ext>
            </a:extLst>
          </p:cNvPr>
          <p:cNvCxnSpPr/>
          <p:nvPr/>
        </p:nvCxnSpPr>
        <p:spPr>
          <a:xfrm>
            <a:off x="1484813" y="5342709"/>
            <a:ext cx="173300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25A328E-180E-D382-AD96-036DB137DDC0}"/>
              </a:ext>
            </a:extLst>
          </p:cNvPr>
          <p:cNvCxnSpPr/>
          <p:nvPr/>
        </p:nvCxnSpPr>
        <p:spPr>
          <a:xfrm>
            <a:off x="1506583" y="6096005"/>
            <a:ext cx="173300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A97E28D-5A84-BAB8-9DD1-55939AB868BE}"/>
              </a:ext>
            </a:extLst>
          </p:cNvPr>
          <p:cNvCxnSpPr>
            <a:cxnSpLocks/>
          </p:cNvCxnSpPr>
          <p:nvPr/>
        </p:nvCxnSpPr>
        <p:spPr>
          <a:xfrm>
            <a:off x="735871" y="3966756"/>
            <a:ext cx="252984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73712D3-331E-6EE9-4539-4976BAAD15D2}"/>
              </a:ext>
            </a:extLst>
          </p:cNvPr>
          <p:cNvCxnSpPr>
            <a:cxnSpLocks/>
          </p:cNvCxnSpPr>
          <p:nvPr/>
        </p:nvCxnSpPr>
        <p:spPr>
          <a:xfrm>
            <a:off x="4686300" y="5434149"/>
            <a:ext cx="229797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8F7420C-7884-7E42-3828-0778664E3EB0}"/>
              </a:ext>
            </a:extLst>
          </p:cNvPr>
          <p:cNvCxnSpPr>
            <a:cxnSpLocks/>
          </p:cNvCxnSpPr>
          <p:nvPr/>
        </p:nvCxnSpPr>
        <p:spPr>
          <a:xfrm>
            <a:off x="5160918" y="2791098"/>
            <a:ext cx="132696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65E4E31-2403-9394-9244-6626B6631258}"/>
              </a:ext>
            </a:extLst>
          </p:cNvPr>
          <p:cNvCxnSpPr>
            <a:cxnSpLocks/>
          </p:cNvCxnSpPr>
          <p:nvPr/>
        </p:nvCxnSpPr>
        <p:spPr>
          <a:xfrm>
            <a:off x="5188553" y="3213464"/>
            <a:ext cx="108161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8E5C2A1-0BC5-4CE2-7F15-B638CD99F8B0}"/>
              </a:ext>
            </a:extLst>
          </p:cNvPr>
          <p:cNvCxnSpPr>
            <a:cxnSpLocks/>
          </p:cNvCxnSpPr>
          <p:nvPr/>
        </p:nvCxnSpPr>
        <p:spPr>
          <a:xfrm>
            <a:off x="9061424" y="4680857"/>
            <a:ext cx="184170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AB068105-7721-E533-4077-85F6B4444528}"/>
              </a:ext>
            </a:extLst>
          </p:cNvPr>
          <p:cNvCxnSpPr>
            <a:cxnSpLocks/>
          </p:cNvCxnSpPr>
          <p:nvPr/>
        </p:nvCxnSpPr>
        <p:spPr>
          <a:xfrm>
            <a:off x="9061423" y="4798425"/>
            <a:ext cx="114502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803A470-0FE3-F4F6-9FDE-679CB7D8454F}"/>
              </a:ext>
            </a:extLst>
          </p:cNvPr>
          <p:cNvSpPr txBox="1"/>
          <p:nvPr/>
        </p:nvSpPr>
        <p:spPr>
          <a:xfrm>
            <a:off x="11563927" y="6635877"/>
            <a:ext cx="6280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109/109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497851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645c25c-9775-4d77-a736-700fab766116}" enabled="0" method="" siteId="{4645c25c-9775-4d77-a736-700fab76611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43939</TotalTime>
  <Words>23428</Words>
  <Application>Microsoft Office PowerPoint</Application>
  <PresentationFormat>와이드스크린</PresentationFormat>
  <Paragraphs>4706</Paragraphs>
  <Slides>126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126</vt:i4>
      </vt:variant>
    </vt:vector>
  </HeadingPairs>
  <TitlesOfParts>
    <vt:vector size="136" baseType="lpstr">
      <vt:lpstr>HY견고딕</vt:lpstr>
      <vt:lpstr>Pretendard Medium</vt:lpstr>
      <vt:lpstr>나눔고딕</vt:lpstr>
      <vt:lpstr>맑은 고딕</vt:lpstr>
      <vt:lpstr>맑은 고딕</vt:lpstr>
      <vt:lpstr>바탕</vt:lpstr>
      <vt:lpstr>Arial</vt:lpstr>
      <vt:lpstr>Wingdings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신지수/방송사업지원팀</dc:creator>
  <cp:lastModifiedBy>신지수/방송사업지원팀</cp:lastModifiedBy>
  <cp:revision>211</cp:revision>
  <dcterms:created xsi:type="dcterms:W3CDTF">2025-07-04T04:27:40Z</dcterms:created>
  <dcterms:modified xsi:type="dcterms:W3CDTF">2026-04-02T01:45:47Z</dcterms:modified>
</cp:coreProperties>
</file>